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2"/>
  </p:notesMasterIdLst>
  <p:handoutMasterIdLst>
    <p:handoutMasterId r:id="rId63"/>
  </p:handoutMasterIdLst>
  <p:sldIdLst>
    <p:sldId id="622" r:id="rId2"/>
    <p:sldId id="259" r:id="rId3"/>
    <p:sldId id="442" r:id="rId4"/>
    <p:sldId id="462" r:id="rId5"/>
    <p:sldId id="420" r:id="rId6"/>
    <p:sldId id="463" r:id="rId7"/>
    <p:sldId id="464" r:id="rId8"/>
    <p:sldId id="466" r:id="rId9"/>
    <p:sldId id="454" r:id="rId10"/>
    <p:sldId id="467" r:id="rId11"/>
    <p:sldId id="468" r:id="rId12"/>
    <p:sldId id="469" r:id="rId13"/>
    <p:sldId id="470" r:id="rId14"/>
    <p:sldId id="471" r:id="rId15"/>
    <p:sldId id="637" r:id="rId16"/>
    <p:sldId id="473" r:id="rId17"/>
    <p:sldId id="474" r:id="rId18"/>
    <p:sldId id="475" r:id="rId19"/>
    <p:sldId id="472" r:id="rId20"/>
    <p:sldId id="638" r:id="rId21"/>
    <p:sldId id="476" r:id="rId22"/>
    <p:sldId id="639" r:id="rId23"/>
    <p:sldId id="477" r:id="rId24"/>
    <p:sldId id="478" r:id="rId25"/>
    <p:sldId id="640"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265" r:id="rId41"/>
    <p:sldId id="266" r:id="rId42"/>
    <p:sldId id="267" r:id="rId43"/>
    <p:sldId id="268" r:id="rId44"/>
    <p:sldId id="269" r:id="rId45"/>
    <p:sldId id="270" r:id="rId46"/>
    <p:sldId id="271" r:id="rId47"/>
    <p:sldId id="493" r:id="rId48"/>
    <p:sldId id="494" r:id="rId49"/>
    <p:sldId id="495" r:id="rId50"/>
    <p:sldId id="496" r:id="rId51"/>
    <p:sldId id="497" r:id="rId52"/>
    <p:sldId id="498" r:id="rId53"/>
    <p:sldId id="499" r:id="rId54"/>
    <p:sldId id="500" r:id="rId55"/>
    <p:sldId id="501" r:id="rId56"/>
    <p:sldId id="502" r:id="rId57"/>
    <p:sldId id="504" r:id="rId58"/>
    <p:sldId id="634" r:id="rId59"/>
    <p:sldId id="636" r:id="rId60"/>
    <p:sldId id="635" r:id="rId61"/>
  </p:sldIdLst>
  <p:sldSz cx="9144000" cy="6858000" type="screen4x3"/>
  <p:notesSz cx="6858000" cy="9107488"/>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6600"/>
    <a:srgbClr val="0033CC"/>
    <a:srgbClr val="CC0000"/>
    <a:srgbClr val="3399FF"/>
    <a:srgbClr val="0000FF"/>
    <a:srgbClr val="0000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53" autoAdjust="0"/>
    <p:restoredTop sz="94681" autoAdjust="0"/>
  </p:normalViewPr>
  <p:slideViewPr>
    <p:cSldViewPr>
      <p:cViewPr varScale="1">
        <p:scale>
          <a:sx n="82" d="100"/>
          <a:sy n="82" d="100"/>
        </p:scale>
        <p:origin x="1051"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5613"/>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Times New Roman" panose="02020603050405020304" charset="0"/>
              </a:defRPr>
            </a:lvl1pPr>
          </a:lstStyle>
          <a:p>
            <a:pPr>
              <a:defRPr/>
            </a:pPr>
            <a:endParaRPr lang="en-US"/>
          </a:p>
        </p:txBody>
      </p:sp>
      <p:sp>
        <p:nvSpPr>
          <p:cNvPr id="23555" name="Rectangle 3"/>
          <p:cNvSpPr>
            <a:spLocks noGrp="1" noChangeArrowheads="1"/>
          </p:cNvSpPr>
          <p:nvPr>
            <p:ph type="dt" sz="quarter" idx="1"/>
          </p:nvPr>
        </p:nvSpPr>
        <p:spPr bwMode="auto">
          <a:xfrm>
            <a:off x="3886200" y="0"/>
            <a:ext cx="2971800" cy="4556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Times New Roman" panose="02020603050405020304" charset="0"/>
              </a:defRPr>
            </a:lvl1pPr>
          </a:lstStyle>
          <a:p>
            <a:pPr>
              <a:defRPr/>
            </a:pPr>
            <a:endParaRPr lang="en-US"/>
          </a:p>
        </p:txBody>
      </p:sp>
      <p:sp>
        <p:nvSpPr>
          <p:cNvPr id="23556" name="Rectangle 4"/>
          <p:cNvSpPr>
            <a:spLocks noGrp="1" noChangeArrowheads="1"/>
          </p:cNvSpPr>
          <p:nvPr>
            <p:ph type="ftr" sz="quarter" idx="2"/>
          </p:nvPr>
        </p:nvSpPr>
        <p:spPr bwMode="auto">
          <a:xfrm>
            <a:off x="0" y="8651875"/>
            <a:ext cx="2971800" cy="455613"/>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Times New Roman" panose="02020603050405020304" charset="0"/>
              </a:defRPr>
            </a:lvl1pPr>
          </a:lstStyle>
          <a:p>
            <a:pPr>
              <a:defRPr/>
            </a:pPr>
            <a:endParaRPr lang="en-US"/>
          </a:p>
        </p:txBody>
      </p:sp>
      <p:sp>
        <p:nvSpPr>
          <p:cNvPr id="23557" name="Rectangle 5"/>
          <p:cNvSpPr>
            <a:spLocks noGrp="1" noChangeArrowheads="1"/>
          </p:cNvSpPr>
          <p:nvPr>
            <p:ph type="sldNum" sz="quarter" idx="3"/>
          </p:nvPr>
        </p:nvSpPr>
        <p:spPr bwMode="auto">
          <a:xfrm>
            <a:off x="3886200" y="8651875"/>
            <a:ext cx="2971800" cy="4556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Times New Roman" panose="02020603050405020304" charset="0"/>
              </a:defRPr>
            </a:lvl1pPr>
          </a:lstStyle>
          <a:p>
            <a:pPr>
              <a:defRPr/>
            </a:pPr>
            <a:fld id="{239EF04C-E371-43C9-8EDF-0B2FB526166E}" type="slidenum">
              <a:rPr lang="en-US"/>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solidFill>
                  <a:schemeClr val="tx2"/>
                </a:solidFill>
                <a:latin typeface="Times New Roman" panose="02020603050405020304" charset="0"/>
                <a:cs typeface="Times New Roman" panose="02020603050405020304" charset="0"/>
              </a:defRPr>
            </a:lvl1pPr>
          </a:lstStyle>
          <a:p>
            <a:pPr>
              <a:defRPr/>
            </a:pPr>
            <a:endParaRPr lang="en-US"/>
          </a:p>
        </p:txBody>
      </p:sp>
      <p:sp>
        <p:nvSpPr>
          <p:cNvPr id="6349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chemeClr val="tx2"/>
                </a:solidFill>
                <a:latin typeface="Times New Roman" panose="02020603050405020304" charset="0"/>
                <a:cs typeface="Times New Roman" panose="02020603050405020304" charset="0"/>
              </a:defRPr>
            </a:lvl1pPr>
          </a:lstStyle>
          <a:p>
            <a:pPr>
              <a:defRPr/>
            </a:pPr>
            <a:endParaRPr lang="en-US"/>
          </a:p>
        </p:txBody>
      </p:sp>
      <p:sp>
        <p:nvSpPr>
          <p:cNvPr id="175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6349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solidFill>
                  <a:schemeClr val="tx2"/>
                </a:solidFill>
                <a:latin typeface="Times New Roman" panose="02020603050405020304" charset="0"/>
                <a:cs typeface="Times New Roman" panose="02020603050405020304" charset="0"/>
              </a:defRPr>
            </a:lvl1pPr>
          </a:lstStyle>
          <a:p>
            <a:pPr>
              <a:defRPr/>
            </a:pPr>
            <a:endParaRPr lang="en-US"/>
          </a:p>
        </p:txBody>
      </p:sp>
      <p:sp>
        <p:nvSpPr>
          <p:cNvPr id="6349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solidFill>
                  <a:schemeClr val="tx2"/>
                </a:solidFill>
                <a:latin typeface="Times New Roman" panose="02020603050405020304" charset="0"/>
                <a:cs typeface="Times New Roman" panose="02020603050405020304" charset="0"/>
              </a:defRPr>
            </a:lvl1pPr>
          </a:lstStyle>
          <a:p>
            <a:pPr>
              <a:defRPr/>
            </a:pPr>
            <a:fld id="{9D505C01-65C7-4868-A46C-14412B036E54}"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p:sp>
      <p:sp>
        <p:nvSpPr>
          <p:cNvPr id="176131" name="Notes Placeholder 2"/>
          <p:cNvSpPr>
            <a:spLocks noGrp="1"/>
          </p:cNvSpPr>
          <p:nvPr>
            <p:ph type="body" idx="1"/>
          </p:nvPr>
        </p:nvSpPr>
        <p:spPr>
          <a:noFill/>
        </p:spPr>
        <p:txBody>
          <a:bodyPr/>
          <a:lstStyle/>
          <a:p>
            <a:pPr eaLnBrk="1" hangingPunct="1"/>
            <a:endParaRPr lang="en-US">
              <a:latin typeface="Times New Roman" panose="02020603050405020304" charset="0"/>
            </a:endParaRPr>
          </a:p>
        </p:txBody>
      </p:sp>
      <p:sp>
        <p:nvSpPr>
          <p:cNvPr id="176132" name="Slide Number Placeholder 3"/>
          <p:cNvSpPr>
            <a:spLocks noGrp="1"/>
          </p:cNvSpPr>
          <p:nvPr>
            <p:ph type="sldNum" sz="quarter" idx="5"/>
          </p:nvPr>
        </p:nvSpPr>
        <p:spPr>
          <a:noFill/>
        </p:spPr>
        <p:txBody>
          <a:bodyPr/>
          <a:lstStyle/>
          <a:p>
            <a:fld id="{99C28087-0A52-443B-8B31-08E35D971F3B}" type="slidenum">
              <a:rPr lang="en-US" smtClean="0">
                <a:latin typeface="Times New Roman" panose="02020603050405020304" charset="0"/>
                <a:cs typeface="Times New Roman" panose="02020603050405020304" charset="0"/>
              </a:rPr>
              <a:t>3</a:t>
            </a:fld>
            <a:endParaRPr lang="en-US">
              <a:latin typeface="Times New Roman" panose="02020603050405020304" charset="0"/>
              <a:cs typeface="Times New Roman" panose="020206030504050203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4" name="Rectangle 3"/>
          <p:cNvSpPr/>
          <p:nvPr/>
        </p:nvSpPr>
        <p:spPr bwMode="ltGray">
          <a:xfrm>
            <a:off x="0" y="0"/>
            <a:ext cx="9144000" cy="513556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5127625"/>
            <a:ext cx="9144000" cy="460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685800" y="3355848"/>
            <a:ext cx="8077200" cy="1673352"/>
          </a:xfrm>
        </p:spPr>
        <p:txBody>
          <a:bodyPr tIns="0" bIns="0" anchor="t"/>
          <a:lstStyle>
            <a:lvl1pPr algn="l">
              <a:defRPr sz="4700" b="1"/>
            </a:lvl1pPr>
          </a:lstStyle>
          <a:p>
            <a:r>
              <a:rPr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r>
              <a:rPr lang="en-US"/>
              <a:t>Chapter 2</a:t>
            </a:r>
          </a:p>
        </p:txBody>
      </p:sp>
      <p:sp>
        <p:nvSpPr>
          <p:cNvPr id="8" name="Slide Number Placeholder 5"/>
          <p:cNvSpPr>
            <a:spLocks noGrp="1"/>
          </p:cNvSpPr>
          <p:nvPr>
            <p:ph type="sldNum" sz="quarter" idx="12"/>
          </p:nvPr>
        </p:nvSpPr>
        <p:spPr/>
        <p:txBody>
          <a:bodyPr/>
          <a:lstStyle>
            <a:lvl1pPr>
              <a:defRPr/>
            </a:lvl1pPr>
          </a:lstStyle>
          <a:p>
            <a:pPr>
              <a:defRPr/>
            </a:pPr>
            <a:fld id="{F39681B4-DC11-4C9C-8FE4-95681D2C4EE3}" type="slidenum">
              <a:rPr lang="en-US"/>
              <a:t>‹#›</a:t>
            </a:fld>
            <a:endParaRPr lang="en-US"/>
          </a:p>
        </p:txBody>
      </p:sp>
    </p:spTree>
  </p:cSld>
  <p:clrMapOvr>
    <a:overrideClrMapping bg1="dk1" tx1="lt1" bg2="dk2" tx2="lt2" accent1="accent1" accent2="accent2" accent3="accent3" accent4="accent4" accent5="accent5" accent6="accent6" hlink="hlink" folHlink="folHlink"/>
  </p:clrMapOvr>
  <p:transition spd="med">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a:t>
            </a:r>
          </a:p>
        </p:txBody>
      </p:sp>
      <p:sp>
        <p:nvSpPr>
          <p:cNvPr id="6" name="Slide Number Placeholder 5"/>
          <p:cNvSpPr>
            <a:spLocks noGrp="1"/>
          </p:cNvSpPr>
          <p:nvPr>
            <p:ph type="sldNum" sz="quarter" idx="12"/>
          </p:nvPr>
        </p:nvSpPr>
        <p:spPr/>
        <p:txBody>
          <a:bodyPr/>
          <a:lstStyle>
            <a:lvl1pPr>
              <a:defRPr/>
            </a:lvl1pPr>
          </a:lstStyle>
          <a:p>
            <a:pPr>
              <a:defRPr/>
            </a:pPr>
            <a:fld id="{F4B9319D-AEBD-485B-957F-32EE218578F7}" type="slidenum">
              <a:rPr lang="en-US"/>
              <a:t>‹#›</a:t>
            </a:fld>
            <a:endParaRPr lang="en-US"/>
          </a:p>
        </p:txBody>
      </p:sp>
    </p:spTree>
  </p:cSld>
  <p:clrMapOvr>
    <a:masterClrMapping/>
  </p:clrMapOvr>
  <p:transition spd="med">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4" name="Rectangle 3"/>
          <p:cNvSpPr/>
          <p:nvPr/>
        </p:nvSpPr>
        <p:spPr bwMode="ltGray">
          <a:xfrm>
            <a:off x="0" y="0"/>
            <a:ext cx="9144000" cy="26019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2601913"/>
            <a:ext cx="9144000" cy="460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49808" y="118872"/>
            <a:ext cx="8013192" cy="1636776"/>
          </a:xfrm>
        </p:spPr>
        <p:txBody>
          <a:bodyPr tIns="0" rIns="91440" bIns="0" anchor="b"/>
          <a:lstStyle>
            <a:lvl1pPr algn="l">
              <a:defRPr sz="4700" b="1" cap="none" baseline="0"/>
            </a:lvl1pPr>
          </a:lstStyle>
          <a:p>
            <a:r>
              <a:rPr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r>
              <a:rPr lang="en-US"/>
              <a:t>Chapter 2</a:t>
            </a:r>
          </a:p>
        </p:txBody>
      </p:sp>
      <p:sp>
        <p:nvSpPr>
          <p:cNvPr id="8" name="Slide Number Placeholder 5"/>
          <p:cNvSpPr>
            <a:spLocks noGrp="1"/>
          </p:cNvSpPr>
          <p:nvPr>
            <p:ph type="sldNum" sz="quarter" idx="12"/>
          </p:nvPr>
        </p:nvSpPr>
        <p:spPr/>
        <p:txBody>
          <a:bodyPr/>
          <a:lstStyle>
            <a:lvl1pPr>
              <a:defRPr/>
            </a:lvl1pPr>
          </a:lstStyle>
          <a:p>
            <a:pPr>
              <a:defRPr/>
            </a:pPr>
            <a:fld id="{70D6DB24-8A72-4DF8-828F-3098C4BA89D0}" type="slidenum">
              <a:rPr lang="en-US"/>
              <a:t>‹#›</a:t>
            </a:fld>
            <a:endParaRPr lang="en-US"/>
          </a:p>
        </p:txBody>
      </p:sp>
    </p:spTree>
  </p:cSld>
  <p:clrMapOvr>
    <a:overrideClrMapping bg1="dk1" tx1="lt1" bg2="dk2" tx2="lt2" accent1="accent1" accent2="accent2" accent3="accent3" accent4="accent4" accent5="accent5" accent6="accent6" hlink="hlink" folHlink="folHlink"/>
  </p:clrMapOvr>
  <p:transition spd="med">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a:t>
            </a:r>
          </a:p>
        </p:txBody>
      </p:sp>
      <p:sp>
        <p:nvSpPr>
          <p:cNvPr id="7" name="Slide Number Placeholder 5"/>
          <p:cNvSpPr>
            <a:spLocks noGrp="1"/>
          </p:cNvSpPr>
          <p:nvPr>
            <p:ph type="sldNum" sz="quarter" idx="12"/>
          </p:nvPr>
        </p:nvSpPr>
        <p:spPr/>
        <p:txBody>
          <a:bodyPr/>
          <a:lstStyle>
            <a:lvl1pPr>
              <a:defRPr/>
            </a:lvl1pPr>
          </a:lstStyle>
          <a:p>
            <a:pPr>
              <a:defRPr/>
            </a:pPr>
            <a:fld id="{A9E61E71-824F-4DBD-B294-720FE21E4063}" type="slidenum">
              <a:rPr lang="en-US"/>
              <a:t>‹#›</a:t>
            </a:fld>
            <a:endParaRPr lang="en-US"/>
          </a:p>
        </p:txBody>
      </p:sp>
    </p:spTree>
  </p:cSld>
  <p:clrMapOvr>
    <a:masterClrMapping/>
  </p:clrMapOvr>
  <p:transition spd="med">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2</a:t>
            </a:r>
          </a:p>
        </p:txBody>
      </p:sp>
      <p:sp>
        <p:nvSpPr>
          <p:cNvPr id="9" name="Slide Number Placeholder 5"/>
          <p:cNvSpPr>
            <a:spLocks noGrp="1"/>
          </p:cNvSpPr>
          <p:nvPr>
            <p:ph type="sldNum" sz="quarter" idx="12"/>
          </p:nvPr>
        </p:nvSpPr>
        <p:spPr/>
        <p:txBody>
          <a:bodyPr/>
          <a:lstStyle>
            <a:lvl1pPr>
              <a:defRPr/>
            </a:lvl1pPr>
          </a:lstStyle>
          <a:p>
            <a:pPr>
              <a:defRPr/>
            </a:pPr>
            <a:fld id="{A50C9037-00EE-4408-9C42-24C372796EA1}" type="slidenum">
              <a:rPr lang="en-US"/>
              <a:t>‹#›</a:t>
            </a:fld>
            <a:endParaRPr lang="en-US"/>
          </a:p>
        </p:txBody>
      </p:sp>
    </p:spTree>
  </p:cSld>
  <p:clrMapOvr>
    <a:masterClrMapping/>
  </p:clrMapOvr>
  <p:transition spd="med">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2</a:t>
            </a:r>
          </a:p>
        </p:txBody>
      </p:sp>
      <p:sp>
        <p:nvSpPr>
          <p:cNvPr id="5" name="Slide Number Placeholder 5"/>
          <p:cNvSpPr>
            <a:spLocks noGrp="1"/>
          </p:cNvSpPr>
          <p:nvPr>
            <p:ph type="sldNum" sz="quarter" idx="12"/>
          </p:nvPr>
        </p:nvSpPr>
        <p:spPr/>
        <p:txBody>
          <a:bodyPr/>
          <a:lstStyle>
            <a:lvl1pPr>
              <a:defRPr/>
            </a:lvl1pPr>
          </a:lstStyle>
          <a:p>
            <a:pPr>
              <a:defRPr/>
            </a:pPr>
            <a:fld id="{37DE943E-08B3-4497-87E3-0071F53D47EF}" type="slidenum">
              <a:rPr lang="en-US"/>
              <a:t>‹#›</a:t>
            </a:fld>
            <a:endParaRPr lang="en-US"/>
          </a:p>
        </p:txBody>
      </p:sp>
    </p:spTree>
  </p:cSld>
  <p:clrMapOvr>
    <a:masterClrMapping/>
  </p:clrMapOvr>
  <p:transition spd="med">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a:t>Chapter 2</a:t>
            </a:r>
          </a:p>
        </p:txBody>
      </p:sp>
      <p:sp>
        <p:nvSpPr>
          <p:cNvPr id="4" name="Slide Number Placeholder 3"/>
          <p:cNvSpPr>
            <a:spLocks noGrp="1"/>
          </p:cNvSpPr>
          <p:nvPr>
            <p:ph type="sldNum" sz="quarter" idx="12"/>
          </p:nvPr>
        </p:nvSpPr>
        <p:spPr/>
        <p:txBody>
          <a:bodyPr/>
          <a:lstStyle>
            <a:lvl1pPr>
              <a:defRPr/>
            </a:lvl1pPr>
          </a:lstStyle>
          <a:p>
            <a:pPr>
              <a:defRPr/>
            </a:pPr>
            <a:fld id="{60697084-89F6-4014-A6AE-6906455D9B78}" type="slidenum">
              <a:rPr lang="en-US"/>
              <a:t>‹#›</a:t>
            </a:fld>
            <a:endParaRPr lang="en-US"/>
          </a:p>
        </p:txBody>
      </p:sp>
    </p:spTree>
  </p:cSld>
  <p:clrMapOvr>
    <a:masterClrMapping/>
  </p:clrMapOvr>
  <p:transition spd="med">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7838" y="152400"/>
            <a:ext cx="2523744" cy="978408"/>
          </a:xfrm>
        </p:spPr>
        <p:txBody>
          <a:bodyPr lIns="73152" bIns="0" anchor="b">
            <a:sp3d prstMaterial="matte"/>
          </a:bodyPr>
          <a:lstStyle>
            <a:lvl1pPr algn="l">
              <a:defRPr sz="2000" b="0"/>
            </a:lvl1pPr>
          </a:lstStyle>
          <a:p>
            <a:r>
              <a:rPr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r>
              <a:rPr lang="en-US"/>
              <a:t>Chapter 2</a:t>
            </a:r>
          </a:p>
        </p:txBody>
      </p:sp>
      <p:sp>
        <p:nvSpPr>
          <p:cNvPr id="9" name="Slide Number Placeholder 6"/>
          <p:cNvSpPr>
            <a:spLocks noGrp="1"/>
          </p:cNvSpPr>
          <p:nvPr>
            <p:ph type="sldNum" sz="quarter" idx="12"/>
          </p:nvPr>
        </p:nvSpPr>
        <p:spPr/>
        <p:txBody>
          <a:bodyPr/>
          <a:lstStyle>
            <a:lvl1pPr>
              <a:defRPr/>
            </a:lvl1pPr>
          </a:lstStyle>
          <a:p>
            <a:pPr>
              <a:defRPr/>
            </a:pPr>
            <a:fld id="{1440B150-3EC0-472C-8EAB-5A1930438D8D}" type="slidenum">
              <a:rPr lang="en-US"/>
              <a:t>‹#›</a:t>
            </a:fld>
            <a:endParaRPr lang="en-US"/>
          </a:p>
        </p:txBody>
      </p:sp>
    </p:spTree>
  </p:cSld>
  <p:clrMapOvr>
    <a:masterClrMapping/>
  </p:clrMapOvr>
  <p:transition spd="med">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165100" y="1169988"/>
            <a:ext cx="2522538" cy="201612"/>
          </a:xfrm>
        </p:spPr>
        <p:txBody>
          <a:bodyPr/>
          <a:lstStyle>
            <a:lvl1pPr>
              <a:defRPr/>
            </a:lvl1pPr>
          </a:lstStyle>
          <a:p>
            <a:pPr>
              <a:defRPr/>
            </a:pPr>
            <a:endParaRPr lang="en-US"/>
          </a:p>
        </p:txBody>
      </p:sp>
      <p:sp>
        <p:nvSpPr>
          <p:cNvPr id="8" name="Footer Placeholder 5"/>
          <p:cNvSpPr>
            <a:spLocks noGrp="1"/>
          </p:cNvSpPr>
          <p:nvPr>
            <p:ph type="ftr" sz="quarter" idx="11"/>
          </p:nvPr>
        </p:nvSpPr>
        <p:spPr>
          <a:xfrm>
            <a:off x="3035300" y="1169988"/>
            <a:ext cx="5194300" cy="201612"/>
          </a:xfrm>
        </p:spPr>
        <p:txBody>
          <a:bodyPr/>
          <a:lstStyle>
            <a:lvl1pPr>
              <a:defRPr>
                <a:solidFill>
                  <a:schemeClr val="bg1">
                    <a:shade val="50000"/>
                  </a:schemeClr>
                </a:solidFill>
              </a:defRPr>
            </a:lvl1pPr>
          </a:lstStyle>
          <a:p>
            <a:pPr>
              <a:defRPr/>
            </a:pPr>
            <a:r>
              <a:rPr lang="en-US"/>
              <a:t>Chapter 2</a:t>
            </a:r>
          </a:p>
        </p:txBody>
      </p:sp>
      <p:sp>
        <p:nvSpPr>
          <p:cNvPr id="9" name="Slide Number Placeholder 6"/>
          <p:cNvSpPr>
            <a:spLocks noGrp="1"/>
          </p:cNvSpPr>
          <p:nvPr>
            <p:ph type="sldNum" sz="quarter" idx="12"/>
          </p:nvPr>
        </p:nvSpPr>
        <p:spPr>
          <a:xfrm>
            <a:off x="8339138" y="1169988"/>
            <a:ext cx="733425" cy="201612"/>
          </a:xfrm>
        </p:spPr>
        <p:txBody>
          <a:bodyPr/>
          <a:lstStyle>
            <a:lvl1pPr>
              <a:defRPr/>
            </a:lvl1pPr>
          </a:lstStyle>
          <a:p>
            <a:pPr>
              <a:defRPr/>
            </a:pPr>
            <a:fld id="{49E13B90-14F3-4DB8-8DFF-3527C3E9214B}" type="slidenum">
              <a:rPr lang="en-US"/>
              <a:t>‹#›</a:t>
            </a:fld>
            <a:endParaRPr lang="en-US"/>
          </a:p>
        </p:txBody>
      </p:sp>
    </p:spTree>
  </p:cSld>
  <p:clrMapOvr>
    <a:overrideClrMapping bg1="lt1" tx1="dk1" bg2="lt2" tx2="dk2" accent1="accent1" accent2="accent2" accent3="accent3" accent4="accent4" accent5="accent5" accent6="accent6" hlink="hlink" folHlink="folHlink"/>
  </p:clrMapOvr>
  <p:transition spd="med">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a:t>
            </a:r>
          </a:p>
        </p:txBody>
      </p:sp>
      <p:sp>
        <p:nvSpPr>
          <p:cNvPr id="6" name="Slide Number Placeholder 5"/>
          <p:cNvSpPr>
            <a:spLocks noGrp="1"/>
          </p:cNvSpPr>
          <p:nvPr>
            <p:ph type="sldNum" sz="quarter" idx="12"/>
          </p:nvPr>
        </p:nvSpPr>
        <p:spPr/>
        <p:txBody>
          <a:bodyPr/>
          <a:lstStyle>
            <a:lvl1pPr>
              <a:defRPr/>
            </a:lvl1pPr>
          </a:lstStyle>
          <a:p>
            <a:pPr>
              <a:defRPr/>
            </a:pPr>
            <a:fld id="{81140149-F96D-43CF-B5E6-0FFF9E969B95}" type="slidenum">
              <a:rPr lang="en-US"/>
              <a:t>‹#›</a:t>
            </a:fld>
            <a:endParaRPr lang="en-US"/>
          </a:p>
        </p:txBody>
      </p:sp>
    </p:spTree>
  </p:cSld>
  <p:clrMapOvr>
    <a:masterClrMapping/>
  </p:clrMapOvr>
  <p:transition spd="med">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ltGray">
          <a:xfrm>
            <a:off x="6648450" y="0"/>
            <a:ext cx="2514600"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781800" y="274640"/>
            <a:ext cx="19050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a:xfrm>
            <a:off x="2640013" y="6376988"/>
            <a:ext cx="3836987" cy="365125"/>
          </a:xfrm>
        </p:spPr>
        <p:txBody>
          <a:bodyPr/>
          <a:lstStyle>
            <a:lvl1pPr>
              <a:defRPr/>
            </a:lvl1pPr>
          </a:lstStyle>
          <a:p>
            <a:pPr>
              <a:defRPr/>
            </a:pPr>
            <a:r>
              <a:rPr lang="en-US"/>
              <a:t>Chapter 2</a:t>
            </a:r>
          </a:p>
        </p:txBody>
      </p:sp>
      <p:sp>
        <p:nvSpPr>
          <p:cNvPr id="8" name="Slide Number Placeholder 5"/>
          <p:cNvSpPr>
            <a:spLocks noGrp="1"/>
          </p:cNvSpPr>
          <p:nvPr>
            <p:ph type="sldNum" sz="quarter" idx="12"/>
          </p:nvPr>
        </p:nvSpPr>
        <p:spPr/>
        <p:txBody>
          <a:bodyPr/>
          <a:lstStyle>
            <a:lvl1pPr>
              <a:defRPr/>
            </a:lvl1pPr>
          </a:lstStyle>
          <a:p>
            <a:pPr>
              <a:defRPr/>
            </a:pPr>
            <a:fld id="{49BD49AE-6BAF-4B4D-AB14-2BC508AFCB25}" type="slidenum">
              <a:rPr lang="en-US"/>
              <a:t>‹#›</a:t>
            </a:fld>
            <a:endParaRPr lang="en-US"/>
          </a:p>
        </p:txBody>
      </p:sp>
    </p:spTree>
  </p:cSld>
  <p:clrMapOvr>
    <a:masterClrMapping/>
  </p:clrMapOvr>
  <p:transition spd="med">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2</a:t>
            </a:r>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pPr>
              <a:defRPr/>
            </a:pPr>
            <a:fld id="{DD26A224-8480-4E1A-973E-0E60F88A5BBE}" type="slidenum">
              <a:rPr lang="en-US"/>
              <a:t>‹#›</a:t>
            </a:fld>
            <a:endParaRPr lang="en-US"/>
          </a:p>
        </p:txBody>
      </p:sp>
    </p:spTree>
  </p:cSld>
  <p:clrMapOvr>
    <a:masterClrMapping/>
  </p:clrMapOvr>
  <p:transition spd="med">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477000"/>
            <a:ext cx="2133600" cy="274638"/>
          </a:xfrm>
        </p:spPr>
        <p:txBody>
          <a:bodyPr/>
          <a:lstStyle>
            <a:lvl1pPr>
              <a:defRPr/>
            </a:lvl1pPr>
          </a:lstStyle>
          <a:p>
            <a:pPr>
              <a:defRPr/>
            </a:pPr>
            <a:endParaRPr lang="en-US"/>
          </a:p>
        </p:txBody>
      </p:sp>
      <p:sp>
        <p:nvSpPr>
          <p:cNvPr id="3" name="Footer Placeholder 2"/>
          <p:cNvSpPr>
            <a:spLocks noGrp="1"/>
          </p:cNvSpPr>
          <p:nvPr>
            <p:ph type="ftr" sz="quarter" idx="11"/>
          </p:nvPr>
        </p:nvSpPr>
        <p:spPr>
          <a:xfrm>
            <a:off x="2640013" y="6477000"/>
            <a:ext cx="5508625" cy="274638"/>
          </a:xfrm>
        </p:spPr>
        <p:txBody>
          <a:bodyPr/>
          <a:lstStyle>
            <a:lvl1pPr>
              <a:defRPr smtClean="0"/>
            </a:lvl1pPr>
          </a:lstStyle>
          <a:p>
            <a:pPr>
              <a:defRPr/>
            </a:pPr>
            <a:r>
              <a:rPr lang="en-US"/>
              <a:t>Chapter 2</a:t>
            </a:r>
          </a:p>
        </p:txBody>
      </p:sp>
      <p:sp>
        <p:nvSpPr>
          <p:cNvPr id="4" name="Slide Number Placeholder 3"/>
          <p:cNvSpPr>
            <a:spLocks noGrp="1"/>
          </p:cNvSpPr>
          <p:nvPr>
            <p:ph type="sldNum" sz="quarter" idx="12"/>
          </p:nvPr>
        </p:nvSpPr>
        <p:spPr>
          <a:xfrm>
            <a:off x="8204200" y="6477000"/>
            <a:ext cx="733425" cy="274638"/>
          </a:xfrm>
        </p:spPr>
        <p:txBody>
          <a:bodyPr/>
          <a:lstStyle>
            <a:lvl1pPr>
              <a:defRPr smtClean="0"/>
            </a:lvl1pPr>
          </a:lstStyle>
          <a:p>
            <a:pPr>
              <a:defRPr/>
            </a:pPr>
            <a:fld id="{3E273C60-3B2D-42E7-AC10-85D12228E9F8}" type="slidenum">
              <a:rPr lang="en-US"/>
              <a:t>‹#›</a:t>
            </a:fld>
            <a:endParaRPr lang="en-US"/>
          </a:p>
        </p:txBody>
      </p:sp>
    </p:spTree>
  </p:cSld>
  <p:clrMapOvr>
    <a:masterClrMapping/>
  </p:clrMapOvr>
  <p:transition spd="med">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52400"/>
            <a:ext cx="8229600" cy="624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477000"/>
            <a:ext cx="2133600" cy="274638"/>
          </a:xfrm>
        </p:spPr>
        <p:txBody>
          <a:bodyPr/>
          <a:lstStyle>
            <a:lvl1pPr>
              <a:defRPr/>
            </a:lvl1pPr>
          </a:lstStyle>
          <a:p>
            <a:pPr>
              <a:defRPr/>
            </a:pPr>
            <a:endParaRPr lang="en-US"/>
          </a:p>
        </p:txBody>
      </p:sp>
      <p:sp>
        <p:nvSpPr>
          <p:cNvPr id="4" name="Footer Placeholder 3"/>
          <p:cNvSpPr>
            <a:spLocks noGrp="1"/>
          </p:cNvSpPr>
          <p:nvPr>
            <p:ph type="ftr" sz="quarter" idx="11"/>
          </p:nvPr>
        </p:nvSpPr>
        <p:spPr>
          <a:xfrm>
            <a:off x="2640013" y="6477000"/>
            <a:ext cx="5508625" cy="274638"/>
          </a:xfrm>
        </p:spPr>
        <p:txBody>
          <a:bodyPr/>
          <a:lstStyle>
            <a:lvl1pPr>
              <a:defRPr smtClean="0"/>
            </a:lvl1pPr>
          </a:lstStyle>
          <a:p>
            <a:pPr>
              <a:defRPr/>
            </a:pPr>
            <a:r>
              <a:rPr lang="en-US"/>
              <a:t>Chapter 2</a:t>
            </a:r>
          </a:p>
        </p:txBody>
      </p:sp>
      <p:sp>
        <p:nvSpPr>
          <p:cNvPr id="5" name="Slide Number Placeholder 4"/>
          <p:cNvSpPr>
            <a:spLocks noGrp="1"/>
          </p:cNvSpPr>
          <p:nvPr>
            <p:ph type="sldNum" sz="quarter" idx="12"/>
          </p:nvPr>
        </p:nvSpPr>
        <p:spPr>
          <a:xfrm>
            <a:off x="8204200" y="6477000"/>
            <a:ext cx="733425" cy="274638"/>
          </a:xfrm>
        </p:spPr>
        <p:txBody>
          <a:bodyPr/>
          <a:lstStyle>
            <a:lvl1pPr>
              <a:defRPr smtClean="0"/>
            </a:lvl1pPr>
          </a:lstStyle>
          <a:p>
            <a:pPr>
              <a:defRPr/>
            </a:pPr>
            <a:fld id="{DFD4288D-CBB3-4BE4-8798-FFA421C251F7}" type="slidenum">
              <a:rPr lang="en-US"/>
              <a:t>‹#›</a:t>
            </a:fld>
            <a:endParaRPr lang="en-US"/>
          </a:p>
        </p:txBody>
      </p:sp>
    </p:spTree>
  </p:cSld>
  <p:clrMapOvr>
    <a:masterClrMapping/>
  </p:clrMapOvr>
  <p:transition spd="med">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6688"/>
            <a:ext cx="9144000" cy="4445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bwMode="ltGray">
          <a:xfrm>
            <a:off x="0" y="0"/>
            <a:ext cx="9144000" cy="14335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152400"/>
            <a:ext cx="8229600" cy="125095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3077" name="Text Placeholder 2"/>
          <p:cNvSpPr>
            <a:spLocks noGrp="1"/>
          </p:cNvSpPr>
          <p:nvPr>
            <p:ph type="body" idx="1"/>
          </p:nvPr>
        </p:nvSpPr>
        <p:spPr bwMode="auto">
          <a:xfrm>
            <a:off x="457200" y="1774825"/>
            <a:ext cx="8229600" cy="4625975"/>
          </a:xfrm>
          <a:prstGeom prst="rect">
            <a:avLst/>
          </a:prstGeom>
          <a:noFill/>
          <a:ln w="9525">
            <a:noFill/>
            <a:miter lim="800000"/>
          </a:ln>
        </p:spPr>
        <p:txBody>
          <a:bodyPr vert="horz" wrap="square" lIns="54864" tIns="9144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77000"/>
            <a:ext cx="2133600" cy="274638"/>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pPr>
              <a:defRPr/>
            </a:pPr>
            <a:endParaRPr lang="en-US"/>
          </a:p>
        </p:txBody>
      </p:sp>
      <p:sp>
        <p:nvSpPr>
          <p:cNvPr id="5" name="Footer Placeholder 4"/>
          <p:cNvSpPr>
            <a:spLocks noGrp="1"/>
          </p:cNvSpPr>
          <p:nvPr>
            <p:ph type="ftr" sz="quarter" idx="3"/>
          </p:nvPr>
        </p:nvSpPr>
        <p:spPr>
          <a:xfrm>
            <a:off x="2640013" y="6477000"/>
            <a:ext cx="5508625" cy="274638"/>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pPr>
              <a:defRPr/>
            </a:pPr>
            <a:r>
              <a:rPr lang="en-US"/>
              <a:t>Chapter 2</a:t>
            </a:r>
          </a:p>
        </p:txBody>
      </p:sp>
      <p:sp>
        <p:nvSpPr>
          <p:cNvPr id="6" name="Slide Number Placeholder 5"/>
          <p:cNvSpPr>
            <a:spLocks noGrp="1"/>
          </p:cNvSpPr>
          <p:nvPr>
            <p:ph type="sldNum" sz="quarter" idx="4"/>
          </p:nvPr>
        </p:nvSpPr>
        <p:spPr>
          <a:xfrm>
            <a:off x="8204200" y="6477000"/>
            <a:ext cx="733425" cy="274638"/>
          </a:xfrm>
          <a:prstGeom prst="rect">
            <a:avLst/>
          </a:prstGeom>
        </p:spPr>
        <p:txBody>
          <a:bodyPr vert="horz" bIns="0" rtlCol="0" anchor="b"/>
          <a:lstStyle>
            <a:lvl1pPr algn="r" eaLnBrk="1" latinLnBrk="0" hangingPunct="1">
              <a:defRPr kumimoji="0" sz="1200">
                <a:solidFill>
                  <a:schemeClr val="tx1">
                    <a:tint val="95000"/>
                  </a:schemeClr>
                </a:solidFill>
              </a:defRPr>
            </a:lvl1pPr>
          </a:lstStyle>
          <a:p>
            <a:pPr>
              <a:defRPr/>
            </a:pPr>
            <a:fld id="{C3C0902D-4763-4314-963C-DCE30D4E3D18}"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wipe/>
  </p:transition>
  <p:hf sldNum="0" hdr="0" ftr="0" dt="0"/>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anose="020B0503020204020204" pitchFamily="34" charset="0"/>
        </a:defRPr>
      </a:lvl2pPr>
      <a:lvl3pPr algn="l" rtl="0" eaLnBrk="0" fontAlgn="base" hangingPunct="0">
        <a:spcBef>
          <a:spcPct val="0"/>
        </a:spcBef>
        <a:spcAft>
          <a:spcPct val="0"/>
        </a:spcAft>
        <a:defRPr sz="4500" b="1">
          <a:solidFill>
            <a:srgbClr val="FFC800"/>
          </a:solidFill>
          <a:latin typeface="Corbel" panose="020B0503020204020204" pitchFamily="34" charset="0"/>
        </a:defRPr>
      </a:lvl3pPr>
      <a:lvl4pPr algn="l" rtl="0" eaLnBrk="0" fontAlgn="base" hangingPunct="0">
        <a:spcBef>
          <a:spcPct val="0"/>
        </a:spcBef>
        <a:spcAft>
          <a:spcPct val="0"/>
        </a:spcAft>
        <a:defRPr sz="4500" b="1">
          <a:solidFill>
            <a:srgbClr val="FFC800"/>
          </a:solidFill>
          <a:latin typeface="Corbel" panose="020B0503020204020204" pitchFamily="34" charset="0"/>
        </a:defRPr>
      </a:lvl4pPr>
      <a:lvl5pPr algn="l" rtl="0" eaLnBrk="0" fontAlgn="base" hangingPunct="0">
        <a:spcBef>
          <a:spcPct val="0"/>
        </a:spcBef>
        <a:spcAft>
          <a:spcPct val="0"/>
        </a:spcAft>
        <a:defRPr sz="4500" b="1">
          <a:solidFill>
            <a:srgbClr val="FFC800"/>
          </a:solidFill>
          <a:latin typeface="Corbel" panose="020B0503020204020204" pitchFamily="34" charset="0"/>
        </a:defRPr>
      </a:lvl5pPr>
      <a:lvl6pPr marL="457200" algn="l" rtl="0" fontAlgn="base">
        <a:spcBef>
          <a:spcPct val="0"/>
        </a:spcBef>
        <a:spcAft>
          <a:spcPct val="0"/>
        </a:spcAft>
        <a:defRPr sz="4500" b="1">
          <a:solidFill>
            <a:srgbClr val="FFC800"/>
          </a:solidFill>
          <a:latin typeface="Corbel" panose="020B0503020204020204" pitchFamily="34" charset="0"/>
        </a:defRPr>
      </a:lvl6pPr>
      <a:lvl7pPr marL="914400" algn="l" rtl="0" fontAlgn="base">
        <a:spcBef>
          <a:spcPct val="0"/>
        </a:spcBef>
        <a:spcAft>
          <a:spcPct val="0"/>
        </a:spcAft>
        <a:defRPr sz="4500" b="1">
          <a:solidFill>
            <a:srgbClr val="FFC800"/>
          </a:solidFill>
          <a:latin typeface="Corbel" panose="020B0503020204020204" pitchFamily="34" charset="0"/>
        </a:defRPr>
      </a:lvl7pPr>
      <a:lvl8pPr marL="1371600" algn="l" rtl="0" fontAlgn="base">
        <a:spcBef>
          <a:spcPct val="0"/>
        </a:spcBef>
        <a:spcAft>
          <a:spcPct val="0"/>
        </a:spcAft>
        <a:defRPr sz="4500" b="1">
          <a:solidFill>
            <a:srgbClr val="FFC800"/>
          </a:solidFill>
          <a:latin typeface="Corbel" panose="020B0503020204020204" pitchFamily="34" charset="0"/>
        </a:defRPr>
      </a:lvl8pPr>
      <a:lvl9pPr marL="1828800" algn="l" rtl="0" fontAlgn="base">
        <a:spcBef>
          <a:spcPct val="0"/>
        </a:spcBef>
        <a:spcAft>
          <a:spcPct val="0"/>
        </a:spcAft>
        <a:defRPr sz="4500" b="1">
          <a:solidFill>
            <a:srgbClr val="FFC800"/>
          </a:solidFill>
          <a:latin typeface="Corbel" panose="020B0503020204020204" pitchFamily="34" charset="0"/>
        </a:defRPr>
      </a:lvl9pPr>
    </p:titleStyle>
    <p:bodyStyle>
      <a:lvl1pPr marL="438150" indent="-319405"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anose="05000000000000000000" pitchFamily="2" charset="2"/>
        <a:buChar char=""/>
        <a:defRPr sz="2800" kern="1200">
          <a:solidFill>
            <a:schemeClr val="tx1"/>
          </a:solidFill>
          <a:latin typeface="+mn-lt"/>
          <a:ea typeface="+mn-ea"/>
          <a:cs typeface="+mn-cs"/>
        </a:defRPr>
      </a:lvl2pPr>
      <a:lvl3pPr marL="995680" indent="-228600" algn="l" rtl="0" eaLnBrk="0" fontAlgn="base" hangingPunct="0">
        <a:spcBef>
          <a:spcPct val="20000"/>
        </a:spcBef>
        <a:spcAft>
          <a:spcPct val="0"/>
        </a:spcAft>
        <a:buClr>
          <a:srgbClr val="E66C7D"/>
        </a:buClr>
        <a:buFont typeface="Arial" panose="020B0604020202020204" pitchFamily="34" charset="0"/>
        <a:buChar char="▪"/>
        <a:defRPr sz="2400" kern="1200">
          <a:solidFill>
            <a:schemeClr val="tx1"/>
          </a:solidFill>
          <a:latin typeface="+mn-lt"/>
          <a:ea typeface="+mn-ea"/>
          <a:cs typeface="+mn-cs"/>
        </a:defRPr>
      </a:lvl3pPr>
      <a:lvl4pPr marL="1216025" indent="-182880" algn="l" rtl="0" eaLnBrk="0" fontAlgn="base" hangingPunct="0">
        <a:spcBef>
          <a:spcPct val="20000"/>
        </a:spcBef>
        <a:spcAft>
          <a:spcPct val="0"/>
        </a:spcAft>
        <a:buClr>
          <a:srgbClr val="6BB76D"/>
        </a:buClr>
        <a:buFont typeface="Arial" panose="020B0604020202020204" pitchFamily="34" charset="0"/>
        <a:buChar char="▪"/>
        <a:defRPr sz="2000" kern="1200">
          <a:solidFill>
            <a:schemeClr val="tx1"/>
          </a:solidFill>
          <a:latin typeface="+mn-lt"/>
          <a:ea typeface="+mn-ea"/>
          <a:cs typeface="+mn-cs"/>
        </a:defRPr>
      </a:lvl4pPr>
      <a:lvl5pPr marL="1425575" indent="-182880"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505"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30095"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390"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eaLnBrk="1" hangingPunct="1">
              <a:lnSpc>
                <a:spcPct val="80000"/>
              </a:lnSpc>
              <a:buFont typeface="Wingdings 2" pitchFamily="18" charset="2"/>
              <a:buNone/>
            </a:pPr>
            <a:endParaRPr lang="en-US" sz="5600" dirty="0">
              <a:latin typeface="ADLaM Display" panose="020F0502020204030204" pitchFamily="2" charset="0"/>
              <a:ea typeface="ADLaM Display" panose="020F0502020204030204" pitchFamily="2" charset="0"/>
              <a:cs typeface="ADLaM Display" panose="020F0502020204030204" pitchFamily="2" charset="0"/>
            </a:endParaRPr>
          </a:p>
          <a:p>
            <a:pPr algn="ctr" eaLnBrk="1" hangingPunct="1">
              <a:lnSpc>
                <a:spcPct val="80000"/>
              </a:lnSpc>
              <a:buFont typeface="Wingdings 2" pitchFamily="18" charset="2"/>
              <a:buNone/>
            </a:pPr>
            <a:r>
              <a:rPr lang="en-US" sz="5600" dirty="0">
                <a:latin typeface="ADLaM Display" panose="020F0502020204030204" pitchFamily="2" charset="0"/>
                <a:ea typeface="ADLaM Display" panose="020F0502020204030204" pitchFamily="2" charset="0"/>
                <a:cs typeface="ADLaM Display" panose="020F0502020204030204" pitchFamily="2" charset="0"/>
              </a:rPr>
              <a:t>BASIC CONCEPTS</a:t>
            </a: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a:p>
            <a:pPr eaLnBrk="1" hangingPunct="1">
              <a:lnSpc>
                <a:spcPct val="80000"/>
              </a:lnSpc>
              <a:buFont typeface="Wingdings 2" pitchFamily="18" charset="2"/>
              <a:buNone/>
            </a:pPr>
            <a:endParaRPr lang="en-US" sz="3000" dirty="0">
              <a:latin typeface="ADLaM Display" panose="020F0502020204030204" pitchFamily="2" charset="0"/>
              <a:ea typeface="ADLaM Display" panose="020F0502020204030204" pitchFamily="2" charset="0"/>
              <a:cs typeface="ADLaM Display" panose="020F0502020204030204" pitchFamily="2" charset="0"/>
            </a:endParaRPr>
          </a:p>
        </p:txBody>
      </p:sp>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6"/>
          <p:cNvSpPr>
            <a:spLocks noGrp="1"/>
          </p:cNvSpPr>
          <p:nvPr>
            <p:ph idx="1"/>
          </p:nvPr>
        </p:nvSpPr>
        <p:spPr/>
        <p:txBody>
          <a:bodyPr/>
          <a:lstStyle/>
          <a:p>
            <a:pPr eaLnBrk="1" hangingPunct="1"/>
            <a:endParaRPr lang="en-US"/>
          </a:p>
        </p:txBody>
      </p:sp>
      <p:sp>
        <p:nvSpPr>
          <p:cNvPr id="12292" name="Rectangle 4"/>
          <p:cNvSpPr>
            <a:spLocks noChangeArrowheads="1"/>
          </p:cNvSpPr>
          <p:nvPr/>
        </p:nvSpPr>
        <p:spPr bwMode="auto">
          <a:xfrm>
            <a:off x="1066800" y="1905000"/>
            <a:ext cx="7848600" cy="1600200"/>
          </a:xfrm>
          <a:prstGeom prst="rect">
            <a:avLst/>
          </a:prstGeom>
          <a:noFill/>
          <a:ln w="9525">
            <a:noFill/>
            <a:miter lim="800000"/>
          </a:ln>
        </p:spPr>
        <p:txBody>
          <a:bodyPr anchor="b"/>
          <a:lstStyle/>
          <a:p>
            <a:pPr algn="ctr" eaLnBrk="1" hangingPunct="1"/>
            <a:r>
              <a:rPr lang="en-US" sz="3600" b="1" dirty="0">
                <a:solidFill>
                  <a:schemeClr val="tx2"/>
                </a:solidFill>
                <a:latin typeface="Arial" panose="020B0604020202020204" pitchFamily="34" charset="0"/>
              </a:rPr>
              <a:t>COMPUTER HARDWARE</a:t>
            </a:r>
            <a:r>
              <a:rPr lang="en-US" sz="3600" dirty="0">
                <a:solidFill>
                  <a:schemeClr val="tx2"/>
                </a:solidFill>
                <a:latin typeface="Arial" panose="020B0604020202020204" pitchFamily="34" charset="0"/>
              </a:rPr>
              <a:t> </a:t>
            </a: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1295400" y="301625"/>
            <a:ext cx="7848600" cy="1143000"/>
          </a:xfrm>
        </p:spPr>
        <p:txBody>
          <a:bodyPr>
            <a:normAutofit fontScale="90000"/>
          </a:bodyPr>
          <a:lstStyle/>
          <a:p>
            <a:pPr eaLnBrk="1" fontAlgn="auto" hangingPunct="1">
              <a:spcAft>
                <a:spcPts val="0"/>
              </a:spcAft>
              <a:defRPr/>
            </a:pPr>
            <a:r>
              <a:rPr lang="en-US">
                <a:solidFill>
                  <a:schemeClr val="accent1">
                    <a:satMod val="150000"/>
                  </a:schemeClr>
                </a:solidFill>
              </a:rPr>
              <a:t> What Is a Computer Hardware? </a:t>
            </a:r>
          </a:p>
        </p:txBody>
      </p:sp>
      <p:sp>
        <p:nvSpPr>
          <p:cNvPr id="13315" name="Rectangle 3"/>
          <p:cNvSpPr>
            <a:spLocks noGrp="1" noChangeArrowheads="1"/>
          </p:cNvSpPr>
          <p:nvPr>
            <p:ph idx="1"/>
          </p:nvPr>
        </p:nvSpPr>
        <p:spPr>
          <a:xfrm>
            <a:off x="1371600" y="2667000"/>
            <a:ext cx="7162800" cy="3276600"/>
          </a:xfrm>
        </p:spPr>
        <p:txBody>
          <a:bodyPr/>
          <a:lstStyle/>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Input devices</a:t>
            </a:r>
            <a:r>
              <a:rPr lang="en-US" altLang="zh-CN" sz="1800">
                <a:ea typeface="SimSun" panose="02010600030101010101" pitchFamily="2" charset="-122"/>
              </a:rPr>
              <a:t> accept data &amp; instructions and convert them to a form that the computer can understand.</a:t>
            </a:r>
          </a:p>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Output devices</a:t>
            </a:r>
            <a:r>
              <a:rPr lang="en-US" altLang="zh-CN" sz="1800">
                <a:ea typeface="SimSun" panose="02010600030101010101" pitchFamily="2" charset="-122"/>
              </a:rPr>
              <a:t> present data in a form people can understand. </a:t>
            </a:r>
          </a:p>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The CPU</a:t>
            </a:r>
            <a:r>
              <a:rPr lang="en-US" altLang="zh-CN" sz="1800">
                <a:ea typeface="SimSun" panose="02010600030101010101" pitchFamily="2" charset="-122"/>
              </a:rPr>
              <a:t> manipulates the data and controls the tasks done by the other components.</a:t>
            </a:r>
          </a:p>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Primary storage</a:t>
            </a:r>
            <a:r>
              <a:rPr lang="en-US" altLang="zh-CN" sz="1800">
                <a:ea typeface="SimSun" panose="02010600030101010101" pitchFamily="2" charset="-122"/>
              </a:rPr>
              <a:t> (internal storage) temporarily stores data and program instructions during processing. </a:t>
            </a:r>
          </a:p>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Secondary storage</a:t>
            </a:r>
            <a:r>
              <a:rPr lang="en-US" altLang="zh-CN" sz="1800">
                <a:ea typeface="SimSun" panose="02010600030101010101" pitchFamily="2" charset="-122"/>
              </a:rPr>
              <a:t> (external) stores data and programs for future use. </a:t>
            </a:r>
          </a:p>
          <a:p>
            <a:pPr marL="476250" indent="-476250" defTabSz="-635" eaLnBrk="1" hangingPunct="1">
              <a:lnSpc>
                <a:spcPct val="80000"/>
              </a:lnSpc>
              <a:spcBef>
                <a:spcPct val="40000"/>
              </a:spcBef>
              <a:tabLst>
                <a:tab pos="287020" algn="l"/>
              </a:tabLst>
            </a:pPr>
            <a:r>
              <a:rPr lang="en-US" altLang="zh-CN" sz="1800">
                <a:solidFill>
                  <a:srgbClr val="33CCCC"/>
                </a:solidFill>
                <a:ea typeface="SimSun" panose="02010600030101010101" pitchFamily="2" charset="-122"/>
              </a:rPr>
              <a:t>Communication</a:t>
            </a:r>
            <a:r>
              <a:rPr lang="en-US" altLang="zh-CN" sz="1800">
                <a:ea typeface="SimSun" panose="02010600030101010101" pitchFamily="2" charset="-122"/>
              </a:rPr>
              <a:t> devices provide for the flow of data between external computer networks.</a:t>
            </a:r>
            <a:endParaRPr lang="en-CA" altLang="zh-TW" sz="1800"/>
          </a:p>
        </p:txBody>
      </p:sp>
      <p:sp>
        <p:nvSpPr>
          <p:cNvPr id="13316" name="Rectangle 4"/>
          <p:cNvSpPr>
            <a:spLocks noChangeArrowheads="1"/>
          </p:cNvSpPr>
          <p:nvPr/>
        </p:nvSpPr>
        <p:spPr bwMode="auto">
          <a:xfrm>
            <a:off x="1371600" y="1524000"/>
            <a:ext cx="7620000" cy="915988"/>
          </a:xfrm>
          <a:prstGeom prst="rect">
            <a:avLst/>
          </a:prstGeom>
          <a:noFill/>
          <a:ln w="9525">
            <a:noFill/>
            <a:miter lim="800000"/>
          </a:ln>
        </p:spPr>
        <p:txBody>
          <a:bodyPr lIns="0" rIns="0">
            <a:spAutoFit/>
          </a:bodyPr>
          <a:lstStyle/>
          <a:p>
            <a:r>
              <a:rPr lang="en-US">
                <a:solidFill>
                  <a:srgbClr val="33CCCC"/>
                </a:solidFill>
              </a:rPr>
              <a:t>Computer hardware</a:t>
            </a:r>
            <a:r>
              <a:rPr lang="en-US"/>
              <a:t> is composed of the following components: central processing unit (CPU), input devices, output devices, primary storage, secondary storage, and communication devices. </a:t>
            </a:r>
          </a:p>
        </p:txBody>
      </p:sp>
    </p:spTree>
  </p:cSld>
  <p:clrMapOvr>
    <a:masterClrMapping/>
  </p:clrMapOvr>
  <p:transition spd="med">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 What Is a Computer System? </a:t>
            </a:r>
          </a:p>
        </p:txBody>
      </p:sp>
      <p:pic>
        <p:nvPicPr>
          <p:cNvPr id="14339" name="Picture 6"/>
          <p:cNvPicPr>
            <a:picLocks noGrp="1" noChangeAspect="1" noChangeArrowheads="1"/>
          </p:cNvPicPr>
          <p:nvPr>
            <p:ph idx="1"/>
          </p:nvPr>
        </p:nvPicPr>
        <p:blipFill>
          <a:blip r:embed="rId2" cstate="print"/>
          <a:srcRect/>
          <a:stretch>
            <a:fillRect/>
          </a:stretch>
        </p:blipFill>
        <p:spPr>
          <a:xfrm>
            <a:off x="1219200" y="1676400"/>
            <a:ext cx="7543800" cy="3505200"/>
          </a:xfrm>
          <a:noFill/>
        </p:spPr>
      </p:pic>
    </p:spTree>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eaLnBrk="1" fontAlgn="auto" hangingPunct="1">
              <a:spcAft>
                <a:spcPts val="0"/>
              </a:spcAft>
              <a:defRPr/>
            </a:pPr>
            <a:r>
              <a:rPr lang="en-CA" altLang="zh-TW">
                <a:solidFill>
                  <a:schemeClr val="accent1">
                    <a:satMod val="150000"/>
                  </a:schemeClr>
                </a:solidFill>
              </a:rPr>
              <a:t>Binary Computers</a:t>
            </a:r>
            <a:r>
              <a:rPr lang="en-US">
                <a:solidFill>
                  <a:schemeClr val="accent1">
                    <a:satMod val="150000"/>
                  </a:schemeClr>
                </a:solidFill>
              </a:rPr>
              <a:t> </a:t>
            </a:r>
          </a:p>
        </p:txBody>
      </p:sp>
      <p:pic>
        <p:nvPicPr>
          <p:cNvPr id="15363" name="Picture 13"/>
          <p:cNvPicPr>
            <a:picLocks noGrp="1" noChangeAspect="1" noChangeArrowheads="1"/>
          </p:cNvPicPr>
          <p:nvPr>
            <p:ph idx="1"/>
          </p:nvPr>
        </p:nvPicPr>
        <p:blipFill>
          <a:blip r:embed="rId2" cstate="print"/>
          <a:srcRect/>
          <a:stretch>
            <a:fillRect/>
          </a:stretch>
        </p:blipFill>
        <p:spPr>
          <a:xfrm>
            <a:off x="1295400" y="2590800"/>
            <a:ext cx="7313613" cy="3962400"/>
          </a:xfrm>
        </p:spPr>
      </p:pic>
      <p:sp>
        <p:nvSpPr>
          <p:cNvPr id="15364" name="Rectangle 14"/>
          <p:cNvSpPr>
            <a:spLocks noChangeArrowheads="1"/>
          </p:cNvSpPr>
          <p:nvPr/>
        </p:nvSpPr>
        <p:spPr bwMode="auto">
          <a:xfrm>
            <a:off x="1371600" y="1524000"/>
            <a:ext cx="7620000" cy="1190625"/>
          </a:xfrm>
          <a:prstGeom prst="rect">
            <a:avLst/>
          </a:prstGeom>
          <a:noFill/>
          <a:ln w="9525">
            <a:noFill/>
            <a:miter lim="800000"/>
          </a:ln>
        </p:spPr>
        <p:txBody>
          <a:bodyPr lIns="0" rIns="0">
            <a:spAutoFit/>
          </a:bodyPr>
          <a:lstStyle/>
          <a:p>
            <a:r>
              <a:rPr lang="en-US" dirty="0"/>
              <a:t>Today’s computers are based on integrated circuits (chips), each of which includes millions of subminiature transistors. Each transistor can be in either an “on” or “off” state that is used to establish a binary 1 or 0 for storing one </a:t>
            </a:r>
            <a:r>
              <a:rPr lang="en-US" b="1" dirty="0"/>
              <a:t>binary digit, </a:t>
            </a:r>
            <a:r>
              <a:rPr lang="en-US" dirty="0"/>
              <a:t>or </a:t>
            </a:r>
            <a:r>
              <a:rPr lang="en-US" b="1" dirty="0"/>
              <a:t>bit.</a:t>
            </a:r>
            <a:r>
              <a:rPr lang="en-US" dirty="0"/>
              <a:t> </a:t>
            </a:r>
          </a:p>
        </p:txBody>
      </p:sp>
      <p:sp>
        <p:nvSpPr>
          <p:cNvPr id="401423" name="Rectangle 15"/>
          <p:cNvSpPr>
            <a:spLocks noChangeArrowheads="1"/>
          </p:cNvSpPr>
          <p:nvPr/>
        </p:nvSpPr>
        <p:spPr bwMode="auto">
          <a:xfrm>
            <a:off x="1524000" y="5867400"/>
            <a:ext cx="6934200" cy="581025"/>
          </a:xfrm>
          <a:prstGeom prst="rect">
            <a:avLst/>
          </a:prstGeom>
          <a:solidFill>
            <a:srgbClr val="FFCC99">
              <a:alpha val="56000"/>
            </a:srgbClr>
          </a:solidFill>
          <a:ln w="9525">
            <a:noFill/>
            <a:miter lim="800000"/>
          </a:ln>
          <a:effectLst/>
        </p:spPr>
        <p:txBody>
          <a:bodyPr anchor="ctr">
            <a:spAutoFit/>
          </a:bodyPr>
          <a:lstStyle/>
          <a:p>
            <a:pPr>
              <a:defRPr/>
            </a:pPr>
            <a:r>
              <a:rPr lang="en-US" sz="1600" b="1" dirty="0">
                <a:solidFill>
                  <a:srgbClr val="0066FF"/>
                </a:solidFill>
                <a:effectLst>
                  <a:outerShdw blurRad="38100" dist="38100" dir="2700000" algn="tl">
                    <a:srgbClr val="000000"/>
                  </a:outerShdw>
                </a:effectLst>
                <a:ea typeface="PMingLiU" panose="02020500000000000000" pitchFamily="18" charset="-120"/>
              </a:rPr>
              <a:t>ASCII </a:t>
            </a:r>
            <a:r>
              <a:rPr lang="en-US" sz="1200" b="1" dirty="0">
                <a:solidFill>
                  <a:srgbClr val="0066FF"/>
                </a:solidFill>
                <a:effectLst>
                  <a:outerShdw blurRad="38100" dist="38100" dir="2700000" algn="tl">
                    <a:srgbClr val="000000"/>
                  </a:outerShdw>
                </a:effectLst>
                <a:ea typeface="PMingLiU" panose="02020500000000000000" pitchFamily="18" charset="-120"/>
              </a:rPr>
              <a:t>(</a:t>
            </a:r>
            <a:r>
              <a:rPr lang="en-US" sz="1200" b="1">
                <a:solidFill>
                  <a:srgbClr val="0066FF"/>
                </a:solidFill>
                <a:effectLst>
                  <a:outerShdw blurRad="38100" dist="38100" dir="2700000" algn="tl">
                    <a:srgbClr val="000000"/>
                  </a:outerShdw>
                </a:effectLst>
                <a:ea typeface="PMingLiU" panose="02020500000000000000" pitchFamily="18" charset="-120"/>
              </a:rPr>
              <a:t>American Standard </a:t>
            </a:r>
            <a:r>
              <a:rPr lang="en-US" sz="1200" b="1" dirty="0">
                <a:solidFill>
                  <a:srgbClr val="0066FF"/>
                </a:solidFill>
                <a:effectLst>
                  <a:outerShdw blurRad="38100" dist="38100" dir="2700000" algn="tl">
                    <a:srgbClr val="000000"/>
                  </a:outerShdw>
                </a:effectLst>
                <a:ea typeface="PMingLiU" panose="02020500000000000000" pitchFamily="18" charset="-120"/>
              </a:rPr>
              <a:t>Code for Information Interchange)</a:t>
            </a:r>
          </a:p>
          <a:p>
            <a:pPr>
              <a:defRPr/>
            </a:pPr>
            <a:r>
              <a:rPr lang="en-US" sz="1600" b="1" dirty="0">
                <a:solidFill>
                  <a:srgbClr val="0066FF"/>
                </a:solidFill>
                <a:effectLst>
                  <a:outerShdw blurRad="38100" dist="38100" dir="2700000" algn="tl">
                    <a:srgbClr val="000000"/>
                  </a:outerShdw>
                </a:effectLst>
                <a:ea typeface="PMingLiU" panose="02020500000000000000" pitchFamily="18" charset="-120"/>
              </a:rPr>
              <a:t>EBCDIC </a:t>
            </a:r>
            <a:r>
              <a:rPr lang="en-US" sz="1200" b="1" dirty="0">
                <a:solidFill>
                  <a:srgbClr val="0066FF"/>
                </a:solidFill>
                <a:effectLst>
                  <a:outerShdw blurRad="38100" dist="38100" dir="2700000" algn="tl">
                    <a:srgbClr val="000000"/>
                  </a:outerShdw>
                </a:effectLst>
                <a:ea typeface="PMingLiU" panose="02020500000000000000" pitchFamily="18" charset="-120"/>
              </a:rPr>
              <a:t>(Extended Binary Coded Decimal Interchange Code)</a:t>
            </a:r>
            <a:endParaRPr lang="en-US" dirty="0"/>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 Units of Measure </a:t>
            </a:r>
          </a:p>
        </p:txBody>
      </p:sp>
      <p:sp>
        <p:nvSpPr>
          <p:cNvPr id="16387" name="Rectangle 3"/>
          <p:cNvSpPr>
            <a:spLocks noGrp="1" noChangeArrowheads="1"/>
          </p:cNvSpPr>
          <p:nvPr>
            <p:ph idx="1"/>
          </p:nvPr>
        </p:nvSpPr>
        <p:spPr>
          <a:xfrm>
            <a:off x="1371600" y="2514600"/>
            <a:ext cx="7543800" cy="3810000"/>
          </a:xfrm>
        </p:spPr>
        <p:txBody>
          <a:bodyPr/>
          <a:lstStyle/>
          <a:p>
            <a:pPr marL="476250" indent="-476250" defTabSz="-635" eaLnBrk="1" hangingPunct="1">
              <a:lnSpc>
                <a:spcPct val="80000"/>
              </a:lnSpc>
              <a:tabLst>
                <a:tab pos="287020" algn="l"/>
              </a:tabLst>
            </a:pPr>
            <a:r>
              <a:rPr lang="en-US" altLang="zh-CN" sz="1800">
                <a:ea typeface="SimSun" panose="02010600030101010101" pitchFamily="2" charset="-122"/>
              </a:rPr>
              <a:t>Representing time and size of bytes. Time is represented in fractions of a second. The following are common measures of time:</a:t>
            </a:r>
            <a:r>
              <a:rPr lang="en-US" altLang="zh-CN" sz="1600">
                <a:ea typeface="SimSun" panose="02010600030101010101" pitchFamily="2" charset="-122"/>
              </a:rPr>
              <a:t> </a:t>
            </a:r>
          </a:p>
          <a:p>
            <a:pPr marL="919480" lvl="1" indent="-400050" defTabSz="-635" eaLnBrk="1" hangingPunct="1">
              <a:lnSpc>
                <a:spcPct val="80000"/>
              </a:lnSpc>
              <a:tabLst>
                <a:tab pos="287020" algn="l"/>
              </a:tabLst>
            </a:pPr>
            <a:r>
              <a:rPr lang="en-US" altLang="zh-CN" sz="1600">
                <a:ea typeface="SimSun" panose="02010600030101010101" pitchFamily="2" charset="-122"/>
              </a:rPr>
              <a:t>Millisecond  11000 second </a:t>
            </a:r>
          </a:p>
          <a:p>
            <a:pPr marL="919480" lvl="1" indent="-400050" defTabSz="-635" eaLnBrk="1" hangingPunct="1">
              <a:lnSpc>
                <a:spcPct val="80000"/>
              </a:lnSpc>
              <a:tabLst>
                <a:tab pos="287020" algn="l"/>
              </a:tabLst>
            </a:pPr>
            <a:r>
              <a:rPr lang="en-US" altLang="zh-CN" sz="1600">
                <a:ea typeface="SimSun" panose="02010600030101010101" pitchFamily="2" charset="-122"/>
              </a:rPr>
              <a:t>Microsecond  11,000,000 second </a:t>
            </a:r>
          </a:p>
          <a:p>
            <a:pPr marL="919480" lvl="1" indent="-400050" defTabSz="-635" eaLnBrk="1" hangingPunct="1">
              <a:lnSpc>
                <a:spcPct val="80000"/>
              </a:lnSpc>
              <a:tabLst>
                <a:tab pos="287020" algn="l"/>
              </a:tabLst>
            </a:pPr>
            <a:r>
              <a:rPr lang="en-US" altLang="zh-CN" sz="1600">
                <a:ea typeface="SimSun" panose="02010600030101010101" pitchFamily="2" charset="-122"/>
              </a:rPr>
              <a:t>Nanosecond  11,000,000,000 second </a:t>
            </a:r>
          </a:p>
          <a:p>
            <a:pPr marL="919480" lvl="1" indent="-400050" defTabSz="-635" eaLnBrk="1" hangingPunct="1">
              <a:lnSpc>
                <a:spcPct val="80000"/>
              </a:lnSpc>
              <a:tabLst>
                <a:tab pos="287020" algn="l"/>
              </a:tabLst>
            </a:pPr>
            <a:r>
              <a:rPr lang="en-US" altLang="zh-CN" sz="1600">
                <a:ea typeface="SimSun" panose="02010600030101010101" pitchFamily="2" charset="-122"/>
              </a:rPr>
              <a:t>Picosecond  11,000,000,000,000 second</a:t>
            </a:r>
          </a:p>
          <a:p>
            <a:pPr marL="476250" indent="-476250" defTabSz="-635" eaLnBrk="1" hangingPunct="1">
              <a:lnSpc>
                <a:spcPct val="80000"/>
              </a:lnSpc>
              <a:spcBef>
                <a:spcPct val="40000"/>
              </a:spcBef>
              <a:tabLst>
                <a:tab pos="287020" algn="l"/>
              </a:tabLst>
            </a:pPr>
            <a:r>
              <a:rPr lang="en-US" altLang="zh-CN" sz="1800">
                <a:ea typeface="SimSun" panose="02010600030101010101" pitchFamily="2" charset="-122"/>
              </a:rPr>
              <a:t>Size is measured by the number of bytes. Common measures of size are: </a:t>
            </a:r>
          </a:p>
          <a:p>
            <a:pPr marL="919480" lvl="1" indent="-400050" defTabSz="-635" eaLnBrk="1" hangingPunct="1">
              <a:lnSpc>
                <a:spcPct val="80000"/>
              </a:lnSpc>
              <a:tabLst>
                <a:tab pos="287020" algn="l"/>
              </a:tabLst>
            </a:pPr>
            <a:r>
              <a:rPr lang="en-US" altLang="zh-CN" sz="1600">
                <a:ea typeface="SimSun" panose="02010600030101010101" pitchFamily="2" charset="-122"/>
              </a:rPr>
              <a:t>Kilobyte  1,000 bytes (actually 1,024) </a:t>
            </a:r>
          </a:p>
          <a:p>
            <a:pPr marL="919480" lvl="1" indent="-400050" defTabSz="-635" eaLnBrk="1" hangingPunct="1">
              <a:lnSpc>
                <a:spcPct val="80000"/>
              </a:lnSpc>
              <a:tabLst>
                <a:tab pos="287020" algn="l"/>
              </a:tabLst>
            </a:pPr>
            <a:r>
              <a:rPr lang="en-US" altLang="zh-CN" sz="1600">
                <a:ea typeface="SimSun" panose="02010600030101010101" pitchFamily="2" charset="-122"/>
              </a:rPr>
              <a:t>Megabyte  1,000 kilobytes  106 bytes </a:t>
            </a:r>
          </a:p>
          <a:p>
            <a:pPr marL="919480" lvl="1" indent="-400050" defTabSz="-635" eaLnBrk="1" hangingPunct="1">
              <a:lnSpc>
                <a:spcPct val="80000"/>
              </a:lnSpc>
              <a:tabLst>
                <a:tab pos="287020" algn="l"/>
              </a:tabLst>
            </a:pPr>
            <a:r>
              <a:rPr lang="en-US" altLang="zh-CN" sz="1600">
                <a:ea typeface="SimSun" panose="02010600030101010101" pitchFamily="2" charset="-122"/>
              </a:rPr>
              <a:t>Gigabyte  109 bytes </a:t>
            </a:r>
          </a:p>
          <a:p>
            <a:pPr marL="919480" lvl="1" indent="-400050" defTabSz="-635" eaLnBrk="1" hangingPunct="1">
              <a:lnSpc>
                <a:spcPct val="80000"/>
              </a:lnSpc>
              <a:tabLst>
                <a:tab pos="287020" algn="l"/>
              </a:tabLst>
            </a:pPr>
            <a:r>
              <a:rPr lang="en-US" altLang="zh-CN" sz="1600">
                <a:ea typeface="SimSun" panose="02010600030101010101" pitchFamily="2" charset="-122"/>
              </a:rPr>
              <a:t>Terabyte  1012 bytes </a:t>
            </a:r>
          </a:p>
          <a:p>
            <a:pPr marL="919480" lvl="1" indent="-400050" defTabSz="-635" eaLnBrk="1" hangingPunct="1">
              <a:lnSpc>
                <a:spcPct val="80000"/>
              </a:lnSpc>
              <a:tabLst>
                <a:tab pos="287020" algn="l"/>
              </a:tabLst>
            </a:pPr>
            <a:r>
              <a:rPr lang="en-US" altLang="zh-CN" sz="1600">
                <a:ea typeface="SimSun" panose="02010600030101010101" pitchFamily="2" charset="-122"/>
              </a:rPr>
              <a:t>Petabyte  1015 bytes </a:t>
            </a:r>
          </a:p>
          <a:p>
            <a:pPr marL="919480" lvl="1" indent="-400050" defTabSz="-635" eaLnBrk="1" hangingPunct="1">
              <a:lnSpc>
                <a:spcPct val="80000"/>
              </a:lnSpc>
              <a:tabLst>
                <a:tab pos="287020" algn="l"/>
              </a:tabLst>
            </a:pPr>
            <a:r>
              <a:rPr lang="en-US" altLang="zh-CN" sz="1600">
                <a:ea typeface="SimSun" panose="02010600030101010101" pitchFamily="2" charset="-122"/>
              </a:rPr>
              <a:t>Exabyte  1018 bytes </a:t>
            </a:r>
          </a:p>
        </p:txBody>
      </p:sp>
      <p:sp>
        <p:nvSpPr>
          <p:cNvPr id="16388" name="Rectangle 4"/>
          <p:cNvSpPr>
            <a:spLocks noChangeArrowheads="1"/>
          </p:cNvSpPr>
          <p:nvPr/>
        </p:nvSpPr>
        <p:spPr bwMode="auto">
          <a:xfrm>
            <a:off x="1371600" y="1524000"/>
            <a:ext cx="7620000" cy="915988"/>
          </a:xfrm>
          <a:prstGeom prst="rect">
            <a:avLst/>
          </a:prstGeom>
          <a:noFill/>
          <a:ln w="9525">
            <a:noFill/>
            <a:miter lim="800000"/>
          </a:ln>
        </p:spPr>
        <p:txBody>
          <a:bodyPr lIns="0" rIns="0">
            <a:spAutoFit/>
          </a:bodyPr>
          <a:lstStyle/>
          <a:p>
            <a:r>
              <a:rPr lang="en-US">
                <a:solidFill>
                  <a:srgbClr val="33CCCC"/>
                </a:solidFill>
              </a:rPr>
              <a:t>Computer hardware</a:t>
            </a:r>
            <a:r>
              <a:rPr lang="en-US"/>
              <a:t> is composed of the following components: central processing unit (CPU), input devices, output devices, primary storage, secondary storage, and communication devices. </a:t>
            </a:r>
          </a:p>
        </p:txBody>
      </p:sp>
    </p:spTree>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sz="3200">
                <a:solidFill>
                  <a:schemeClr val="accent1">
                    <a:satMod val="150000"/>
                  </a:schemeClr>
                </a:solidFill>
              </a:rPr>
              <a:t>The Evolution Of Computer Hardware </a:t>
            </a:r>
          </a:p>
        </p:txBody>
      </p:sp>
      <p:sp>
        <p:nvSpPr>
          <p:cNvPr id="17411" name="Rectangle 3"/>
          <p:cNvSpPr>
            <a:spLocks noGrp="1" noChangeArrowheads="1"/>
          </p:cNvSpPr>
          <p:nvPr>
            <p:ph idx="1"/>
          </p:nvPr>
        </p:nvSpPr>
        <p:spPr>
          <a:xfrm>
            <a:off x="1219200" y="2971800"/>
            <a:ext cx="7620000" cy="2590800"/>
          </a:xfrm>
        </p:spPr>
        <p:txBody>
          <a:bodyPr/>
          <a:lstStyle/>
          <a:p>
            <a:pPr marL="476250" indent="-476250" defTabSz="-635" eaLnBrk="1" hangingPunct="1">
              <a:lnSpc>
                <a:spcPct val="85000"/>
              </a:lnSpc>
              <a:spcBef>
                <a:spcPct val="30000"/>
              </a:spcBef>
              <a:tabLst>
                <a:tab pos="287020" algn="l"/>
              </a:tabLst>
            </a:pPr>
            <a:r>
              <a:rPr lang="en-US" altLang="zh-CN" sz="1800">
                <a:solidFill>
                  <a:srgbClr val="33CCCC"/>
                </a:solidFill>
                <a:ea typeface="SimSun" panose="02010600030101010101" pitchFamily="2" charset="-122"/>
              </a:rPr>
              <a:t>First generation</a:t>
            </a:r>
            <a:r>
              <a:rPr lang="en-US" altLang="zh-CN" sz="1800">
                <a:ea typeface="SimSun" panose="02010600030101010101" pitchFamily="2" charset="-122"/>
              </a:rPr>
              <a:t> of computers, from 1946 to about 1956, used vacuum tubes to store and process information.</a:t>
            </a:r>
          </a:p>
          <a:p>
            <a:pPr marL="476250" indent="-476250" defTabSz="-635" eaLnBrk="1" hangingPunct="1">
              <a:lnSpc>
                <a:spcPct val="85000"/>
              </a:lnSpc>
              <a:spcBef>
                <a:spcPct val="30000"/>
              </a:spcBef>
              <a:tabLst>
                <a:tab pos="287020" algn="l"/>
              </a:tabLst>
            </a:pPr>
            <a:r>
              <a:rPr lang="en-US" altLang="zh-CN" sz="1800">
                <a:solidFill>
                  <a:srgbClr val="33CCCC"/>
                </a:solidFill>
                <a:ea typeface="SimSun" panose="02010600030101010101" pitchFamily="2" charset="-122"/>
              </a:rPr>
              <a:t>Second generation</a:t>
            </a:r>
            <a:r>
              <a:rPr lang="en-US" altLang="zh-CN" sz="1800">
                <a:ea typeface="SimSun" panose="02010600030101010101" pitchFamily="2" charset="-122"/>
              </a:rPr>
              <a:t> of computers, 1957–1963, used transistors for storing and processing information. </a:t>
            </a:r>
          </a:p>
          <a:p>
            <a:pPr marL="476250" indent="-476250" defTabSz="-635" eaLnBrk="1" hangingPunct="1">
              <a:lnSpc>
                <a:spcPct val="85000"/>
              </a:lnSpc>
              <a:spcBef>
                <a:spcPct val="30000"/>
              </a:spcBef>
              <a:tabLst>
                <a:tab pos="287020" algn="l"/>
              </a:tabLst>
            </a:pPr>
            <a:r>
              <a:rPr lang="en-US" altLang="zh-CN" sz="1800">
                <a:solidFill>
                  <a:srgbClr val="33CCCC"/>
                </a:solidFill>
                <a:ea typeface="SimSun" panose="02010600030101010101" pitchFamily="2" charset="-122"/>
              </a:rPr>
              <a:t>Third-generation</a:t>
            </a:r>
            <a:r>
              <a:rPr lang="en-US" altLang="zh-CN" sz="1800">
                <a:ea typeface="SimSun" panose="02010600030101010101" pitchFamily="2" charset="-122"/>
              </a:rPr>
              <a:t> computers, 1964–1979, used integrated circuits for storing and processing information. </a:t>
            </a:r>
          </a:p>
          <a:p>
            <a:pPr marL="476250" indent="-476250" defTabSz="-635" eaLnBrk="1" hangingPunct="1">
              <a:lnSpc>
                <a:spcPct val="85000"/>
              </a:lnSpc>
              <a:spcBef>
                <a:spcPct val="30000"/>
              </a:spcBef>
              <a:tabLst>
                <a:tab pos="287020" algn="l"/>
              </a:tabLst>
            </a:pPr>
            <a:r>
              <a:rPr lang="en-US" altLang="zh-CN" sz="1800">
                <a:solidFill>
                  <a:srgbClr val="33CCCC"/>
                </a:solidFill>
                <a:ea typeface="SimSun" panose="02010600030101010101" pitchFamily="2" charset="-122"/>
              </a:rPr>
              <a:t>Early to middle fourth-generation</a:t>
            </a:r>
            <a:r>
              <a:rPr lang="en-US" altLang="zh-CN" sz="1800">
                <a:ea typeface="SimSun" panose="02010600030101010101" pitchFamily="2" charset="-122"/>
              </a:rPr>
              <a:t> computers, 1980–1995, used very large-scale integrated (VLSI) circuits to store and process information.</a:t>
            </a:r>
          </a:p>
        </p:txBody>
      </p:sp>
      <p:sp>
        <p:nvSpPr>
          <p:cNvPr id="17412" name="Rectangle 4"/>
          <p:cNvSpPr>
            <a:spLocks noChangeArrowheads="1"/>
          </p:cNvSpPr>
          <p:nvPr/>
        </p:nvSpPr>
        <p:spPr bwMode="auto">
          <a:xfrm>
            <a:off x="1371600" y="1524000"/>
            <a:ext cx="7620000" cy="1190625"/>
          </a:xfrm>
          <a:prstGeom prst="rect">
            <a:avLst/>
          </a:prstGeom>
          <a:noFill/>
          <a:ln w="9525">
            <a:noFill/>
            <a:miter lim="800000"/>
          </a:ln>
        </p:spPr>
        <p:txBody>
          <a:bodyPr lIns="0" rIns="0">
            <a:spAutoFit/>
          </a:bodyPr>
          <a:lstStyle/>
          <a:p>
            <a:r>
              <a:rPr lang="en-US"/>
              <a:t>Computer hardware has evolved through four stages, or generations, of technology. </a:t>
            </a:r>
            <a:r>
              <a:rPr lang="en-US" dirty="0"/>
              <a:t>Each generation has provided increased processing power and storage capacity, while simultaneously exhibiting decreases in costs.</a:t>
            </a:r>
          </a:p>
        </p:txBody>
      </p:sp>
    </p:spTree>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1370013" y="301625"/>
            <a:ext cx="7545387" cy="1143000"/>
          </a:xfrm>
        </p:spPr>
        <p:txBody>
          <a:bodyPr/>
          <a:lstStyle/>
          <a:p>
            <a:pPr eaLnBrk="1" fontAlgn="auto" hangingPunct="1">
              <a:spcAft>
                <a:spcPts val="0"/>
              </a:spcAft>
              <a:defRPr/>
            </a:pPr>
            <a:r>
              <a:rPr lang="en-US" sz="3200">
                <a:solidFill>
                  <a:schemeClr val="accent1">
                    <a:satMod val="150000"/>
                  </a:schemeClr>
                </a:solidFill>
              </a:rPr>
              <a:t>The Evolution Of Computer Hardware </a:t>
            </a:r>
          </a:p>
        </p:txBody>
      </p:sp>
      <p:sp>
        <p:nvSpPr>
          <p:cNvPr id="18435" name="Rectangle 3"/>
          <p:cNvSpPr>
            <a:spLocks noGrp="1" noChangeArrowheads="1"/>
          </p:cNvSpPr>
          <p:nvPr>
            <p:ph type="body" sz="half" idx="1"/>
          </p:nvPr>
        </p:nvSpPr>
        <p:spPr>
          <a:xfrm>
            <a:off x="1371600" y="1905000"/>
            <a:ext cx="7391400" cy="1601788"/>
          </a:xfrm>
          <a:noFill/>
        </p:spPr>
        <p:txBody>
          <a:bodyPr/>
          <a:lstStyle/>
          <a:p>
            <a:pPr marL="476250" indent="-476250" defTabSz="-635" eaLnBrk="1" hangingPunct="1">
              <a:lnSpc>
                <a:spcPct val="85000"/>
              </a:lnSpc>
              <a:spcBef>
                <a:spcPct val="30000"/>
              </a:spcBef>
              <a:tabLst>
                <a:tab pos="287020" algn="l"/>
              </a:tabLst>
            </a:pPr>
            <a:r>
              <a:rPr lang="en-US" altLang="zh-CN" sz="1800">
                <a:solidFill>
                  <a:srgbClr val="33CCCC"/>
                </a:solidFill>
                <a:ea typeface="SimSun" panose="02010600030101010101" pitchFamily="2" charset="-122"/>
              </a:rPr>
              <a:t>Late fourth-generation</a:t>
            </a:r>
            <a:r>
              <a:rPr lang="en-US" altLang="zh-CN" sz="1800">
                <a:ea typeface="SimSun" panose="02010600030101010101" pitchFamily="2" charset="-122"/>
              </a:rPr>
              <a:t> computers, 1996 to the present, use grand-scale integrated (GSI) circuits to store and process information. </a:t>
            </a:r>
          </a:p>
          <a:p>
            <a:pPr marL="476250" indent="-476250" defTabSz="-635" eaLnBrk="1" hangingPunct="1">
              <a:lnSpc>
                <a:spcPct val="85000"/>
              </a:lnSpc>
              <a:spcBef>
                <a:spcPct val="30000"/>
              </a:spcBef>
              <a:tabLst>
                <a:tab pos="287020" algn="l"/>
              </a:tabLst>
            </a:pPr>
            <a:r>
              <a:rPr lang="en-US" altLang="zh-TW" sz="1800">
                <a:solidFill>
                  <a:srgbClr val="33CCCC"/>
                </a:solidFill>
              </a:rPr>
              <a:t>Fifth generation</a:t>
            </a:r>
            <a:r>
              <a:rPr lang="en-US" altLang="zh-TW" sz="1800"/>
              <a:t> of computers use massively parallel processing</a:t>
            </a:r>
            <a:r>
              <a:rPr lang="en-US" altLang="zh-TW" sz="1800" b="1"/>
              <a:t> </a:t>
            </a:r>
            <a:r>
              <a:rPr lang="en-US" altLang="zh-TW" sz="1800"/>
              <a:t>to process multiple instructions simultaneously.</a:t>
            </a:r>
            <a:endParaRPr lang="en-CA" altLang="zh-TW" sz="1800"/>
          </a:p>
        </p:txBody>
      </p:sp>
      <p:pic>
        <p:nvPicPr>
          <p:cNvPr id="18436" name="Picture 5"/>
          <p:cNvPicPr>
            <a:picLocks noGrp="1" noChangeAspect="1" noChangeArrowheads="1"/>
          </p:cNvPicPr>
          <p:nvPr>
            <p:ph sz="half" idx="2"/>
          </p:nvPr>
        </p:nvPicPr>
        <p:blipFill>
          <a:blip r:embed="rId2" cstate="print"/>
          <a:srcRect/>
          <a:stretch>
            <a:fillRect/>
          </a:stretch>
        </p:blipFill>
        <p:spPr>
          <a:xfrm>
            <a:off x="1295400" y="3657600"/>
            <a:ext cx="7620000" cy="2286000"/>
          </a:xfrm>
          <a:noFill/>
        </p:spPr>
      </p:pic>
      <p:sp>
        <p:nvSpPr>
          <p:cNvPr id="18437" name="Rectangle 4"/>
          <p:cNvSpPr>
            <a:spLocks noChangeArrowheads="1"/>
          </p:cNvSpPr>
          <p:nvPr/>
        </p:nvSpPr>
        <p:spPr bwMode="auto">
          <a:xfrm>
            <a:off x="1371600" y="1524000"/>
            <a:ext cx="7620000" cy="336550"/>
          </a:xfrm>
          <a:prstGeom prst="rect">
            <a:avLst/>
          </a:prstGeom>
          <a:noFill/>
          <a:ln w="9525">
            <a:noFill/>
            <a:miter lim="800000"/>
          </a:ln>
        </p:spPr>
        <p:txBody>
          <a:bodyPr lIns="0" rIns="0">
            <a:spAutoFit/>
          </a:bodyPr>
          <a:lstStyle/>
          <a:p>
            <a:r>
              <a:rPr lang="en-US" sz="1600">
                <a:solidFill>
                  <a:srgbClr val="33CCCC"/>
                </a:solidFill>
              </a:rPr>
              <a:t>Continued</a:t>
            </a:r>
          </a:p>
        </p:txBody>
      </p:sp>
    </p:spTree>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Types Of Computers </a:t>
            </a:r>
          </a:p>
        </p:txBody>
      </p:sp>
      <p:sp>
        <p:nvSpPr>
          <p:cNvPr id="20483" name="Rectangle 3"/>
          <p:cNvSpPr>
            <a:spLocks noGrp="1" noChangeArrowheads="1"/>
          </p:cNvSpPr>
          <p:nvPr>
            <p:ph type="body" sz="half" idx="1"/>
          </p:nvPr>
        </p:nvSpPr>
        <p:spPr>
          <a:xfrm>
            <a:off x="1143000" y="2209800"/>
            <a:ext cx="7696200" cy="4038600"/>
          </a:xfrm>
          <a:noFill/>
        </p:spPr>
        <p:txBody>
          <a:bodyPr/>
          <a:lstStyle/>
          <a:p>
            <a:pPr marL="349250" indent="-349250" defTabSz="-635" eaLnBrk="1" hangingPunct="1">
              <a:spcBef>
                <a:spcPct val="35000"/>
              </a:spcBef>
              <a:tabLst>
                <a:tab pos="287020" algn="l"/>
              </a:tabLst>
            </a:pPr>
            <a:r>
              <a:rPr lang="en-US" altLang="zh-CN" sz="1800">
                <a:solidFill>
                  <a:srgbClr val="33CCCC"/>
                </a:solidFill>
                <a:ea typeface="SimSun" panose="02010600030101010101" pitchFamily="2" charset="-122"/>
              </a:rPr>
              <a:t>Supercomputers</a:t>
            </a:r>
            <a:r>
              <a:rPr lang="en-US" altLang="zh-CN" sz="1800" b="1">
                <a:ea typeface="SimSun" panose="02010600030101010101" pitchFamily="2" charset="-122"/>
              </a:rPr>
              <a:t> </a:t>
            </a:r>
            <a:r>
              <a:rPr lang="en-US" altLang="zh-CN" sz="1800">
                <a:ea typeface="SimSun" panose="02010600030101010101" pitchFamily="2" charset="-122"/>
              </a:rPr>
              <a:t>are the computers with the most processing power. The primary application of supercomputers has been in scientific and military work, but their use is growing rapidly in business.</a:t>
            </a:r>
            <a:endParaRPr lang="en-US" altLang="zh-CN" sz="2500">
              <a:ea typeface="SimSun" panose="02010600030101010101" pitchFamily="2" charset="-122"/>
            </a:endParaRPr>
          </a:p>
          <a:p>
            <a:pPr marL="349250" indent="-349250" defTabSz="-635" eaLnBrk="1" hangingPunct="1">
              <a:spcBef>
                <a:spcPct val="35000"/>
              </a:spcBef>
              <a:tabLst>
                <a:tab pos="287020" algn="l"/>
              </a:tabLst>
            </a:pPr>
            <a:r>
              <a:rPr lang="en-US" altLang="zh-CN" sz="1800">
                <a:solidFill>
                  <a:srgbClr val="33CCCC"/>
                </a:solidFill>
                <a:ea typeface="SimSun" panose="02010600030101010101" pitchFamily="2" charset="-122"/>
              </a:rPr>
              <a:t>Mainframes </a:t>
            </a:r>
            <a:r>
              <a:rPr lang="en-US" altLang="zh-CN" sz="1800">
                <a:ea typeface="SimSun" panose="02010600030101010101" pitchFamily="2" charset="-122"/>
              </a:rPr>
              <a:t>are not as powerful and generally not as expensive as supercomputers. Large corporations, where data processing is centralized and large databases are maintained, most often use mainframe computers.</a:t>
            </a:r>
          </a:p>
          <a:p>
            <a:pPr marL="349250" indent="-349250" defTabSz="-635" eaLnBrk="1" hangingPunct="1">
              <a:spcBef>
                <a:spcPct val="35000"/>
              </a:spcBef>
              <a:tabLst>
                <a:tab pos="287020" algn="l"/>
              </a:tabLst>
            </a:pPr>
            <a:r>
              <a:rPr lang="en-US" altLang="zh-TW" sz="1800">
                <a:solidFill>
                  <a:srgbClr val="33CCCC"/>
                </a:solidFill>
              </a:rPr>
              <a:t>Minicomputers</a:t>
            </a:r>
            <a:r>
              <a:rPr lang="en-US" altLang="zh-TW" sz="1800"/>
              <a:t> are smaller and less expensive than mainframe computers. They are usually designed to accomplish specific tasks such as process control and engineering applications. Larger companies gain flexibility by distributing minicomputers in organizational units instead of centralizing at one location. </a:t>
            </a:r>
            <a:endParaRPr lang="en-CA" altLang="zh-TW" sz="1800"/>
          </a:p>
        </p:txBody>
      </p:sp>
      <p:pic>
        <p:nvPicPr>
          <p:cNvPr id="20484" name="Picture 7"/>
          <p:cNvPicPr>
            <a:picLocks noGrp="1" noChangeAspect="1" noChangeArrowheads="1"/>
          </p:cNvPicPr>
          <p:nvPr>
            <p:ph sz="half" idx="2"/>
          </p:nvPr>
        </p:nvPicPr>
        <p:blipFill>
          <a:blip r:embed="rId2" cstate="print"/>
          <a:srcRect/>
          <a:stretch>
            <a:fillRect/>
          </a:stretch>
        </p:blipFill>
        <p:spPr>
          <a:xfrm>
            <a:off x="6553200" y="381000"/>
            <a:ext cx="2365375" cy="990600"/>
          </a:xfrm>
        </p:spPr>
      </p:pic>
      <p:sp>
        <p:nvSpPr>
          <p:cNvPr id="20485" name="Rectangle 4"/>
          <p:cNvSpPr>
            <a:spLocks noChangeArrowheads="1"/>
          </p:cNvSpPr>
          <p:nvPr/>
        </p:nvSpPr>
        <p:spPr bwMode="auto">
          <a:xfrm>
            <a:off x="1371600" y="1524000"/>
            <a:ext cx="7620000" cy="641350"/>
          </a:xfrm>
          <a:prstGeom prst="rect">
            <a:avLst/>
          </a:prstGeom>
          <a:noFill/>
          <a:ln w="9525">
            <a:noFill/>
            <a:miter lim="800000"/>
          </a:ln>
        </p:spPr>
        <p:txBody>
          <a:bodyPr lIns="0" rIns="0">
            <a:spAutoFit/>
          </a:bodyPr>
          <a:lstStyle/>
          <a:p>
            <a:r>
              <a:rPr lang="en-US"/>
              <a:t>Computers are distinguished on the basis of their processing capabilities. </a:t>
            </a:r>
          </a:p>
        </p:txBody>
      </p:sp>
    </p:spTree>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Types Of Computers </a:t>
            </a:r>
            <a:r>
              <a:rPr lang="en-US" sz="1600">
                <a:solidFill>
                  <a:schemeClr val="accent1">
                    <a:satMod val="150000"/>
                  </a:schemeClr>
                </a:solidFill>
              </a:rPr>
              <a:t>Continued</a:t>
            </a:r>
          </a:p>
        </p:txBody>
      </p:sp>
      <p:sp>
        <p:nvSpPr>
          <p:cNvPr id="21507" name="Rectangle 3"/>
          <p:cNvSpPr>
            <a:spLocks noGrp="1" noChangeArrowheads="1"/>
          </p:cNvSpPr>
          <p:nvPr>
            <p:ph type="body" sz="half" idx="1"/>
          </p:nvPr>
        </p:nvSpPr>
        <p:spPr>
          <a:xfrm>
            <a:off x="1143000" y="2209800"/>
            <a:ext cx="7696200" cy="4038600"/>
          </a:xfrm>
          <a:noFill/>
        </p:spPr>
        <p:txBody>
          <a:bodyPr/>
          <a:lstStyle/>
          <a:p>
            <a:pPr marL="349250" indent="-349250" defTabSz="-635" eaLnBrk="1" hangingPunct="1">
              <a:tabLst>
                <a:tab pos="287020" algn="l"/>
              </a:tabLst>
            </a:pPr>
            <a:r>
              <a:rPr lang="en-US" altLang="zh-CN" sz="1800">
                <a:solidFill>
                  <a:srgbClr val="33CCCC"/>
                </a:solidFill>
                <a:ea typeface="SimSun" panose="02010600030101010101" pitchFamily="2" charset="-122"/>
              </a:rPr>
              <a:t>Servers </a:t>
            </a:r>
            <a:r>
              <a:rPr lang="en-US" altLang="zh-CN" sz="1800">
                <a:ea typeface="SimSun" panose="02010600030101010101" pitchFamily="2" charset="-122"/>
              </a:rPr>
              <a:t>typically support computer networks, enabling users to share files, software, peripheral devices and other network resources. </a:t>
            </a:r>
            <a:r>
              <a:rPr lang="en-US" altLang="zh-CN" sz="1800">
                <a:solidFill>
                  <a:srgbClr val="33CCCC"/>
                </a:solidFill>
                <a:ea typeface="SimSun" panose="02010600030101010101" pitchFamily="2" charset="-122"/>
              </a:rPr>
              <a:t>Server farms</a:t>
            </a:r>
            <a:r>
              <a:rPr lang="en-US" altLang="zh-CN" sz="1800">
                <a:ea typeface="SimSun" panose="02010600030101010101" pitchFamily="2" charset="-122"/>
              </a:rPr>
              <a:t> are large groups of servers.</a:t>
            </a:r>
          </a:p>
          <a:p>
            <a:pPr marL="349250" indent="-349250" defTabSz="-635" eaLnBrk="1" hangingPunct="1">
              <a:tabLst>
                <a:tab pos="287020" algn="l"/>
              </a:tabLst>
            </a:pPr>
            <a:r>
              <a:rPr lang="en-US" altLang="zh-CN" sz="1800">
                <a:solidFill>
                  <a:srgbClr val="33CCCC"/>
                </a:solidFill>
                <a:ea typeface="SimSun" panose="02010600030101010101" pitchFamily="2" charset="-122"/>
              </a:rPr>
              <a:t>Workstations</a:t>
            </a:r>
            <a:r>
              <a:rPr lang="en-US" altLang="zh-CN" sz="1800" b="1">
                <a:ea typeface="SimSun" panose="02010600030101010101" pitchFamily="2" charset="-122"/>
              </a:rPr>
              <a:t> </a:t>
            </a:r>
            <a:r>
              <a:rPr lang="en-US" altLang="zh-CN" sz="1800">
                <a:ea typeface="SimSun" panose="02010600030101010101" pitchFamily="2" charset="-122"/>
              </a:rPr>
              <a:t>provide high levels of performance to technical users such as designers and are typically based on RISC (reduced instruction set computing) architecture.</a:t>
            </a:r>
          </a:p>
          <a:p>
            <a:pPr marL="349250" indent="-349250" defTabSz="-635" eaLnBrk="1" hangingPunct="1">
              <a:tabLst>
                <a:tab pos="287020" algn="l"/>
              </a:tabLst>
            </a:pPr>
            <a:r>
              <a:rPr lang="en-US" altLang="zh-TW" sz="1800">
                <a:solidFill>
                  <a:srgbClr val="33CCCC"/>
                </a:solidFill>
              </a:rPr>
              <a:t>Microcomputers</a:t>
            </a:r>
            <a:r>
              <a:rPr lang="en-US" altLang="zh-TW" sz="1700" b="1"/>
              <a:t> </a:t>
            </a:r>
            <a:r>
              <a:rPr lang="en-US" altLang="zh-TW" sz="1700"/>
              <a:t>or personal computers (PCs), are the smallest and least expensive category of general-purpose computers. They may be subdivided into five classifications:</a:t>
            </a:r>
          </a:p>
          <a:p>
            <a:pPr marL="919480" lvl="1" indent="-400050" defTabSz="-635" eaLnBrk="1" hangingPunct="1">
              <a:tabLst>
                <a:tab pos="287020" algn="l"/>
              </a:tabLst>
            </a:pPr>
            <a:r>
              <a:rPr lang="en-US" altLang="zh-TW" sz="1500"/>
              <a:t>Desktops</a:t>
            </a:r>
          </a:p>
          <a:p>
            <a:pPr marL="919480" lvl="1" indent="-400050" defTabSz="-635" eaLnBrk="1" hangingPunct="1">
              <a:tabLst>
                <a:tab pos="287020" algn="l"/>
              </a:tabLst>
            </a:pPr>
            <a:r>
              <a:rPr lang="en-US" altLang="zh-TW" sz="1500"/>
              <a:t>Thin clients</a:t>
            </a:r>
          </a:p>
          <a:p>
            <a:pPr marL="919480" lvl="1" indent="-400050" defTabSz="-635" eaLnBrk="1" hangingPunct="1">
              <a:tabLst>
                <a:tab pos="287020" algn="l"/>
              </a:tabLst>
            </a:pPr>
            <a:r>
              <a:rPr lang="en-US" altLang="zh-TW" sz="1500"/>
              <a:t>Laptops</a:t>
            </a:r>
          </a:p>
          <a:p>
            <a:pPr marL="919480" lvl="1" indent="-400050" defTabSz="-635" eaLnBrk="1" hangingPunct="1">
              <a:tabLst>
                <a:tab pos="287020" algn="l"/>
              </a:tabLst>
            </a:pPr>
            <a:r>
              <a:rPr lang="en-US" altLang="zh-TW" sz="1500"/>
              <a:t>Notebooks,</a:t>
            </a:r>
          </a:p>
          <a:p>
            <a:pPr marL="919480" lvl="1" indent="-400050" defTabSz="-635" eaLnBrk="1" hangingPunct="1">
              <a:tabLst>
                <a:tab pos="287020" algn="l"/>
              </a:tabLst>
            </a:pPr>
            <a:r>
              <a:rPr lang="en-US" altLang="zh-TW" sz="1500"/>
              <a:t>Mobile devices</a:t>
            </a:r>
            <a:endParaRPr lang="en-CA" altLang="zh-TW" sz="1500"/>
          </a:p>
        </p:txBody>
      </p:sp>
      <p:pic>
        <p:nvPicPr>
          <p:cNvPr id="21508" name="Picture 7"/>
          <p:cNvPicPr>
            <a:picLocks noGrp="1" noChangeAspect="1" noChangeArrowheads="1"/>
          </p:cNvPicPr>
          <p:nvPr>
            <p:ph sz="half" idx="2"/>
          </p:nvPr>
        </p:nvPicPr>
        <p:blipFill>
          <a:blip r:embed="rId2" cstate="print"/>
          <a:srcRect/>
          <a:stretch>
            <a:fillRect/>
          </a:stretch>
        </p:blipFill>
        <p:spPr>
          <a:xfrm>
            <a:off x="4800600" y="4572000"/>
            <a:ext cx="2974975" cy="1903413"/>
          </a:xfrm>
        </p:spPr>
      </p:pic>
      <p:sp>
        <p:nvSpPr>
          <p:cNvPr id="21509" name="Rectangle 4"/>
          <p:cNvSpPr>
            <a:spLocks noChangeArrowheads="1"/>
          </p:cNvSpPr>
          <p:nvPr/>
        </p:nvSpPr>
        <p:spPr bwMode="auto">
          <a:xfrm>
            <a:off x="1371600" y="1524000"/>
            <a:ext cx="7620000" cy="641350"/>
          </a:xfrm>
          <a:prstGeom prst="rect">
            <a:avLst/>
          </a:prstGeom>
          <a:noFill/>
          <a:ln w="9525">
            <a:noFill/>
            <a:miter lim="800000"/>
          </a:ln>
        </p:spPr>
        <p:txBody>
          <a:bodyPr lIns="0" rIns="0">
            <a:spAutoFit/>
          </a:bodyPr>
          <a:lstStyle/>
          <a:p>
            <a:r>
              <a:rPr lang="en-US"/>
              <a:t>Computers are distinguished on the basis of their processing capabilities. </a:t>
            </a:r>
          </a:p>
        </p:txBody>
      </p:sp>
    </p:spTree>
  </p:cSld>
  <p:clrMapOvr>
    <a:masterClrMapping/>
  </p:clrMapOvr>
  <p:transition spd="med">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Types Of Computers </a:t>
            </a:r>
            <a:r>
              <a:rPr lang="en-US" sz="1600">
                <a:solidFill>
                  <a:schemeClr val="accent1">
                    <a:satMod val="150000"/>
                  </a:schemeClr>
                </a:solidFill>
              </a:rPr>
              <a:t>Continued</a:t>
            </a:r>
          </a:p>
        </p:txBody>
      </p:sp>
      <p:sp>
        <p:nvSpPr>
          <p:cNvPr id="22531" name="Rectangle 3"/>
          <p:cNvSpPr>
            <a:spLocks noGrp="1" noChangeArrowheads="1"/>
          </p:cNvSpPr>
          <p:nvPr>
            <p:ph type="body" sz="half" idx="1"/>
          </p:nvPr>
        </p:nvSpPr>
        <p:spPr>
          <a:xfrm>
            <a:off x="1143000" y="1676400"/>
            <a:ext cx="7848600" cy="4038600"/>
          </a:xfrm>
          <a:noFill/>
        </p:spPr>
        <p:txBody>
          <a:bodyPr/>
          <a:lstStyle/>
          <a:p>
            <a:pPr marL="349250" indent="-349250" defTabSz="-635" eaLnBrk="1" hangingPunct="1">
              <a:lnSpc>
                <a:spcPct val="85000"/>
              </a:lnSpc>
              <a:spcBef>
                <a:spcPct val="40000"/>
              </a:spcBef>
              <a:tabLst>
                <a:tab pos="287020" algn="l"/>
              </a:tabLst>
            </a:pPr>
            <a:r>
              <a:rPr lang="en-US" altLang="zh-CN" sz="1800">
                <a:solidFill>
                  <a:srgbClr val="33CCCC"/>
                </a:solidFill>
                <a:ea typeface="SimSun" panose="02010600030101010101" pitchFamily="2" charset="-122"/>
              </a:rPr>
              <a:t>Desktop personal computer</a:t>
            </a:r>
            <a:r>
              <a:rPr lang="en-US" altLang="zh-CN" sz="1800" b="1">
                <a:ea typeface="SimSun" panose="02010600030101010101" pitchFamily="2" charset="-122"/>
              </a:rPr>
              <a:t> </a:t>
            </a:r>
            <a:r>
              <a:rPr lang="en-US" altLang="zh-CN" sz="1800">
                <a:ea typeface="SimSun" panose="02010600030101010101" pitchFamily="2" charset="-122"/>
              </a:rPr>
              <a:t>is the typical, familiar microcomputer system.</a:t>
            </a:r>
            <a:endParaRPr lang="en-US" altLang="zh-CN" sz="1800" b="1">
              <a:ea typeface="SimSun" panose="02010600030101010101" pitchFamily="2" charset="-122"/>
            </a:endParaRPr>
          </a:p>
          <a:p>
            <a:pPr marL="349250" indent="-349250" defTabSz="-635" eaLnBrk="1" hangingPunct="1">
              <a:lnSpc>
                <a:spcPct val="85000"/>
              </a:lnSpc>
              <a:spcBef>
                <a:spcPct val="40000"/>
              </a:spcBef>
              <a:tabLst>
                <a:tab pos="287020" algn="l"/>
              </a:tabLst>
            </a:pPr>
            <a:r>
              <a:rPr lang="en-US" altLang="zh-CN" sz="1800">
                <a:solidFill>
                  <a:srgbClr val="33CCCC"/>
                </a:solidFill>
                <a:ea typeface="SimSun" panose="02010600030101010101" pitchFamily="2" charset="-122"/>
              </a:rPr>
              <a:t>Thin-client systems</a:t>
            </a:r>
            <a:r>
              <a:rPr lang="en-US" altLang="zh-CN" sz="1800" b="1">
                <a:ea typeface="SimSun" panose="02010600030101010101" pitchFamily="2" charset="-122"/>
              </a:rPr>
              <a:t> </a:t>
            </a:r>
            <a:r>
              <a:rPr lang="en-US" altLang="zh-CN" sz="1800">
                <a:ea typeface="SimSun" panose="02010600030101010101" pitchFamily="2" charset="-122"/>
              </a:rPr>
              <a:t>are desktop computer systems that do not offer the full functionality of a PC. </a:t>
            </a:r>
          </a:p>
          <a:p>
            <a:pPr marL="919480" lvl="1" indent="-400050" defTabSz="-635" eaLnBrk="1" hangingPunct="1">
              <a:lnSpc>
                <a:spcPct val="85000"/>
              </a:lnSpc>
              <a:spcBef>
                <a:spcPct val="40000"/>
              </a:spcBef>
              <a:tabLst>
                <a:tab pos="287020" algn="l"/>
              </a:tabLst>
            </a:pPr>
            <a:r>
              <a:rPr lang="en-US" altLang="zh-CN" sz="1600">
                <a:ea typeface="SimSun" panose="02010600030101010101" pitchFamily="2" charset="-122"/>
              </a:rPr>
              <a:t>One type of thin client is the </a:t>
            </a:r>
            <a:r>
              <a:rPr lang="en-US" altLang="zh-CN" sz="1600" i="1">
                <a:ea typeface="SimSun" panose="02010600030101010101" pitchFamily="2" charset="-122"/>
              </a:rPr>
              <a:t>terminal</a:t>
            </a:r>
            <a:endParaRPr lang="en-US" altLang="zh-CN" sz="1600">
              <a:ea typeface="SimSun" panose="02010600030101010101" pitchFamily="2" charset="-122"/>
            </a:endParaRPr>
          </a:p>
          <a:p>
            <a:pPr marL="919480" lvl="1" indent="-400050" defTabSz="-635" eaLnBrk="1" hangingPunct="1">
              <a:lnSpc>
                <a:spcPct val="85000"/>
              </a:lnSpc>
              <a:spcBef>
                <a:spcPct val="40000"/>
              </a:spcBef>
              <a:tabLst>
                <a:tab pos="287020" algn="l"/>
              </a:tabLst>
            </a:pPr>
            <a:r>
              <a:rPr lang="en-US" altLang="zh-CN" sz="1600">
                <a:ea typeface="SimSun" panose="02010600030101010101" pitchFamily="2" charset="-122"/>
              </a:rPr>
              <a:t>Another type of thin client is a </a:t>
            </a:r>
            <a:r>
              <a:rPr lang="en-US" altLang="zh-CN" sz="1600" i="1">
                <a:ea typeface="SimSun" panose="02010600030101010101" pitchFamily="2" charset="-122"/>
              </a:rPr>
              <a:t>network computer.</a:t>
            </a:r>
          </a:p>
          <a:p>
            <a:pPr marL="349250" indent="-349250" defTabSz="-635" eaLnBrk="1" hangingPunct="1">
              <a:lnSpc>
                <a:spcPct val="85000"/>
              </a:lnSpc>
              <a:spcBef>
                <a:spcPct val="40000"/>
              </a:spcBef>
              <a:tabLst>
                <a:tab pos="287020" algn="l"/>
              </a:tabLst>
            </a:pPr>
            <a:r>
              <a:rPr lang="en-US" altLang="zh-CN" sz="1800">
                <a:solidFill>
                  <a:srgbClr val="33CCCC"/>
                </a:solidFill>
                <a:ea typeface="SimSun" panose="02010600030101010101" pitchFamily="2" charset="-122"/>
              </a:rPr>
              <a:t>Laptop computers</a:t>
            </a:r>
            <a:r>
              <a:rPr lang="en-US" altLang="zh-CN" sz="1800" b="1">
                <a:ea typeface="SimSun" panose="02010600030101010101" pitchFamily="2" charset="-122"/>
              </a:rPr>
              <a:t> </a:t>
            </a:r>
            <a:r>
              <a:rPr lang="en-US" altLang="zh-CN" sz="1800">
                <a:ea typeface="SimSun" panose="02010600030101010101" pitchFamily="2" charset="-122"/>
              </a:rPr>
              <a:t>are small, easily transportable, lightweight microcomputers that easily fit into a briefcase</a:t>
            </a:r>
            <a:endParaRPr lang="en-US" altLang="zh-CN" sz="1800" b="1">
              <a:ea typeface="SimSun" panose="02010600030101010101" pitchFamily="2" charset="-122"/>
            </a:endParaRPr>
          </a:p>
          <a:p>
            <a:pPr marL="349250" indent="-349250" defTabSz="-635" eaLnBrk="1" hangingPunct="1">
              <a:lnSpc>
                <a:spcPct val="85000"/>
              </a:lnSpc>
              <a:spcBef>
                <a:spcPct val="40000"/>
              </a:spcBef>
              <a:tabLst>
                <a:tab pos="287020" algn="l"/>
              </a:tabLst>
            </a:pPr>
            <a:r>
              <a:rPr lang="en-US" altLang="zh-CN" sz="1800">
                <a:solidFill>
                  <a:srgbClr val="33CCCC"/>
                </a:solidFill>
                <a:ea typeface="SimSun" panose="02010600030101010101" pitchFamily="2" charset="-122"/>
              </a:rPr>
              <a:t>Notebooks</a:t>
            </a:r>
            <a:r>
              <a:rPr lang="en-US" altLang="zh-CN" sz="1800" b="1">
                <a:ea typeface="SimSun" panose="02010600030101010101" pitchFamily="2" charset="-122"/>
              </a:rPr>
              <a:t> </a:t>
            </a:r>
            <a:r>
              <a:rPr lang="en-US" altLang="zh-CN" sz="1800">
                <a:ea typeface="SimSun" panose="02010600030101010101" pitchFamily="2" charset="-122"/>
              </a:rPr>
              <a:t>are smaller laptops.</a:t>
            </a:r>
            <a:endParaRPr lang="en-US" altLang="zh-CN" sz="1800" b="1">
              <a:ea typeface="SimSun" panose="02010600030101010101" pitchFamily="2" charset="-122"/>
            </a:endParaRPr>
          </a:p>
          <a:p>
            <a:pPr marL="349250" indent="-349250" defTabSz="-635" eaLnBrk="1" hangingPunct="1">
              <a:lnSpc>
                <a:spcPct val="85000"/>
              </a:lnSpc>
              <a:spcBef>
                <a:spcPct val="40000"/>
              </a:spcBef>
              <a:tabLst>
                <a:tab pos="287020" algn="l"/>
              </a:tabLst>
            </a:pPr>
            <a:r>
              <a:rPr lang="en-US" altLang="zh-CN" sz="1800">
                <a:solidFill>
                  <a:srgbClr val="33CCCC"/>
                </a:solidFill>
                <a:ea typeface="SimSun" panose="02010600030101010101" pitchFamily="2" charset="-122"/>
              </a:rPr>
              <a:t>Mobile devices</a:t>
            </a:r>
            <a:r>
              <a:rPr lang="en-US" altLang="zh-CN" sz="1800" b="1">
                <a:ea typeface="SimSun" panose="02010600030101010101" pitchFamily="2" charset="-122"/>
              </a:rPr>
              <a:t> </a:t>
            </a:r>
            <a:r>
              <a:rPr lang="en-US" altLang="zh-CN" sz="1800">
                <a:ea typeface="SimSun" panose="02010600030101010101" pitchFamily="2" charset="-122"/>
              </a:rPr>
              <a:t>as handheld computers, often called personal digital assistants (PDAs)</a:t>
            </a:r>
            <a:r>
              <a:rPr lang="en-US" altLang="zh-CN" sz="1800" b="1">
                <a:ea typeface="SimSun" panose="02010600030101010101" pitchFamily="2" charset="-122"/>
              </a:rPr>
              <a:t> </a:t>
            </a:r>
            <a:r>
              <a:rPr lang="en-US" altLang="zh-CN" sz="1800">
                <a:ea typeface="SimSun" panose="02010600030101010101" pitchFamily="2" charset="-122"/>
              </a:rPr>
              <a:t>or handheld personal computers.</a:t>
            </a:r>
            <a:endParaRPr lang="en-CA" altLang="zh-TW" sz="1800"/>
          </a:p>
        </p:txBody>
      </p:sp>
      <p:pic>
        <p:nvPicPr>
          <p:cNvPr id="22532" name="Picture 5"/>
          <p:cNvPicPr>
            <a:picLocks noGrp="1" noChangeAspect="1" noChangeArrowheads="1"/>
          </p:cNvPicPr>
          <p:nvPr>
            <p:ph sz="half" idx="2"/>
          </p:nvPr>
        </p:nvPicPr>
        <p:blipFill>
          <a:blip r:embed="rId2" cstate="print"/>
          <a:srcRect/>
          <a:stretch>
            <a:fillRect/>
          </a:stretch>
        </p:blipFill>
        <p:spPr>
          <a:xfrm>
            <a:off x="5692775" y="2751138"/>
            <a:ext cx="2400300" cy="2266950"/>
          </a:xfrm>
        </p:spPr>
      </p:pic>
    </p:spTree>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a:xfrm>
            <a:off x="1370013" y="301625"/>
            <a:ext cx="7621587" cy="1143000"/>
          </a:xfrm>
        </p:spPr>
        <p:txBody>
          <a:bodyPr/>
          <a:lstStyle/>
          <a:p>
            <a:pPr eaLnBrk="1" fontAlgn="auto" hangingPunct="1">
              <a:spcAft>
                <a:spcPts val="0"/>
              </a:spcAft>
              <a:defRPr/>
            </a:pPr>
            <a:r>
              <a:rPr lang="en-US">
                <a:solidFill>
                  <a:schemeClr val="accent1">
                    <a:satMod val="150000"/>
                  </a:schemeClr>
                </a:solidFill>
              </a:rPr>
              <a:t>Types Of Computers </a:t>
            </a:r>
            <a:r>
              <a:rPr lang="en-US" sz="2800">
                <a:solidFill>
                  <a:schemeClr val="accent1">
                    <a:satMod val="150000"/>
                  </a:schemeClr>
                </a:solidFill>
              </a:rPr>
              <a:t>Mobile Devices</a:t>
            </a:r>
            <a:endParaRPr lang="en-US" sz="1200">
              <a:solidFill>
                <a:schemeClr val="accent1">
                  <a:satMod val="150000"/>
                </a:schemeClr>
              </a:solidFill>
            </a:endParaRPr>
          </a:p>
        </p:txBody>
      </p:sp>
      <p:pic>
        <p:nvPicPr>
          <p:cNvPr id="23555" name="Picture 5"/>
          <p:cNvPicPr>
            <a:picLocks noGrp="1" noChangeAspect="1" noChangeArrowheads="1"/>
          </p:cNvPicPr>
          <p:nvPr>
            <p:ph sz="half" idx="2"/>
          </p:nvPr>
        </p:nvPicPr>
        <p:blipFill>
          <a:blip r:embed="rId2" cstate="print"/>
          <a:srcRect/>
          <a:stretch>
            <a:fillRect/>
          </a:stretch>
        </p:blipFill>
        <p:spPr>
          <a:xfrm>
            <a:off x="1524000" y="1600200"/>
            <a:ext cx="7159625" cy="4341813"/>
          </a:xfrm>
        </p:spPr>
      </p:pic>
      <p:sp>
        <p:nvSpPr>
          <p:cNvPr id="560135" name="Rectangle 7"/>
          <p:cNvSpPr>
            <a:spLocks noChangeArrowheads="1"/>
          </p:cNvSpPr>
          <p:nvPr/>
        </p:nvSpPr>
        <p:spPr bwMode="auto">
          <a:xfrm>
            <a:off x="1676400" y="5867400"/>
            <a:ext cx="6934200" cy="581025"/>
          </a:xfrm>
          <a:prstGeom prst="rect">
            <a:avLst/>
          </a:prstGeom>
          <a:noFill/>
          <a:ln w="9525" algn="ctr">
            <a:noFill/>
            <a:miter lim="800000"/>
          </a:ln>
          <a:effectLst/>
        </p:spPr>
        <p:txBody>
          <a:bodyPr anchor="ctr">
            <a:spAutoFit/>
          </a:bodyPr>
          <a:lstStyle/>
          <a:p>
            <a:pPr algn="ctr">
              <a:defRPr/>
            </a:pPr>
            <a:r>
              <a:rPr lang="en-US" sz="1600" b="1">
                <a:solidFill>
                  <a:srgbClr val="0066FF"/>
                </a:solidFill>
                <a:effectLst>
                  <a:outerShdw blurRad="38100" dist="38100" dir="2700000" algn="tl">
                    <a:srgbClr val="C0C0C0"/>
                  </a:outerShdw>
                </a:effectLst>
                <a:ea typeface="PMingLiU" panose="02020500000000000000" pitchFamily="18" charset="-120"/>
              </a:rPr>
              <a:t>Some mobile devices offer mapping capabilities using GPS. Global positioning systems </a:t>
            </a:r>
          </a:p>
        </p:txBody>
      </p:sp>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a:xfrm>
            <a:off x="1219200" y="301625"/>
            <a:ext cx="7772400" cy="1143000"/>
          </a:xfrm>
        </p:spPr>
        <p:txBody>
          <a:bodyPr/>
          <a:lstStyle/>
          <a:p>
            <a:pPr eaLnBrk="1" fontAlgn="auto" hangingPunct="1">
              <a:spcAft>
                <a:spcPts val="0"/>
              </a:spcAft>
              <a:defRPr/>
            </a:pPr>
            <a:r>
              <a:rPr lang="en-US">
                <a:solidFill>
                  <a:schemeClr val="accent1">
                    <a:satMod val="150000"/>
                  </a:schemeClr>
                </a:solidFill>
              </a:rPr>
              <a:t>Types Of Computers </a:t>
            </a:r>
            <a:r>
              <a:rPr lang="en-US" sz="2400">
                <a:solidFill>
                  <a:schemeClr val="accent1">
                    <a:satMod val="150000"/>
                  </a:schemeClr>
                </a:solidFill>
              </a:rPr>
              <a:t>Other Mobile Devices</a:t>
            </a:r>
          </a:p>
        </p:txBody>
      </p:sp>
      <p:sp>
        <p:nvSpPr>
          <p:cNvPr id="24579" name="Rectangle 3"/>
          <p:cNvSpPr>
            <a:spLocks noGrp="1" noChangeArrowheads="1"/>
          </p:cNvSpPr>
          <p:nvPr>
            <p:ph type="body" sz="half" idx="1"/>
          </p:nvPr>
        </p:nvSpPr>
        <p:spPr>
          <a:xfrm>
            <a:off x="1143000" y="1676400"/>
            <a:ext cx="7848600" cy="4419600"/>
          </a:xfrm>
          <a:noFill/>
        </p:spPr>
        <p:txBody>
          <a:bodyPr/>
          <a:lstStyle/>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Tablet PC technology runs touch-sensitive displays that you tap with a pen, forgoing a mouse or touch pad.</a:t>
            </a:r>
          </a:p>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Wearable computers are designed to be worn and used on the body.</a:t>
            </a:r>
          </a:p>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Embedded computers are placed inside other products to add features and capabilities.</a:t>
            </a:r>
          </a:p>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Active badges are worn as ID cards by employees who wish to stay in touch at all times while moving around the corporate premises.</a:t>
            </a:r>
          </a:p>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Memory buttons are nickel-sized devices that store a small database relating to whatever it is attached to.</a:t>
            </a:r>
          </a:p>
          <a:p>
            <a:pPr marL="349250" indent="-349250" defTabSz="-635" eaLnBrk="1" hangingPunct="1">
              <a:lnSpc>
                <a:spcPct val="85000"/>
              </a:lnSpc>
              <a:spcBef>
                <a:spcPct val="30000"/>
              </a:spcBef>
              <a:tabLst>
                <a:tab pos="287020" algn="l"/>
              </a:tabLst>
            </a:pPr>
            <a:r>
              <a:rPr lang="en-US" altLang="zh-CN" sz="1800">
                <a:ea typeface="SimSun" panose="02010600030101010101" pitchFamily="2" charset="-122"/>
              </a:rPr>
              <a:t>Smart cards </a:t>
            </a:r>
            <a:r>
              <a:rPr lang="en-US" altLang="zh-CN" sz="1400">
                <a:ea typeface="SimSun" panose="02010600030101010101" pitchFamily="2" charset="-122"/>
              </a:rPr>
              <a:t>which has resulted from the continuing shrinkage of integrated circuits</a:t>
            </a:r>
            <a:r>
              <a:rPr lang="en-US" altLang="zh-CN" sz="1800">
                <a:ea typeface="SimSun" panose="02010600030101010101" pitchFamily="2" charset="-122"/>
              </a:rPr>
              <a:t> are similar in size and thickness to ordinary plastic credit cards. They contain a small CPU, memory, and an input/output device that allow these “computers” to be used in everyday activities such.</a:t>
            </a:r>
            <a:r>
              <a:rPr lang="en-US" altLang="zh-CN" sz="1700">
                <a:ea typeface="SimSun" panose="02010600030101010101" pitchFamily="2" charset="-122"/>
              </a:rPr>
              <a:t> </a:t>
            </a:r>
            <a:endParaRPr lang="en-CA" altLang="zh-TW" sz="1700"/>
          </a:p>
        </p:txBody>
      </p:sp>
      <p:pic>
        <p:nvPicPr>
          <p:cNvPr id="24580" name="Picture 5"/>
          <p:cNvPicPr>
            <a:picLocks noGrp="1" noChangeAspect="1" noChangeArrowheads="1"/>
          </p:cNvPicPr>
          <p:nvPr>
            <p:ph sz="half" idx="2"/>
          </p:nvPr>
        </p:nvPicPr>
        <p:blipFill>
          <a:blip r:embed="rId2" cstate="print"/>
          <a:srcRect/>
          <a:stretch>
            <a:fillRect/>
          </a:stretch>
        </p:blipFill>
        <p:spPr>
          <a:xfrm rot="20539088">
            <a:off x="609600" y="5105400"/>
            <a:ext cx="635000" cy="989013"/>
          </a:xfrm>
        </p:spPr>
      </p:pic>
    </p:spTree>
  </p:cSld>
  <p:clrMapOvr>
    <a:masterClrMapping/>
  </p:clrMapOvr>
  <p:transition spd="med">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The Microprocessor </a:t>
            </a:r>
          </a:p>
        </p:txBody>
      </p:sp>
      <p:sp>
        <p:nvSpPr>
          <p:cNvPr id="562179" name="Rectangle 3"/>
          <p:cNvSpPr>
            <a:spLocks noGrp="1" noChangeArrowheads="1"/>
          </p:cNvSpPr>
          <p:nvPr>
            <p:ph type="body" sz="half" idx="1"/>
          </p:nvPr>
        </p:nvSpPr>
        <p:spPr>
          <a:xfrm>
            <a:off x="1447800" y="2667000"/>
            <a:ext cx="6553200" cy="1524000"/>
          </a:xfrm>
        </p:spPr>
        <p:txBody>
          <a:bodyPr rtlCol="0">
            <a:normAutofit lnSpcReduction="10000"/>
          </a:bodyPr>
          <a:lstStyle/>
          <a:p>
            <a:pPr marL="349250" indent="-349250" defTabSz="-635" eaLnBrk="1" fontAlgn="auto" hangingPunct="1">
              <a:spcBef>
                <a:spcPct val="35000"/>
              </a:spcBef>
              <a:spcAft>
                <a:spcPts val="0"/>
              </a:spcAft>
              <a:buFont typeface="Wingdings 2"/>
              <a:buChar char=""/>
              <a:tabLst>
                <a:tab pos="287020" algn="l"/>
              </a:tabLst>
              <a:defRPr/>
            </a:pPr>
            <a:r>
              <a:rPr lang="en-US" altLang="zh-CN" sz="2000">
                <a:ea typeface="SimSun" panose="02010600030101010101" pitchFamily="2" charset="-122"/>
              </a:rPr>
              <a:t>The CPU consists of the </a:t>
            </a:r>
          </a:p>
          <a:p>
            <a:pPr marL="919480" lvl="1" indent="-400050" defTabSz="-635" eaLnBrk="1" fontAlgn="auto" hangingPunct="1">
              <a:spcBef>
                <a:spcPct val="35000"/>
              </a:spcBef>
              <a:spcAft>
                <a:spcPts val="0"/>
              </a:spcAft>
              <a:buFont typeface="Wingdings" panose="05000000000000000000"/>
              <a:buChar char=""/>
              <a:tabLst>
                <a:tab pos="287020" algn="l"/>
              </a:tabLst>
              <a:defRPr/>
            </a:pPr>
            <a:r>
              <a:rPr lang="en-US" altLang="zh-CN" sz="1800">
                <a:ea typeface="SimSun" panose="02010600030101010101" pitchFamily="2" charset="-122"/>
              </a:rPr>
              <a:t>Control unit</a:t>
            </a:r>
          </a:p>
          <a:p>
            <a:pPr marL="919480" lvl="1" indent="-400050" defTabSz="-635" eaLnBrk="1" fontAlgn="auto" hangingPunct="1">
              <a:spcBef>
                <a:spcPct val="35000"/>
              </a:spcBef>
              <a:spcAft>
                <a:spcPts val="0"/>
              </a:spcAft>
              <a:buFont typeface="Wingdings" panose="05000000000000000000"/>
              <a:buChar char=""/>
              <a:tabLst>
                <a:tab pos="287020" algn="l"/>
              </a:tabLst>
              <a:defRPr/>
            </a:pPr>
            <a:r>
              <a:rPr lang="en-US" altLang="zh-CN" sz="1800">
                <a:ea typeface="SimSun" panose="02010600030101010101" pitchFamily="2" charset="-122"/>
              </a:rPr>
              <a:t>Arithmetic-logic unit (ALU)</a:t>
            </a:r>
          </a:p>
          <a:p>
            <a:pPr marL="919480" lvl="1" indent="-400050" defTabSz="-635" eaLnBrk="1" fontAlgn="auto" hangingPunct="1">
              <a:spcBef>
                <a:spcPct val="35000"/>
              </a:spcBef>
              <a:spcAft>
                <a:spcPts val="0"/>
              </a:spcAft>
              <a:buFont typeface="Wingdings" panose="05000000000000000000"/>
              <a:buChar char=""/>
              <a:tabLst>
                <a:tab pos="287020" algn="l"/>
              </a:tabLst>
              <a:defRPr/>
            </a:pPr>
            <a:r>
              <a:rPr lang="en-US" altLang="zh-CN" sz="1800">
                <a:ea typeface="SimSun" panose="02010600030101010101" pitchFamily="2" charset="-122"/>
              </a:rPr>
              <a:t>Primary storage (or main memory) </a:t>
            </a:r>
            <a:endParaRPr lang="en-CA" altLang="zh-TW" sz="1800"/>
          </a:p>
        </p:txBody>
      </p:sp>
      <p:pic>
        <p:nvPicPr>
          <p:cNvPr id="25604" name="Picture 7"/>
          <p:cNvPicPr>
            <a:picLocks noGrp="1" noChangeAspect="1" noChangeArrowheads="1"/>
          </p:cNvPicPr>
          <p:nvPr>
            <p:ph sz="half" idx="2"/>
          </p:nvPr>
        </p:nvPicPr>
        <p:blipFill>
          <a:blip r:embed="rId2" cstate="print"/>
          <a:srcRect/>
          <a:stretch>
            <a:fillRect/>
          </a:stretch>
        </p:blipFill>
        <p:spPr>
          <a:xfrm>
            <a:off x="838200" y="4038600"/>
            <a:ext cx="7010400" cy="2438400"/>
          </a:xfrm>
          <a:noFill/>
        </p:spPr>
      </p:pic>
      <p:sp>
        <p:nvSpPr>
          <p:cNvPr id="25605" name="Rectangle 4"/>
          <p:cNvSpPr>
            <a:spLocks noChangeArrowheads="1"/>
          </p:cNvSpPr>
          <p:nvPr/>
        </p:nvSpPr>
        <p:spPr bwMode="auto">
          <a:xfrm>
            <a:off x="1371600" y="1524000"/>
            <a:ext cx="7620000" cy="1190625"/>
          </a:xfrm>
          <a:prstGeom prst="rect">
            <a:avLst/>
          </a:prstGeom>
          <a:noFill/>
          <a:ln w="9525">
            <a:noFill/>
            <a:miter lim="800000"/>
          </a:ln>
        </p:spPr>
        <p:txBody>
          <a:bodyPr lIns="0" rIns="0">
            <a:spAutoFit/>
          </a:bodyPr>
          <a:lstStyle/>
          <a:p>
            <a:r>
              <a:rPr lang="en-US"/>
              <a:t>The </a:t>
            </a:r>
            <a:r>
              <a:rPr lang="en-US">
                <a:solidFill>
                  <a:srgbClr val="33CCCC"/>
                </a:solidFill>
              </a:rPr>
              <a:t>central processing unit (CPU)</a:t>
            </a:r>
            <a:r>
              <a:rPr lang="en-US" b="1"/>
              <a:t> </a:t>
            </a:r>
            <a:r>
              <a:rPr lang="en-US"/>
              <a:t>is the center of all computer-processing activities, where all processing is controlled, data are manipulated, arithmetic computations are performed, and logical comparisons are made. </a:t>
            </a:r>
          </a:p>
        </p:txBody>
      </p:sp>
    </p:spTree>
  </p:cSld>
  <p:clrMapOvr>
    <a:masterClrMapping/>
  </p:clrMapOvr>
  <p:transition spd="med">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C242CE-1C07-C98A-FDAC-80B00AA41921}"/>
              </a:ext>
            </a:extLst>
          </p:cNvPr>
          <p:cNvPicPr>
            <a:picLocks noChangeAspect="1"/>
          </p:cNvPicPr>
          <p:nvPr/>
        </p:nvPicPr>
        <p:blipFill>
          <a:blip r:embed="rId2"/>
          <a:stretch>
            <a:fillRect/>
          </a:stretch>
        </p:blipFill>
        <p:spPr>
          <a:xfrm>
            <a:off x="3159130" y="2057400"/>
            <a:ext cx="2825739" cy="2325514"/>
          </a:xfrm>
          <a:prstGeom prst="rect">
            <a:avLst/>
          </a:prstGeom>
        </p:spPr>
      </p:pic>
      <p:sp>
        <p:nvSpPr>
          <p:cNvPr id="6" name="TextBox 5">
            <a:extLst>
              <a:ext uri="{FF2B5EF4-FFF2-40B4-BE49-F238E27FC236}">
                <a16:creationId xmlns:a16="http://schemas.microsoft.com/office/drawing/2014/main" id="{49A5D8D9-6316-5E62-0773-DDBB6B9D3F88}"/>
              </a:ext>
            </a:extLst>
          </p:cNvPr>
          <p:cNvSpPr txBox="1"/>
          <p:nvPr/>
        </p:nvSpPr>
        <p:spPr>
          <a:xfrm>
            <a:off x="609599" y="4800600"/>
            <a:ext cx="7924800" cy="307777"/>
          </a:xfrm>
          <a:prstGeom prst="rect">
            <a:avLst/>
          </a:prstGeom>
          <a:noFill/>
        </p:spPr>
        <p:txBody>
          <a:bodyPr wrap="square" rtlCol="0">
            <a:spAutoFit/>
          </a:bodyPr>
          <a:lstStyle/>
          <a:p>
            <a:pPr algn="ctr"/>
            <a:r>
              <a:rPr lang="en-PH" sz="1400" dirty="0"/>
              <a:t>Source: https://electrosome.com/wp-content/uploads/2017/04/Intel-Core-i7.jpg</a:t>
            </a:r>
          </a:p>
        </p:txBody>
      </p:sp>
    </p:spTree>
    <p:extLst>
      <p:ext uri="{BB962C8B-B14F-4D97-AF65-F5344CB8AC3E}">
        <p14:creationId xmlns:p14="http://schemas.microsoft.com/office/powerpoint/2010/main" val="2370111924"/>
      </p:ext>
    </p:extLst>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7" name="Rectangle 3"/>
          <p:cNvSpPr>
            <a:spLocks noGrp="1" noChangeArrowheads="1"/>
          </p:cNvSpPr>
          <p:nvPr>
            <p:ph type="title"/>
          </p:nvPr>
        </p:nvSpPr>
        <p:spPr/>
        <p:txBody>
          <a:bodyPr>
            <a:normAutofit fontScale="90000"/>
          </a:bodyPr>
          <a:lstStyle/>
          <a:p>
            <a:pPr eaLnBrk="1" fontAlgn="auto" hangingPunct="1">
              <a:spcAft>
                <a:spcPts val="0"/>
              </a:spcAft>
              <a:defRPr/>
            </a:pPr>
            <a:r>
              <a:rPr lang="en-US">
                <a:solidFill>
                  <a:schemeClr val="accent1">
                    <a:satMod val="150000"/>
                  </a:schemeClr>
                </a:solidFill>
              </a:rPr>
              <a:t>The Machine Instruction Cycle  </a:t>
            </a:r>
          </a:p>
        </p:txBody>
      </p:sp>
      <p:sp>
        <p:nvSpPr>
          <p:cNvPr id="26627" name="Rectangle 4"/>
          <p:cNvSpPr>
            <a:spLocks noGrp="1" noChangeArrowheads="1"/>
          </p:cNvSpPr>
          <p:nvPr>
            <p:ph type="body" sz="half" idx="1"/>
          </p:nvPr>
        </p:nvSpPr>
        <p:spPr>
          <a:xfrm>
            <a:off x="1143000" y="2209800"/>
            <a:ext cx="8001000" cy="4191000"/>
          </a:xfrm>
          <a:noFill/>
        </p:spPr>
        <p:txBody>
          <a:bodyPr/>
          <a:lstStyle/>
          <a:p>
            <a:pPr marL="349250" indent="-349250" defTabSz="-635" eaLnBrk="1" hangingPunct="1">
              <a:spcBef>
                <a:spcPct val="45000"/>
              </a:spcBef>
              <a:tabLst>
                <a:tab pos="287020" algn="l"/>
              </a:tabLst>
            </a:pPr>
            <a:r>
              <a:rPr lang="en-US" altLang="zh-CN" sz="1600">
                <a:ea typeface="SimSun" panose="02010600030101010101" pitchFamily="2" charset="-122"/>
              </a:rPr>
              <a:t>The preset speed of the clock that times all chip activities, measured in mega­hertz (MHz), millions of cycles per second, and gigahertz (GHz), billions of cycles per second. The faster the </a:t>
            </a:r>
            <a:r>
              <a:rPr lang="en-US" altLang="zh-CN" sz="1600">
                <a:solidFill>
                  <a:srgbClr val="33CCCC"/>
                </a:solidFill>
                <a:ea typeface="SimSun" panose="02010600030101010101" pitchFamily="2" charset="-122"/>
              </a:rPr>
              <a:t>clock speed,</a:t>
            </a:r>
            <a:r>
              <a:rPr lang="en-US" altLang="zh-CN" sz="1600" b="1">
                <a:ea typeface="SimSun" panose="02010600030101010101" pitchFamily="2" charset="-122"/>
              </a:rPr>
              <a:t> </a:t>
            </a:r>
            <a:r>
              <a:rPr lang="en-US" altLang="zh-CN" sz="1600">
                <a:ea typeface="SimSun" panose="02010600030101010101" pitchFamily="2" charset="-122"/>
              </a:rPr>
              <a:t>the faster the chip.</a:t>
            </a:r>
          </a:p>
          <a:p>
            <a:pPr marL="349250" indent="-349250" defTabSz="-635" eaLnBrk="1" hangingPunct="1">
              <a:spcBef>
                <a:spcPct val="45000"/>
              </a:spcBef>
              <a:tabLst>
                <a:tab pos="287020" algn="l"/>
              </a:tabLst>
            </a:pPr>
            <a:r>
              <a:rPr lang="en-US" altLang="zh-CN" sz="1600">
                <a:ea typeface="SimSun" panose="02010600030101010101" pitchFamily="2" charset="-122"/>
              </a:rPr>
              <a:t>The </a:t>
            </a:r>
            <a:r>
              <a:rPr lang="en-US" altLang="zh-CN" sz="1600">
                <a:solidFill>
                  <a:srgbClr val="33CCCC"/>
                </a:solidFill>
                <a:ea typeface="SimSun" panose="02010600030101010101" pitchFamily="2" charset="-122"/>
              </a:rPr>
              <a:t>word length,</a:t>
            </a:r>
            <a:r>
              <a:rPr lang="en-US" altLang="zh-CN" sz="1600" b="1">
                <a:ea typeface="SimSun" panose="02010600030101010101" pitchFamily="2" charset="-122"/>
              </a:rPr>
              <a:t> </a:t>
            </a:r>
            <a:r>
              <a:rPr lang="en-US" altLang="zh-CN" sz="1600">
                <a:ea typeface="SimSun" panose="02010600030101010101" pitchFamily="2" charset="-122"/>
              </a:rPr>
              <a:t>which is the number of bits (0s and 1s) that can be processed by the CPU at any one time. The majority of current chips handle 32-bit word lengths, and the Pentium 4 is designed to handle 64-bit word lengths. The larger the word length, the faster the chip. </a:t>
            </a:r>
          </a:p>
          <a:p>
            <a:pPr marL="349250" indent="-349250" defTabSz="-635" eaLnBrk="1" hangingPunct="1">
              <a:spcBef>
                <a:spcPct val="45000"/>
              </a:spcBef>
              <a:tabLst>
                <a:tab pos="287020" algn="l"/>
              </a:tabLst>
            </a:pPr>
            <a:r>
              <a:rPr lang="en-US" altLang="zh-CN" sz="1600">
                <a:ea typeface="SimSun" panose="02010600030101010101" pitchFamily="2" charset="-122"/>
              </a:rPr>
              <a:t>The </a:t>
            </a:r>
            <a:r>
              <a:rPr lang="en-US" altLang="zh-CN" sz="1600">
                <a:solidFill>
                  <a:srgbClr val="33CCCC"/>
                </a:solidFill>
                <a:ea typeface="SimSun" panose="02010600030101010101" pitchFamily="2" charset="-122"/>
              </a:rPr>
              <a:t>bus width.</a:t>
            </a:r>
            <a:r>
              <a:rPr lang="en-US" altLang="zh-CN" sz="1600" b="1">
                <a:ea typeface="SimSun" panose="02010600030101010101" pitchFamily="2" charset="-122"/>
              </a:rPr>
              <a:t> </a:t>
            </a:r>
            <a:r>
              <a:rPr lang="en-US" altLang="zh-CN" sz="1600">
                <a:ea typeface="SimSun" panose="02010600030101010101" pitchFamily="2" charset="-122"/>
              </a:rPr>
              <a:t>The wider the </a:t>
            </a:r>
            <a:r>
              <a:rPr lang="en-US" altLang="zh-CN" sz="1600" i="1">
                <a:ea typeface="SimSun" panose="02010600030101010101" pitchFamily="2" charset="-122"/>
              </a:rPr>
              <a:t>bus </a:t>
            </a:r>
            <a:r>
              <a:rPr lang="en-US" altLang="zh-CN" sz="1600">
                <a:ea typeface="SimSun" panose="02010600030101010101" pitchFamily="2" charset="-122"/>
              </a:rPr>
              <a:t>(the physical paths down which the data and instructions travel as electrical impulses), the more data can be moved and the faster the processing. A bus transfers data is measured in megahertz. </a:t>
            </a:r>
          </a:p>
          <a:p>
            <a:pPr marL="349250" indent="-349250" defTabSz="-635" eaLnBrk="1" hangingPunct="1">
              <a:spcBef>
                <a:spcPct val="45000"/>
              </a:spcBef>
              <a:tabLst>
                <a:tab pos="287020" algn="l"/>
              </a:tabLst>
            </a:pPr>
            <a:r>
              <a:rPr lang="en-US" altLang="zh-CN" sz="1600">
                <a:ea typeface="SimSun" panose="02010600030101010101" pitchFamily="2" charset="-122"/>
              </a:rPr>
              <a:t>The physical design of the chip - the distance between transistors is known as </a:t>
            </a:r>
            <a:r>
              <a:rPr lang="en-US" altLang="zh-CN" sz="1600">
                <a:solidFill>
                  <a:srgbClr val="33CCCC"/>
                </a:solidFill>
                <a:ea typeface="SimSun" panose="02010600030101010101" pitchFamily="2" charset="-122"/>
              </a:rPr>
              <a:t>line width.</a:t>
            </a:r>
            <a:r>
              <a:rPr lang="en-US" altLang="zh-CN" sz="1600" b="1">
                <a:ea typeface="SimSun" panose="02010600030101010101" pitchFamily="2" charset="-122"/>
              </a:rPr>
              <a:t>  </a:t>
            </a:r>
            <a:r>
              <a:rPr lang="en-US" altLang="zh-CN" sz="1600">
                <a:ea typeface="SimSun" panose="02010600030101010101" pitchFamily="2" charset="-122"/>
              </a:rPr>
              <a:t>The smaller the line width, the more transistors can be packed onto a chip, and the faster the chip.</a:t>
            </a:r>
            <a:endParaRPr lang="en-CA" altLang="zh-TW" sz="2500"/>
          </a:p>
        </p:txBody>
      </p:sp>
      <p:sp>
        <p:nvSpPr>
          <p:cNvPr id="26628" name="Rectangle 5"/>
          <p:cNvSpPr>
            <a:spLocks noChangeArrowheads="1"/>
          </p:cNvSpPr>
          <p:nvPr/>
        </p:nvSpPr>
        <p:spPr bwMode="auto">
          <a:xfrm>
            <a:off x="1371600" y="1524000"/>
            <a:ext cx="7620000" cy="641350"/>
          </a:xfrm>
          <a:prstGeom prst="rect">
            <a:avLst/>
          </a:prstGeom>
          <a:noFill/>
          <a:ln w="9525">
            <a:noFill/>
            <a:miter lim="800000"/>
          </a:ln>
        </p:spPr>
        <p:txBody>
          <a:bodyPr lIns="0" rIns="0">
            <a:spAutoFit/>
          </a:bodyPr>
          <a:lstStyle/>
          <a:p>
            <a:r>
              <a:rPr lang="en-US"/>
              <a:t>The cycle of processing is called the </a:t>
            </a:r>
            <a:r>
              <a:rPr lang="en-US">
                <a:solidFill>
                  <a:srgbClr val="33CCCC"/>
                </a:solidFill>
              </a:rPr>
              <a:t>machine instruction cycle</a:t>
            </a:r>
            <a:r>
              <a:rPr lang="en-US"/>
              <a:t> and it speed depends on the following four factors of chip design:</a:t>
            </a:r>
          </a:p>
        </p:txBody>
      </p:sp>
    </p:spTree>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1" name="Rectangle 3"/>
          <p:cNvSpPr>
            <a:spLocks noGrp="1" noChangeArrowheads="1"/>
          </p:cNvSpPr>
          <p:nvPr>
            <p:ph type="title"/>
          </p:nvPr>
        </p:nvSpPr>
        <p:spPr/>
        <p:txBody>
          <a:bodyPr/>
          <a:lstStyle/>
          <a:p>
            <a:pPr eaLnBrk="1" fontAlgn="auto" hangingPunct="1">
              <a:spcAft>
                <a:spcPts val="0"/>
              </a:spcAft>
              <a:defRPr/>
            </a:pPr>
            <a:r>
              <a:rPr lang="en-US" sz="3200">
                <a:solidFill>
                  <a:schemeClr val="accent1">
                    <a:satMod val="150000"/>
                  </a:schemeClr>
                </a:solidFill>
              </a:rPr>
              <a:t>Evolution Of The Microprocessor </a:t>
            </a:r>
          </a:p>
        </p:txBody>
      </p:sp>
      <p:pic>
        <p:nvPicPr>
          <p:cNvPr id="27651" name="Picture 7"/>
          <p:cNvPicPr>
            <a:picLocks noGrp="1" noChangeAspect="1" noChangeArrowheads="1"/>
          </p:cNvPicPr>
          <p:nvPr>
            <p:ph sz="half" idx="2"/>
          </p:nvPr>
        </p:nvPicPr>
        <p:blipFill>
          <a:blip r:embed="rId2" cstate="print"/>
          <a:srcRect b="2000"/>
          <a:stretch>
            <a:fillRect/>
          </a:stretch>
        </p:blipFill>
        <p:spPr>
          <a:xfrm>
            <a:off x="1219200" y="2819400"/>
            <a:ext cx="7388225" cy="3733800"/>
          </a:xfrm>
        </p:spPr>
      </p:pic>
      <p:sp>
        <p:nvSpPr>
          <p:cNvPr id="27652" name="Rectangle 5"/>
          <p:cNvSpPr>
            <a:spLocks noChangeArrowheads="1"/>
          </p:cNvSpPr>
          <p:nvPr/>
        </p:nvSpPr>
        <p:spPr bwMode="auto">
          <a:xfrm>
            <a:off x="1219200" y="1447800"/>
            <a:ext cx="7772400" cy="1465263"/>
          </a:xfrm>
          <a:prstGeom prst="rect">
            <a:avLst/>
          </a:prstGeom>
          <a:noFill/>
          <a:ln w="9525">
            <a:noFill/>
            <a:miter lim="800000"/>
          </a:ln>
        </p:spPr>
        <p:txBody>
          <a:bodyPr lIns="0" rIns="0">
            <a:spAutoFit/>
          </a:bodyPr>
          <a:lstStyle/>
          <a:p>
            <a:r>
              <a:rPr lang="en-US">
                <a:solidFill>
                  <a:srgbClr val="33CCCC"/>
                </a:solidFill>
              </a:rPr>
              <a:t>Moore’s Law</a:t>
            </a:r>
            <a:r>
              <a:rPr lang="en-US"/>
              <a:t> - Gordon Moore’s 1965 prediction that microprocessor complexity would double approximately every two years is based on the following changes: Increasing miniaturization of transistors, Compacting the physical layout of the chip’s components (decreasing line width) and using better conducting materials. </a:t>
            </a:r>
          </a:p>
        </p:txBody>
      </p:sp>
    </p:spTree>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Computer Architecture </a:t>
            </a:r>
          </a:p>
        </p:txBody>
      </p:sp>
      <p:sp>
        <p:nvSpPr>
          <p:cNvPr id="28675" name="Rectangle 3"/>
          <p:cNvSpPr>
            <a:spLocks noGrp="1" noChangeArrowheads="1"/>
          </p:cNvSpPr>
          <p:nvPr>
            <p:ph type="body" sz="half" idx="1"/>
          </p:nvPr>
        </p:nvSpPr>
        <p:spPr>
          <a:xfrm>
            <a:off x="609600" y="3048000"/>
            <a:ext cx="8534400" cy="3352800"/>
          </a:xfrm>
          <a:noFill/>
        </p:spPr>
        <p:txBody>
          <a:bodyPr/>
          <a:lstStyle/>
          <a:p>
            <a:pPr marL="349250" indent="-349250" defTabSz="-635" eaLnBrk="1" hangingPunct="1">
              <a:lnSpc>
                <a:spcPct val="90000"/>
              </a:lnSpc>
              <a:spcBef>
                <a:spcPct val="40000"/>
              </a:spcBef>
              <a:tabLst>
                <a:tab pos="287020" algn="l"/>
              </a:tabLst>
            </a:pPr>
            <a:r>
              <a:rPr lang="en-US" altLang="zh-CN" sz="2400" dirty="0">
                <a:ea typeface="SimSun" panose="02010600030101010101" pitchFamily="2" charset="-122"/>
              </a:rPr>
              <a:t>An instruction set is the set of machine instructions that a processor recognizes and can execute. </a:t>
            </a:r>
            <a:r>
              <a:rPr lang="en-US" altLang="zh-CN" sz="2400" dirty="0">
                <a:solidFill>
                  <a:srgbClr val="33CCCC"/>
                </a:solidFill>
                <a:ea typeface="SimSun" panose="02010600030101010101" pitchFamily="2" charset="-122"/>
              </a:rPr>
              <a:t>Complex instruction set computers (CISC)</a:t>
            </a:r>
            <a:r>
              <a:rPr lang="en-US" altLang="zh-CN" sz="2400" dirty="0">
                <a:ea typeface="SimSun" panose="02010600030101010101" pitchFamily="2" charset="-122"/>
              </a:rPr>
              <a:t> and </a:t>
            </a:r>
            <a:r>
              <a:rPr lang="en-US" altLang="zh-CN" sz="2400" dirty="0">
                <a:solidFill>
                  <a:srgbClr val="33CCCC"/>
                </a:solidFill>
                <a:ea typeface="SimSun" panose="02010600030101010101" pitchFamily="2" charset="-122"/>
              </a:rPr>
              <a:t>reduced instruction set computers (RISC),</a:t>
            </a:r>
            <a:r>
              <a:rPr lang="en-US" altLang="zh-CN" sz="2400" dirty="0">
                <a:ea typeface="SimSun" panose="02010600030101010101" pitchFamily="2" charset="-122"/>
              </a:rPr>
              <a:t> dominate the processor instruction sets of computer architectures.</a:t>
            </a:r>
          </a:p>
          <a:p>
            <a:pPr marL="919480" lvl="1" indent="-400050" defTabSz="-635" eaLnBrk="1" hangingPunct="1">
              <a:lnSpc>
                <a:spcPct val="90000"/>
              </a:lnSpc>
              <a:spcBef>
                <a:spcPct val="40000"/>
              </a:spcBef>
              <a:tabLst>
                <a:tab pos="287020" algn="l"/>
              </a:tabLst>
            </a:pPr>
            <a:r>
              <a:rPr lang="en-US" altLang="zh-CN" sz="2000" dirty="0">
                <a:ea typeface="SimSun" panose="02010600030101010101" pitchFamily="2" charset="-122"/>
              </a:rPr>
              <a:t>A </a:t>
            </a:r>
            <a:r>
              <a:rPr lang="en-US" altLang="zh-CN" sz="2000" dirty="0">
                <a:solidFill>
                  <a:srgbClr val="33CCCC"/>
                </a:solidFill>
                <a:ea typeface="SimSun" panose="02010600030101010101" pitchFamily="2" charset="-122"/>
              </a:rPr>
              <a:t>CISC processor</a:t>
            </a:r>
            <a:r>
              <a:rPr lang="en-US" altLang="zh-CN" sz="2000" i="1" dirty="0">
                <a:ea typeface="SimSun" panose="02010600030101010101" pitchFamily="2" charset="-122"/>
              </a:rPr>
              <a:t> </a:t>
            </a:r>
            <a:r>
              <a:rPr lang="en-US" altLang="zh-CN" sz="2000" dirty="0">
                <a:ea typeface="SimSun" panose="02010600030101010101" pitchFamily="2" charset="-122"/>
              </a:rPr>
              <a:t>contains more than 200 unique coded commands, one for virtually every type of operation.</a:t>
            </a:r>
          </a:p>
          <a:p>
            <a:pPr marL="919480" lvl="1" indent="-400050" defTabSz="-635" eaLnBrk="1" hangingPunct="1">
              <a:lnSpc>
                <a:spcPct val="90000"/>
              </a:lnSpc>
              <a:spcBef>
                <a:spcPct val="40000"/>
              </a:spcBef>
              <a:tabLst>
                <a:tab pos="287020" algn="l"/>
              </a:tabLst>
            </a:pPr>
            <a:r>
              <a:rPr lang="en-US" altLang="zh-CN" sz="2000" dirty="0">
                <a:ea typeface="SimSun" panose="02010600030101010101" pitchFamily="2" charset="-122"/>
              </a:rPr>
              <a:t>The other, a more recent approach is </a:t>
            </a:r>
            <a:r>
              <a:rPr lang="en-US" altLang="zh-CN" sz="2000" dirty="0">
                <a:solidFill>
                  <a:srgbClr val="33CCCC"/>
                </a:solidFill>
                <a:ea typeface="SimSun" panose="02010600030101010101" pitchFamily="2" charset="-122"/>
              </a:rPr>
              <a:t>RISC processors</a:t>
            </a:r>
            <a:r>
              <a:rPr lang="en-US" altLang="zh-CN" sz="2000" dirty="0">
                <a:ea typeface="SimSun" panose="02010600030101010101" pitchFamily="2" charset="-122"/>
              </a:rPr>
              <a:t>, which eliminate many of the little-used codes found in the complex instruction set.</a:t>
            </a:r>
          </a:p>
        </p:txBody>
      </p:sp>
      <p:sp>
        <p:nvSpPr>
          <p:cNvPr id="28676" name="Rectangle 4"/>
          <p:cNvSpPr>
            <a:spLocks noChangeArrowheads="1"/>
          </p:cNvSpPr>
          <p:nvPr/>
        </p:nvSpPr>
        <p:spPr bwMode="auto">
          <a:xfrm>
            <a:off x="1143000" y="1524000"/>
            <a:ext cx="8001000" cy="1465263"/>
          </a:xfrm>
          <a:prstGeom prst="rect">
            <a:avLst/>
          </a:prstGeom>
          <a:noFill/>
          <a:ln w="9525">
            <a:noFill/>
            <a:miter lim="800000"/>
          </a:ln>
        </p:spPr>
        <p:txBody>
          <a:bodyPr lIns="0" rIns="0">
            <a:spAutoFit/>
          </a:bodyPr>
          <a:lstStyle/>
          <a:p>
            <a:r>
              <a:rPr lang="en-US"/>
              <a:t>The arrangement of the components and their interactions is called computer </a:t>
            </a:r>
            <a:r>
              <a:rPr lang="en-US">
                <a:solidFill>
                  <a:srgbClr val="33CCCC"/>
                </a:solidFill>
              </a:rPr>
              <a:t>architecture</a:t>
            </a:r>
            <a:r>
              <a:rPr lang="en-US"/>
              <a:t>. Computer architecture includes the instruction set and the number of the processors, the structure of the internal buses, the use of caches, and the types of input/output (I/O) device interfaces. </a:t>
            </a:r>
          </a:p>
        </p:txBody>
      </p:sp>
    </p:spTree>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Primary Storage </a:t>
            </a:r>
          </a:p>
        </p:txBody>
      </p:sp>
      <p:sp>
        <p:nvSpPr>
          <p:cNvPr id="29699" name="Rectangle 3"/>
          <p:cNvSpPr>
            <a:spLocks noGrp="1" noChangeArrowheads="1"/>
          </p:cNvSpPr>
          <p:nvPr>
            <p:ph type="body" sz="half" idx="1"/>
          </p:nvPr>
        </p:nvSpPr>
        <p:spPr>
          <a:xfrm>
            <a:off x="1143000" y="2514600"/>
            <a:ext cx="7696200" cy="2971800"/>
          </a:xfrm>
          <a:noFill/>
        </p:spPr>
        <p:txBody>
          <a:bodyPr/>
          <a:lstStyle/>
          <a:p>
            <a:pPr marL="476250" indent="-476250" defTabSz="-635" eaLnBrk="1" hangingPunct="1">
              <a:spcBef>
                <a:spcPct val="35000"/>
              </a:spcBef>
              <a:buFont typeface="Wingdings" panose="05000000000000000000" pitchFamily="2" charset="2"/>
              <a:buAutoNum type="arabicPeriod"/>
              <a:tabLst>
                <a:tab pos="287020" algn="l"/>
              </a:tabLst>
            </a:pPr>
            <a:r>
              <a:rPr lang="en-US" altLang="zh-CN" sz="2000">
                <a:ea typeface="SimSun" panose="02010600030101010101" pitchFamily="2" charset="-122"/>
              </a:rPr>
              <a:t>To store data that have been input until they are transferred to the ALU for processing. </a:t>
            </a:r>
            <a:endParaRPr lang="en-US" altLang="zh-CN" sz="2000" b="1">
              <a:ea typeface="SimSun" panose="02010600030101010101" pitchFamily="2" charset="-122"/>
            </a:endParaRPr>
          </a:p>
          <a:p>
            <a:pPr marL="476250" indent="-476250" defTabSz="-635" eaLnBrk="1" hangingPunct="1">
              <a:spcBef>
                <a:spcPct val="35000"/>
              </a:spcBef>
              <a:buFont typeface="Wingdings" panose="05000000000000000000" pitchFamily="2" charset="2"/>
              <a:buAutoNum type="arabicPeriod"/>
              <a:tabLst>
                <a:tab pos="287020" algn="l"/>
              </a:tabLst>
            </a:pPr>
            <a:r>
              <a:rPr lang="en-US" altLang="zh-CN" sz="2000">
                <a:ea typeface="SimSun" panose="02010600030101010101" pitchFamily="2" charset="-122"/>
              </a:rPr>
              <a:t>To store data and results during intermediate stages of processing. </a:t>
            </a:r>
            <a:endParaRPr lang="en-US" altLang="zh-CN" sz="2000" b="1">
              <a:ea typeface="SimSun" panose="02010600030101010101" pitchFamily="2" charset="-122"/>
            </a:endParaRPr>
          </a:p>
          <a:p>
            <a:pPr marL="476250" indent="-476250" defTabSz="-635" eaLnBrk="1" hangingPunct="1">
              <a:spcBef>
                <a:spcPct val="35000"/>
              </a:spcBef>
              <a:buFont typeface="Wingdings" panose="05000000000000000000" pitchFamily="2" charset="2"/>
              <a:buAutoNum type="arabicPeriod"/>
              <a:tabLst>
                <a:tab pos="287020" algn="l"/>
              </a:tabLst>
            </a:pPr>
            <a:r>
              <a:rPr lang="en-US" altLang="zh-CN" sz="2000">
                <a:ea typeface="SimSun" panose="02010600030101010101" pitchFamily="2" charset="-122"/>
              </a:rPr>
              <a:t>To hold data after processing until they are transferred to an output device. </a:t>
            </a:r>
            <a:endParaRPr lang="en-US" altLang="zh-CN" sz="2000" b="1">
              <a:ea typeface="SimSun" panose="02010600030101010101" pitchFamily="2" charset="-122"/>
            </a:endParaRPr>
          </a:p>
          <a:p>
            <a:pPr marL="476250" indent="-476250" defTabSz="-635" eaLnBrk="1" hangingPunct="1">
              <a:spcBef>
                <a:spcPct val="35000"/>
              </a:spcBef>
              <a:buFont typeface="Wingdings" panose="05000000000000000000" pitchFamily="2" charset="2"/>
              <a:buAutoNum type="arabicPeriod"/>
              <a:tabLst>
                <a:tab pos="287020" algn="l"/>
              </a:tabLst>
            </a:pPr>
            <a:r>
              <a:rPr lang="en-US" altLang="zh-CN" sz="2000">
                <a:ea typeface="SimSun" panose="02010600030101010101" pitchFamily="2" charset="-122"/>
              </a:rPr>
              <a:t>To hold program statements or instructions received from input devices and from secondary storage.</a:t>
            </a:r>
            <a:r>
              <a:rPr lang="en-US" altLang="zh-CN" sz="2500">
                <a:ea typeface="SimSun" panose="02010600030101010101" pitchFamily="2" charset="-122"/>
              </a:rPr>
              <a:t> </a:t>
            </a:r>
          </a:p>
        </p:txBody>
      </p:sp>
      <p:sp>
        <p:nvSpPr>
          <p:cNvPr id="29700" name="Rectangle 4"/>
          <p:cNvSpPr>
            <a:spLocks noChangeArrowheads="1"/>
          </p:cNvSpPr>
          <p:nvPr/>
        </p:nvSpPr>
        <p:spPr bwMode="auto">
          <a:xfrm>
            <a:off x="1371600" y="1524000"/>
            <a:ext cx="7620000" cy="641350"/>
          </a:xfrm>
          <a:prstGeom prst="rect">
            <a:avLst/>
          </a:prstGeom>
          <a:noFill/>
          <a:ln w="9525">
            <a:noFill/>
            <a:miter lim="800000"/>
          </a:ln>
        </p:spPr>
        <p:txBody>
          <a:bodyPr lIns="0" rIns="0">
            <a:spAutoFit/>
          </a:bodyPr>
          <a:lstStyle/>
          <a:p>
            <a:r>
              <a:rPr lang="en-US">
                <a:solidFill>
                  <a:srgbClr val="33CCCC"/>
                </a:solidFill>
              </a:rPr>
              <a:t>Primary storage,</a:t>
            </a:r>
            <a:r>
              <a:rPr lang="en-US" b="1"/>
              <a:t> </a:t>
            </a:r>
            <a:r>
              <a:rPr lang="en-US"/>
              <a:t>or </a:t>
            </a:r>
            <a:r>
              <a:rPr lang="en-US">
                <a:solidFill>
                  <a:srgbClr val="33CCCC"/>
                </a:solidFill>
              </a:rPr>
              <a:t>main memory</a:t>
            </a:r>
            <a:r>
              <a:rPr lang="en-US" b="1"/>
              <a:t>, </a:t>
            </a:r>
            <a:r>
              <a:rPr lang="en-US"/>
              <a:t>stores data and program statements for the CPU. It has four basic purposes: </a:t>
            </a:r>
          </a:p>
        </p:txBody>
      </p:sp>
    </p:spTree>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145C-1E0E-8D35-3DB3-E3B7BC713C4A}"/>
              </a:ext>
            </a:extLst>
          </p:cNvPr>
          <p:cNvSpPr>
            <a:spLocks noGrp="1"/>
          </p:cNvSpPr>
          <p:nvPr>
            <p:ph type="title"/>
          </p:nvPr>
        </p:nvSpPr>
        <p:spPr/>
        <p:txBody>
          <a:bodyPr/>
          <a:lstStyle/>
          <a:p>
            <a:r>
              <a:rPr lang="en-PH" dirty="0"/>
              <a:t>Primary Memory/Example</a:t>
            </a:r>
          </a:p>
        </p:txBody>
      </p:sp>
      <p:sp>
        <p:nvSpPr>
          <p:cNvPr id="3" name="Content Placeholder 2">
            <a:extLst>
              <a:ext uri="{FF2B5EF4-FFF2-40B4-BE49-F238E27FC236}">
                <a16:creationId xmlns:a16="http://schemas.microsoft.com/office/drawing/2014/main" id="{A90933AA-2F40-9ECB-DD10-84FB1974295C}"/>
              </a:ext>
            </a:extLst>
          </p:cNvPr>
          <p:cNvSpPr>
            <a:spLocks noGrp="1"/>
          </p:cNvSpPr>
          <p:nvPr>
            <p:ph idx="1"/>
          </p:nvPr>
        </p:nvSpPr>
        <p:spPr>
          <a:xfrm>
            <a:off x="598008" y="1774825"/>
            <a:ext cx="8088791" cy="4958430"/>
          </a:xfrm>
        </p:spPr>
        <p:txBody>
          <a:bodyPr/>
          <a:lstStyle/>
          <a:p>
            <a:endParaRPr lang="en-PH" dirty="0"/>
          </a:p>
        </p:txBody>
      </p:sp>
      <p:pic>
        <p:nvPicPr>
          <p:cNvPr id="5" name="Picture 4">
            <a:extLst>
              <a:ext uri="{FF2B5EF4-FFF2-40B4-BE49-F238E27FC236}">
                <a16:creationId xmlns:a16="http://schemas.microsoft.com/office/drawing/2014/main" id="{96225689-541A-07F6-70A0-09B94182ED20}"/>
              </a:ext>
            </a:extLst>
          </p:cNvPr>
          <p:cNvPicPr>
            <a:picLocks noChangeAspect="1"/>
          </p:cNvPicPr>
          <p:nvPr/>
        </p:nvPicPr>
        <p:blipFill>
          <a:blip r:embed="rId2"/>
          <a:stretch>
            <a:fillRect/>
          </a:stretch>
        </p:blipFill>
        <p:spPr>
          <a:xfrm>
            <a:off x="994311" y="1571731"/>
            <a:ext cx="7155377" cy="4379377"/>
          </a:xfrm>
          <a:prstGeom prst="rect">
            <a:avLst/>
          </a:prstGeom>
        </p:spPr>
      </p:pic>
      <p:sp>
        <p:nvSpPr>
          <p:cNvPr id="6" name="TextBox 5">
            <a:extLst>
              <a:ext uri="{FF2B5EF4-FFF2-40B4-BE49-F238E27FC236}">
                <a16:creationId xmlns:a16="http://schemas.microsoft.com/office/drawing/2014/main" id="{E3754E79-273D-6F81-03B4-18F500F7E772}"/>
              </a:ext>
            </a:extLst>
          </p:cNvPr>
          <p:cNvSpPr txBox="1"/>
          <p:nvPr/>
        </p:nvSpPr>
        <p:spPr>
          <a:xfrm>
            <a:off x="598009" y="5902258"/>
            <a:ext cx="8062354" cy="830997"/>
          </a:xfrm>
          <a:prstGeom prst="rect">
            <a:avLst/>
          </a:prstGeom>
          <a:noFill/>
        </p:spPr>
        <p:txBody>
          <a:bodyPr wrap="square" rtlCol="0">
            <a:spAutoFit/>
          </a:bodyPr>
          <a:lstStyle/>
          <a:p>
            <a:r>
              <a:rPr lang="en-PH" sz="1600" dirty="0"/>
              <a:t>Source: https://upload.wikimedia.org/wikipedia/commons/thumb/2/2c/Samsung-1GB-DDR2-Laptop-RAM.jpg/1920px-Samsung-1GB-DDR2-Laptop-RAM.jpg</a:t>
            </a:r>
          </a:p>
        </p:txBody>
      </p:sp>
    </p:spTree>
    <p:extLst>
      <p:ext uri="{BB962C8B-B14F-4D97-AF65-F5344CB8AC3E}">
        <p14:creationId xmlns:p14="http://schemas.microsoft.com/office/powerpoint/2010/main" val="3027432882"/>
      </p:ext>
    </p:extLst>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Categories Of Memory </a:t>
            </a:r>
          </a:p>
        </p:txBody>
      </p:sp>
      <p:sp>
        <p:nvSpPr>
          <p:cNvPr id="30723" name="Rectangle 3"/>
          <p:cNvSpPr>
            <a:spLocks noGrp="1" noChangeArrowheads="1"/>
          </p:cNvSpPr>
          <p:nvPr>
            <p:ph type="body" sz="half" idx="1"/>
          </p:nvPr>
        </p:nvSpPr>
        <p:spPr>
          <a:xfrm>
            <a:off x="1143000" y="3886200"/>
            <a:ext cx="7696200" cy="2438400"/>
          </a:xfrm>
          <a:noFill/>
        </p:spPr>
        <p:txBody>
          <a:bodyPr/>
          <a:lstStyle/>
          <a:p>
            <a:pPr marL="476250" indent="-476250" defTabSz="-635" eaLnBrk="1" hangingPunct="1">
              <a:tabLst>
                <a:tab pos="287020" algn="l"/>
              </a:tabLst>
            </a:pPr>
            <a:r>
              <a:rPr lang="en-US" altLang="zh-CN" sz="1800">
                <a:solidFill>
                  <a:srgbClr val="33CCCC"/>
                </a:solidFill>
                <a:ea typeface="SimSun" panose="02010600030101010101" pitchFamily="2" charset="-122"/>
              </a:rPr>
              <a:t>Random-access memory (RAM)</a:t>
            </a:r>
            <a:r>
              <a:rPr lang="en-US" altLang="zh-CN" sz="1800">
                <a:ea typeface="SimSun" panose="02010600030101010101" pitchFamily="2" charset="-122"/>
              </a:rPr>
              <a:t> is the place in which the CPU stores the instructions and data it is processing.</a:t>
            </a:r>
          </a:p>
          <a:p>
            <a:pPr marL="919480" lvl="1" indent="-400050" defTabSz="-635" eaLnBrk="1" hangingPunct="1">
              <a:tabLst>
                <a:tab pos="287020" algn="l"/>
              </a:tabLst>
            </a:pPr>
            <a:r>
              <a:rPr lang="en-US" altLang="zh-CN" sz="1600">
                <a:ea typeface="SimSun" panose="02010600030101010101" pitchFamily="2" charset="-122"/>
              </a:rPr>
              <a:t>Dynamic random access memories (DRAMs) </a:t>
            </a:r>
          </a:p>
          <a:p>
            <a:pPr marL="919480" lvl="1" indent="-400050" defTabSz="-635" eaLnBrk="1" hangingPunct="1">
              <a:tabLst>
                <a:tab pos="287020" algn="l"/>
              </a:tabLst>
            </a:pPr>
            <a:r>
              <a:rPr lang="en-US" altLang="zh-CN" sz="1600">
                <a:ea typeface="SimSun" panose="02010600030101010101" pitchFamily="2" charset="-122"/>
              </a:rPr>
              <a:t>Synchronous DRAM (SDRAM)</a:t>
            </a:r>
          </a:p>
          <a:p>
            <a:pPr marL="476250" indent="-476250" defTabSz="-635" eaLnBrk="1" hangingPunct="1">
              <a:tabLst>
                <a:tab pos="287020" algn="l"/>
              </a:tabLst>
            </a:pPr>
            <a:r>
              <a:rPr lang="en-US" altLang="zh-CN" sz="1800">
                <a:solidFill>
                  <a:srgbClr val="33CCCC"/>
                </a:solidFill>
                <a:ea typeface="SimSun" panose="02010600030101010101" pitchFamily="2" charset="-122"/>
              </a:rPr>
              <a:t>Read-only memory (ROM)</a:t>
            </a:r>
            <a:r>
              <a:rPr lang="en-US" altLang="zh-CN" sz="1800">
                <a:ea typeface="SimSun" panose="02010600030101010101" pitchFamily="2" charset="-122"/>
              </a:rPr>
              <a:t> is that portion of primary storage that cannot be changed or erased. ROM is nonvolatile.</a:t>
            </a:r>
          </a:p>
          <a:p>
            <a:pPr marL="919480" lvl="1" indent="-400050" defTabSz="-635" eaLnBrk="1" hangingPunct="1">
              <a:tabLst>
                <a:tab pos="287020" algn="l"/>
              </a:tabLst>
            </a:pPr>
            <a:r>
              <a:rPr lang="en-US" altLang="zh-CN" sz="1600">
                <a:ea typeface="SimSun" panose="02010600030101010101" pitchFamily="2" charset="-122"/>
              </a:rPr>
              <a:t>Programmable read-only memory (PROM)</a:t>
            </a:r>
          </a:p>
          <a:p>
            <a:pPr marL="919480" lvl="1" indent="-400050" defTabSz="-635" eaLnBrk="1" hangingPunct="1">
              <a:tabLst>
                <a:tab pos="287020" algn="l"/>
              </a:tabLst>
            </a:pPr>
            <a:r>
              <a:rPr lang="en-US" altLang="zh-CN" sz="1600">
                <a:ea typeface="SimSun" panose="02010600030101010101" pitchFamily="2" charset="-122"/>
              </a:rPr>
              <a:t>Erasable programmable read-only memory (EPROM)</a:t>
            </a:r>
          </a:p>
        </p:txBody>
      </p:sp>
      <p:sp>
        <p:nvSpPr>
          <p:cNvPr id="30724" name="Rectangle 4"/>
          <p:cNvSpPr>
            <a:spLocks noChangeArrowheads="1"/>
          </p:cNvSpPr>
          <p:nvPr/>
        </p:nvSpPr>
        <p:spPr bwMode="auto">
          <a:xfrm>
            <a:off x="1371600" y="1524000"/>
            <a:ext cx="7620000" cy="2243138"/>
          </a:xfrm>
          <a:prstGeom prst="rect">
            <a:avLst/>
          </a:prstGeom>
          <a:noFill/>
          <a:ln w="9525">
            <a:noFill/>
            <a:miter lim="800000"/>
          </a:ln>
        </p:spPr>
        <p:txBody>
          <a:bodyPr lIns="0" tIns="0" rIns="0">
            <a:spAutoFit/>
          </a:bodyPr>
          <a:lstStyle/>
          <a:p>
            <a:r>
              <a:rPr lang="en-US"/>
              <a:t>There are two categories of memory: the </a:t>
            </a:r>
            <a:r>
              <a:rPr lang="en-US">
                <a:solidFill>
                  <a:srgbClr val="33CCCC"/>
                </a:solidFill>
              </a:rPr>
              <a:t>register</a:t>
            </a:r>
            <a:r>
              <a:rPr lang="en-US"/>
              <a:t>, which is part of the CPU and very fast and the </a:t>
            </a:r>
            <a:r>
              <a:rPr lang="en-US">
                <a:solidFill>
                  <a:srgbClr val="33CCCC"/>
                </a:solidFill>
              </a:rPr>
              <a:t>internal memory chips</a:t>
            </a:r>
            <a:r>
              <a:rPr lang="en-US" b="1"/>
              <a:t>, </a:t>
            </a:r>
            <a:r>
              <a:rPr lang="en-US"/>
              <a:t>which reside outside the CPU and are slower. The control unit, the CPU, and the primary storage all have registers. Small amounts of data reside in the register for very short periods, prior to their use. </a:t>
            </a:r>
            <a:r>
              <a:rPr lang="en-US">
                <a:solidFill>
                  <a:srgbClr val="33CCCC"/>
                </a:solidFill>
              </a:rPr>
              <a:t>Internal memory</a:t>
            </a:r>
            <a:r>
              <a:rPr lang="en-US" b="1"/>
              <a:t> </a:t>
            </a:r>
            <a:r>
              <a:rPr lang="en-US"/>
              <a:t>is used to store data just before they are processed by the CPU. Immediately after the processing it comprises two types of storage space: </a:t>
            </a:r>
            <a:r>
              <a:rPr lang="en-US">
                <a:solidFill>
                  <a:srgbClr val="33CCCC"/>
                </a:solidFill>
              </a:rPr>
              <a:t>RAM</a:t>
            </a:r>
            <a:r>
              <a:rPr lang="en-US"/>
              <a:t> and </a:t>
            </a:r>
            <a:r>
              <a:rPr lang="en-US">
                <a:solidFill>
                  <a:srgbClr val="33CCCC"/>
                </a:solidFill>
              </a:rPr>
              <a:t>ROM</a:t>
            </a:r>
            <a:r>
              <a:rPr lang="en-US"/>
              <a:t>. </a:t>
            </a:r>
          </a:p>
        </p:txBody>
      </p:sp>
    </p:spTree>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A59435-6F3B-5F7E-7349-5C0007F84524}"/>
              </a:ext>
            </a:extLst>
          </p:cNvPr>
          <p:cNvPicPr>
            <a:picLocks noChangeAspect="1"/>
          </p:cNvPicPr>
          <p:nvPr/>
        </p:nvPicPr>
        <p:blipFill>
          <a:blip r:embed="rId2"/>
          <a:stretch>
            <a:fillRect/>
          </a:stretch>
        </p:blipFill>
        <p:spPr>
          <a:xfrm>
            <a:off x="1874286" y="1554317"/>
            <a:ext cx="5395428" cy="3749365"/>
          </a:xfrm>
          <a:prstGeom prst="rect">
            <a:avLst/>
          </a:prstGeom>
        </p:spPr>
      </p:pic>
      <p:sp>
        <p:nvSpPr>
          <p:cNvPr id="4" name="TextBox 3">
            <a:extLst>
              <a:ext uri="{FF2B5EF4-FFF2-40B4-BE49-F238E27FC236}">
                <a16:creationId xmlns:a16="http://schemas.microsoft.com/office/drawing/2014/main" id="{6B8674D7-BFB3-E670-C121-BB42AB5EBE74}"/>
              </a:ext>
            </a:extLst>
          </p:cNvPr>
          <p:cNvSpPr txBox="1"/>
          <p:nvPr/>
        </p:nvSpPr>
        <p:spPr>
          <a:xfrm>
            <a:off x="304800" y="5638800"/>
            <a:ext cx="8763000" cy="646331"/>
          </a:xfrm>
          <a:prstGeom prst="rect">
            <a:avLst/>
          </a:prstGeom>
          <a:noFill/>
        </p:spPr>
        <p:txBody>
          <a:bodyPr wrap="square" rtlCol="0">
            <a:spAutoFit/>
          </a:bodyPr>
          <a:lstStyle/>
          <a:p>
            <a:r>
              <a:rPr lang="en-PH" sz="1200" dirty="0"/>
              <a:t>Source: https://www.thoughtco.com/thmb/5RddHAxNx3JcH7PdKG4GtbV6LS8=/1500x0/filters:no_upscale():max_bytes(150000):strip_icc()/Amiga_1200_Kickstart_3.0_ROMs-56b429575f9b5829f82c66bd.jpg</a:t>
            </a:r>
          </a:p>
        </p:txBody>
      </p:sp>
    </p:spTree>
    <p:extLst>
      <p:ext uri="{BB962C8B-B14F-4D97-AF65-F5344CB8AC3E}">
        <p14:creationId xmlns:p14="http://schemas.microsoft.com/office/powerpoint/2010/main" val="3972588679"/>
      </p:ext>
    </p:extLst>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The Control Unit </a:t>
            </a:r>
          </a:p>
        </p:txBody>
      </p:sp>
      <p:sp>
        <p:nvSpPr>
          <p:cNvPr id="31747" name="Rectangle 3"/>
          <p:cNvSpPr>
            <a:spLocks noGrp="1" noChangeArrowheads="1"/>
          </p:cNvSpPr>
          <p:nvPr>
            <p:ph type="body" sz="half" idx="1"/>
          </p:nvPr>
        </p:nvSpPr>
        <p:spPr>
          <a:xfrm>
            <a:off x="838200" y="3200400"/>
            <a:ext cx="8077200" cy="3200400"/>
          </a:xfrm>
          <a:noFill/>
        </p:spPr>
        <p:txBody>
          <a:bodyPr/>
          <a:lstStyle/>
          <a:p>
            <a:pPr marL="476250" indent="-476250" defTabSz="-635" eaLnBrk="1" hangingPunct="1">
              <a:tabLst>
                <a:tab pos="287020" algn="l"/>
              </a:tabLst>
            </a:pPr>
            <a:r>
              <a:rPr lang="en-US" sz="2400" dirty="0"/>
              <a:t>It interprets and carries out instructions contained in computer programs</a:t>
            </a:r>
          </a:p>
          <a:p>
            <a:pPr marL="476250" indent="-476250" defTabSz="-635" eaLnBrk="1" hangingPunct="1">
              <a:tabLst>
                <a:tab pos="287020" algn="l"/>
              </a:tabLst>
            </a:pPr>
            <a:r>
              <a:rPr lang="en-US" sz="2400" dirty="0"/>
              <a:t>Selects program statements from the primary storage</a:t>
            </a:r>
          </a:p>
          <a:p>
            <a:pPr marL="476250" indent="-476250" defTabSz="-635" eaLnBrk="1" hangingPunct="1">
              <a:tabLst>
                <a:tab pos="287020" algn="l"/>
              </a:tabLst>
            </a:pPr>
            <a:r>
              <a:rPr lang="en-US" sz="2400" dirty="0"/>
              <a:t>Move program statements to the instruction registers in the control unit</a:t>
            </a:r>
          </a:p>
          <a:p>
            <a:pPr marL="476250" indent="-476250" defTabSz="-635" eaLnBrk="1" hangingPunct="1">
              <a:tabLst>
                <a:tab pos="287020" algn="l"/>
              </a:tabLst>
            </a:pPr>
            <a:r>
              <a:rPr lang="en-US" sz="2400" dirty="0"/>
              <a:t>Controls input and output devices </a:t>
            </a:r>
          </a:p>
          <a:p>
            <a:pPr marL="476250" indent="-476250" defTabSz="-635" eaLnBrk="1" hangingPunct="1">
              <a:tabLst>
                <a:tab pos="287020" algn="l"/>
              </a:tabLst>
            </a:pPr>
            <a:r>
              <a:rPr lang="en-US" sz="2400" dirty="0"/>
              <a:t>Handles data-transfer processes from and to memory. </a:t>
            </a:r>
          </a:p>
        </p:txBody>
      </p:sp>
      <p:sp>
        <p:nvSpPr>
          <p:cNvPr id="31748" name="Rectangle 4"/>
          <p:cNvSpPr>
            <a:spLocks noChangeArrowheads="1"/>
          </p:cNvSpPr>
          <p:nvPr/>
        </p:nvSpPr>
        <p:spPr bwMode="auto">
          <a:xfrm>
            <a:off x="1371600" y="1524000"/>
            <a:ext cx="7620000" cy="1419225"/>
          </a:xfrm>
          <a:prstGeom prst="rect">
            <a:avLst/>
          </a:prstGeom>
          <a:noFill/>
          <a:ln w="9525">
            <a:noFill/>
            <a:miter lim="800000"/>
          </a:ln>
        </p:spPr>
        <p:txBody>
          <a:bodyPr lIns="0" tIns="0" rIns="0">
            <a:spAutoFit/>
          </a:bodyPr>
          <a:lstStyle/>
          <a:p>
            <a:r>
              <a:rPr lang="en-US"/>
              <a:t>The </a:t>
            </a:r>
            <a:r>
              <a:rPr lang="en-US">
                <a:solidFill>
                  <a:srgbClr val="33CCCC"/>
                </a:solidFill>
              </a:rPr>
              <a:t>control unit</a:t>
            </a:r>
            <a:r>
              <a:rPr lang="en-US" b="1"/>
              <a:t> </a:t>
            </a:r>
            <a:r>
              <a:rPr lang="en-US"/>
              <a:t>reads instructions and directs the other components of the computer system to perform the functions required by the program. The control unit does not actually change or create data; it merely directs the data flow within the CPU.</a:t>
            </a:r>
          </a:p>
        </p:txBody>
      </p:sp>
    </p:spTree>
  </p:cSld>
  <p:clrMapOvr>
    <a:masterClrMapping/>
  </p:clrMapOvr>
  <p:transition spd="med">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Buses </a:t>
            </a:r>
          </a:p>
        </p:txBody>
      </p:sp>
      <p:sp>
        <p:nvSpPr>
          <p:cNvPr id="32771" name="Rectangle 3"/>
          <p:cNvSpPr>
            <a:spLocks noGrp="1" noChangeArrowheads="1"/>
          </p:cNvSpPr>
          <p:nvPr>
            <p:ph type="body" sz="half" idx="1"/>
          </p:nvPr>
        </p:nvSpPr>
        <p:spPr>
          <a:xfrm>
            <a:off x="762000" y="3200400"/>
            <a:ext cx="8153400" cy="2895600"/>
          </a:xfrm>
          <a:noFill/>
        </p:spPr>
        <p:txBody>
          <a:bodyPr/>
          <a:lstStyle/>
          <a:p>
            <a:pPr marL="476250" indent="-476250" defTabSz="-635" eaLnBrk="1" hangingPunct="1">
              <a:lnSpc>
                <a:spcPct val="90000"/>
              </a:lnSpc>
              <a:spcBef>
                <a:spcPct val="45000"/>
              </a:spcBef>
              <a:tabLst>
                <a:tab pos="287020" algn="l"/>
              </a:tabLst>
            </a:pPr>
            <a:r>
              <a:rPr lang="en-US" sz="2400" dirty="0"/>
              <a:t>The</a:t>
            </a:r>
            <a:r>
              <a:rPr lang="en-US" sz="2400" b="1" dirty="0">
                <a:solidFill>
                  <a:srgbClr val="33CCCC"/>
                </a:solidFill>
              </a:rPr>
              <a:t> </a:t>
            </a:r>
            <a:r>
              <a:rPr lang="en-US" sz="2400" dirty="0">
                <a:solidFill>
                  <a:srgbClr val="33CCCC"/>
                </a:solidFill>
              </a:rPr>
              <a:t>data bus</a:t>
            </a:r>
            <a:r>
              <a:rPr lang="en-US" sz="2400" b="1" dirty="0"/>
              <a:t> </a:t>
            </a:r>
            <a:r>
              <a:rPr lang="en-US" sz="2400" dirty="0"/>
              <a:t>moves data to and from primary storage. </a:t>
            </a:r>
          </a:p>
          <a:p>
            <a:pPr marL="476250" indent="-476250" defTabSz="-635" eaLnBrk="1" hangingPunct="1">
              <a:lnSpc>
                <a:spcPct val="90000"/>
              </a:lnSpc>
              <a:spcBef>
                <a:spcPct val="45000"/>
              </a:spcBef>
              <a:tabLst>
                <a:tab pos="287020" algn="l"/>
              </a:tabLst>
            </a:pPr>
            <a:r>
              <a:rPr lang="en-US" sz="2400" dirty="0"/>
              <a:t>The </a:t>
            </a:r>
            <a:r>
              <a:rPr lang="en-US" sz="2400" dirty="0">
                <a:solidFill>
                  <a:srgbClr val="33CCCC"/>
                </a:solidFill>
              </a:rPr>
              <a:t>address bus</a:t>
            </a:r>
            <a:r>
              <a:rPr lang="en-US" sz="2400" b="1" dirty="0"/>
              <a:t> </a:t>
            </a:r>
            <a:r>
              <a:rPr lang="en-US" sz="2400" dirty="0"/>
              <a:t>transmits signals for locating a given address in primary storage. </a:t>
            </a:r>
          </a:p>
          <a:p>
            <a:pPr marL="476250" indent="-476250" defTabSz="-635" eaLnBrk="1" hangingPunct="1">
              <a:lnSpc>
                <a:spcPct val="90000"/>
              </a:lnSpc>
              <a:spcBef>
                <a:spcPct val="45000"/>
              </a:spcBef>
              <a:tabLst>
                <a:tab pos="287020" algn="l"/>
              </a:tabLst>
            </a:pPr>
            <a:r>
              <a:rPr lang="en-US" sz="2400" dirty="0"/>
              <a:t>The </a:t>
            </a:r>
            <a:r>
              <a:rPr lang="en-US" sz="2400" dirty="0">
                <a:solidFill>
                  <a:srgbClr val="33CCCC"/>
                </a:solidFill>
              </a:rPr>
              <a:t>control bus</a:t>
            </a:r>
            <a:r>
              <a:rPr lang="en-US" sz="2400" b="1" dirty="0"/>
              <a:t> </a:t>
            </a:r>
            <a:r>
              <a:rPr lang="en-US" sz="2400" dirty="0"/>
              <a:t>transmits signals specifying whether to “read” or “write” data to or from a given primary storage address, input device, or out­put device. </a:t>
            </a:r>
          </a:p>
        </p:txBody>
      </p:sp>
      <p:sp>
        <p:nvSpPr>
          <p:cNvPr id="32772" name="Rectangle 4"/>
          <p:cNvSpPr>
            <a:spLocks noChangeArrowheads="1"/>
          </p:cNvSpPr>
          <p:nvPr/>
        </p:nvSpPr>
        <p:spPr bwMode="auto">
          <a:xfrm>
            <a:off x="1371600" y="1524000"/>
            <a:ext cx="7620000" cy="1419225"/>
          </a:xfrm>
          <a:prstGeom prst="rect">
            <a:avLst/>
          </a:prstGeom>
          <a:noFill/>
          <a:ln w="9525">
            <a:noFill/>
            <a:miter lim="800000"/>
          </a:ln>
        </p:spPr>
        <p:txBody>
          <a:bodyPr lIns="0" tIns="0" rIns="0">
            <a:spAutoFit/>
          </a:bodyPr>
          <a:lstStyle/>
          <a:p>
            <a:r>
              <a:rPr lang="en-US"/>
              <a:t>A </a:t>
            </a:r>
            <a:r>
              <a:rPr lang="en-US">
                <a:solidFill>
                  <a:srgbClr val="33CCCC"/>
                </a:solidFill>
              </a:rPr>
              <a:t>bus</a:t>
            </a:r>
            <a:r>
              <a:rPr lang="en-US" b="1"/>
              <a:t> </a:t>
            </a:r>
            <a:r>
              <a:rPr lang="en-US"/>
              <a:t>is a channel (or shared data path) through which data are passed in electronic form. Three types of buses link the CPU, primary storage, and the other devices in the computer system. The capacity of a bus, called </a:t>
            </a:r>
            <a:r>
              <a:rPr lang="en-US">
                <a:solidFill>
                  <a:srgbClr val="33CCCC"/>
                </a:solidFill>
              </a:rPr>
              <a:t>bus width</a:t>
            </a:r>
            <a:r>
              <a:rPr lang="en-US" b="1"/>
              <a:t>, </a:t>
            </a:r>
            <a:r>
              <a:rPr lang="en-US"/>
              <a:t>is defined by the number of bits they carry at one time.  </a:t>
            </a:r>
          </a:p>
        </p:txBody>
      </p:sp>
    </p:spTree>
  </p:cSld>
  <p:clrMapOvr>
    <a:masterClrMapping/>
  </p:clrMapOvr>
  <p:transition spd="med">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23A8-E334-12BA-9779-C98EB32ABDB1}"/>
              </a:ext>
            </a:extLst>
          </p:cNvPr>
          <p:cNvSpPr>
            <a:spLocks noGrp="1"/>
          </p:cNvSpPr>
          <p:nvPr>
            <p:ph type="title"/>
          </p:nvPr>
        </p:nvSpPr>
        <p:spPr/>
        <p:txBody>
          <a:bodyPr/>
          <a:lstStyle/>
          <a:p>
            <a:r>
              <a:rPr lang="en-PH" dirty="0"/>
              <a:t>Example</a:t>
            </a:r>
          </a:p>
        </p:txBody>
      </p:sp>
      <p:sp>
        <p:nvSpPr>
          <p:cNvPr id="3" name="Content Placeholder 2">
            <a:extLst>
              <a:ext uri="{FF2B5EF4-FFF2-40B4-BE49-F238E27FC236}">
                <a16:creationId xmlns:a16="http://schemas.microsoft.com/office/drawing/2014/main" id="{9458FC85-7A61-2971-2C76-4203FC0918FA}"/>
              </a:ext>
            </a:extLst>
          </p:cNvPr>
          <p:cNvSpPr>
            <a:spLocks noGrp="1"/>
          </p:cNvSpPr>
          <p:nvPr>
            <p:ph idx="1"/>
          </p:nvPr>
        </p:nvSpPr>
        <p:spPr/>
        <p:txBody>
          <a:bodyPr/>
          <a:lstStyle/>
          <a:p>
            <a:endParaRPr lang="en-PH" dirty="0"/>
          </a:p>
        </p:txBody>
      </p:sp>
      <p:pic>
        <p:nvPicPr>
          <p:cNvPr id="1026" name="Picture 2" descr="COMPUTER BUS LINES – ABID TECHTALK">
            <a:extLst>
              <a:ext uri="{FF2B5EF4-FFF2-40B4-BE49-F238E27FC236}">
                <a16:creationId xmlns:a16="http://schemas.microsoft.com/office/drawing/2014/main" id="{80DCF768-7D4A-BFDE-7C61-16583D63F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74825"/>
            <a:ext cx="5905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206E08-11FE-8F61-F6AA-CA4F17E1104B}"/>
              </a:ext>
            </a:extLst>
          </p:cNvPr>
          <p:cNvSpPr txBox="1"/>
          <p:nvPr/>
        </p:nvSpPr>
        <p:spPr>
          <a:xfrm>
            <a:off x="-35767" y="5816025"/>
            <a:ext cx="8763000" cy="584775"/>
          </a:xfrm>
          <a:prstGeom prst="rect">
            <a:avLst/>
          </a:prstGeom>
          <a:noFill/>
        </p:spPr>
        <p:txBody>
          <a:bodyPr wrap="square" rtlCol="0">
            <a:spAutoFit/>
          </a:bodyPr>
          <a:lstStyle/>
          <a:p>
            <a:pPr algn="ctr"/>
            <a:r>
              <a:rPr lang="en-PH" sz="1600" dirty="0"/>
              <a:t>Source: https://abidtechtips.files.wordpress.com/2018/05/on-ca442_semich_b620_20170303125808.jpg</a:t>
            </a:r>
          </a:p>
        </p:txBody>
      </p:sp>
    </p:spTree>
    <p:extLst>
      <p:ext uri="{BB962C8B-B14F-4D97-AF65-F5344CB8AC3E}">
        <p14:creationId xmlns:p14="http://schemas.microsoft.com/office/powerpoint/2010/main" val="2560373365"/>
      </p:ext>
    </p:extLst>
  </p:cSld>
  <p:clrMapOvr>
    <a:masterClrMapping/>
  </p:clrMapOvr>
  <p:transition spd="med">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a:xfrm>
            <a:off x="457200" y="152400"/>
            <a:ext cx="8229600" cy="1251062"/>
          </a:xfrm>
        </p:spPr>
        <p:txBody>
          <a:bodyPr/>
          <a:lstStyle/>
          <a:p>
            <a:pPr eaLnBrk="1" fontAlgn="auto" hangingPunct="1">
              <a:spcAft>
                <a:spcPts val="0"/>
              </a:spcAft>
              <a:defRPr/>
            </a:pPr>
            <a:r>
              <a:rPr lang="en-US">
                <a:solidFill>
                  <a:schemeClr val="accent1">
                    <a:satMod val="150000"/>
                  </a:schemeClr>
                </a:solidFill>
              </a:rPr>
              <a:t>Input/Output Devices </a:t>
            </a:r>
          </a:p>
        </p:txBody>
      </p:sp>
      <p:pic>
        <p:nvPicPr>
          <p:cNvPr id="33795" name="Picture 7"/>
          <p:cNvPicPr>
            <a:picLocks noGrp="1" noChangeAspect="1" noChangeArrowheads="1"/>
          </p:cNvPicPr>
          <p:nvPr>
            <p:ph sz="half" idx="1"/>
          </p:nvPr>
        </p:nvPicPr>
        <p:blipFill>
          <a:blip r:embed="rId2" cstate="print"/>
          <a:srcRect/>
          <a:stretch>
            <a:fillRect/>
          </a:stretch>
        </p:blipFill>
        <p:spPr>
          <a:xfrm>
            <a:off x="457200" y="2992438"/>
            <a:ext cx="4038600" cy="2185987"/>
          </a:xfrm>
          <a:noFill/>
        </p:spPr>
      </p:pic>
      <p:pic>
        <p:nvPicPr>
          <p:cNvPr id="33796" name="Picture 9"/>
          <p:cNvPicPr>
            <a:picLocks noGrp="1" noChangeAspect="1" noChangeArrowheads="1"/>
          </p:cNvPicPr>
          <p:nvPr>
            <p:ph sz="half" idx="2"/>
          </p:nvPr>
        </p:nvPicPr>
        <p:blipFill>
          <a:blip r:embed="rId3" cstate="print"/>
          <a:srcRect/>
          <a:stretch>
            <a:fillRect/>
          </a:stretch>
        </p:blipFill>
        <p:spPr>
          <a:xfrm>
            <a:off x="4953000" y="4419600"/>
            <a:ext cx="3581400" cy="1979613"/>
          </a:xfrm>
          <a:noFill/>
        </p:spPr>
      </p:pic>
      <p:sp>
        <p:nvSpPr>
          <p:cNvPr id="33797" name="Rectangle 4"/>
          <p:cNvSpPr>
            <a:spLocks noChangeArrowheads="1"/>
          </p:cNvSpPr>
          <p:nvPr/>
        </p:nvSpPr>
        <p:spPr bwMode="auto">
          <a:xfrm>
            <a:off x="1371600" y="1524000"/>
            <a:ext cx="7620000" cy="1419225"/>
          </a:xfrm>
          <a:prstGeom prst="rect">
            <a:avLst/>
          </a:prstGeom>
          <a:noFill/>
          <a:ln w="9525">
            <a:noFill/>
            <a:miter lim="800000"/>
          </a:ln>
        </p:spPr>
        <p:txBody>
          <a:bodyPr lIns="0" tIns="0" rIns="0">
            <a:spAutoFit/>
          </a:bodyPr>
          <a:lstStyle/>
          <a:p>
            <a:r>
              <a:rPr lang="en-US"/>
              <a:t>The input/output (I/O) devices of a computer are not part of the CPU, but are channels for communicating between the external environment and the CPU. I/O devices are controlled directly by the CPU or indirectly through special processors dedicated to input and output processing. </a:t>
            </a:r>
          </a:p>
        </p:txBody>
      </p:sp>
      <p:sp>
        <p:nvSpPr>
          <p:cNvPr id="570373" name="Rectangle 5"/>
          <p:cNvSpPr>
            <a:spLocks noChangeArrowheads="1"/>
          </p:cNvSpPr>
          <p:nvPr/>
        </p:nvSpPr>
        <p:spPr bwMode="auto">
          <a:xfrm>
            <a:off x="1143000" y="3048000"/>
            <a:ext cx="4648200" cy="336550"/>
          </a:xfrm>
          <a:prstGeom prst="rect">
            <a:avLst/>
          </a:prstGeom>
          <a:noFill/>
          <a:ln w="9525" algn="ctr">
            <a:noFill/>
            <a:miter lim="800000"/>
          </a:ln>
          <a:effectLst/>
        </p:spPr>
        <p:txBody>
          <a:bodyPr anchor="ctr">
            <a:spAutoFit/>
          </a:bodyPr>
          <a:lstStyle/>
          <a:p>
            <a:pPr algn="ctr">
              <a:defRPr/>
            </a:pPr>
            <a:r>
              <a:rPr lang="en-US" sz="1600" b="1">
                <a:solidFill>
                  <a:srgbClr val="0066FF"/>
                </a:solidFill>
                <a:effectLst>
                  <a:outerShdw blurRad="38100" dist="38100" dir="2700000" algn="tl">
                    <a:srgbClr val="C0C0C0"/>
                  </a:outerShdw>
                </a:effectLst>
                <a:ea typeface="PMingLiU" panose="02020500000000000000" pitchFamily="18" charset="-120"/>
              </a:rPr>
              <a:t>Secondary storage</a:t>
            </a:r>
          </a:p>
        </p:txBody>
      </p:sp>
      <p:sp>
        <p:nvSpPr>
          <p:cNvPr id="570374" name="Rectangle 6"/>
          <p:cNvSpPr>
            <a:spLocks noChangeArrowheads="1"/>
          </p:cNvSpPr>
          <p:nvPr/>
        </p:nvSpPr>
        <p:spPr bwMode="auto">
          <a:xfrm>
            <a:off x="4114800" y="5943600"/>
            <a:ext cx="4648200" cy="336550"/>
          </a:xfrm>
          <a:prstGeom prst="rect">
            <a:avLst/>
          </a:prstGeom>
          <a:noFill/>
          <a:ln w="9525" algn="ctr">
            <a:noFill/>
            <a:miter lim="800000"/>
          </a:ln>
          <a:effectLst/>
        </p:spPr>
        <p:txBody>
          <a:bodyPr anchor="ctr">
            <a:spAutoFit/>
          </a:bodyPr>
          <a:lstStyle/>
          <a:p>
            <a:pPr algn="ctr">
              <a:defRPr/>
            </a:pPr>
            <a:r>
              <a:rPr lang="en-US" sz="1600" b="1">
                <a:solidFill>
                  <a:srgbClr val="0066FF"/>
                </a:solidFill>
                <a:effectLst>
                  <a:outerShdw blurRad="38100" dist="38100" dir="2700000" algn="tl">
                    <a:srgbClr val="C0C0C0"/>
                  </a:outerShdw>
                </a:effectLst>
                <a:ea typeface="PMingLiU" panose="02020500000000000000" pitchFamily="18" charset="-120"/>
              </a:rPr>
              <a:t>Peripheral Devices</a:t>
            </a:r>
          </a:p>
        </p:txBody>
      </p:sp>
    </p:spTree>
  </p:cSld>
  <p:clrMapOvr>
    <a:masterClrMapping/>
  </p:clrMapOvr>
  <p:transition spd="med">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3" name="Rectangle 3"/>
          <p:cNvSpPr>
            <a:spLocks noGrp="1" noChangeArrowheads="1"/>
          </p:cNvSpPr>
          <p:nvPr>
            <p:ph type="title"/>
          </p:nvPr>
        </p:nvSpPr>
        <p:spPr>
          <a:xfrm>
            <a:off x="457200" y="152400"/>
            <a:ext cx="8229600" cy="1251062"/>
          </a:xfrm>
        </p:spPr>
        <p:txBody>
          <a:bodyPr/>
          <a:lstStyle/>
          <a:p>
            <a:pPr eaLnBrk="1" fontAlgn="auto" hangingPunct="1">
              <a:spcAft>
                <a:spcPts val="0"/>
              </a:spcAft>
              <a:defRPr/>
            </a:pPr>
            <a:r>
              <a:rPr lang="en-US">
                <a:solidFill>
                  <a:schemeClr val="accent1">
                    <a:satMod val="150000"/>
                  </a:schemeClr>
                </a:solidFill>
              </a:rPr>
              <a:t>Input Devices </a:t>
            </a:r>
          </a:p>
        </p:txBody>
      </p:sp>
      <p:pic>
        <p:nvPicPr>
          <p:cNvPr id="34819" name="Picture 10"/>
          <p:cNvPicPr>
            <a:picLocks noGrp="1" noChangeAspect="1" noChangeArrowheads="1"/>
          </p:cNvPicPr>
          <p:nvPr>
            <p:ph sz="half" idx="1"/>
          </p:nvPr>
        </p:nvPicPr>
        <p:blipFill>
          <a:blip r:embed="rId2" cstate="print"/>
          <a:srcRect l="1450" b="1273"/>
          <a:stretch>
            <a:fillRect/>
          </a:stretch>
        </p:blipFill>
        <p:spPr>
          <a:xfrm>
            <a:off x="1295400" y="1524000"/>
            <a:ext cx="6078538" cy="5257800"/>
          </a:xfrm>
        </p:spPr>
      </p:pic>
    </p:spTree>
  </p:cSld>
  <p:clrMapOvr>
    <a:masterClrMapping/>
  </p:clrMapOvr>
  <p:transition spd="med">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a:xfrm>
            <a:off x="457200" y="152400"/>
            <a:ext cx="8229600" cy="1251062"/>
          </a:xfrm>
        </p:spPr>
        <p:txBody>
          <a:bodyPr/>
          <a:lstStyle/>
          <a:p>
            <a:pPr eaLnBrk="1" fontAlgn="auto" hangingPunct="1">
              <a:spcAft>
                <a:spcPts val="0"/>
              </a:spcAft>
              <a:defRPr/>
            </a:pPr>
            <a:r>
              <a:rPr lang="en-US">
                <a:solidFill>
                  <a:schemeClr val="accent1">
                    <a:satMod val="150000"/>
                  </a:schemeClr>
                </a:solidFill>
              </a:rPr>
              <a:t>Output Devices </a:t>
            </a:r>
          </a:p>
        </p:txBody>
      </p:sp>
      <p:pic>
        <p:nvPicPr>
          <p:cNvPr id="35843" name="Picture 4"/>
          <p:cNvPicPr>
            <a:picLocks noGrp="1" noChangeAspect="1" noChangeArrowheads="1"/>
          </p:cNvPicPr>
          <p:nvPr>
            <p:ph sz="half" idx="1"/>
          </p:nvPr>
        </p:nvPicPr>
        <p:blipFill>
          <a:blip r:embed="rId2" cstate="print"/>
          <a:srcRect/>
          <a:stretch>
            <a:fillRect/>
          </a:stretch>
        </p:blipFill>
        <p:spPr>
          <a:xfrm>
            <a:off x="1981200" y="1600200"/>
            <a:ext cx="5407025" cy="4800600"/>
          </a:xfrm>
        </p:spPr>
      </p:pic>
    </p:spTree>
  </p:cSld>
  <p:clrMapOvr>
    <a:masterClrMapping/>
  </p:clrMapOvr>
  <p:transition spd="med">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a:xfrm>
            <a:off x="457200" y="152400"/>
            <a:ext cx="8229600" cy="1251062"/>
          </a:xfrm>
        </p:spPr>
        <p:txBody>
          <a:bodyPr/>
          <a:lstStyle/>
          <a:p>
            <a:pPr eaLnBrk="1" fontAlgn="auto" hangingPunct="1">
              <a:spcAft>
                <a:spcPts val="0"/>
              </a:spcAft>
              <a:defRPr/>
            </a:pPr>
            <a:r>
              <a:rPr lang="en-US">
                <a:solidFill>
                  <a:schemeClr val="accent1">
                    <a:satMod val="150000"/>
                  </a:schemeClr>
                </a:solidFill>
              </a:rPr>
              <a:t>Communications Media </a:t>
            </a:r>
          </a:p>
        </p:txBody>
      </p:sp>
      <p:pic>
        <p:nvPicPr>
          <p:cNvPr id="36867" name="Picture 4"/>
          <p:cNvPicPr>
            <a:picLocks noGrp="1" noChangeAspect="1" noChangeArrowheads="1"/>
          </p:cNvPicPr>
          <p:nvPr>
            <p:ph sz="half" idx="1"/>
          </p:nvPr>
        </p:nvPicPr>
        <p:blipFill>
          <a:blip r:embed="rId2" cstate="print"/>
          <a:srcRect/>
          <a:stretch>
            <a:fillRect/>
          </a:stretch>
        </p:blipFill>
        <p:spPr>
          <a:xfrm>
            <a:off x="2133600" y="1600200"/>
            <a:ext cx="5330825" cy="4876800"/>
          </a:xfrm>
        </p:spPr>
      </p:pic>
    </p:spTree>
  </p:cSld>
  <p:clrMapOvr>
    <a:masterClrMapping/>
  </p:clrMapOvr>
  <p:transition spd="med">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4"/>
          <p:cNvSpPr>
            <a:spLocks noChangeArrowheads="1"/>
          </p:cNvSpPr>
          <p:nvPr/>
        </p:nvSpPr>
        <p:spPr bwMode="auto">
          <a:xfrm>
            <a:off x="1066800" y="1905000"/>
            <a:ext cx="7848600" cy="1600200"/>
          </a:xfrm>
          <a:prstGeom prst="rect">
            <a:avLst/>
          </a:prstGeom>
          <a:noFill/>
          <a:ln w="9525">
            <a:noFill/>
            <a:miter lim="800000"/>
          </a:ln>
        </p:spPr>
        <p:txBody>
          <a:bodyPr anchor="b"/>
          <a:lstStyle/>
          <a:p>
            <a:pPr algn="ctr" eaLnBrk="1" hangingPunct="1"/>
            <a:r>
              <a:rPr lang="en-US" sz="3600" b="1" dirty="0">
                <a:solidFill>
                  <a:schemeClr val="tx2"/>
                </a:solidFill>
                <a:latin typeface="Arial" panose="020B0604020202020204" pitchFamily="34" charset="0"/>
              </a:rPr>
              <a:t>COMPUTER SOFTWARE</a:t>
            </a:r>
            <a:r>
              <a:rPr lang="en-US" sz="3600" dirty="0">
                <a:solidFill>
                  <a:schemeClr val="tx2"/>
                </a:solidFill>
                <a:latin typeface="Arial" panose="020B0604020202020204" pitchFamily="34" charset="0"/>
              </a:rPr>
              <a:t> </a:t>
            </a:r>
          </a:p>
        </p:txBody>
      </p:sp>
    </p:spTree>
  </p:cSld>
  <p:clrMapOvr>
    <a:masterClrMapping/>
  </p:clrMapOvr>
  <p:transition spd="med">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Types Of Software </a:t>
            </a:r>
          </a:p>
        </p:txBody>
      </p:sp>
      <p:sp>
        <p:nvSpPr>
          <p:cNvPr id="38915" name="Rectangle 3"/>
          <p:cNvSpPr>
            <a:spLocks noGrp="1" noChangeArrowheads="1"/>
          </p:cNvSpPr>
          <p:nvPr>
            <p:ph type="body" idx="1"/>
          </p:nvPr>
        </p:nvSpPr>
        <p:spPr>
          <a:xfrm>
            <a:off x="609600" y="3048000"/>
            <a:ext cx="7620000" cy="3276600"/>
          </a:xfrm>
          <a:noFill/>
        </p:spPr>
        <p:txBody>
          <a:bodyPr/>
          <a:lstStyle/>
          <a:p>
            <a:pPr marL="476250" indent="-476250" algn="just" defTabSz="-635" eaLnBrk="1" hangingPunct="1">
              <a:lnSpc>
                <a:spcPct val="95000"/>
              </a:lnSpc>
              <a:spcBef>
                <a:spcPct val="45000"/>
              </a:spcBef>
              <a:tabLst>
                <a:tab pos="287020" algn="l"/>
              </a:tabLst>
            </a:pPr>
            <a:r>
              <a:rPr lang="en-US" altLang="zh-CN" sz="2000" dirty="0">
                <a:solidFill>
                  <a:srgbClr val="33CCCC"/>
                </a:solidFill>
                <a:ea typeface="SimSun" panose="02010600030101010101" pitchFamily="2" charset="-122"/>
              </a:rPr>
              <a:t>Application software</a:t>
            </a:r>
            <a:r>
              <a:rPr lang="en-US" altLang="zh-CN" sz="2000" b="1" dirty="0">
                <a:ea typeface="SimSun" panose="02010600030101010101" pitchFamily="2" charset="-122"/>
              </a:rPr>
              <a:t> </a:t>
            </a:r>
            <a:r>
              <a:rPr lang="en-US" altLang="zh-CN" sz="2000" dirty="0">
                <a:ea typeface="SimSun" panose="02010600030101010101" pitchFamily="2" charset="-122"/>
              </a:rPr>
              <a:t>is a set of computer instructions, that direct computer hardware to perform specific data or information processing activities that provide functionality to the user.</a:t>
            </a:r>
            <a:endParaRPr lang="en-US" altLang="zh-CN" sz="2000" b="1" dirty="0">
              <a:ea typeface="SimSun" panose="02010600030101010101" pitchFamily="2" charset="-122"/>
            </a:endParaRPr>
          </a:p>
          <a:p>
            <a:pPr marL="476250" indent="-476250" algn="just" defTabSz="-635" eaLnBrk="1" hangingPunct="1">
              <a:lnSpc>
                <a:spcPct val="95000"/>
              </a:lnSpc>
              <a:spcBef>
                <a:spcPct val="45000"/>
              </a:spcBef>
              <a:tabLst>
                <a:tab pos="287020" algn="l"/>
              </a:tabLst>
            </a:pPr>
            <a:r>
              <a:rPr lang="en-US" altLang="zh-CN" sz="2000" dirty="0">
                <a:solidFill>
                  <a:srgbClr val="33CCCC"/>
                </a:solidFill>
                <a:ea typeface="SimSun" panose="02010600030101010101" pitchFamily="2" charset="-122"/>
              </a:rPr>
              <a:t>Systems software</a:t>
            </a:r>
            <a:r>
              <a:rPr lang="en-US" altLang="zh-CN" sz="2000" b="1" dirty="0">
                <a:ea typeface="SimSun" panose="02010600030101010101" pitchFamily="2" charset="-122"/>
              </a:rPr>
              <a:t> </a:t>
            </a:r>
            <a:r>
              <a:rPr lang="en-US" altLang="zh-CN" sz="2000" dirty="0">
                <a:ea typeface="SimSun" panose="02010600030101010101" pitchFamily="2" charset="-122"/>
              </a:rPr>
              <a:t>acts primarily as an intermediary between computer hardware and application programs, and provides important self-regulatory functions for computer systems, such as loading itself when the computer is turned on, managing hardware resources such as secondary storage for all applications; and providing commonly used sets of instructions for all applications to use. </a:t>
            </a:r>
          </a:p>
        </p:txBody>
      </p:sp>
      <p:sp>
        <p:nvSpPr>
          <p:cNvPr id="38916" name="Rectangle 4"/>
          <p:cNvSpPr>
            <a:spLocks noChangeArrowheads="1"/>
          </p:cNvSpPr>
          <p:nvPr/>
        </p:nvSpPr>
        <p:spPr bwMode="auto">
          <a:xfrm>
            <a:off x="762000" y="1615695"/>
            <a:ext cx="7620000" cy="1323439"/>
          </a:xfrm>
          <a:prstGeom prst="rect">
            <a:avLst/>
          </a:prstGeom>
          <a:noFill/>
          <a:ln w="9525">
            <a:noFill/>
            <a:miter lim="800000"/>
          </a:ln>
        </p:spPr>
        <p:txBody>
          <a:bodyPr lIns="0" rIns="0">
            <a:spAutoFit/>
          </a:bodyPr>
          <a:lstStyle/>
          <a:p>
            <a:pPr algn="just"/>
            <a:r>
              <a:rPr lang="en-US" sz="2000" dirty="0"/>
              <a:t>Computer hardware cannot perform a single act without instructions. These instructions are known as </a:t>
            </a:r>
            <a:r>
              <a:rPr lang="en-US" sz="2000" dirty="0">
                <a:solidFill>
                  <a:srgbClr val="33CCCC"/>
                </a:solidFill>
              </a:rPr>
              <a:t>software</a:t>
            </a:r>
            <a:r>
              <a:rPr lang="en-US" sz="2000" b="1" dirty="0"/>
              <a:t> </a:t>
            </a:r>
            <a:r>
              <a:rPr lang="en-US" sz="2000" dirty="0"/>
              <a:t>or computer programs. There are two major types of software: application software and systems software. </a:t>
            </a:r>
          </a:p>
        </p:txBody>
      </p:sp>
    </p:spTree>
  </p:cSld>
  <p:clrMapOvr>
    <a:masterClrMapping/>
  </p:clrMapOvr>
  <p:transition spd="med">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6"/>
          <p:cNvPicPr>
            <a:picLocks noGrp="1" noChangeAspect="1" noChangeArrowheads="1"/>
          </p:cNvPicPr>
          <p:nvPr>
            <p:ph idx="1"/>
          </p:nvPr>
        </p:nvPicPr>
        <p:blipFill>
          <a:blip r:embed="rId2" cstate="print"/>
          <a:srcRect/>
          <a:stretch>
            <a:fillRect/>
          </a:stretch>
        </p:blipFill>
        <p:spPr>
          <a:xfrm>
            <a:off x="2438400" y="2286000"/>
            <a:ext cx="4572000" cy="3962400"/>
          </a:xfrm>
          <a:noFill/>
        </p:spPr>
      </p:pic>
      <p:sp>
        <p:nvSpPr>
          <p:cNvPr id="576514"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Types Of Software </a:t>
            </a:r>
          </a:p>
        </p:txBody>
      </p:sp>
      <p:sp>
        <p:nvSpPr>
          <p:cNvPr id="39940" name="Rectangle 4"/>
          <p:cNvSpPr>
            <a:spLocks noChangeArrowheads="1"/>
          </p:cNvSpPr>
          <p:nvPr/>
        </p:nvSpPr>
        <p:spPr bwMode="auto">
          <a:xfrm>
            <a:off x="1371600" y="1524000"/>
            <a:ext cx="7239000" cy="915988"/>
          </a:xfrm>
          <a:prstGeom prst="rect">
            <a:avLst/>
          </a:prstGeom>
          <a:noFill/>
          <a:ln w="9525">
            <a:noFill/>
            <a:miter lim="800000"/>
          </a:ln>
        </p:spPr>
        <p:txBody>
          <a:bodyPr lIns="0" rIns="0">
            <a:spAutoFit/>
          </a:bodyPr>
          <a:lstStyle/>
          <a:p>
            <a:r>
              <a:rPr lang="en-US"/>
              <a:t>Unlike computer hardware, which can be designed and manufactured on automated assembly lines, most software must be programmed by hand. </a:t>
            </a:r>
          </a:p>
        </p:txBody>
      </p:sp>
      <p:sp>
        <p:nvSpPr>
          <p:cNvPr id="576520" name="Rectangle 8"/>
          <p:cNvSpPr>
            <a:spLocks noChangeArrowheads="1"/>
          </p:cNvSpPr>
          <p:nvPr/>
        </p:nvSpPr>
        <p:spPr bwMode="auto">
          <a:xfrm>
            <a:off x="1219200" y="5791200"/>
            <a:ext cx="6934200" cy="581025"/>
          </a:xfrm>
          <a:prstGeom prst="rect">
            <a:avLst/>
          </a:prstGeom>
          <a:noFill/>
          <a:ln w="9525" algn="ctr">
            <a:noFill/>
            <a:miter lim="800000"/>
          </a:ln>
          <a:effectLst/>
        </p:spPr>
        <p:txBody>
          <a:bodyPr anchor="ctr">
            <a:spAutoFit/>
          </a:bodyPr>
          <a:lstStyle/>
          <a:p>
            <a:pPr algn="ctr">
              <a:defRPr/>
            </a:pPr>
            <a:r>
              <a:rPr lang="en-US" sz="1600" b="1">
                <a:solidFill>
                  <a:srgbClr val="0066FF"/>
                </a:solidFill>
                <a:effectLst>
                  <a:outerShdw blurRad="38100" dist="38100" dir="2700000" algn="tl">
                    <a:srgbClr val="C0C0C0"/>
                  </a:outerShdw>
                </a:effectLst>
                <a:ea typeface="PMingLiU" panose="02020500000000000000" pitchFamily="18" charset="-120"/>
              </a:rPr>
              <a:t>Both application software and systems software are written in coding schemes called programming languages.</a:t>
            </a:r>
          </a:p>
        </p:txBody>
      </p:sp>
    </p:spTree>
  </p:cSld>
  <p:clrMapOvr>
    <a:masterClrMapping/>
  </p:clrMapOvr>
  <p:transition spd="med">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p>
        </p:txBody>
      </p:sp>
      <p:sp>
        <p:nvSpPr>
          <p:cNvPr id="40963" name="Rectangle 3"/>
          <p:cNvSpPr>
            <a:spLocks noGrp="1" noChangeArrowheads="1"/>
          </p:cNvSpPr>
          <p:nvPr>
            <p:ph type="body" idx="1"/>
          </p:nvPr>
        </p:nvSpPr>
        <p:spPr>
          <a:xfrm>
            <a:off x="304800" y="2212974"/>
            <a:ext cx="8229600" cy="4492625"/>
          </a:xfrm>
          <a:noFill/>
        </p:spPr>
        <p:txBody>
          <a:bodyPr/>
          <a:lstStyle/>
          <a:p>
            <a:pPr marL="476250" indent="-476250" defTabSz="-635" eaLnBrk="1" hangingPunct="1">
              <a:lnSpc>
                <a:spcPct val="85000"/>
              </a:lnSpc>
              <a:spcBef>
                <a:spcPct val="25000"/>
              </a:spcBef>
              <a:tabLst>
                <a:tab pos="287020" algn="l"/>
              </a:tabLst>
            </a:pPr>
            <a:r>
              <a:rPr lang="en-US" sz="2000" dirty="0">
                <a:solidFill>
                  <a:srgbClr val="33CCCC"/>
                </a:solidFill>
              </a:rPr>
              <a:t>Tailor-made application software</a:t>
            </a:r>
            <a:r>
              <a:rPr lang="en-US" sz="2000" b="1" dirty="0"/>
              <a:t> </a:t>
            </a:r>
            <a:r>
              <a:rPr lang="en-US" sz="2000" dirty="0"/>
              <a:t>addresses a specific or unique business need for a company.</a:t>
            </a:r>
          </a:p>
          <a:p>
            <a:pPr marL="476250" indent="-476250" defTabSz="-635" eaLnBrk="1" hangingPunct="1">
              <a:lnSpc>
                <a:spcPct val="85000"/>
              </a:lnSpc>
              <a:spcBef>
                <a:spcPct val="25000"/>
              </a:spcBef>
              <a:tabLst>
                <a:tab pos="287020" algn="l"/>
              </a:tabLst>
            </a:pPr>
            <a:r>
              <a:rPr lang="en-US" sz="2000" dirty="0">
                <a:solidFill>
                  <a:srgbClr val="33CCCC"/>
                </a:solidFill>
              </a:rPr>
              <a:t>Off-the-shelf application software</a:t>
            </a:r>
            <a:r>
              <a:rPr lang="en-US" sz="2000" b="1" dirty="0"/>
              <a:t> </a:t>
            </a:r>
            <a:r>
              <a:rPr lang="en-US" sz="2000" dirty="0"/>
              <a:t>can be purchased, leased, or rented from a vendor that develops programs and sells them to many organizations (Vertical Markets).</a:t>
            </a:r>
            <a:endParaRPr lang="en-US" sz="2000" i="1" dirty="0"/>
          </a:p>
          <a:p>
            <a:pPr marL="476250" indent="-476250" defTabSz="-635" eaLnBrk="1" hangingPunct="1">
              <a:lnSpc>
                <a:spcPct val="85000"/>
              </a:lnSpc>
              <a:spcBef>
                <a:spcPct val="25000"/>
              </a:spcBef>
              <a:tabLst>
                <a:tab pos="287020" algn="l"/>
              </a:tabLst>
            </a:pPr>
            <a:r>
              <a:rPr lang="en-US" sz="2000" dirty="0">
                <a:solidFill>
                  <a:srgbClr val="33CCCC"/>
                </a:solidFill>
              </a:rPr>
              <a:t>General-purpose application programs</a:t>
            </a:r>
            <a:r>
              <a:rPr lang="en-US" sz="2000" i="1" dirty="0"/>
              <a:t> </a:t>
            </a:r>
            <a:r>
              <a:rPr lang="en-US" sz="2000" dirty="0"/>
              <a:t>that are not linked to any specific business task, but instead support general types of information processing </a:t>
            </a:r>
          </a:p>
          <a:p>
            <a:pPr marL="919480" lvl="1" indent="-400050" defTabSz="-635" eaLnBrk="1" hangingPunct="1">
              <a:lnSpc>
                <a:spcPct val="80000"/>
              </a:lnSpc>
              <a:tabLst>
                <a:tab pos="287020" algn="l"/>
              </a:tabLst>
            </a:pPr>
            <a:r>
              <a:rPr lang="en-US" sz="1800" dirty="0"/>
              <a:t>Spreadsheet</a:t>
            </a:r>
          </a:p>
          <a:p>
            <a:pPr marL="919480" lvl="1" indent="-400050" defTabSz="-635" eaLnBrk="1" hangingPunct="1">
              <a:lnSpc>
                <a:spcPct val="80000"/>
              </a:lnSpc>
              <a:tabLst>
                <a:tab pos="287020" algn="l"/>
              </a:tabLst>
            </a:pPr>
            <a:r>
              <a:rPr lang="en-US" sz="1800" dirty="0"/>
              <a:t>Data management</a:t>
            </a:r>
          </a:p>
          <a:p>
            <a:pPr marL="919480" lvl="1" indent="-400050" defTabSz="-635" eaLnBrk="1" hangingPunct="1">
              <a:lnSpc>
                <a:spcPct val="80000"/>
              </a:lnSpc>
              <a:tabLst>
                <a:tab pos="287020" algn="l"/>
              </a:tabLst>
            </a:pPr>
            <a:r>
              <a:rPr lang="en-US" sz="1800" dirty="0"/>
              <a:t>Word processing</a:t>
            </a:r>
          </a:p>
          <a:p>
            <a:pPr marL="919480" lvl="1" indent="-400050" defTabSz="-635" eaLnBrk="1" hangingPunct="1">
              <a:lnSpc>
                <a:spcPct val="80000"/>
              </a:lnSpc>
              <a:tabLst>
                <a:tab pos="287020" algn="l"/>
              </a:tabLst>
            </a:pPr>
            <a:r>
              <a:rPr lang="en-US" sz="1800" dirty="0"/>
              <a:t>Desktop publishing</a:t>
            </a:r>
          </a:p>
          <a:p>
            <a:pPr marL="919480" lvl="1" indent="-400050" defTabSz="-635" eaLnBrk="1" hangingPunct="1">
              <a:lnSpc>
                <a:spcPct val="80000"/>
              </a:lnSpc>
              <a:tabLst>
                <a:tab pos="287020" algn="l"/>
              </a:tabLst>
            </a:pPr>
            <a:r>
              <a:rPr lang="en-US" sz="1800" dirty="0"/>
              <a:t>Graphics</a:t>
            </a:r>
          </a:p>
          <a:p>
            <a:pPr marL="919480" lvl="1" indent="-400050" defTabSz="-635" eaLnBrk="1" hangingPunct="1">
              <a:lnSpc>
                <a:spcPct val="80000"/>
              </a:lnSpc>
              <a:tabLst>
                <a:tab pos="287020" algn="l"/>
              </a:tabLst>
            </a:pPr>
            <a:r>
              <a:rPr lang="en-US" sz="1800" dirty="0"/>
              <a:t>Multimedia</a:t>
            </a:r>
          </a:p>
          <a:p>
            <a:pPr marL="919480" lvl="1" indent="-400050" defTabSz="-635" eaLnBrk="1" hangingPunct="1">
              <a:lnSpc>
                <a:spcPct val="80000"/>
              </a:lnSpc>
              <a:tabLst>
                <a:tab pos="287020" algn="l"/>
              </a:tabLst>
            </a:pPr>
            <a:r>
              <a:rPr lang="en-US" sz="1800" dirty="0"/>
              <a:t>Communications</a:t>
            </a:r>
          </a:p>
          <a:p>
            <a:pPr marL="919480" lvl="1" indent="-400050" defTabSz="-635" eaLnBrk="1" hangingPunct="1">
              <a:lnSpc>
                <a:spcPct val="80000"/>
              </a:lnSpc>
              <a:tabLst>
                <a:tab pos="287020" algn="l"/>
              </a:tabLst>
            </a:pPr>
            <a:r>
              <a:rPr lang="en-US" sz="1800" dirty="0"/>
              <a:t>Development tools - software used to construct applications</a:t>
            </a:r>
          </a:p>
        </p:txBody>
      </p:sp>
      <p:sp>
        <p:nvSpPr>
          <p:cNvPr id="40964" name="Rectangle 4"/>
          <p:cNvSpPr>
            <a:spLocks noChangeArrowheads="1"/>
          </p:cNvSpPr>
          <p:nvPr/>
        </p:nvSpPr>
        <p:spPr bwMode="auto">
          <a:xfrm>
            <a:off x="457200" y="1542013"/>
            <a:ext cx="7772400" cy="641350"/>
          </a:xfrm>
          <a:prstGeom prst="rect">
            <a:avLst/>
          </a:prstGeom>
          <a:noFill/>
          <a:ln w="9525">
            <a:noFill/>
            <a:miter lim="800000"/>
          </a:ln>
        </p:spPr>
        <p:txBody>
          <a:bodyPr lIns="0" rIns="0">
            <a:spAutoFit/>
          </a:bodyPr>
          <a:lstStyle/>
          <a:p>
            <a:r>
              <a:rPr lang="en-US" dirty="0"/>
              <a:t>Because there are so many different uses for computers, there are a correspondingly large number of different application programs. </a:t>
            </a:r>
          </a:p>
        </p:txBody>
      </p:sp>
    </p:spTree>
  </p:cSld>
  <p:clrMapOvr>
    <a:masterClrMapping/>
  </p:clrMapOvr>
  <p:transition spd="med">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r>
              <a:rPr lang="en-US" sz="1600">
                <a:solidFill>
                  <a:schemeClr val="accent1">
                    <a:satMod val="150000"/>
                  </a:schemeClr>
                </a:solidFill>
              </a:rPr>
              <a:t>Continued</a:t>
            </a:r>
          </a:p>
        </p:txBody>
      </p:sp>
      <p:sp>
        <p:nvSpPr>
          <p:cNvPr id="41987" name="Rectangle 3"/>
          <p:cNvSpPr>
            <a:spLocks noGrp="1" noChangeArrowheads="1"/>
          </p:cNvSpPr>
          <p:nvPr>
            <p:ph type="body" idx="1"/>
          </p:nvPr>
        </p:nvSpPr>
        <p:spPr>
          <a:xfrm>
            <a:off x="342900" y="2057400"/>
            <a:ext cx="8458200" cy="4343400"/>
          </a:xfrm>
          <a:noFill/>
        </p:spPr>
        <p:txBody>
          <a:bodyPr/>
          <a:lstStyle/>
          <a:p>
            <a:pPr marL="476250" indent="-476250" defTabSz="-635" eaLnBrk="1" hangingPunct="1">
              <a:lnSpc>
                <a:spcPct val="90000"/>
              </a:lnSpc>
              <a:spcBef>
                <a:spcPct val="40000"/>
              </a:spcBef>
              <a:tabLst>
                <a:tab pos="287020" algn="l"/>
              </a:tabLst>
            </a:pPr>
            <a:r>
              <a:rPr lang="en-US" sz="2000" dirty="0">
                <a:solidFill>
                  <a:srgbClr val="33CCCC"/>
                </a:solidFill>
              </a:rPr>
              <a:t>Spreadsheet software</a:t>
            </a:r>
            <a:r>
              <a:rPr lang="en-US" sz="2000" b="1" dirty="0"/>
              <a:t> </a:t>
            </a:r>
            <a:r>
              <a:rPr lang="en-US" sz="2000" dirty="0"/>
              <a:t>transforms a computer screen into a ledger sheet, or grid. Packages include already-programmed statistical, financial, and other business formulas and are primarily used for decision support processing.</a:t>
            </a:r>
          </a:p>
          <a:p>
            <a:pPr marL="476250" indent="-476250" defTabSz="-635" eaLnBrk="1" hangingPunct="1">
              <a:lnSpc>
                <a:spcPct val="90000"/>
              </a:lnSpc>
              <a:spcBef>
                <a:spcPct val="40000"/>
              </a:spcBef>
              <a:tabLst>
                <a:tab pos="287020" algn="l"/>
              </a:tabLst>
            </a:pPr>
            <a:r>
              <a:rPr lang="en-US" sz="2000" dirty="0">
                <a:solidFill>
                  <a:srgbClr val="33CCCC"/>
                </a:solidFill>
              </a:rPr>
              <a:t>Data management software</a:t>
            </a:r>
            <a:r>
              <a:rPr lang="en-US" sz="2000" dirty="0"/>
              <a:t> supports the storage, retrieval, and manipulation of data. There are two basic types of data management software:</a:t>
            </a:r>
          </a:p>
          <a:p>
            <a:pPr marL="919480" lvl="1" indent="-400050" defTabSz="-635" eaLnBrk="1" hangingPunct="1">
              <a:lnSpc>
                <a:spcPct val="90000"/>
              </a:lnSpc>
              <a:spcBef>
                <a:spcPct val="40000"/>
              </a:spcBef>
              <a:tabLst>
                <a:tab pos="287020" algn="l"/>
              </a:tabLst>
            </a:pPr>
            <a:r>
              <a:rPr lang="en-US" sz="1800" dirty="0"/>
              <a:t>Simple </a:t>
            </a:r>
            <a:r>
              <a:rPr lang="en-US" sz="1800" dirty="0">
                <a:solidFill>
                  <a:srgbClr val="33CCCC"/>
                </a:solidFill>
              </a:rPr>
              <a:t>filing programs</a:t>
            </a:r>
            <a:r>
              <a:rPr lang="en-US" sz="1800" b="1" dirty="0"/>
              <a:t> </a:t>
            </a:r>
            <a:r>
              <a:rPr lang="en-US" sz="1800" dirty="0"/>
              <a:t>patterned after traditional, manual data filing techniques</a:t>
            </a:r>
          </a:p>
          <a:p>
            <a:pPr marL="919480" lvl="1" indent="-400050" defTabSz="-635" eaLnBrk="1" hangingPunct="1">
              <a:lnSpc>
                <a:spcPct val="90000"/>
              </a:lnSpc>
              <a:spcBef>
                <a:spcPct val="40000"/>
              </a:spcBef>
              <a:tabLst>
                <a:tab pos="287020" algn="l"/>
              </a:tabLst>
            </a:pPr>
            <a:r>
              <a:rPr lang="en-US" sz="1800" dirty="0">
                <a:solidFill>
                  <a:srgbClr val="33CCCC"/>
                </a:solidFill>
              </a:rPr>
              <a:t>Database management systems</a:t>
            </a:r>
            <a:r>
              <a:rPr lang="en-US" sz="1800" b="1" dirty="0"/>
              <a:t> </a:t>
            </a:r>
            <a:r>
              <a:rPr lang="en-US" sz="1800" dirty="0"/>
              <a:t>(DBMS's</a:t>
            </a:r>
            <a:r>
              <a:rPr lang="en-US" sz="1800" b="1" dirty="0"/>
              <a:t>)</a:t>
            </a:r>
            <a:r>
              <a:rPr lang="en-US" sz="1800" dirty="0"/>
              <a:t> a collection of files serving as the data resource for computer-based information systems.</a:t>
            </a:r>
            <a:endParaRPr lang="en-US" sz="2000" dirty="0"/>
          </a:p>
          <a:p>
            <a:pPr marL="476250" indent="-476250" defTabSz="-635" eaLnBrk="1" hangingPunct="1">
              <a:lnSpc>
                <a:spcPct val="90000"/>
              </a:lnSpc>
              <a:spcBef>
                <a:spcPct val="40000"/>
              </a:spcBef>
              <a:tabLst>
                <a:tab pos="287020" algn="l"/>
              </a:tabLst>
            </a:pPr>
            <a:r>
              <a:rPr lang="en-US" sz="2000" dirty="0">
                <a:solidFill>
                  <a:srgbClr val="33CCCC"/>
                </a:solidFill>
              </a:rPr>
              <a:t>Word processing software</a:t>
            </a:r>
            <a:r>
              <a:rPr lang="en-US" sz="2000" dirty="0"/>
              <a:t> allows the user to manipulate text rather than just numbers.</a:t>
            </a:r>
            <a:r>
              <a:rPr lang="en-US" sz="1400" dirty="0"/>
              <a:t> </a:t>
            </a:r>
          </a:p>
        </p:txBody>
      </p:sp>
    </p:spTree>
  </p:cSld>
  <p:clrMapOvr>
    <a:masterClrMapping/>
  </p:clrMapOvr>
  <p:transition spd="med">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r>
              <a:rPr lang="en-US" sz="1600">
                <a:solidFill>
                  <a:schemeClr val="accent1">
                    <a:satMod val="150000"/>
                  </a:schemeClr>
                </a:solidFill>
              </a:rPr>
              <a:t>Continued</a:t>
            </a:r>
          </a:p>
        </p:txBody>
      </p:sp>
      <p:sp>
        <p:nvSpPr>
          <p:cNvPr id="43011" name="Rectangle 3"/>
          <p:cNvSpPr>
            <a:spLocks noGrp="1" noChangeArrowheads="1"/>
          </p:cNvSpPr>
          <p:nvPr>
            <p:ph type="body" idx="1"/>
          </p:nvPr>
        </p:nvSpPr>
        <p:spPr>
          <a:xfrm>
            <a:off x="533400" y="1752600"/>
            <a:ext cx="8382000" cy="4572000"/>
          </a:xfrm>
          <a:noFill/>
        </p:spPr>
        <p:txBody>
          <a:bodyPr/>
          <a:lstStyle/>
          <a:p>
            <a:pPr marL="476250" indent="-476250" defTabSz="-635" eaLnBrk="1" hangingPunct="1">
              <a:lnSpc>
                <a:spcPct val="90000"/>
              </a:lnSpc>
              <a:spcBef>
                <a:spcPct val="40000"/>
              </a:spcBef>
              <a:tabLst>
                <a:tab pos="287020" algn="l"/>
              </a:tabLst>
            </a:pPr>
            <a:r>
              <a:rPr lang="en-US" sz="2400" dirty="0">
                <a:solidFill>
                  <a:srgbClr val="33CCCC"/>
                </a:solidFill>
              </a:rPr>
              <a:t>Desktop publishing</a:t>
            </a:r>
            <a:r>
              <a:rPr lang="en-US" sz="2400" b="1" dirty="0"/>
              <a:t> </a:t>
            </a:r>
            <a:r>
              <a:rPr lang="en-US" sz="2400" dirty="0"/>
              <a:t>software allows microcomputers to create newsletters, announcements, advertising copy, and other specialized documents by combining photographs, diagrams, and other images with text to produce a finished, camera-ready document.</a:t>
            </a:r>
          </a:p>
          <a:p>
            <a:pPr marL="476250" indent="-476250" defTabSz="-635" eaLnBrk="1" hangingPunct="1">
              <a:lnSpc>
                <a:spcPct val="90000"/>
              </a:lnSpc>
              <a:spcBef>
                <a:spcPct val="40000"/>
              </a:spcBef>
              <a:tabLst>
                <a:tab pos="287020" algn="l"/>
              </a:tabLst>
            </a:pPr>
            <a:r>
              <a:rPr lang="en-US" sz="2400" dirty="0">
                <a:solidFill>
                  <a:srgbClr val="33CCCC"/>
                </a:solidFill>
              </a:rPr>
              <a:t>Graphics software</a:t>
            </a:r>
            <a:r>
              <a:rPr lang="en-US" sz="2400" dirty="0"/>
              <a:t> allows the user to create, store, and display or print charts, graphs, maps, and drawings.</a:t>
            </a:r>
          </a:p>
          <a:p>
            <a:pPr marL="476250" indent="-476250" defTabSz="-635" eaLnBrk="1" hangingPunct="1">
              <a:lnSpc>
                <a:spcPct val="90000"/>
              </a:lnSpc>
              <a:spcBef>
                <a:spcPct val="40000"/>
              </a:spcBef>
              <a:tabLst>
                <a:tab pos="287020" algn="l"/>
              </a:tabLst>
            </a:pPr>
            <a:r>
              <a:rPr lang="en-US" sz="2400" dirty="0">
                <a:solidFill>
                  <a:srgbClr val="33CCCC"/>
                </a:solidFill>
              </a:rPr>
              <a:t>Multimedia</a:t>
            </a:r>
            <a:r>
              <a:rPr lang="en-US" sz="2400" dirty="0"/>
              <a:t>. There are two general types of multimedia software:</a:t>
            </a:r>
          </a:p>
          <a:p>
            <a:pPr marL="919480" lvl="1" indent="-400050" defTabSz="-635" eaLnBrk="1" hangingPunct="1">
              <a:lnSpc>
                <a:spcPct val="85000"/>
              </a:lnSpc>
              <a:spcBef>
                <a:spcPct val="25000"/>
              </a:spcBef>
              <a:tabLst>
                <a:tab pos="287020" algn="l"/>
              </a:tabLst>
            </a:pPr>
            <a:r>
              <a:rPr lang="en-US" sz="2000" dirty="0"/>
              <a:t>Presentation software</a:t>
            </a:r>
            <a:r>
              <a:rPr lang="en-US" sz="2000" i="1" dirty="0"/>
              <a:t> </a:t>
            </a:r>
            <a:r>
              <a:rPr lang="en-US" sz="2000" dirty="0"/>
              <a:t>presents a sequential procession of information similar to a movie or television show. </a:t>
            </a:r>
          </a:p>
          <a:p>
            <a:pPr marL="919480" lvl="1" indent="-400050" defTabSz="-635" eaLnBrk="1" hangingPunct="1">
              <a:lnSpc>
                <a:spcPct val="85000"/>
              </a:lnSpc>
              <a:spcBef>
                <a:spcPct val="25000"/>
              </a:spcBef>
              <a:tabLst>
                <a:tab pos="287020" algn="l"/>
              </a:tabLst>
            </a:pPr>
            <a:r>
              <a:rPr lang="en-US" sz="2000" dirty="0"/>
              <a:t>Interactive software</a:t>
            </a:r>
            <a:r>
              <a:rPr lang="en-US" sz="2000" i="1" dirty="0"/>
              <a:t> </a:t>
            </a:r>
            <a:r>
              <a:rPr lang="en-US" sz="2000" dirty="0"/>
              <a:t>allows a user to alter the sequence or flow of information, similar to looking at an encyclopedia or a photo album.</a:t>
            </a:r>
            <a:endParaRPr lang="en-US" sz="1800" dirty="0"/>
          </a:p>
        </p:txBody>
      </p:sp>
    </p:spTree>
  </p:cSld>
  <p:clrMapOvr>
    <a:masterClrMapping/>
  </p:clrMapOvr>
  <p:transition spd="med">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r>
              <a:rPr lang="en-US" sz="1600">
                <a:solidFill>
                  <a:schemeClr val="accent1">
                    <a:satMod val="150000"/>
                  </a:schemeClr>
                </a:solidFill>
              </a:rPr>
              <a:t>Continued</a:t>
            </a:r>
          </a:p>
        </p:txBody>
      </p:sp>
      <p:sp>
        <p:nvSpPr>
          <p:cNvPr id="44035" name="Rectangle 3"/>
          <p:cNvSpPr>
            <a:spLocks noGrp="1" noChangeArrowheads="1"/>
          </p:cNvSpPr>
          <p:nvPr>
            <p:ph type="body" idx="1"/>
          </p:nvPr>
        </p:nvSpPr>
        <p:spPr>
          <a:xfrm>
            <a:off x="1143000" y="1600200"/>
            <a:ext cx="8001000" cy="4800600"/>
          </a:xfrm>
          <a:noFill/>
        </p:spPr>
        <p:txBody>
          <a:bodyPr/>
          <a:lstStyle/>
          <a:p>
            <a:pPr marL="292100" indent="-292100" defTabSz="-635" eaLnBrk="1" hangingPunct="1">
              <a:lnSpc>
                <a:spcPct val="90000"/>
              </a:lnSpc>
              <a:tabLst>
                <a:tab pos="287020" algn="l"/>
              </a:tabLst>
            </a:pPr>
            <a:r>
              <a:rPr lang="en-US" sz="1800">
                <a:solidFill>
                  <a:srgbClr val="33CCCC"/>
                </a:solidFill>
              </a:rPr>
              <a:t>Communications software </a:t>
            </a:r>
            <a:r>
              <a:rPr lang="en-US" sz="1800"/>
              <a:t>allows computers located close together or far apart to exchange data over dedicated or public cables, telephone lines, satellite systems, or microwave circuits.</a:t>
            </a:r>
          </a:p>
          <a:p>
            <a:pPr marL="292100" indent="-292100" defTabSz="-635" eaLnBrk="1" hangingPunct="1">
              <a:lnSpc>
                <a:spcPct val="90000"/>
              </a:lnSpc>
              <a:spcBef>
                <a:spcPct val="40000"/>
              </a:spcBef>
              <a:tabLst>
                <a:tab pos="287020" algn="l"/>
              </a:tabLst>
            </a:pPr>
            <a:r>
              <a:rPr lang="en-US" sz="1800">
                <a:solidFill>
                  <a:srgbClr val="33CCCC"/>
                </a:solidFill>
              </a:rPr>
              <a:t>Speech-recognition software</a:t>
            </a:r>
            <a:r>
              <a:rPr lang="en-US" sz="1800"/>
              <a:t> translates voice patterns into text. There are two types:</a:t>
            </a:r>
          </a:p>
          <a:p>
            <a:pPr marL="688975" lvl="1" indent="-282575" defTabSz="-635" eaLnBrk="1" hangingPunct="1">
              <a:lnSpc>
                <a:spcPct val="80000"/>
              </a:lnSpc>
              <a:tabLst>
                <a:tab pos="287020" algn="l"/>
              </a:tabLst>
            </a:pPr>
            <a:r>
              <a:rPr lang="en-US" sz="1600"/>
              <a:t>Discrete speech recognition can interpret only one word at a time, so users must place distinct pauses between words.</a:t>
            </a:r>
          </a:p>
          <a:p>
            <a:pPr marL="688975" lvl="1" indent="-282575" defTabSz="-635" eaLnBrk="1" hangingPunct="1">
              <a:lnSpc>
                <a:spcPct val="80000"/>
              </a:lnSpc>
              <a:tabLst>
                <a:tab pos="287020" algn="l"/>
              </a:tabLst>
            </a:pPr>
            <a:r>
              <a:rPr lang="en-US" sz="1600"/>
              <a:t>Continuous speech recognition can interpret a continuing stream of words. </a:t>
            </a:r>
          </a:p>
          <a:p>
            <a:pPr marL="292100" indent="-292100" defTabSz="-635" eaLnBrk="1" hangingPunct="1">
              <a:lnSpc>
                <a:spcPct val="90000"/>
              </a:lnSpc>
              <a:spcBef>
                <a:spcPct val="40000"/>
              </a:spcBef>
              <a:tabLst>
                <a:tab pos="287020" algn="l"/>
              </a:tabLst>
            </a:pPr>
            <a:r>
              <a:rPr lang="en-US" sz="1800">
                <a:solidFill>
                  <a:srgbClr val="33CCCC"/>
                </a:solidFill>
              </a:rPr>
              <a:t>Software suites</a:t>
            </a:r>
            <a:r>
              <a:rPr lang="en-US" sz="1800" b="1"/>
              <a:t> </a:t>
            </a:r>
            <a:r>
              <a:rPr lang="en-US" sz="1800"/>
              <a:t>are collections of application software packages bundled together. </a:t>
            </a:r>
          </a:p>
          <a:p>
            <a:pPr marL="292100" indent="-292100" defTabSz="-635" eaLnBrk="1" hangingPunct="1">
              <a:lnSpc>
                <a:spcPct val="90000"/>
              </a:lnSpc>
              <a:spcBef>
                <a:spcPct val="40000"/>
              </a:spcBef>
              <a:tabLst>
                <a:tab pos="287020" algn="l"/>
              </a:tabLst>
            </a:pPr>
            <a:r>
              <a:rPr lang="en-US" sz="1800">
                <a:solidFill>
                  <a:srgbClr val="33CCCC"/>
                </a:solidFill>
              </a:rPr>
              <a:t>Workgroup software</a:t>
            </a:r>
            <a:r>
              <a:rPr lang="en-US" sz="1800"/>
              <a:t> helps groups and teams work together by sharing information and by controlling workflow within the group. Products are designed to support tasks such as:</a:t>
            </a:r>
          </a:p>
          <a:p>
            <a:pPr marL="688975" lvl="1" indent="-282575" defTabSz="-635" eaLnBrk="1" hangingPunct="1">
              <a:lnSpc>
                <a:spcPct val="80000"/>
              </a:lnSpc>
              <a:tabLst>
                <a:tab pos="287020" algn="l"/>
              </a:tabLst>
            </a:pPr>
            <a:r>
              <a:rPr lang="en-US" sz="1600"/>
              <a:t>Project management</a:t>
            </a:r>
          </a:p>
          <a:p>
            <a:pPr marL="688975" lvl="1" indent="-282575" defTabSz="-635" eaLnBrk="1" hangingPunct="1">
              <a:lnSpc>
                <a:spcPct val="80000"/>
              </a:lnSpc>
              <a:tabLst>
                <a:tab pos="287020" algn="l"/>
              </a:tabLst>
            </a:pPr>
            <a:r>
              <a:rPr lang="en-US" sz="1600"/>
              <a:t>Scheduling (called calendaring)</a:t>
            </a:r>
          </a:p>
          <a:p>
            <a:pPr marL="688975" lvl="1" indent="-282575" defTabSz="-635" eaLnBrk="1" hangingPunct="1">
              <a:lnSpc>
                <a:spcPct val="80000"/>
              </a:lnSpc>
              <a:tabLst>
                <a:tab pos="287020" algn="l"/>
              </a:tabLst>
            </a:pPr>
            <a:r>
              <a:rPr lang="en-US" sz="1600"/>
              <a:t>Workflow</a:t>
            </a:r>
          </a:p>
          <a:p>
            <a:pPr marL="688975" lvl="1" indent="-282575" defTabSz="-635" eaLnBrk="1" hangingPunct="1">
              <a:lnSpc>
                <a:spcPct val="80000"/>
              </a:lnSpc>
              <a:tabLst>
                <a:tab pos="287020" algn="l"/>
              </a:tabLst>
            </a:pPr>
            <a:r>
              <a:rPr lang="en-US" sz="1600"/>
              <a:t>Retrieving data from shared databases</a:t>
            </a:r>
          </a:p>
        </p:txBody>
      </p:sp>
    </p:spTree>
  </p:cSld>
  <p:clrMapOvr>
    <a:masterClrMapping/>
  </p:clrMapOvr>
  <p:transition spd="med">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r>
              <a:rPr lang="en-US" sz="1600">
                <a:solidFill>
                  <a:schemeClr val="accent1">
                    <a:satMod val="150000"/>
                  </a:schemeClr>
                </a:solidFill>
              </a:rPr>
              <a:t>Continued</a:t>
            </a:r>
          </a:p>
        </p:txBody>
      </p:sp>
      <p:sp>
        <p:nvSpPr>
          <p:cNvPr id="45059" name="Rectangle 3"/>
          <p:cNvSpPr>
            <a:spLocks noGrp="1" noChangeArrowheads="1"/>
          </p:cNvSpPr>
          <p:nvPr>
            <p:ph type="body" idx="1"/>
          </p:nvPr>
        </p:nvSpPr>
        <p:spPr>
          <a:xfrm>
            <a:off x="381000" y="2149832"/>
            <a:ext cx="7924800" cy="4343400"/>
          </a:xfrm>
          <a:noFill/>
        </p:spPr>
        <p:txBody>
          <a:bodyPr/>
          <a:lstStyle/>
          <a:p>
            <a:pPr marL="476250" indent="-476250" defTabSz="-635" eaLnBrk="1" hangingPunct="1">
              <a:lnSpc>
                <a:spcPct val="90000"/>
              </a:lnSpc>
              <a:spcBef>
                <a:spcPct val="30000"/>
              </a:spcBef>
              <a:tabLst>
                <a:tab pos="287020" algn="l"/>
              </a:tabLst>
            </a:pPr>
            <a:r>
              <a:rPr lang="en-US" sz="2400" dirty="0">
                <a:solidFill>
                  <a:srgbClr val="33CCCC"/>
                </a:solidFill>
              </a:rPr>
              <a:t>Middleware</a:t>
            </a:r>
            <a:r>
              <a:rPr lang="en-US" sz="2400" b="1" dirty="0"/>
              <a:t> </a:t>
            </a:r>
            <a:r>
              <a:rPr lang="en-US" sz="2400" dirty="0"/>
              <a:t>is software designed to link application modules developed in different computer languages and running on heterogeneous platforms.</a:t>
            </a:r>
            <a:endParaRPr lang="en-US" sz="2400" b="1" dirty="0"/>
          </a:p>
          <a:p>
            <a:pPr marL="476250" indent="-476250" defTabSz="-635" eaLnBrk="1" hangingPunct="1">
              <a:lnSpc>
                <a:spcPct val="90000"/>
              </a:lnSpc>
              <a:spcBef>
                <a:spcPct val="30000"/>
              </a:spcBef>
              <a:tabLst>
                <a:tab pos="287020" algn="l"/>
              </a:tabLst>
            </a:pPr>
            <a:r>
              <a:rPr lang="en-US" sz="2400" dirty="0">
                <a:solidFill>
                  <a:srgbClr val="33CCCC"/>
                </a:solidFill>
              </a:rPr>
              <a:t>Enterprise software</a:t>
            </a:r>
            <a:r>
              <a:rPr lang="en-US" sz="2400" b="1" dirty="0"/>
              <a:t> </a:t>
            </a:r>
            <a:r>
              <a:rPr lang="en-US" sz="2400" dirty="0"/>
              <a:t>consists of programs that manage the vital operations of an organization (enterprise), such as:</a:t>
            </a:r>
          </a:p>
          <a:p>
            <a:pPr marL="919480" lvl="1" indent="-400050" defTabSz="-635" eaLnBrk="1" hangingPunct="1">
              <a:lnSpc>
                <a:spcPct val="80000"/>
              </a:lnSpc>
              <a:tabLst>
                <a:tab pos="287020" algn="l"/>
              </a:tabLst>
            </a:pPr>
            <a:r>
              <a:rPr lang="en-US" sz="2000" dirty="0"/>
              <a:t>Supply-chain management </a:t>
            </a:r>
          </a:p>
          <a:p>
            <a:pPr marL="919480" lvl="1" indent="-400050" defTabSz="-635" eaLnBrk="1" hangingPunct="1">
              <a:lnSpc>
                <a:spcPct val="80000"/>
              </a:lnSpc>
              <a:tabLst>
                <a:tab pos="287020" algn="l"/>
              </a:tabLst>
            </a:pPr>
            <a:r>
              <a:rPr lang="en-US" sz="2000" dirty="0"/>
              <a:t>Inventory replenishment</a:t>
            </a:r>
          </a:p>
          <a:p>
            <a:pPr marL="919480" lvl="1" indent="-400050" defTabSz="-635" eaLnBrk="1" hangingPunct="1">
              <a:lnSpc>
                <a:spcPct val="80000"/>
              </a:lnSpc>
              <a:tabLst>
                <a:tab pos="287020" algn="l"/>
              </a:tabLst>
            </a:pPr>
            <a:r>
              <a:rPr lang="en-US" sz="2000" dirty="0"/>
              <a:t>Ordering</a:t>
            </a:r>
          </a:p>
          <a:p>
            <a:pPr marL="919480" lvl="1" indent="-400050" defTabSz="-635" eaLnBrk="1" hangingPunct="1">
              <a:lnSpc>
                <a:spcPct val="80000"/>
              </a:lnSpc>
              <a:tabLst>
                <a:tab pos="287020" algn="l"/>
              </a:tabLst>
            </a:pPr>
            <a:r>
              <a:rPr lang="en-US" sz="2000" dirty="0"/>
              <a:t>Human resources management</a:t>
            </a:r>
          </a:p>
          <a:p>
            <a:pPr marL="919480" lvl="1" indent="-400050" defTabSz="-635" eaLnBrk="1" hangingPunct="1">
              <a:lnSpc>
                <a:spcPct val="80000"/>
              </a:lnSpc>
              <a:tabLst>
                <a:tab pos="287020" algn="l"/>
              </a:tabLst>
            </a:pPr>
            <a:r>
              <a:rPr lang="en-US" sz="2000" dirty="0"/>
              <a:t>Manufacturing</a:t>
            </a:r>
          </a:p>
          <a:p>
            <a:pPr marL="919480" lvl="1" indent="-400050" defTabSz="-635" eaLnBrk="1" hangingPunct="1">
              <a:lnSpc>
                <a:spcPct val="80000"/>
              </a:lnSpc>
              <a:tabLst>
                <a:tab pos="287020" algn="l"/>
              </a:tabLst>
            </a:pPr>
            <a:r>
              <a:rPr lang="en-US" sz="2000" dirty="0"/>
              <a:t>Operations</a:t>
            </a:r>
          </a:p>
          <a:p>
            <a:pPr marL="919480" lvl="1" indent="-400050" defTabSz="-635" eaLnBrk="1" hangingPunct="1">
              <a:lnSpc>
                <a:spcPct val="80000"/>
              </a:lnSpc>
              <a:tabLst>
                <a:tab pos="287020" algn="l"/>
              </a:tabLst>
            </a:pPr>
            <a:r>
              <a:rPr lang="en-US" sz="2000" dirty="0"/>
              <a:t>Accounting and financial management. </a:t>
            </a:r>
            <a:endParaRPr lang="en-US" sz="2000" b="1" dirty="0"/>
          </a:p>
        </p:txBody>
      </p:sp>
      <p:sp>
        <p:nvSpPr>
          <p:cNvPr id="45060" name="Rectangle 4"/>
          <p:cNvSpPr>
            <a:spLocks noChangeArrowheads="1"/>
          </p:cNvSpPr>
          <p:nvPr/>
        </p:nvSpPr>
        <p:spPr bwMode="auto">
          <a:xfrm>
            <a:off x="762000" y="1755127"/>
            <a:ext cx="7772400" cy="366713"/>
          </a:xfrm>
          <a:prstGeom prst="rect">
            <a:avLst/>
          </a:prstGeom>
          <a:noFill/>
          <a:ln w="9525">
            <a:noFill/>
            <a:miter lim="800000"/>
          </a:ln>
        </p:spPr>
        <p:txBody>
          <a:bodyPr lIns="0" rIns="0">
            <a:spAutoFit/>
          </a:bodyPr>
          <a:lstStyle/>
          <a:p>
            <a:r>
              <a:rPr lang="en-US" dirty="0"/>
              <a:t>There exist hundreds of other application software products. </a:t>
            </a:r>
          </a:p>
        </p:txBody>
      </p:sp>
    </p:spTree>
  </p:cSld>
  <p:clrMapOvr>
    <a:masterClrMapping/>
  </p:clrMapOvr>
  <p:transition spd="med">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Application Software </a:t>
            </a:r>
            <a:r>
              <a:rPr lang="en-US" sz="1600">
                <a:solidFill>
                  <a:schemeClr val="accent1">
                    <a:satMod val="150000"/>
                  </a:schemeClr>
                </a:solidFill>
              </a:rPr>
              <a:t>Continued</a:t>
            </a:r>
          </a:p>
        </p:txBody>
      </p:sp>
      <p:sp>
        <p:nvSpPr>
          <p:cNvPr id="46083" name="Rectangle 3"/>
          <p:cNvSpPr>
            <a:spLocks noGrp="1" noChangeArrowheads="1"/>
          </p:cNvSpPr>
          <p:nvPr>
            <p:ph type="body" idx="1"/>
          </p:nvPr>
        </p:nvSpPr>
        <p:spPr>
          <a:xfrm>
            <a:off x="381000" y="2133600"/>
            <a:ext cx="7924800" cy="4343400"/>
          </a:xfrm>
          <a:noFill/>
        </p:spPr>
        <p:txBody>
          <a:bodyPr/>
          <a:lstStyle/>
          <a:p>
            <a:pPr marL="476250" indent="-476250" defTabSz="-635" eaLnBrk="1" hangingPunct="1">
              <a:lnSpc>
                <a:spcPct val="90000"/>
              </a:lnSpc>
              <a:spcBef>
                <a:spcPct val="30000"/>
              </a:spcBef>
              <a:tabLst>
                <a:tab pos="287020" algn="l"/>
              </a:tabLst>
            </a:pPr>
            <a:r>
              <a:rPr lang="en-US" sz="2400" dirty="0" err="1">
                <a:solidFill>
                  <a:srgbClr val="33CCCC"/>
                </a:solidFill>
              </a:rPr>
              <a:t>Componentware</a:t>
            </a:r>
            <a:r>
              <a:rPr lang="en-US" sz="2400" b="1" dirty="0"/>
              <a:t> </a:t>
            </a:r>
            <a:r>
              <a:rPr lang="en-US" sz="2400" dirty="0"/>
              <a:t>is a term to describe a form of application software, in which each program manages one type of operation </a:t>
            </a:r>
            <a:endParaRPr lang="en-US" sz="2400" b="1" dirty="0"/>
          </a:p>
          <a:p>
            <a:pPr marL="476250" indent="-476250" defTabSz="-635" eaLnBrk="1" hangingPunct="1">
              <a:lnSpc>
                <a:spcPct val="90000"/>
              </a:lnSpc>
              <a:spcBef>
                <a:spcPct val="30000"/>
              </a:spcBef>
              <a:tabLst>
                <a:tab pos="287020" algn="l"/>
              </a:tabLst>
            </a:pPr>
            <a:r>
              <a:rPr lang="en-US" sz="2400" dirty="0">
                <a:solidFill>
                  <a:srgbClr val="33CCCC"/>
                </a:solidFill>
              </a:rPr>
              <a:t>Presence technology</a:t>
            </a:r>
            <a:r>
              <a:rPr lang="en-US" sz="2400" b="1" dirty="0"/>
              <a:t> </a:t>
            </a:r>
            <a:r>
              <a:rPr lang="en-US" sz="2400" dirty="0"/>
              <a:t>can detect when you’re online and what kind of device you’re using.</a:t>
            </a:r>
            <a:endParaRPr lang="en-US" sz="2400" b="1" dirty="0"/>
          </a:p>
          <a:p>
            <a:pPr marL="476250" indent="-476250" defTabSz="-635" eaLnBrk="1" hangingPunct="1">
              <a:lnSpc>
                <a:spcPct val="90000"/>
              </a:lnSpc>
              <a:spcBef>
                <a:spcPct val="30000"/>
              </a:spcBef>
              <a:tabLst>
                <a:tab pos="287020" algn="l"/>
              </a:tabLst>
            </a:pPr>
            <a:r>
              <a:rPr lang="en-US" sz="2400" dirty="0">
                <a:solidFill>
                  <a:srgbClr val="33CCCC"/>
                </a:solidFill>
              </a:rPr>
              <a:t>Schematics software</a:t>
            </a:r>
            <a:r>
              <a:rPr lang="en-US" sz="2400" b="1" dirty="0"/>
              <a:t> </a:t>
            </a:r>
            <a:r>
              <a:rPr lang="en-US" sz="2400" dirty="0"/>
              <a:t>can create schematics, space plans, layouts,  etc.</a:t>
            </a:r>
          </a:p>
          <a:p>
            <a:pPr marL="476250" indent="-476250" defTabSz="-635" eaLnBrk="1" hangingPunct="1">
              <a:lnSpc>
                <a:spcPct val="90000"/>
              </a:lnSpc>
              <a:spcBef>
                <a:spcPct val="30000"/>
              </a:spcBef>
              <a:tabLst>
                <a:tab pos="287020" algn="l"/>
              </a:tabLst>
            </a:pPr>
            <a:r>
              <a:rPr lang="en-US" sz="2400" i="1" dirty="0"/>
              <a:t>Many more …</a:t>
            </a:r>
          </a:p>
        </p:txBody>
      </p:sp>
      <p:sp>
        <p:nvSpPr>
          <p:cNvPr id="46084" name="Rectangle 4"/>
          <p:cNvSpPr>
            <a:spLocks noChangeArrowheads="1"/>
          </p:cNvSpPr>
          <p:nvPr/>
        </p:nvSpPr>
        <p:spPr bwMode="auto">
          <a:xfrm>
            <a:off x="914400" y="1766887"/>
            <a:ext cx="7772400" cy="366713"/>
          </a:xfrm>
          <a:prstGeom prst="rect">
            <a:avLst/>
          </a:prstGeom>
          <a:noFill/>
          <a:ln w="9525">
            <a:noFill/>
            <a:miter lim="800000"/>
          </a:ln>
        </p:spPr>
        <p:txBody>
          <a:bodyPr lIns="0" rIns="0">
            <a:spAutoFit/>
          </a:bodyPr>
          <a:lstStyle/>
          <a:p>
            <a:r>
              <a:rPr lang="en-US"/>
              <a:t>There exist hundreds of other application software products. </a:t>
            </a:r>
          </a:p>
        </p:txBody>
      </p:sp>
    </p:spTree>
  </p:cSld>
  <p:clrMapOvr>
    <a:masterClrMapping/>
  </p:clrMapOvr>
  <p:transition spd="med">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Systems Software</a:t>
            </a:r>
            <a:endParaRPr lang="en-US" sz="1600">
              <a:solidFill>
                <a:schemeClr val="accent1">
                  <a:satMod val="150000"/>
                </a:schemeClr>
              </a:solidFill>
            </a:endParaRPr>
          </a:p>
        </p:txBody>
      </p:sp>
      <p:sp>
        <p:nvSpPr>
          <p:cNvPr id="47107" name="Rectangle 3"/>
          <p:cNvSpPr>
            <a:spLocks noGrp="1" noChangeArrowheads="1"/>
          </p:cNvSpPr>
          <p:nvPr>
            <p:ph type="body" idx="1"/>
          </p:nvPr>
        </p:nvSpPr>
        <p:spPr>
          <a:xfrm>
            <a:off x="609600" y="2813244"/>
            <a:ext cx="7772400" cy="3733800"/>
          </a:xfrm>
          <a:noFill/>
        </p:spPr>
        <p:txBody>
          <a:bodyPr/>
          <a:lstStyle/>
          <a:p>
            <a:pPr marL="476250" indent="-476250" defTabSz="-635" eaLnBrk="1" hangingPunct="1">
              <a:tabLst>
                <a:tab pos="287020" algn="l"/>
              </a:tabLst>
            </a:pPr>
            <a:r>
              <a:rPr lang="en-US" sz="2000" dirty="0"/>
              <a:t>Systems software can be grouped into three functional categories: </a:t>
            </a:r>
          </a:p>
          <a:p>
            <a:pPr marL="919480" lvl="1" indent="-400050" defTabSz="-635" eaLnBrk="1" hangingPunct="1">
              <a:lnSpc>
                <a:spcPct val="95000"/>
              </a:lnSpc>
              <a:tabLst>
                <a:tab pos="287020" algn="l"/>
              </a:tabLst>
            </a:pPr>
            <a:r>
              <a:rPr lang="en-US" sz="1800" dirty="0">
                <a:solidFill>
                  <a:srgbClr val="33CCCC"/>
                </a:solidFill>
              </a:rPr>
              <a:t>System control programs</a:t>
            </a:r>
            <a:r>
              <a:rPr lang="en-US" sz="1800" i="1" dirty="0"/>
              <a:t> </a:t>
            </a:r>
            <a:r>
              <a:rPr lang="en-US" sz="1800" dirty="0"/>
              <a:t>are programs that control the use of hardware, software, and data resources of a computer system during its execution of a user’s information processing job. An operating system is the prime example.</a:t>
            </a:r>
          </a:p>
          <a:p>
            <a:pPr marL="919480" lvl="1" indent="-400050" defTabSz="-635" eaLnBrk="1" hangingPunct="1">
              <a:lnSpc>
                <a:spcPct val="95000"/>
              </a:lnSpc>
              <a:tabLst>
                <a:tab pos="287020" algn="l"/>
              </a:tabLst>
            </a:pPr>
            <a:r>
              <a:rPr lang="en-US" sz="1800" dirty="0">
                <a:solidFill>
                  <a:srgbClr val="33CCCC"/>
                </a:solidFill>
              </a:rPr>
              <a:t>System support programs</a:t>
            </a:r>
            <a:r>
              <a:rPr lang="en-US" sz="1800" i="1" dirty="0"/>
              <a:t> </a:t>
            </a:r>
            <a:r>
              <a:rPr lang="en-US" sz="1800" dirty="0"/>
              <a:t>support the operations, management, and users of a computer system by providing a variety of services. System utility programs, performance monitors, and security monitors are examples. </a:t>
            </a:r>
          </a:p>
          <a:p>
            <a:pPr marL="919480" lvl="1" indent="-400050" defTabSz="-635" eaLnBrk="1" hangingPunct="1">
              <a:lnSpc>
                <a:spcPct val="95000"/>
              </a:lnSpc>
              <a:tabLst>
                <a:tab pos="287020" algn="l"/>
              </a:tabLst>
            </a:pPr>
            <a:r>
              <a:rPr lang="en-US" sz="1800" dirty="0">
                <a:solidFill>
                  <a:srgbClr val="33CCCC"/>
                </a:solidFill>
              </a:rPr>
              <a:t>System development programs</a:t>
            </a:r>
            <a:r>
              <a:rPr lang="en-US" sz="1800" i="1" dirty="0"/>
              <a:t> </a:t>
            </a:r>
            <a:r>
              <a:rPr lang="en-US" sz="1800" dirty="0"/>
              <a:t>help users develop information processing programs and procedures and prepare user applications. Language compilers, interpreters, and translators are examples. </a:t>
            </a:r>
          </a:p>
        </p:txBody>
      </p:sp>
      <p:sp>
        <p:nvSpPr>
          <p:cNvPr id="47108" name="Rectangle 4"/>
          <p:cNvSpPr>
            <a:spLocks noChangeArrowheads="1"/>
          </p:cNvSpPr>
          <p:nvPr/>
        </p:nvSpPr>
        <p:spPr bwMode="auto">
          <a:xfrm>
            <a:off x="609600" y="1552575"/>
            <a:ext cx="7772400" cy="1190625"/>
          </a:xfrm>
          <a:prstGeom prst="rect">
            <a:avLst/>
          </a:prstGeom>
          <a:noFill/>
          <a:ln w="9525">
            <a:noFill/>
            <a:miter lim="800000"/>
          </a:ln>
        </p:spPr>
        <p:txBody>
          <a:bodyPr lIns="0" rIns="0">
            <a:spAutoFit/>
          </a:bodyPr>
          <a:lstStyle/>
          <a:p>
            <a:r>
              <a:rPr lang="en-US" dirty="0">
                <a:solidFill>
                  <a:srgbClr val="33CCCC"/>
                </a:solidFill>
              </a:rPr>
              <a:t>Systems software</a:t>
            </a:r>
            <a:r>
              <a:rPr lang="en-US" b="1" dirty="0"/>
              <a:t> </a:t>
            </a:r>
            <a:r>
              <a:rPr lang="en-US" dirty="0"/>
              <a:t>is the class of programs that controls and supports the computer hardware and its information processing activities. It also facilitates the programming, testing, and debugging of computer programs. </a:t>
            </a:r>
          </a:p>
        </p:txBody>
      </p:sp>
    </p:spTree>
  </p:cSld>
  <p:clrMapOvr>
    <a:masterClrMapping/>
  </p:clrMapOvr>
  <p:transition spd="med">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2700" dirty="0">
                <a:solidFill>
                  <a:schemeClr val="accent1"/>
                </a:solidFill>
                <a:latin typeface="Calibri"/>
                <a:ea typeface="Calibri"/>
                <a:cs typeface="Calibri"/>
                <a:sym typeface="Calibri"/>
              </a:rPr>
              <a:t>Application Software </a:t>
            </a:r>
            <a:r>
              <a:rPr lang="en-US" sz="1800" dirty="0">
                <a:solidFill>
                  <a:schemeClr val="accent1"/>
                </a:solidFill>
                <a:latin typeface="Calibri"/>
                <a:ea typeface="Calibri"/>
                <a:cs typeface="Calibri"/>
                <a:sym typeface="Calibri"/>
              </a:rPr>
              <a:t>are software with a specific function to produce, such as word processing, spreadsheet, presentation, graphics, and video editing</a:t>
            </a:r>
            <a:endParaRPr lang="en-PH" sz="1800" dirty="0">
              <a:solidFill>
                <a:schemeClr val="accent1"/>
              </a:solidFill>
            </a:endParaRPr>
          </a:p>
        </p:txBody>
      </p:sp>
      <p:graphicFrame>
        <p:nvGraphicFramePr>
          <p:cNvPr id="7" name="Google Shape;942;p96"/>
          <p:cNvGraphicFramePr/>
          <p:nvPr/>
        </p:nvGraphicFramePr>
        <p:xfrm>
          <a:off x="628650" y="2132410"/>
          <a:ext cx="7501528" cy="4027680"/>
        </p:xfrm>
        <a:graphic>
          <a:graphicData uri="http://schemas.openxmlformats.org/drawingml/2006/table">
            <a:tbl>
              <a:tblPr>
                <a:noFill/>
              </a:tblPr>
              <a:tblGrid>
                <a:gridCol w="1830530">
                  <a:extLst>
                    <a:ext uri="{9D8B030D-6E8A-4147-A177-3AD203B41FA5}">
                      <a16:colId xmlns:a16="http://schemas.microsoft.com/office/drawing/2014/main" val="20000"/>
                    </a:ext>
                  </a:extLst>
                </a:gridCol>
                <a:gridCol w="5670998">
                  <a:extLst>
                    <a:ext uri="{9D8B030D-6E8A-4147-A177-3AD203B41FA5}">
                      <a16:colId xmlns:a16="http://schemas.microsoft.com/office/drawing/2014/main" val="20001"/>
                    </a:ext>
                  </a:extLst>
                </a:gridCol>
              </a:tblGrid>
              <a:tr h="274320">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Software</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Functionality</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71049">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Wordprocessor</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specializes on word processing such as producing text, documents, letters, calling cards, brochures, leaflets and memorandum.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38511">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Spreadsheet</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similar to an accounting system and can use formulas, for are grading, inventory, payroll, billing, registration and voting system. It is also equipped with creating graphs such as line, bar and pie chart.</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71049">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Presentation</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useful in presentations such as business proposals, corporate meetings, seminars and educational activities.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71049">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Graphics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specializes in editing images. Common types of image file formats are: .JPG (.JPEG Joint Photographic Experts Group), .BMP (Bitmap) and .GIF (Graphics Interchange Format).</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77716232"/>
      </p:ext>
    </p:extLst>
  </p:cSld>
  <p:clrMapOvr>
    <a:masterClrMapping/>
  </p:clrMapOvr>
  <p:transition spd="med">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Calibri"/>
                <a:ea typeface="Calibri"/>
                <a:cs typeface="Calibri"/>
                <a:sym typeface="Calibri"/>
              </a:rPr>
              <a:t>Application Software</a:t>
            </a:r>
            <a:endParaRPr lang="en-PH" dirty="0">
              <a:solidFill>
                <a:schemeClr val="accent1"/>
              </a:solidFill>
            </a:endParaRPr>
          </a:p>
        </p:txBody>
      </p:sp>
      <p:graphicFrame>
        <p:nvGraphicFramePr>
          <p:cNvPr id="4" name="Table 3"/>
          <p:cNvGraphicFramePr>
            <a:graphicFrameLocks noGrp="1"/>
          </p:cNvGraphicFramePr>
          <p:nvPr/>
        </p:nvGraphicFramePr>
        <p:xfrm>
          <a:off x="628650" y="2578894"/>
          <a:ext cx="7501528" cy="2727627"/>
        </p:xfrm>
        <a:graphic>
          <a:graphicData uri="http://schemas.openxmlformats.org/drawingml/2006/table">
            <a:tbl>
              <a:tblPr>
                <a:noFill/>
              </a:tblPr>
              <a:tblGrid>
                <a:gridCol w="1830530">
                  <a:extLst>
                    <a:ext uri="{9D8B030D-6E8A-4147-A177-3AD203B41FA5}">
                      <a16:colId xmlns:a16="http://schemas.microsoft.com/office/drawing/2014/main" val="3589677952"/>
                    </a:ext>
                  </a:extLst>
                </a:gridCol>
                <a:gridCol w="5670998">
                  <a:extLst>
                    <a:ext uri="{9D8B030D-6E8A-4147-A177-3AD203B41FA5}">
                      <a16:colId xmlns:a16="http://schemas.microsoft.com/office/drawing/2014/main" val="1779974099"/>
                    </a:ext>
                  </a:extLst>
                </a:gridCol>
              </a:tblGrid>
              <a:tr h="1028081">
                <a:tc>
                  <a:txBody>
                    <a:bodyPr/>
                    <a:lstStyle/>
                    <a:p>
                      <a:pPr marL="0" marR="0" lvl="0" indent="0" algn="l" rtl="0">
                        <a:lnSpc>
                          <a:spcPct val="10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Sound Editor</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enhances sound, such music mixing, clearing sounds, converting music and sound effects.</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2072242237"/>
                  </a:ext>
                </a:extLst>
              </a:tr>
              <a:tr h="1028081">
                <a:tc>
                  <a:txBody>
                    <a:bodyPr/>
                    <a:lstStyle/>
                    <a:p>
                      <a:pPr marL="0" marR="0" lvl="0" indent="0" algn="l" rtl="0">
                        <a:lnSpc>
                          <a:spcPct val="10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Video Editor</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primarily use is to edit videos. One of its functionality is rendering text, images, sound and animation.</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2493585257"/>
                  </a:ext>
                </a:extLst>
              </a:tr>
              <a:tr h="671465">
                <a:tc>
                  <a:txBody>
                    <a:bodyPr/>
                    <a:lstStyle/>
                    <a:p>
                      <a:pPr marL="0" marR="0" lvl="0" indent="0" algn="l" rtl="0">
                        <a:lnSpc>
                          <a:spcPct val="10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Publisher</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8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primarily design to published newspapers, journals, magazines, and books.</a:t>
                      </a:r>
                      <a:endParaRPr sz="36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3947834484"/>
                  </a:ext>
                </a:extLst>
              </a:tr>
            </a:tbl>
          </a:graphicData>
        </a:graphic>
      </p:graphicFrame>
      <p:graphicFrame>
        <p:nvGraphicFramePr>
          <p:cNvPr id="5" name="Table 4"/>
          <p:cNvGraphicFramePr>
            <a:graphicFrameLocks noGrp="1"/>
          </p:cNvGraphicFramePr>
          <p:nvPr/>
        </p:nvGraphicFramePr>
        <p:xfrm>
          <a:off x="628650" y="2157889"/>
          <a:ext cx="7501528" cy="411480"/>
        </p:xfrm>
        <a:graphic>
          <a:graphicData uri="http://schemas.openxmlformats.org/drawingml/2006/table">
            <a:tbl>
              <a:tblPr>
                <a:noFill/>
              </a:tblPr>
              <a:tblGrid>
                <a:gridCol w="1830530">
                  <a:extLst>
                    <a:ext uri="{9D8B030D-6E8A-4147-A177-3AD203B41FA5}">
                      <a16:colId xmlns:a16="http://schemas.microsoft.com/office/drawing/2014/main" val="67558315"/>
                    </a:ext>
                  </a:extLst>
                </a:gridCol>
                <a:gridCol w="5670998">
                  <a:extLst>
                    <a:ext uri="{9D8B030D-6E8A-4147-A177-3AD203B41FA5}">
                      <a16:colId xmlns:a16="http://schemas.microsoft.com/office/drawing/2014/main" val="3044591338"/>
                    </a:ext>
                  </a:extLst>
                </a:gridCol>
              </a:tblGrid>
              <a:tr h="411480">
                <a:tc>
                  <a:txBody>
                    <a:bodyPr/>
                    <a:lstStyle/>
                    <a:p>
                      <a:pPr marL="0" marR="0" lvl="0" indent="0" algn="ctr" rtl="0">
                        <a:lnSpc>
                          <a:spcPct val="100000"/>
                        </a:lnSpc>
                        <a:spcBef>
                          <a:spcPts val="0"/>
                        </a:spcBef>
                        <a:spcAft>
                          <a:spcPts val="0"/>
                        </a:spcAft>
                        <a:buClr>
                          <a:schemeClr val="dk1"/>
                        </a:buClr>
                        <a:buSzPts val="1100"/>
                        <a:buFont typeface="Calibri"/>
                        <a:buNone/>
                      </a:pPr>
                      <a:r>
                        <a:rPr lang="en-US" sz="2700" b="1" i="0" u="none" dirty="0">
                          <a:solidFill>
                            <a:schemeClr val="dk1"/>
                          </a:solidFill>
                          <a:latin typeface="Calibri"/>
                          <a:ea typeface="Calibri"/>
                          <a:cs typeface="Calibri"/>
                          <a:sym typeface="Calibri"/>
                        </a:rPr>
                        <a:t>Software</a:t>
                      </a:r>
                      <a:endParaRPr sz="4100" dirty="0"/>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Calibri"/>
                        <a:buNone/>
                      </a:pPr>
                      <a:r>
                        <a:rPr lang="en-US" sz="2700" b="1" i="0" u="none" dirty="0">
                          <a:solidFill>
                            <a:schemeClr val="dk1"/>
                          </a:solidFill>
                          <a:latin typeface="Calibri"/>
                          <a:ea typeface="Calibri"/>
                          <a:cs typeface="Calibri"/>
                          <a:sym typeface="Calibri"/>
                        </a:rPr>
                        <a:t>Functionality</a:t>
                      </a:r>
                      <a:endParaRPr sz="4100" dirty="0"/>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3493294701"/>
                  </a:ext>
                </a:extLst>
              </a:tr>
            </a:tbl>
          </a:graphicData>
        </a:graphic>
      </p:graphicFrame>
    </p:spTree>
    <p:extLst>
      <p:ext uri="{BB962C8B-B14F-4D97-AF65-F5344CB8AC3E}">
        <p14:creationId xmlns:p14="http://schemas.microsoft.com/office/powerpoint/2010/main" val="2253473269"/>
      </p:ext>
    </p:extLst>
  </p:cSld>
  <p:clrMapOvr>
    <a:masterClrMapping/>
  </p:clrMapOvr>
  <p:transition spd="med">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solidFill>
                  <a:schemeClr val="accent1"/>
                </a:solidFill>
                <a:latin typeface="Calibri"/>
                <a:ea typeface="Calibri"/>
                <a:cs typeface="Calibri"/>
                <a:sym typeface="Calibri"/>
              </a:rPr>
              <a:t>System Software </a:t>
            </a:r>
            <a:r>
              <a:rPr lang="en-US" sz="2100" dirty="0">
                <a:solidFill>
                  <a:schemeClr val="accent1"/>
                </a:solidFill>
                <a:latin typeface="Calibri"/>
                <a:ea typeface="Calibri"/>
                <a:cs typeface="Calibri"/>
                <a:sym typeface="Calibri"/>
              </a:rPr>
              <a:t>are software that help and supports the operating system in maintaining the computers: Here are notable system software and their area of functionality</a:t>
            </a:r>
            <a:endParaRPr lang="en-PH" sz="2100" dirty="0">
              <a:solidFill>
                <a:schemeClr val="accent1"/>
              </a:solidFill>
            </a:endParaRPr>
          </a:p>
        </p:txBody>
      </p:sp>
      <p:graphicFrame>
        <p:nvGraphicFramePr>
          <p:cNvPr id="4" name="Google Shape;944;p96"/>
          <p:cNvGraphicFramePr/>
          <p:nvPr/>
        </p:nvGraphicFramePr>
        <p:xfrm>
          <a:off x="685800" y="2222896"/>
          <a:ext cx="7572376" cy="3187446"/>
        </p:xfrm>
        <a:graphic>
          <a:graphicData uri="http://schemas.openxmlformats.org/drawingml/2006/table">
            <a:tbl>
              <a:tblPr>
                <a:noFill/>
              </a:tblPr>
              <a:tblGrid>
                <a:gridCol w="1956770">
                  <a:extLst>
                    <a:ext uri="{9D8B030D-6E8A-4147-A177-3AD203B41FA5}">
                      <a16:colId xmlns:a16="http://schemas.microsoft.com/office/drawing/2014/main" val="20000"/>
                    </a:ext>
                  </a:extLst>
                </a:gridCol>
                <a:gridCol w="5615606">
                  <a:extLst>
                    <a:ext uri="{9D8B030D-6E8A-4147-A177-3AD203B41FA5}">
                      <a16:colId xmlns:a16="http://schemas.microsoft.com/office/drawing/2014/main" val="20001"/>
                    </a:ext>
                  </a:extLst>
                </a:gridCol>
              </a:tblGrid>
              <a:tr h="320040">
                <a:tc>
                  <a:txBody>
                    <a:bodyPr/>
                    <a:lstStyle/>
                    <a:p>
                      <a:pPr marL="0" marR="0" lvl="0" indent="0" algn="ctr" rtl="0">
                        <a:lnSpc>
                          <a:spcPct val="100000"/>
                        </a:lnSpc>
                        <a:spcBef>
                          <a:spcPts val="0"/>
                        </a:spcBef>
                        <a:spcAft>
                          <a:spcPts val="0"/>
                        </a:spcAft>
                        <a:buClr>
                          <a:schemeClr val="dk1"/>
                        </a:buClr>
                        <a:buSzPts val="1100"/>
                        <a:buFont typeface="Calibri"/>
                        <a:buNone/>
                      </a:pPr>
                      <a:r>
                        <a:rPr lang="en-US" sz="21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Software</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Calibri"/>
                        <a:buNone/>
                      </a:pPr>
                      <a:r>
                        <a:rPr lang="en-US" sz="21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Functionality</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53907">
                <a:tc>
                  <a:txBody>
                    <a:bodyPr/>
                    <a:lstStyle/>
                    <a:p>
                      <a:pPr marL="0" marR="0" lvl="0" indent="0" algn="ctr" rtl="0">
                        <a:lnSpc>
                          <a:spcPct val="10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Scandisk</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are primarily designed to check the integrity of the system. It checks if there are possible bad sectors in the cluster of the array of data installed in the system unit.</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6727">
                <a:tc>
                  <a:txBody>
                    <a:bodyPr/>
                    <a:lstStyle/>
                    <a:p>
                      <a:pPr marL="0" marR="0" lvl="0" indent="0" algn="ctr" rtl="0">
                        <a:lnSpc>
                          <a:spcPct val="10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Disk Defragmenter</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used to re-arrange the cluster and sector to each category it is related. Therefore, it helps in speeding up the activities in the system unit.</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6727">
                <a:tc>
                  <a:txBody>
                    <a:bodyPr/>
                    <a:lstStyle/>
                    <a:p>
                      <a:pPr marL="0" marR="0" lvl="0" indent="0" algn="ctr" rtl="0">
                        <a:lnSpc>
                          <a:spcPct val="10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Anti-Virus</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is used to disinfect or remove computer virus thus helping the system unit process data without virus corruption.</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93413480"/>
      </p:ext>
    </p:extLst>
  </p:cSld>
  <p:clrMapOvr>
    <a:masterClrMapping/>
  </p:clrMapOvr>
  <p:transition spd="med">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chemeClr val="dk1"/>
                </a:solidFill>
                <a:latin typeface="Calibri"/>
                <a:ea typeface="Calibri"/>
                <a:cs typeface="Calibri"/>
                <a:sym typeface="Calibri"/>
              </a:rPr>
              <a:t>Programming Software </a:t>
            </a:r>
            <a:r>
              <a:rPr lang="en-US" sz="1500" dirty="0">
                <a:solidFill>
                  <a:schemeClr val="dk1"/>
                </a:solidFill>
                <a:latin typeface="Calibri"/>
                <a:ea typeface="Calibri"/>
                <a:cs typeface="Calibri"/>
                <a:sym typeface="Calibri"/>
              </a:rPr>
              <a:t>these are software that is used to create </a:t>
            </a:r>
            <a:r>
              <a:rPr lang="en-US" sz="2400" dirty="0">
                <a:solidFill>
                  <a:schemeClr val="dk1"/>
                </a:solidFill>
                <a:latin typeface="Calibri"/>
                <a:ea typeface="Calibri"/>
                <a:cs typeface="Calibri"/>
                <a:sym typeface="Calibri"/>
              </a:rPr>
              <a:t>customized</a:t>
            </a:r>
            <a:r>
              <a:rPr lang="en-US" sz="1500"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systems </a:t>
            </a:r>
            <a:r>
              <a:rPr lang="en-US" sz="1500" dirty="0">
                <a:solidFill>
                  <a:schemeClr val="dk1"/>
                </a:solidFill>
                <a:latin typeface="Calibri"/>
                <a:ea typeface="Calibri"/>
                <a:cs typeface="Calibri"/>
                <a:sym typeface="Calibri"/>
              </a:rPr>
              <a:t>that are the requirements specified by an entity for its primary purpose. A </a:t>
            </a:r>
            <a:r>
              <a:rPr lang="en-US" sz="2400" dirty="0">
                <a:solidFill>
                  <a:schemeClr val="dk1"/>
                </a:solidFill>
                <a:latin typeface="Calibri"/>
                <a:ea typeface="Calibri"/>
                <a:cs typeface="Calibri"/>
                <a:sym typeface="Calibri"/>
              </a:rPr>
              <a:t>programming language </a:t>
            </a:r>
            <a:r>
              <a:rPr lang="en-US" sz="1500" dirty="0">
                <a:solidFill>
                  <a:schemeClr val="dk1"/>
                </a:solidFill>
                <a:latin typeface="Calibri"/>
                <a:ea typeface="Calibri"/>
                <a:cs typeface="Calibri"/>
                <a:sym typeface="Calibri"/>
              </a:rPr>
              <a:t>is a set of instructions needed to direct and control a system</a:t>
            </a:r>
            <a:endParaRPr lang="en-PH" sz="1500" dirty="0"/>
          </a:p>
        </p:txBody>
      </p:sp>
      <p:graphicFrame>
        <p:nvGraphicFramePr>
          <p:cNvPr id="4" name="Google Shape;946;p96"/>
          <p:cNvGraphicFramePr/>
          <p:nvPr>
            <p:extLst>
              <p:ext uri="{D42A27DB-BD31-4B8C-83A1-F6EECF244321}">
                <p14:modId xmlns:p14="http://schemas.microsoft.com/office/powerpoint/2010/main" val="1679298786"/>
              </p:ext>
            </p:extLst>
          </p:nvPr>
        </p:nvGraphicFramePr>
        <p:xfrm>
          <a:off x="876300" y="2324100"/>
          <a:ext cx="7353300" cy="1793518"/>
        </p:xfrm>
        <a:graphic>
          <a:graphicData uri="http://schemas.openxmlformats.org/drawingml/2006/table">
            <a:tbl>
              <a:tblPr>
                <a:noFill/>
              </a:tblPr>
              <a:tblGrid>
                <a:gridCol w="1896233">
                  <a:extLst>
                    <a:ext uri="{9D8B030D-6E8A-4147-A177-3AD203B41FA5}">
                      <a16:colId xmlns:a16="http://schemas.microsoft.com/office/drawing/2014/main" val="20000"/>
                    </a:ext>
                  </a:extLst>
                </a:gridCol>
                <a:gridCol w="5457067">
                  <a:extLst>
                    <a:ext uri="{9D8B030D-6E8A-4147-A177-3AD203B41FA5}">
                      <a16:colId xmlns:a16="http://schemas.microsoft.com/office/drawing/2014/main" val="20001"/>
                    </a:ext>
                  </a:extLst>
                </a:gridCol>
              </a:tblGrid>
              <a:tr h="548640">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Customized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Functionality</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0484">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Payroll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customized system is used for computing the salary of employees of a certain business or profession.</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94394">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Inventory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customized system is used for organizing the stocks of an entities equipment, merchandise and assets.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530865"/>
              </p:ext>
            </p:extLst>
          </p:nvPr>
        </p:nvGraphicFramePr>
        <p:xfrm>
          <a:off x="876300" y="4124324"/>
          <a:ext cx="7353300" cy="856742"/>
        </p:xfrm>
        <a:graphic>
          <a:graphicData uri="http://schemas.openxmlformats.org/drawingml/2006/table">
            <a:tbl>
              <a:tblPr>
                <a:noFill/>
              </a:tblPr>
              <a:tblGrid>
                <a:gridCol w="1896233">
                  <a:extLst>
                    <a:ext uri="{9D8B030D-6E8A-4147-A177-3AD203B41FA5}">
                      <a16:colId xmlns:a16="http://schemas.microsoft.com/office/drawing/2014/main" val="942302305"/>
                    </a:ext>
                  </a:extLst>
                </a:gridCol>
                <a:gridCol w="5457067">
                  <a:extLst>
                    <a:ext uri="{9D8B030D-6E8A-4147-A177-3AD203B41FA5}">
                      <a16:colId xmlns:a16="http://schemas.microsoft.com/office/drawing/2014/main" val="2407273035"/>
                    </a:ext>
                  </a:extLst>
                </a:gridCol>
              </a:tblGrid>
              <a:tr h="856727">
                <a:tc>
                  <a:txBody>
                    <a:bodyPr/>
                    <a:lstStyle/>
                    <a:p>
                      <a:pPr marL="0" marR="0" lvl="0" indent="0" algn="ctr" rtl="0">
                        <a:lnSpc>
                          <a:spcPct val="10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Registration System</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5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customized system is used for controlling records such as personal profiles, attendance monitoring, and scheduling activities of an entity.</a:t>
                      </a:r>
                      <a:endParaRPr sz="33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36779531"/>
                  </a:ext>
                </a:extLst>
              </a:tr>
            </a:tbl>
          </a:graphicData>
        </a:graphic>
      </p:graphicFrame>
      <p:sp>
        <p:nvSpPr>
          <p:cNvPr id="3" name="Title 1">
            <a:extLst>
              <a:ext uri="{FF2B5EF4-FFF2-40B4-BE49-F238E27FC236}">
                <a16:creationId xmlns:a16="http://schemas.microsoft.com/office/drawing/2014/main" id="{DC5C074F-E4EF-F9B6-F141-8CC8E65A432C}"/>
              </a:ext>
            </a:extLst>
          </p:cNvPr>
          <p:cNvSpPr txBox="1">
            <a:spLocks/>
          </p:cNvSpPr>
          <p:nvPr/>
        </p:nvSpPr>
        <p:spPr>
          <a:xfrm>
            <a:off x="457200" y="76200"/>
            <a:ext cx="8229600" cy="1252728"/>
          </a:xfrm>
          <a:prstGeom prst="rect">
            <a:avLst/>
          </a:prstGeom>
        </p:spPr>
        <p:txBody>
          <a:bodyPr vert="horz" lIns="91440" rIns="45720" rtlCol="0" anchor="ctr">
            <a:noAutofit/>
            <a:scene3d>
              <a:camera prst="orthographicFront"/>
              <a:lightRig rig="threePt" dir="t">
                <a:rot lat="0" lon="0" rev="4800000"/>
              </a:lightRig>
            </a:scene3d>
            <a:sp3d prstMaterial="matte">
              <a:bevelT w="50800" h="10160"/>
            </a:sp3d>
          </a:bodyPr>
          <a:lst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anose="020B0503020204020204" pitchFamily="34" charset="0"/>
              </a:defRPr>
            </a:lvl2pPr>
            <a:lvl3pPr algn="l" rtl="0" eaLnBrk="0" fontAlgn="base" hangingPunct="0">
              <a:spcBef>
                <a:spcPct val="0"/>
              </a:spcBef>
              <a:spcAft>
                <a:spcPct val="0"/>
              </a:spcAft>
              <a:defRPr sz="4500" b="1">
                <a:solidFill>
                  <a:srgbClr val="FFC800"/>
                </a:solidFill>
                <a:latin typeface="Corbel" panose="020B0503020204020204" pitchFamily="34" charset="0"/>
              </a:defRPr>
            </a:lvl3pPr>
            <a:lvl4pPr algn="l" rtl="0" eaLnBrk="0" fontAlgn="base" hangingPunct="0">
              <a:spcBef>
                <a:spcPct val="0"/>
              </a:spcBef>
              <a:spcAft>
                <a:spcPct val="0"/>
              </a:spcAft>
              <a:defRPr sz="4500" b="1">
                <a:solidFill>
                  <a:srgbClr val="FFC800"/>
                </a:solidFill>
                <a:latin typeface="Corbel" panose="020B0503020204020204" pitchFamily="34" charset="0"/>
              </a:defRPr>
            </a:lvl4pPr>
            <a:lvl5pPr algn="l" rtl="0" eaLnBrk="0" fontAlgn="base" hangingPunct="0">
              <a:spcBef>
                <a:spcPct val="0"/>
              </a:spcBef>
              <a:spcAft>
                <a:spcPct val="0"/>
              </a:spcAft>
              <a:defRPr sz="4500" b="1">
                <a:solidFill>
                  <a:srgbClr val="FFC800"/>
                </a:solidFill>
                <a:latin typeface="Corbel" panose="020B0503020204020204" pitchFamily="34" charset="0"/>
              </a:defRPr>
            </a:lvl5pPr>
            <a:lvl6pPr marL="457200" algn="l" rtl="0" fontAlgn="base">
              <a:spcBef>
                <a:spcPct val="0"/>
              </a:spcBef>
              <a:spcAft>
                <a:spcPct val="0"/>
              </a:spcAft>
              <a:defRPr sz="4500" b="1">
                <a:solidFill>
                  <a:srgbClr val="FFC800"/>
                </a:solidFill>
                <a:latin typeface="Corbel" panose="020B0503020204020204" pitchFamily="34" charset="0"/>
              </a:defRPr>
            </a:lvl6pPr>
            <a:lvl7pPr marL="914400" algn="l" rtl="0" fontAlgn="base">
              <a:spcBef>
                <a:spcPct val="0"/>
              </a:spcBef>
              <a:spcAft>
                <a:spcPct val="0"/>
              </a:spcAft>
              <a:defRPr sz="4500" b="1">
                <a:solidFill>
                  <a:srgbClr val="FFC800"/>
                </a:solidFill>
                <a:latin typeface="Corbel" panose="020B0503020204020204" pitchFamily="34" charset="0"/>
              </a:defRPr>
            </a:lvl7pPr>
            <a:lvl8pPr marL="1371600" algn="l" rtl="0" fontAlgn="base">
              <a:spcBef>
                <a:spcPct val="0"/>
              </a:spcBef>
              <a:spcAft>
                <a:spcPct val="0"/>
              </a:spcAft>
              <a:defRPr sz="4500" b="1">
                <a:solidFill>
                  <a:srgbClr val="FFC800"/>
                </a:solidFill>
                <a:latin typeface="Corbel" panose="020B0503020204020204" pitchFamily="34" charset="0"/>
              </a:defRPr>
            </a:lvl8pPr>
            <a:lvl9pPr marL="1828800" algn="l" rtl="0" fontAlgn="base">
              <a:spcBef>
                <a:spcPct val="0"/>
              </a:spcBef>
              <a:spcAft>
                <a:spcPct val="0"/>
              </a:spcAft>
              <a:defRPr sz="4500" b="1">
                <a:solidFill>
                  <a:srgbClr val="FFC800"/>
                </a:solidFill>
                <a:latin typeface="Corbel" panose="020B0503020204020204" pitchFamily="34" charset="0"/>
              </a:defRPr>
            </a:lvl9pPr>
          </a:lstStyle>
          <a:p>
            <a:r>
              <a:rPr lang="en-US" sz="2400" dirty="0">
                <a:solidFill>
                  <a:schemeClr val="accent1"/>
                </a:solidFill>
                <a:latin typeface="Calibri"/>
                <a:ea typeface="Calibri"/>
                <a:cs typeface="Calibri"/>
                <a:sym typeface="Calibri"/>
              </a:rPr>
              <a:t>Programming Software </a:t>
            </a:r>
            <a:r>
              <a:rPr lang="en-US" sz="1500" dirty="0">
                <a:solidFill>
                  <a:schemeClr val="accent1"/>
                </a:solidFill>
                <a:latin typeface="Calibri"/>
                <a:ea typeface="Calibri"/>
                <a:cs typeface="Calibri"/>
                <a:sym typeface="Calibri"/>
              </a:rPr>
              <a:t>these are software that is used to create </a:t>
            </a:r>
            <a:r>
              <a:rPr lang="en-US" sz="2400" dirty="0">
                <a:solidFill>
                  <a:schemeClr val="accent1"/>
                </a:solidFill>
                <a:latin typeface="Calibri"/>
                <a:ea typeface="Calibri"/>
                <a:cs typeface="Calibri"/>
                <a:sym typeface="Calibri"/>
              </a:rPr>
              <a:t>customized</a:t>
            </a:r>
            <a:r>
              <a:rPr lang="en-US" sz="1500" dirty="0">
                <a:solidFill>
                  <a:schemeClr val="accent1"/>
                </a:solidFill>
                <a:latin typeface="Calibri"/>
                <a:ea typeface="Calibri"/>
                <a:cs typeface="Calibri"/>
                <a:sym typeface="Calibri"/>
              </a:rPr>
              <a:t> </a:t>
            </a:r>
            <a:r>
              <a:rPr lang="en-US" sz="2400" dirty="0">
                <a:solidFill>
                  <a:schemeClr val="accent1"/>
                </a:solidFill>
                <a:latin typeface="Calibri"/>
                <a:ea typeface="Calibri"/>
                <a:cs typeface="Calibri"/>
                <a:sym typeface="Calibri"/>
              </a:rPr>
              <a:t>systems </a:t>
            </a:r>
            <a:r>
              <a:rPr lang="en-US" sz="1500" dirty="0">
                <a:solidFill>
                  <a:schemeClr val="accent1"/>
                </a:solidFill>
                <a:latin typeface="Calibri"/>
                <a:ea typeface="Calibri"/>
                <a:cs typeface="Calibri"/>
                <a:sym typeface="Calibri"/>
              </a:rPr>
              <a:t>that are the requirements specified by an entity for its primary purpose. A </a:t>
            </a:r>
            <a:r>
              <a:rPr lang="en-US" sz="2400" dirty="0">
                <a:solidFill>
                  <a:schemeClr val="accent1"/>
                </a:solidFill>
                <a:latin typeface="Calibri"/>
                <a:ea typeface="Calibri"/>
                <a:cs typeface="Calibri"/>
                <a:sym typeface="Calibri"/>
              </a:rPr>
              <a:t>programming language </a:t>
            </a:r>
            <a:r>
              <a:rPr lang="en-US" sz="1500" dirty="0">
                <a:solidFill>
                  <a:schemeClr val="accent1"/>
                </a:solidFill>
                <a:latin typeface="Calibri"/>
                <a:ea typeface="Calibri"/>
                <a:cs typeface="Calibri"/>
                <a:sym typeface="Calibri"/>
              </a:rPr>
              <a:t>is a set of instructions needed to direct and control a system</a:t>
            </a:r>
            <a:endParaRPr lang="en-PH" sz="1500" dirty="0">
              <a:solidFill>
                <a:schemeClr val="accent1"/>
              </a:solidFill>
            </a:endParaRPr>
          </a:p>
        </p:txBody>
      </p:sp>
    </p:spTree>
    <p:extLst>
      <p:ext uri="{BB962C8B-B14F-4D97-AF65-F5344CB8AC3E}">
        <p14:creationId xmlns:p14="http://schemas.microsoft.com/office/powerpoint/2010/main" val="1337600365"/>
      </p:ext>
    </p:extLst>
  </p:cSld>
  <p:clrMapOvr>
    <a:masterClrMapping/>
  </p:clrMapOvr>
  <p:transition spd="med">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Calibri"/>
                <a:ea typeface="Calibri"/>
                <a:cs typeface="Calibri"/>
                <a:sym typeface="Calibri"/>
              </a:rPr>
              <a:t>Programming Software</a:t>
            </a:r>
            <a:endParaRPr lang="en-PH" dirty="0">
              <a:solidFill>
                <a:schemeClr val="accent1"/>
              </a:solidFill>
            </a:endParaRPr>
          </a:p>
        </p:txBody>
      </p:sp>
      <p:graphicFrame>
        <p:nvGraphicFramePr>
          <p:cNvPr id="4" name="Table 3"/>
          <p:cNvGraphicFramePr>
            <a:graphicFrameLocks noGrp="1"/>
          </p:cNvGraphicFramePr>
          <p:nvPr/>
        </p:nvGraphicFramePr>
        <p:xfrm>
          <a:off x="628650" y="2226469"/>
          <a:ext cx="7800975" cy="3484691"/>
        </p:xfrm>
        <a:graphic>
          <a:graphicData uri="http://schemas.openxmlformats.org/drawingml/2006/table">
            <a:tbl>
              <a:tblPr>
                <a:noFill/>
              </a:tblPr>
              <a:tblGrid>
                <a:gridCol w="2011677">
                  <a:extLst>
                    <a:ext uri="{9D8B030D-6E8A-4147-A177-3AD203B41FA5}">
                      <a16:colId xmlns:a16="http://schemas.microsoft.com/office/drawing/2014/main" val="650336817"/>
                    </a:ext>
                  </a:extLst>
                </a:gridCol>
                <a:gridCol w="5789298">
                  <a:extLst>
                    <a:ext uri="{9D8B030D-6E8A-4147-A177-3AD203B41FA5}">
                      <a16:colId xmlns:a16="http://schemas.microsoft.com/office/drawing/2014/main" val="4060924128"/>
                    </a:ext>
                  </a:extLst>
                </a:gridCol>
              </a:tblGrid>
              <a:tr h="503587">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Billing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system is used for computing the consumption of an entity such as electricity, water, communication, and internet service.</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768582733"/>
                  </a:ext>
                </a:extLst>
              </a:tr>
              <a:tr h="563435">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Sales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system is used for sales and retail where the real time computation of transactions is done.</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640632290"/>
                  </a:ext>
                </a:extLst>
              </a:tr>
              <a:tr h="771049">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Voting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customized system is used for computing voters turn out similar to a survey system where the candidates votes are tallied. It usually includes a chart for graphic analysis.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3815901918"/>
                  </a:ext>
                </a:extLst>
              </a:tr>
              <a:tr h="771049">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Crime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customize system is used to record, analyze and interpret data that are related with crimes. It usually is used by authorities like the police and criminal investigation agencies.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686597393"/>
                  </a:ext>
                </a:extLst>
              </a:tr>
              <a:tr h="771049">
                <a:tc>
                  <a:txBody>
                    <a:bodyPr/>
                    <a:lstStyle/>
                    <a:p>
                      <a:pPr marL="0" marR="0" lvl="0" indent="0" algn="ctr"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Accounting System</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system is for accounting processes such as trial balancing, sales/ expenses and assets monitoring. It is very helpful in speeding up and producing accurate accounting methods.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4159343137"/>
                  </a:ext>
                </a:extLst>
              </a:tr>
            </a:tbl>
          </a:graphicData>
        </a:graphic>
      </p:graphicFrame>
    </p:spTree>
    <p:extLst>
      <p:ext uri="{BB962C8B-B14F-4D97-AF65-F5344CB8AC3E}">
        <p14:creationId xmlns:p14="http://schemas.microsoft.com/office/powerpoint/2010/main" val="1062906958"/>
      </p:ext>
    </p:extLst>
  </p:cSld>
  <p:clrMapOvr>
    <a:masterClrMapping/>
  </p:clrMapOvr>
  <p:transition spd="med">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solidFill>
                  <a:schemeClr val="accent1"/>
                </a:solidFill>
                <a:latin typeface="Calibri"/>
                <a:ea typeface="Calibri"/>
                <a:cs typeface="Calibri"/>
                <a:sym typeface="Calibri"/>
              </a:rPr>
              <a:t>Package Software </a:t>
            </a:r>
            <a:r>
              <a:rPr lang="en-US" sz="2100" dirty="0">
                <a:solidFill>
                  <a:schemeClr val="accent1"/>
                </a:solidFill>
                <a:latin typeface="Calibri"/>
                <a:ea typeface="Calibri"/>
                <a:cs typeface="Calibri"/>
                <a:sym typeface="Calibri"/>
              </a:rPr>
              <a:t>refers to software that are bundled with the Operating or System software. Here are some examples of package software</a:t>
            </a:r>
            <a:endParaRPr lang="en-PH" sz="2100" dirty="0">
              <a:solidFill>
                <a:schemeClr val="accent1"/>
              </a:solidFill>
            </a:endParaRPr>
          </a:p>
        </p:txBody>
      </p:sp>
      <p:graphicFrame>
        <p:nvGraphicFramePr>
          <p:cNvPr id="5" name="Google Shape;957;p97"/>
          <p:cNvGraphicFramePr/>
          <p:nvPr/>
        </p:nvGraphicFramePr>
        <p:xfrm>
          <a:off x="790575" y="2125266"/>
          <a:ext cx="7439026" cy="4027680"/>
        </p:xfrm>
        <a:graphic>
          <a:graphicData uri="http://schemas.openxmlformats.org/drawingml/2006/table">
            <a:tbl>
              <a:tblPr>
                <a:noFill/>
              </a:tblPr>
              <a:tblGrid>
                <a:gridCol w="1914368">
                  <a:extLst>
                    <a:ext uri="{9D8B030D-6E8A-4147-A177-3AD203B41FA5}">
                      <a16:colId xmlns:a16="http://schemas.microsoft.com/office/drawing/2014/main" val="20000"/>
                    </a:ext>
                  </a:extLst>
                </a:gridCol>
                <a:gridCol w="5524658">
                  <a:extLst>
                    <a:ext uri="{9D8B030D-6E8A-4147-A177-3AD203B41FA5}">
                      <a16:colId xmlns:a16="http://schemas.microsoft.com/office/drawing/2014/main" val="20001"/>
                    </a:ext>
                  </a:extLst>
                </a:gridCol>
              </a:tblGrid>
              <a:tr h="274320">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Software</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Calibri"/>
                        <a:buNone/>
                      </a:pPr>
                      <a:r>
                        <a:rPr lang="en-US" sz="1800" b="1"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Functions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305973">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Computer Games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software are usually bundled with any electronic gadgets such operating system or customized built by programmers using sophisticated programming languages. Games nowadays are either 2D or 3D in form. There are embedded programs in microchip that are used for virtual reality type of games.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71049">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Calculator</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miniature program is bundled to any operating system in the market and function just as a normal calculator with extra features as add-ons.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71049">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Calendar</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miniature programs are bundled to any operating system that gives the user the features of a common calendar and a schedule organizer at the same time.</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3587">
                <a:tc>
                  <a:txBody>
                    <a:bodyPr/>
                    <a:lstStyle/>
                    <a:p>
                      <a:pPr marL="0" marR="0" lvl="0" indent="0" algn="l" rtl="0">
                        <a:lnSpc>
                          <a:spcPct val="10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Media player</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30000"/>
                        </a:lnSpc>
                        <a:spcBef>
                          <a:spcPts val="0"/>
                        </a:spcBef>
                        <a:spcAft>
                          <a:spcPts val="0"/>
                        </a:spcAft>
                        <a:buClr>
                          <a:schemeClr val="dk1"/>
                        </a:buClr>
                        <a:buSzPts val="1000"/>
                        <a:buFont typeface="Calibri"/>
                        <a:buNone/>
                      </a:pPr>
                      <a:r>
                        <a:rPr lang="en-US" sz="1400" b="0" i="0" u="none" dirty="0">
                          <a:solidFill>
                            <a:schemeClr val="dk1"/>
                          </a:solidFill>
                          <a:latin typeface="Verdana" panose="020B0604030504040204" pitchFamily="34" charset="0"/>
                          <a:ea typeface="Verdana" panose="020B0604030504040204" pitchFamily="34" charset="0"/>
                          <a:cs typeface="Verdana" panose="020B0604030504040204" pitchFamily="34" charset="0"/>
                          <a:sym typeface="Calibri"/>
                        </a:rPr>
                        <a:t>This program is used to play music or videos normally attached to a folder called accessories.</a:t>
                      </a:r>
                      <a:endParaRPr sz="3000" dirty="0">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29138212"/>
      </p:ext>
    </p:extLst>
  </p:cSld>
  <p:clrMapOvr>
    <a:masterClrMapping/>
  </p:clrMapOvr>
  <p:transition spd="med">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dirty="0">
                <a:solidFill>
                  <a:schemeClr val="accent1"/>
                </a:solidFill>
                <a:latin typeface="Calibri"/>
                <a:ea typeface="Calibri"/>
                <a:cs typeface="Calibri"/>
                <a:sym typeface="Calibri"/>
              </a:rPr>
              <a:t>Database Software </a:t>
            </a:r>
            <a:r>
              <a:rPr lang="en-US" sz="1800" dirty="0">
                <a:solidFill>
                  <a:schemeClr val="accent1"/>
                </a:solidFill>
                <a:latin typeface="Calibri"/>
                <a:ea typeface="Calibri"/>
                <a:cs typeface="Calibri"/>
                <a:sym typeface="Calibri"/>
              </a:rPr>
              <a:t>these refers to software for storing large volumes of information and controlling purposes is one of its features. A common database software has a </a:t>
            </a:r>
            <a:r>
              <a:rPr lang="en-US" sz="2700" dirty="0">
                <a:solidFill>
                  <a:schemeClr val="accent1"/>
                </a:solidFill>
                <a:latin typeface="Calibri"/>
                <a:ea typeface="Calibri"/>
                <a:cs typeface="Calibri"/>
                <a:sym typeface="Calibri"/>
              </a:rPr>
              <a:t>table </a:t>
            </a:r>
            <a:r>
              <a:rPr lang="en-US" sz="1800" dirty="0">
                <a:solidFill>
                  <a:schemeClr val="accent1"/>
                </a:solidFill>
                <a:latin typeface="Calibri"/>
                <a:ea typeface="Calibri"/>
                <a:cs typeface="Calibri"/>
                <a:sym typeface="Calibri"/>
              </a:rPr>
              <a:t>that is used in partitioning the data or files. Here is a simple graphical idea of how a database software works</a:t>
            </a:r>
            <a:endParaRPr lang="en-PH" sz="1800" dirty="0">
              <a:solidFill>
                <a:schemeClr val="accent1"/>
              </a:solidFill>
            </a:endParaRPr>
          </a:p>
        </p:txBody>
      </p:sp>
      <p:pic>
        <p:nvPicPr>
          <p:cNvPr id="4" name="Google Shape;951;p97"/>
          <p:cNvPicPr preferRelativeResize="0"/>
          <p:nvPr/>
        </p:nvPicPr>
        <p:blipFill rotWithShape="1">
          <a:blip r:embed="rId2">
            <a:alphaModFix/>
          </a:blip>
          <a:srcRect/>
          <a:stretch/>
        </p:blipFill>
        <p:spPr>
          <a:xfrm>
            <a:off x="2558653" y="3001565"/>
            <a:ext cx="388144" cy="940594"/>
          </a:xfrm>
          <a:prstGeom prst="rect">
            <a:avLst/>
          </a:prstGeom>
          <a:noFill/>
          <a:ln>
            <a:noFill/>
          </a:ln>
        </p:spPr>
      </p:pic>
      <p:pic>
        <p:nvPicPr>
          <p:cNvPr id="5" name="Google Shape;952;p97"/>
          <p:cNvPicPr preferRelativeResize="0"/>
          <p:nvPr/>
        </p:nvPicPr>
        <p:blipFill rotWithShape="1">
          <a:blip r:embed="rId3">
            <a:alphaModFix/>
          </a:blip>
          <a:srcRect/>
          <a:stretch/>
        </p:blipFill>
        <p:spPr>
          <a:xfrm>
            <a:off x="3541513" y="2781300"/>
            <a:ext cx="1203722" cy="1785938"/>
          </a:xfrm>
          <a:prstGeom prst="rect">
            <a:avLst/>
          </a:prstGeom>
          <a:noFill/>
          <a:ln>
            <a:noFill/>
          </a:ln>
        </p:spPr>
      </p:pic>
      <p:pic>
        <p:nvPicPr>
          <p:cNvPr id="6" name="Google Shape;953;p97"/>
          <p:cNvPicPr preferRelativeResize="0"/>
          <p:nvPr/>
        </p:nvPicPr>
        <p:blipFill rotWithShape="1">
          <a:blip r:embed="rId4">
            <a:alphaModFix/>
          </a:blip>
          <a:srcRect/>
          <a:stretch/>
        </p:blipFill>
        <p:spPr>
          <a:xfrm>
            <a:off x="5313759" y="2964656"/>
            <a:ext cx="388144" cy="940594"/>
          </a:xfrm>
          <a:prstGeom prst="rect">
            <a:avLst/>
          </a:prstGeom>
          <a:noFill/>
          <a:ln>
            <a:noFill/>
          </a:ln>
        </p:spPr>
      </p:pic>
      <p:sp>
        <p:nvSpPr>
          <p:cNvPr id="7" name="Google Shape;959;p97"/>
          <p:cNvSpPr txBox="1"/>
          <p:nvPr/>
        </p:nvSpPr>
        <p:spPr>
          <a:xfrm>
            <a:off x="1333500" y="2852737"/>
            <a:ext cx="1532334" cy="1204913"/>
          </a:xfrm>
          <a:prstGeom prst="rect">
            <a:avLst/>
          </a:prstGeom>
          <a:noFill/>
          <a:ln>
            <a:noFill/>
          </a:ln>
        </p:spPr>
        <p:txBody>
          <a:bodyPr spcFirstLastPara="1" wrap="square" lIns="0" tIns="0" rIns="0" bIns="0" anchor="t" anchorCtr="0">
            <a:noAutofit/>
          </a:bodyPr>
          <a:lstStyle/>
          <a:p>
            <a:pPr>
              <a:lnSpc>
                <a:spcPct val="130000"/>
              </a:lnSpc>
              <a:spcBef>
                <a:spcPts val="0"/>
              </a:spcBef>
              <a:spcAft>
                <a:spcPts val="0"/>
              </a:spcAft>
              <a:buClr>
                <a:schemeClr val="dk1"/>
              </a:buClr>
              <a:buSzPts val="1000"/>
            </a:pPr>
            <a:r>
              <a:rPr lang="en-US" sz="1500" dirty="0">
                <a:solidFill>
                  <a:schemeClr val="dk1"/>
                </a:solidFill>
                <a:latin typeface="Adobe Gothic Std B" panose="020B0800000000000000" pitchFamily="34" charset="-128"/>
                <a:ea typeface="Adobe Gothic Std B" panose="020B0800000000000000" pitchFamily="34" charset="-128"/>
                <a:cs typeface="Calibri"/>
                <a:sym typeface="Calibri"/>
              </a:rPr>
              <a:t>Text</a:t>
            </a:r>
            <a:endParaRPr sz="33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sz="1500" dirty="0">
                <a:solidFill>
                  <a:schemeClr val="dk1"/>
                </a:solidFill>
                <a:latin typeface="Adobe Gothic Std B" panose="020B0800000000000000" pitchFamily="34" charset="-128"/>
                <a:ea typeface="Adobe Gothic Std B" panose="020B0800000000000000" pitchFamily="34" charset="-128"/>
                <a:cs typeface="Calibri"/>
                <a:sym typeface="Calibri"/>
              </a:rPr>
              <a:t>Images</a:t>
            </a:r>
            <a:endParaRPr sz="33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sz="1500" dirty="0">
                <a:solidFill>
                  <a:schemeClr val="dk1"/>
                </a:solidFill>
                <a:latin typeface="Adobe Gothic Std B" panose="020B0800000000000000" pitchFamily="34" charset="-128"/>
                <a:ea typeface="Adobe Gothic Std B" panose="020B0800000000000000" pitchFamily="34" charset="-128"/>
                <a:cs typeface="Calibri"/>
                <a:sym typeface="Calibri"/>
              </a:rPr>
              <a:t>Sound</a:t>
            </a:r>
            <a:endParaRPr sz="33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sz="1500" dirty="0">
                <a:solidFill>
                  <a:schemeClr val="dk1"/>
                </a:solidFill>
                <a:latin typeface="Adobe Gothic Std B" panose="020B0800000000000000" pitchFamily="34" charset="-128"/>
                <a:ea typeface="Adobe Gothic Std B" panose="020B0800000000000000" pitchFamily="34" charset="-128"/>
                <a:cs typeface="Calibri"/>
                <a:sym typeface="Calibri"/>
              </a:rPr>
              <a:t>Videos</a:t>
            </a:r>
            <a:endParaRPr sz="3300" dirty="0">
              <a:latin typeface="Adobe Gothic Std B" panose="020B0800000000000000" pitchFamily="34" charset="-128"/>
              <a:ea typeface="Adobe Gothic Std B" panose="020B0800000000000000" pitchFamily="34" charset="-128"/>
            </a:endParaRPr>
          </a:p>
        </p:txBody>
      </p:sp>
      <p:sp>
        <p:nvSpPr>
          <p:cNvPr id="8" name="Google Shape;960;p97"/>
          <p:cNvSpPr txBox="1"/>
          <p:nvPr/>
        </p:nvSpPr>
        <p:spPr>
          <a:xfrm>
            <a:off x="6543675" y="2781300"/>
            <a:ext cx="1114425" cy="1419225"/>
          </a:xfrm>
          <a:prstGeom prst="rect">
            <a:avLst/>
          </a:prstGeom>
          <a:noFill/>
          <a:ln>
            <a:noFill/>
          </a:ln>
        </p:spPr>
        <p:txBody>
          <a:bodyPr spcFirstLastPara="1" wrap="square" lIns="0" tIns="0" rIns="0" bIns="0" anchor="t" anchorCtr="0">
            <a:noAutofit/>
          </a:bodyPr>
          <a:lstStyle/>
          <a:p>
            <a:pPr>
              <a:lnSpc>
                <a:spcPct val="130000"/>
              </a:lnSpc>
              <a:spcBef>
                <a:spcPts val="0"/>
              </a:spcBef>
              <a:spcAft>
                <a:spcPts val="0"/>
              </a:spcAft>
              <a:buClr>
                <a:schemeClr val="dk1"/>
              </a:buClr>
              <a:buSzPts val="1000"/>
            </a:pPr>
            <a:r>
              <a:rPr lang="en-US" dirty="0">
                <a:solidFill>
                  <a:schemeClr val="dk1"/>
                </a:solidFill>
                <a:latin typeface="Adobe Gothic Std B" panose="020B0800000000000000" pitchFamily="34" charset="-128"/>
                <a:ea typeface="Adobe Gothic Std B" panose="020B0800000000000000" pitchFamily="34" charset="-128"/>
                <a:cs typeface="Calibri"/>
                <a:sym typeface="Calibri"/>
              </a:rPr>
              <a:t>Text</a:t>
            </a:r>
            <a:endParaRPr sz="36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dirty="0">
                <a:solidFill>
                  <a:schemeClr val="dk1"/>
                </a:solidFill>
                <a:latin typeface="Adobe Gothic Std B" panose="020B0800000000000000" pitchFamily="34" charset="-128"/>
                <a:ea typeface="Adobe Gothic Std B" panose="020B0800000000000000" pitchFamily="34" charset="-128"/>
                <a:cs typeface="Calibri"/>
                <a:sym typeface="Calibri"/>
              </a:rPr>
              <a:t>Images</a:t>
            </a:r>
            <a:endParaRPr sz="36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dirty="0">
                <a:solidFill>
                  <a:schemeClr val="dk1"/>
                </a:solidFill>
                <a:latin typeface="Adobe Gothic Std B" panose="020B0800000000000000" pitchFamily="34" charset="-128"/>
                <a:ea typeface="Adobe Gothic Std B" panose="020B0800000000000000" pitchFamily="34" charset="-128"/>
                <a:cs typeface="Calibri"/>
                <a:sym typeface="Calibri"/>
              </a:rPr>
              <a:t>Sound</a:t>
            </a:r>
            <a:endParaRPr sz="3600" dirty="0">
              <a:latin typeface="Adobe Gothic Std B" panose="020B0800000000000000" pitchFamily="34" charset="-128"/>
              <a:ea typeface="Adobe Gothic Std B" panose="020B0800000000000000" pitchFamily="34" charset="-128"/>
            </a:endParaRPr>
          </a:p>
          <a:p>
            <a:pPr>
              <a:lnSpc>
                <a:spcPct val="130000"/>
              </a:lnSpc>
              <a:spcBef>
                <a:spcPts val="0"/>
              </a:spcBef>
              <a:spcAft>
                <a:spcPts val="0"/>
              </a:spcAft>
              <a:buClr>
                <a:schemeClr val="dk1"/>
              </a:buClr>
              <a:buSzPts val="1000"/>
            </a:pPr>
            <a:r>
              <a:rPr lang="en-US" dirty="0">
                <a:solidFill>
                  <a:schemeClr val="dk1"/>
                </a:solidFill>
                <a:latin typeface="Adobe Gothic Std B" panose="020B0800000000000000" pitchFamily="34" charset="-128"/>
                <a:ea typeface="Adobe Gothic Std B" panose="020B0800000000000000" pitchFamily="34" charset="-128"/>
                <a:cs typeface="Calibri"/>
                <a:sym typeface="Calibri"/>
              </a:rPr>
              <a:t>Videos</a:t>
            </a:r>
            <a:endParaRPr sz="3600" dirty="0">
              <a:latin typeface="Adobe Gothic Std B" panose="020B0800000000000000" pitchFamily="34" charset="-128"/>
              <a:ea typeface="Adobe Gothic Std B" panose="020B0800000000000000" pitchFamily="34" charset="-128"/>
            </a:endParaRPr>
          </a:p>
        </p:txBody>
      </p:sp>
    </p:spTree>
    <p:extLst>
      <p:ext uri="{BB962C8B-B14F-4D97-AF65-F5344CB8AC3E}">
        <p14:creationId xmlns:p14="http://schemas.microsoft.com/office/powerpoint/2010/main" val="1220241903"/>
      </p:ext>
    </p:extLst>
  </p:cSld>
  <p:clrMapOvr>
    <a:masterClrMapping/>
  </p:clrMapOvr>
  <p:transition spd="med">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Operating Systems</a:t>
            </a:r>
            <a:endParaRPr lang="en-US" sz="1600">
              <a:solidFill>
                <a:schemeClr val="accent1">
                  <a:satMod val="150000"/>
                </a:schemeClr>
              </a:solidFill>
            </a:endParaRPr>
          </a:p>
        </p:txBody>
      </p:sp>
      <p:sp>
        <p:nvSpPr>
          <p:cNvPr id="48131" name="Rectangle 4"/>
          <p:cNvSpPr>
            <a:spLocks noChangeArrowheads="1"/>
          </p:cNvSpPr>
          <p:nvPr/>
        </p:nvSpPr>
        <p:spPr bwMode="auto">
          <a:xfrm>
            <a:off x="1371600" y="1492250"/>
            <a:ext cx="7772400" cy="1739900"/>
          </a:xfrm>
          <a:prstGeom prst="rect">
            <a:avLst/>
          </a:prstGeom>
          <a:noFill/>
          <a:ln w="9525">
            <a:noFill/>
            <a:miter lim="800000"/>
          </a:ln>
        </p:spPr>
        <p:txBody>
          <a:bodyPr lIns="0" rIns="0">
            <a:spAutoFit/>
          </a:bodyPr>
          <a:lstStyle/>
          <a:p>
            <a:r>
              <a:rPr lang="en-US"/>
              <a:t>The main component of systems software is a set of programs collectively known as the </a:t>
            </a:r>
            <a:r>
              <a:rPr lang="en-US">
                <a:solidFill>
                  <a:srgbClr val="33CCCC"/>
                </a:solidFill>
              </a:rPr>
              <a:t>operating system</a:t>
            </a:r>
            <a:r>
              <a:rPr lang="en-US"/>
              <a:t>. It supervises the overall operation of the computer, including monitoring the computer’s status, handling executable program interruptions, and scheduling operations, which include the controlling of input and output processes. </a:t>
            </a:r>
          </a:p>
        </p:txBody>
      </p:sp>
      <p:pic>
        <p:nvPicPr>
          <p:cNvPr id="48132" name="Picture 6"/>
          <p:cNvPicPr>
            <a:picLocks noGrp="1" noChangeAspect="1" noChangeArrowheads="1"/>
          </p:cNvPicPr>
          <p:nvPr>
            <p:ph idx="1"/>
          </p:nvPr>
        </p:nvPicPr>
        <p:blipFill>
          <a:blip r:embed="rId2" cstate="print"/>
          <a:srcRect/>
          <a:stretch>
            <a:fillRect/>
          </a:stretch>
        </p:blipFill>
        <p:spPr>
          <a:xfrm>
            <a:off x="1295400" y="3352800"/>
            <a:ext cx="7315200" cy="2644775"/>
          </a:xfrm>
          <a:noFill/>
        </p:spPr>
      </p:pic>
    </p:spTree>
  </p:cSld>
  <p:clrMapOvr>
    <a:masterClrMapping/>
  </p:clrMapOvr>
  <p:transition spd="med">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Operating Systems </a:t>
            </a:r>
            <a:r>
              <a:rPr lang="en-US" sz="1600">
                <a:solidFill>
                  <a:schemeClr val="accent1">
                    <a:satMod val="150000"/>
                  </a:schemeClr>
                </a:solidFill>
              </a:rPr>
              <a:t>Continued</a:t>
            </a:r>
          </a:p>
        </p:txBody>
      </p:sp>
      <p:sp>
        <p:nvSpPr>
          <p:cNvPr id="49155" name="Rectangle 3"/>
          <p:cNvSpPr>
            <a:spLocks noGrp="1" noChangeArrowheads="1"/>
          </p:cNvSpPr>
          <p:nvPr>
            <p:ph type="body" idx="1"/>
          </p:nvPr>
        </p:nvSpPr>
        <p:spPr>
          <a:xfrm>
            <a:off x="886408" y="2469501"/>
            <a:ext cx="7772400" cy="3733800"/>
          </a:xfrm>
          <a:noFill/>
        </p:spPr>
        <p:txBody>
          <a:bodyPr/>
          <a:lstStyle/>
          <a:p>
            <a:pPr marL="476250" indent="-476250" defTabSz="-635" eaLnBrk="1" hangingPunct="1">
              <a:tabLst>
                <a:tab pos="287020" algn="l"/>
              </a:tabLst>
            </a:pPr>
            <a:r>
              <a:rPr lang="en-US" sz="2400" dirty="0">
                <a:solidFill>
                  <a:srgbClr val="33CCCC"/>
                </a:solidFill>
              </a:rPr>
              <a:t>Job management</a:t>
            </a:r>
            <a:r>
              <a:rPr lang="en-US" sz="2400" b="1" i="1" dirty="0"/>
              <a:t> </a:t>
            </a:r>
            <a:r>
              <a:rPr lang="en-US" sz="2400" dirty="0"/>
              <a:t>is the preparing, scheduling, and monitoring of jobs for continuous processing by the computer system.</a:t>
            </a:r>
            <a:endParaRPr lang="en-US" sz="2400" b="1" i="1" dirty="0"/>
          </a:p>
          <a:p>
            <a:pPr marL="476250" indent="-476250" defTabSz="-635" eaLnBrk="1" hangingPunct="1">
              <a:tabLst>
                <a:tab pos="287020" algn="l"/>
              </a:tabLst>
            </a:pPr>
            <a:r>
              <a:rPr lang="en-US" sz="2400" dirty="0">
                <a:solidFill>
                  <a:srgbClr val="33CCCC"/>
                </a:solidFill>
              </a:rPr>
              <a:t>Resource management</a:t>
            </a:r>
            <a:r>
              <a:rPr lang="en-US" sz="2400" b="1" i="1" dirty="0"/>
              <a:t> </a:t>
            </a:r>
            <a:r>
              <a:rPr lang="en-US" sz="2400" dirty="0"/>
              <a:t>is controlling the use of computer system resources employed by the other systems software and application software programs being executed on the computer.</a:t>
            </a:r>
            <a:endParaRPr lang="en-US" sz="2400" b="1" i="1" dirty="0"/>
          </a:p>
          <a:p>
            <a:pPr marL="476250" indent="-476250" defTabSz="-635" eaLnBrk="1" hangingPunct="1">
              <a:tabLst>
                <a:tab pos="287020" algn="l"/>
              </a:tabLst>
            </a:pPr>
            <a:r>
              <a:rPr lang="en-US" sz="2400" dirty="0">
                <a:solidFill>
                  <a:srgbClr val="33CCCC"/>
                </a:solidFill>
              </a:rPr>
              <a:t>Data management</a:t>
            </a:r>
            <a:r>
              <a:rPr lang="en-US" sz="2400" b="1" i="1" dirty="0"/>
              <a:t> </a:t>
            </a:r>
            <a:r>
              <a:rPr lang="en-US" sz="2400" dirty="0"/>
              <a:t>is the controlling of the input and output of data as well as their location, storage, and retrieval.</a:t>
            </a:r>
          </a:p>
        </p:txBody>
      </p:sp>
      <p:sp>
        <p:nvSpPr>
          <p:cNvPr id="49156" name="Rectangle 4"/>
          <p:cNvSpPr>
            <a:spLocks noChangeArrowheads="1"/>
          </p:cNvSpPr>
          <p:nvPr/>
        </p:nvSpPr>
        <p:spPr bwMode="auto">
          <a:xfrm>
            <a:off x="914400" y="1636388"/>
            <a:ext cx="7772400" cy="641350"/>
          </a:xfrm>
          <a:prstGeom prst="rect">
            <a:avLst/>
          </a:prstGeom>
          <a:noFill/>
          <a:ln w="9525">
            <a:noFill/>
            <a:miter lim="800000"/>
          </a:ln>
        </p:spPr>
        <p:txBody>
          <a:bodyPr lIns="0" rIns="0">
            <a:spAutoFit/>
          </a:bodyPr>
          <a:lstStyle/>
          <a:p>
            <a:r>
              <a:rPr lang="en-US" dirty="0"/>
              <a:t>The operating system performs three major functions in the operation of a computer system.</a:t>
            </a:r>
          </a:p>
        </p:txBody>
      </p:sp>
    </p:spTree>
  </p:cSld>
  <p:clrMapOvr>
    <a:masterClrMapping/>
  </p:clrMapOvr>
  <p:transition spd="med">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Operating Systems </a:t>
            </a:r>
            <a:r>
              <a:rPr lang="en-US" sz="1600">
                <a:solidFill>
                  <a:schemeClr val="accent1">
                    <a:satMod val="150000"/>
                  </a:schemeClr>
                </a:solidFill>
              </a:rPr>
              <a:t>Continued</a:t>
            </a:r>
          </a:p>
        </p:txBody>
      </p:sp>
      <p:sp>
        <p:nvSpPr>
          <p:cNvPr id="50179" name="Rectangle 3"/>
          <p:cNvSpPr>
            <a:spLocks noGrp="1" noChangeArrowheads="1"/>
          </p:cNvSpPr>
          <p:nvPr>
            <p:ph type="body" idx="1"/>
          </p:nvPr>
        </p:nvSpPr>
        <p:spPr>
          <a:xfrm>
            <a:off x="1905000" y="2590799"/>
            <a:ext cx="5181600" cy="3292475"/>
          </a:xfrm>
          <a:noFill/>
        </p:spPr>
        <p:txBody>
          <a:bodyPr/>
          <a:lstStyle/>
          <a:p>
            <a:pPr marL="476250" indent="-476250" defTabSz="-635" eaLnBrk="1" hangingPunct="1">
              <a:tabLst>
                <a:tab pos="287020" algn="l"/>
              </a:tabLst>
            </a:pPr>
            <a:r>
              <a:rPr lang="en-US" sz="2400" dirty="0"/>
              <a:t>Windows</a:t>
            </a:r>
          </a:p>
          <a:p>
            <a:pPr marL="476250" indent="-476250" defTabSz="-635" eaLnBrk="1" hangingPunct="1">
              <a:tabLst>
                <a:tab pos="287020" algn="l"/>
              </a:tabLst>
            </a:pPr>
            <a:r>
              <a:rPr lang="en-US" sz="2400" dirty="0"/>
              <a:t>UNIX</a:t>
            </a:r>
          </a:p>
          <a:p>
            <a:pPr marL="476250" indent="-476250" defTabSz="-635" eaLnBrk="1" hangingPunct="1">
              <a:tabLst>
                <a:tab pos="287020" algn="l"/>
              </a:tabLst>
            </a:pPr>
            <a:r>
              <a:rPr lang="en-US" sz="2400" dirty="0"/>
              <a:t>Linux </a:t>
            </a:r>
          </a:p>
          <a:p>
            <a:pPr marL="476250" indent="-476250" defTabSz="-635" eaLnBrk="1" hangingPunct="1">
              <a:tabLst>
                <a:tab pos="287020" algn="l"/>
              </a:tabLst>
            </a:pPr>
            <a:r>
              <a:rPr lang="en-US" sz="2400" dirty="0"/>
              <a:t>Mac OS X</a:t>
            </a:r>
          </a:p>
          <a:p>
            <a:pPr marL="476250" indent="-476250" defTabSz="-635" eaLnBrk="1" hangingPunct="1">
              <a:tabLst>
                <a:tab pos="287020" algn="l"/>
              </a:tabLst>
            </a:pPr>
            <a:r>
              <a:rPr lang="en-US" sz="2400" dirty="0" err="1"/>
              <a:t>JavaOS</a:t>
            </a:r>
            <a:endParaRPr lang="en-US" sz="2400" dirty="0"/>
          </a:p>
          <a:p>
            <a:pPr marL="476250" indent="-476250" defTabSz="-635" eaLnBrk="1" hangingPunct="1">
              <a:tabLst>
                <a:tab pos="287020" algn="l"/>
              </a:tabLst>
            </a:pPr>
            <a:r>
              <a:rPr lang="en-US" sz="2400" dirty="0"/>
              <a:t>Pocket PC</a:t>
            </a:r>
          </a:p>
          <a:p>
            <a:pPr marL="476250" indent="-476250" defTabSz="-635" eaLnBrk="1" hangingPunct="1">
              <a:tabLst>
                <a:tab pos="287020" algn="l"/>
              </a:tabLst>
            </a:pPr>
            <a:r>
              <a:rPr lang="en-US" sz="2400" dirty="0"/>
              <a:t>OS/390</a:t>
            </a:r>
          </a:p>
          <a:p>
            <a:pPr marL="476250" indent="-476250" defTabSz="-635" eaLnBrk="1" hangingPunct="1">
              <a:tabLst>
                <a:tab pos="287020" algn="l"/>
              </a:tabLst>
            </a:pPr>
            <a:r>
              <a:rPr lang="en-US" sz="2400" dirty="0"/>
              <a:t>OS/400</a:t>
            </a:r>
          </a:p>
          <a:p>
            <a:pPr marL="476250" indent="-476250" defTabSz="-635" eaLnBrk="1" hangingPunct="1">
              <a:tabLst>
                <a:tab pos="287020" algn="l"/>
              </a:tabLst>
            </a:pPr>
            <a:r>
              <a:rPr lang="en-US" sz="2400" dirty="0"/>
              <a:t>AIX</a:t>
            </a:r>
          </a:p>
        </p:txBody>
      </p:sp>
      <p:sp>
        <p:nvSpPr>
          <p:cNvPr id="50180" name="Rectangle 4"/>
          <p:cNvSpPr>
            <a:spLocks noChangeArrowheads="1"/>
          </p:cNvSpPr>
          <p:nvPr/>
        </p:nvSpPr>
        <p:spPr bwMode="auto">
          <a:xfrm>
            <a:off x="1371600" y="1492250"/>
            <a:ext cx="7772400" cy="915988"/>
          </a:xfrm>
          <a:prstGeom prst="rect">
            <a:avLst/>
          </a:prstGeom>
          <a:noFill/>
          <a:ln w="9525">
            <a:noFill/>
            <a:miter lim="800000"/>
          </a:ln>
        </p:spPr>
        <p:txBody>
          <a:bodyPr lIns="0" rIns="0">
            <a:spAutoFit/>
          </a:bodyPr>
          <a:lstStyle/>
          <a:p>
            <a:r>
              <a:rPr lang="en-US"/>
              <a:t>A variety of operating systems are in use today. The operating system used on most personal computers is some version of Microsoft’s Windows </a:t>
            </a:r>
          </a:p>
        </p:txBody>
      </p:sp>
      <p:sp>
        <p:nvSpPr>
          <p:cNvPr id="588805" name="Rectangle 5"/>
          <p:cNvSpPr>
            <a:spLocks noChangeArrowheads="1"/>
          </p:cNvSpPr>
          <p:nvPr/>
        </p:nvSpPr>
        <p:spPr bwMode="auto">
          <a:xfrm>
            <a:off x="1219200" y="5883275"/>
            <a:ext cx="6934200" cy="396875"/>
          </a:xfrm>
          <a:prstGeom prst="rect">
            <a:avLst/>
          </a:prstGeom>
          <a:noFill/>
          <a:ln w="9525" algn="ctr">
            <a:noFill/>
            <a:miter lim="800000"/>
          </a:ln>
          <a:effectLst/>
        </p:spPr>
        <p:txBody>
          <a:bodyPr anchor="ctr">
            <a:spAutoFit/>
          </a:bodyPr>
          <a:lstStyle/>
          <a:p>
            <a:pPr algn="ctr">
              <a:defRPr/>
            </a:pPr>
            <a:r>
              <a:rPr lang="en-US" sz="2000" b="1" dirty="0">
                <a:solidFill>
                  <a:srgbClr val="0066FF"/>
                </a:solidFill>
                <a:effectLst>
                  <a:outerShdw blurRad="38100" dist="38100" dir="2700000" algn="tl">
                    <a:srgbClr val="C0C0C0"/>
                  </a:outerShdw>
                </a:effectLst>
                <a:ea typeface="PMingLiU" panose="02020500000000000000" pitchFamily="18" charset="-120"/>
              </a:rPr>
              <a:t>Sample Operating Systems</a:t>
            </a:r>
          </a:p>
        </p:txBody>
      </p:sp>
    </p:spTree>
  </p:cSld>
  <p:clrMapOvr>
    <a:masterClrMapping/>
  </p:clrMapOvr>
  <p:transition spd="med">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System Supports Programs </a:t>
            </a:r>
          </a:p>
        </p:txBody>
      </p:sp>
      <p:sp>
        <p:nvSpPr>
          <p:cNvPr id="51203" name="Rectangle 4"/>
          <p:cNvSpPr>
            <a:spLocks noChangeArrowheads="1"/>
          </p:cNvSpPr>
          <p:nvPr/>
        </p:nvSpPr>
        <p:spPr bwMode="auto">
          <a:xfrm>
            <a:off x="1371600" y="1492250"/>
            <a:ext cx="7772400" cy="1739900"/>
          </a:xfrm>
          <a:prstGeom prst="rect">
            <a:avLst/>
          </a:prstGeom>
          <a:noFill/>
          <a:ln w="9525">
            <a:noFill/>
            <a:miter lim="800000"/>
          </a:ln>
        </p:spPr>
        <p:txBody>
          <a:bodyPr lIns="0" rIns="0">
            <a:spAutoFit/>
          </a:bodyPr>
          <a:lstStyle/>
          <a:p>
            <a:r>
              <a:rPr lang="en-US">
                <a:solidFill>
                  <a:srgbClr val="33CCCC"/>
                </a:solidFill>
              </a:rPr>
              <a:t>System utilities</a:t>
            </a:r>
            <a:r>
              <a:rPr lang="en-US" i="1"/>
              <a:t> </a:t>
            </a:r>
            <a:r>
              <a:rPr lang="en-US"/>
              <a:t>are programs that have been written to accomplish common tasks such as sorting records, merging sets of data, checking the integrity of magnetic disks, creating directories and subdirectories, restoring accidentally erased files, locating file</a:t>
            </a:r>
            <a:r>
              <a:rPr lang="en-US" altLang="en-US">
                <a:cs typeface="Microsoft Yi Baiti" panose="03000500000000000000" pitchFamily="66" charset="0"/>
              </a:rPr>
              <a:t>s</a:t>
            </a:r>
            <a:r>
              <a:rPr lang="en-US"/>
              <a:t> within the directory structure, managing memory usage, and redirecting output. </a:t>
            </a:r>
          </a:p>
        </p:txBody>
      </p:sp>
      <p:sp>
        <p:nvSpPr>
          <p:cNvPr id="51204" name="Rectangle 6"/>
          <p:cNvSpPr>
            <a:spLocks noChangeArrowheads="1"/>
          </p:cNvSpPr>
          <p:nvPr/>
        </p:nvSpPr>
        <p:spPr bwMode="auto">
          <a:xfrm>
            <a:off x="1371600" y="3344863"/>
            <a:ext cx="7772400" cy="1190625"/>
          </a:xfrm>
          <a:prstGeom prst="rect">
            <a:avLst/>
          </a:prstGeom>
          <a:noFill/>
          <a:ln w="9525">
            <a:noFill/>
            <a:miter lim="800000"/>
          </a:ln>
        </p:spPr>
        <p:txBody>
          <a:bodyPr lIns="0" rIns="0">
            <a:spAutoFit/>
          </a:bodyPr>
          <a:lstStyle/>
          <a:p>
            <a:r>
              <a:rPr lang="en-US">
                <a:solidFill>
                  <a:srgbClr val="33CCCC"/>
                </a:solidFill>
              </a:rPr>
              <a:t>System performance monitors -</a:t>
            </a:r>
            <a:r>
              <a:rPr lang="en-US" i="1"/>
              <a:t> </a:t>
            </a:r>
            <a:r>
              <a:rPr lang="en-US"/>
              <a:t>monitor computer system performance and produce reports containing detailed statistics on the use of system resources, such as processor time, memory space, I/O devices, and system and application programs. </a:t>
            </a:r>
          </a:p>
        </p:txBody>
      </p:sp>
      <p:sp>
        <p:nvSpPr>
          <p:cNvPr id="51205" name="Rectangle 7"/>
          <p:cNvSpPr>
            <a:spLocks noChangeArrowheads="1"/>
          </p:cNvSpPr>
          <p:nvPr/>
        </p:nvSpPr>
        <p:spPr bwMode="auto">
          <a:xfrm>
            <a:off x="1371600" y="4648200"/>
            <a:ext cx="7772400" cy="1190625"/>
          </a:xfrm>
          <a:prstGeom prst="rect">
            <a:avLst/>
          </a:prstGeom>
          <a:noFill/>
          <a:ln w="9525">
            <a:noFill/>
            <a:miter lim="800000"/>
          </a:ln>
        </p:spPr>
        <p:txBody>
          <a:bodyPr lIns="0" rIns="0">
            <a:spAutoFit/>
          </a:bodyPr>
          <a:lstStyle/>
          <a:p>
            <a:r>
              <a:rPr lang="en-US">
                <a:solidFill>
                  <a:srgbClr val="33CCCC"/>
                </a:solidFill>
              </a:rPr>
              <a:t>System security monitors</a:t>
            </a:r>
            <a:r>
              <a:rPr lang="en-US" i="1"/>
              <a:t> </a:t>
            </a:r>
            <a:r>
              <a:rPr lang="en-US"/>
              <a:t>are programs that monitor the use of a computer system to protect it and its resources from unauthorized use, fraud, or destruction. It also controls the use of the hardware, software, and data resources of a computer system.</a:t>
            </a:r>
          </a:p>
        </p:txBody>
      </p:sp>
    </p:spTree>
  </p:cSld>
  <p:clrMapOvr>
    <a:masterClrMapping/>
  </p:clrMapOvr>
  <p:transition spd="med">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System Development Programs </a:t>
            </a:r>
          </a:p>
        </p:txBody>
      </p:sp>
      <p:sp>
        <p:nvSpPr>
          <p:cNvPr id="52227" name="Rectangle 3"/>
          <p:cNvSpPr>
            <a:spLocks noChangeArrowheads="1"/>
          </p:cNvSpPr>
          <p:nvPr/>
        </p:nvSpPr>
        <p:spPr bwMode="auto">
          <a:xfrm>
            <a:off x="1371600" y="1492250"/>
            <a:ext cx="7772400" cy="915988"/>
          </a:xfrm>
          <a:prstGeom prst="rect">
            <a:avLst/>
          </a:prstGeom>
          <a:noFill/>
          <a:ln w="9525">
            <a:noFill/>
            <a:miter lim="800000"/>
          </a:ln>
        </p:spPr>
        <p:txBody>
          <a:bodyPr lIns="0" rIns="0">
            <a:spAutoFit/>
          </a:bodyPr>
          <a:lstStyle/>
          <a:p>
            <a:r>
              <a:rPr lang="en-US"/>
              <a:t>Systems Development Programs, compilers or interpreters,  translate programs (source code) written in a high level language into object or machine level code (binary).</a:t>
            </a:r>
          </a:p>
        </p:txBody>
      </p:sp>
      <p:sp>
        <p:nvSpPr>
          <p:cNvPr id="590857" name="Rectangle 9"/>
          <p:cNvSpPr>
            <a:spLocks noChangeArrowheads="1"/>
          </p:cNvSpPr>
          <p:nvPr/>
        </p:nvSpPr>
        <p:spPr bwMode="auto">
          <a:xfrm>
            <a:off x="1371600" y="5943600"/>
            <a:ext cx="6705600" cy="396875"/>
          </a:xfrm>
          <a:prstGeom prst="rect">
            <a:avLst/>
          </a:prstGeom>
          <a:noFill/>
          <a:ln w="9525" algn="ctr">
            <a:noFill/>
            <a:miter lim="800000"/>
          </a:ln>
          <a:effectLst/>
        </p:spPr>
        <p:txBody>
          <a:bodyPr anchor="ctr">
            <a:spAutoFit/>
          </a:bodyPr>
          <a:lstStyle/>
          <a:p>
            <a:pPr algn="ctr">
              <a:defRPr/>
            </a:pPr>
            <a:r>
              <a:rPr lang="en-US" sz="2000" b="1">
                <a:solidFill>
                  <a:srgbClr val="0066FF"/>
                </a:solidFill>
                <a:effectLst>
                  <a:outerShdw blurRad="38100" dist="38100" dir="2700000" algn="tl">
                    <a:srgbClr val="C0C0C0"/>
                  </a:outerShdw>
                </a:effectLst>
                <a:ea typeface="PMingLiU" panose="02020500000000000000" pitchFamily="18" charset="-120"/>
              </a:rPr>
              <a:t>Translation Programs</a:t>
            </a:r>
          </a:p>
        </p:txBody>
      </p:sp>
      <p:pic>
        <p:nvPicPr>
          <p:cNvPr id="52229" name="Picture 10"/>
          <p:cNvPicPr>
            <a:picLocks noGrp="1" noChangeAspect="1" noChangeArrowheads="1"/>
          </p:cNvPicPr>
          <p:nvPr>
            <p:ph idx="1"/>
          </p:nvPr>
        </p:nvPicPr>
        <p:blipFill>
          <a:blip r:embed="rId2" cstate="print"/>
          <a:srcRect/>
          <a:stretch>
            <a:fillRect/>
          </a:stretch>
        </p:blipFill>
        <p:spPr>
          <a:xfrm>
            <a:off x="1524000" y="2514600"/>
            <a:ext cx="6858000" cy="3276600"/>
          </a:xfrm>
        </p:spPr>
      </p:pic>
    </p:spTree>
  </p:cSld>
  <p:clrMapOvr>
    <a:masterClrMapping/>
  </p:clrMapOvr>
  <p:transition spd="med">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Grp="1" noChangeAspect="1" noChangeArrowheads="1"/>
          </p:cNvPicPr>
          <p:nvPr>
            <p:ph idx="1"/>
          </p:nvPr>
        </p:nvPicPr>
        <p:blipFill>
          <a:blip r:embed="rId2" cstate="print"/>
          <a:srcRect/>
          <a:stretch>
            <a:fillRect/>
          </a:stretch>
        </p:blipFill>
        <p:spPr>
          <a:xfrm>
            <a:off x="1219200" y="3352800"/>
            <a:ext cx="7239000" cy="3048000"/>
          </a:xfrm>
          <a:noFill/>
        </p:spPr>
      </p:pic>
      <p:sp>
        <p:nvSpPr>
          <p:cNvPr id="592899" name="Rectangle 3"/>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Programming Languages </a:t>
            </a:r>
          </a:p>
        </p:txBody>
      </p:sp>
      <p:sp>
        <p:nvSpPr>
          <p:cNvPr id="53252" name="Rectangle 4"/>
          <p:cNvSpPr>
            <a:spLocks noChangeArrowheads="1"/>
          </p:cNvSpPr>
          <p:nvPr/>
        </p:nvSpPr>
        <p:spPr bwMode="auto">
          <a:xfrm>
            <a:off x="1371600" y="1492250"/>
            <a:ext cx="7772400" cy="2014538"/>
          </a:xfrm>
          <a:prstGeom prst="rect">
            <a:avLst/>
          </a:prstGeom>
          <a:noFill/>
          <a:ln w="9525">
            <a:noFill/>
            <a:miter lim="800000"/>
          </a:ln>
        </p:spPr>
        <p:txBody>
          <a:bodyPr lIns="0" rIns="0">
            <a:spAutoFit/>
          </a:bodyPr>
          <a:lstStyle/>
          <a:p>
            <a:r>
              <a:rPr lang="en-US">
                <a:solidFill>
                  <a:srgbClr val="33CCCC"/>
                </a:solidFill>
              </a:rPr>
              <a:t>Programming languages</a:t>
            </a:r>
            <a:r>
              <a:rPr lang="en-US"/>
              <a:t> provide the basic building blocks for all systems and application software. Programming languages allow people to tell computers what to do and are the means by which systems are developed. Programming languages are basically a set of symbols and rules used to write program code. Each language uses a different set of rules and the syntax</a:t>
            </a:r>
            <a:r>
              <a:rPr lang="en-US" i="1"/>
              <a:t> </a:t>
            </a:r>
            <a:r>
              <a:rPr lang="en-US"/>
              <a:t>that dictates how the symbols are arranged so they have meaning. </a:t>
            </a:r>
          </a:p>
        </p:txBody>
      </p:sp>
      <p:sp>
        <p:nvSpPr>
          <p:cNvPr id="592901" name="Rectangle 5"/>
          <p:cNvSpPr>
            <a:spLocks noChangeArrowheads="1"/>
          </p:cNvSpPr>
          <p:nvPr/>
        </p:nvSpPr>
        <p:spPr bwMode="auto">
          <a:xfrm>
            <a:off x="1295400" y="6019800"/>
            <a:ext cx="6705600" cy="396875"/>
          </a:xfrm>
          <a:prstGeom prst="rect">
            <a:avLst/>
          </a:prstGeom>
          <a:noFill/>
          <a:ln w="9525" algn="ctr">
            <a:noFill/>
            <a:miter lim="800000"/>
          </a:ln>
          <a:effectLst/>
        </p:spPr>
        <p:txBody>
          <a:bodyPr anchor="ctr">
            <a:spAutoFit/>
          </a:bodyPr>
          <a:lstStyle/>
          <a:p>
            <a:pPr algn="ctr">
              <a:defRPr/>
            </a:pPr>
            <a:r>
              <a:rPr lang="en-US" sz="2000" b="1">
                <a:solidFill>
                  <a:srgbClr val="0066FF"/>
                </a:solidFill>
                <a:effectLst>
                  <a:outerShdw blurRad="38100" dist="38100" dir="2700000" algn="tl">
                    <a:srgbClr val="C0C0C0"/>
                  </a:outerShdw>
                </a:effectLst>
                <a:ea typeface="PMingLiU" panose="02020500000000000000" pitchFamily="18" charset="-120"/>
              </a:rPr>
              <a:t>The Evolution of Programming Languages </a:t>
            </a:r>
          </a:p>
        </p:txBody>
      </p:sp>
    </p:spTree>
  </p:cSld>
  <p:clrMapOvr>
    <a:masterClrMapping/>
  </p:clrMapOvr>
  <p:transition spd="med">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Programming Languages </a:t>
            </a:r>
            <a:r>
              <a:rPr lang="en-US" sz="1800">
                <a:solidFill>
                  <a:schemeClr val="accent1">
                    <a:satMod val="150000"/>
                  </a:schemeClr>
                </a:solidFill>
              </a:rPr>
              <a:t>Continued</a:t>
            </a:r>
          </a:p>
        </p:txBody>
      </p:sp>
      <p:grpSp>
        <p:nvGrpSpPr>
          <p:cNvPr id="54275" name="Group 3"/>
          <p:cNvGrpSpPr/>
          <p:nvPr/>
        </p:nvGrpSpPr>
        <p:grpSpPr bwMode="auto">
          <a:xfrm>
            <a:off x="6781800" y="4800600"/>
            <a:ext cx="2057400" cy="1600200"/>
            <a:chOff x="3312" y="2544"/>
            <a:chExt cx="2160" cy="1488"/>
          </a:xfrm>
        </p:grpSpPr>
        <p:sp>
          <p:nvSpPr>
            <p:cNvPr id="54277" name="AutoShape 4"/>
            <p:cNvSpPr>
              <a:spLocks noChangeArrowheads="1"/>
            </p:cNvSpPr>
            <p:nvPr/>
          </p:nvSpPr>
          <p:spPr bwMode="auto">
            <a:xfrm>
              <a:off x="3312" y="2640"/>
              <a:ext cx="672" cy="624"/>
            </a:xfrm>
            <a:prstGeom prst="foldedCorner">
              <a:avLst>
                <a:gd name="adj" fmla="val 12500"/>
              </a:avLst>
            </a:prstGeom>
            <a:solidFill>
              <a:srgbClr val="FFFFC9"/>
            </a:solidFill>
            <a:ln w="9525">
              <a:solidFill>
                <a:schemeClr val="tx1"/>
              </a:solidFill>
              <a:round/>
            </a:ln>
          </p:spPr>
          <p:txBody>
            <a:bodyPr wrap="none" anchor="ctr"/>
            <a:lstStyle/>
            <a:p>
              <a:pPr algn="ctr" eaLnBrk="1" hangingPunct="1"/>
              <a:r>
                <a:rPr lang="en-US" sz="800" b="1">
                  <a:latin typeface="Times New Roman" panose="02020603050405020304" charset="0"/>
                </a:rPr>
                <a:t>Source Code</a:t>
              </a:r>
            </a:p>
          </p:txBody>
        </p:sp>
        <p:sp>
          <p:nvSpPr>
            <p:cNvPr id="54278" name="AutoShape 5"/>
            <p:cNvSpPr>
              <a:spLocks noChangeArrowheads="1"/>
            </p:cNvSpPr>
            <p:nvPr/>
          </p:nvSpPr>
          <p:spPr bwMode="auto">
            <a:xfrm>
              <a:off x="4128" y="2832"/>
              <a:ext cx="624" cy="336"/>
            </a:xfrm>
            <a:prstGeom prst="flowChartMagneticDrum">
              <a:avLst/>
            </a:prstGeom>
            <a:solidFill>
              <a:srgbClr val="3366FF"/>
            </a:solidFill>
            <a:ln w="9525">
              <a:solidFill>
                <a:schemeClr val="tx1"/>
              </a:solidFill>
              <a:round/>
            </a:ln>
          </p:spPr>
          <p:txBody>
            <a:bodyPr wrap="none" anchor="ctr"/>
            <a:lstStyle/>
            <a:p>
              <a:endParaRPr lang="en-US"/>
            </a:p>
          </p:txBody>
        </p:sp>
        <p:sp>
          <p:nvSpPr>
            <p:cNvPr id="54279" name="AutoShape 6"/>
            <p:cNvSpPr/>
            <p:nvPr/>
          </p:nvSpPr>
          <p:spPr bwMode="auto">
            <a:xfrm>
              <a:off x="4752" y="2544"/>
              <a:ext cx="678" cy="262"/>
            </a:xfrm>
            <a:prstGeom prst="borderCallout2">
              <a:avLst>
                <a:gd name="adj1" fmla="val 27481"/>
                <a:gd name="adj2" fmla="val -7079"/>
                <a:gd name="adj3" fmla="val 27481"/>
                <a:gd name="adj4" fmla="val -27583"/>
                <a:gd name="adj5" fmla="val 115269"/>
                <a:gd name="adj6" fmla="val -49116"/>
              </a:avLst>
            </a:prstGeom>
            <a:solidFill>
              <a:srgbClr val="B2C0FC"/>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Interpreter</a:t>
              </a:r>
            </a:p>
          </p:txBody>
        </p:sp>
        <p:sp>
          <p:nvSpPr>
            <p:cNvPr id="54280" name="AutoShape 7"/>
            <p:cNvSpPr/>
            <p:nvPr/>
          </p:nvSpPr>
          <p:spPr bwMode="auto">
            <a:xfrm>
              <a:off x="3552" y="3360"/>
              <a:ext cx="678" cy="240"/>
            </a:xfrm>
            <a:prstGeom prst="borderCallout2">
              <a:avLst>
                <a:gd name="adj1" fmla="val 30000"/>
                <a:gd name="adj2" fmla="val 107079"/>
                <a:gd name="adj3" fmla="val 30000"/>
                <a:gd name="adj4" fmla="val 116079"/>
                <a:gd name="adj5" fmla="val -90000"/>
                <a:gd name="adj6" fmla="val 125519"/>
              </a:avLst>
            </a:prstGeom>
            <a:solidFill>
              <a:srgbClr val="8984F4"/>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Compiler</a:t>
              </a:r>
            </a:p>
          </p:txBody>
        </p:sp>
        <p:sp>
          <p:nvSpPr>
            <p:cNvPr id="54281" name="AutoShape 8"/>
            <p:cNvSpPr>
              <a:spLocks noChangeArrowheads="1"/>
            </p:cNvSpPr>
            <p:nvPr/>
          </p:nvSpPr>
          <p:spPr bwMode="auto">
            <a:xfrm>
              <a:off x="4992" y="2976"/>
              <a:ext cx="480" cy="288"/>
            </a:xfrm>
            <a:prstGeom prst="flowChartAlternateProcess">
              <a:avLst/>
            </a:prstGeom>
            <a:solidFill>
              <a:srgbClr val="B2C0FC"/>
            </a:solidFill>
            <a:ln w="9525">
              <a:solidFill>
                <a:schemeClr val="tx1"/>
              </a:solidFill>
              <a:miter lim="800000"/>
            </a:ln>
          </p:spPr>
          <p:txBody>
            <a:bodyPr wrap="none" anchor="ctr"/>
            <a:lstStyle/>
            <a:p>
              <a:pPr algn="ctr" eaLnBrk="1" hangingPunct="1"/>
              <a:r>
                <a:rPr lang="en-US" sz="800" b="1">
                  <a:latin typeface="Times New Roman" panose="02020603050405020304" charset="0"/>
                </a:rPr>
                <a:t>Results</a:t>
              </a:r>
            </a:p>
          </p:txBody>
        </p:sp>
        <p:sp>
          <p:nvSpPr>
            <p:cNvPr id="54282" name="AutoShape 9"/>
            <p:cNvSpPr>
              <a:spLocks noChangeArrowheads="1"/>
            </p:cNvSpPr>
            <p:nvPr/>
          </p:nvSpPr>
          <p:spPr bwMode="auto">
            <a:xfrm>
              <a:off x="4560" y="3360"/>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Object </a:t>
              </a:r>
            </a:p>
            <a:p>
              <a:pPr algn="ctr" eaLnBrk="1" hangingPunct="1"/>
              <a:r>
                <a:rPr lang="en-US" sz="800" b="1">
                  <a:latin typeface="Times New Roman" panose="02020603050405020304" charset="0"/>
                </a:rPr>
                <a:t>Code</a:t>
              </a:r>
            </a:p>
          </p:txBody>
        </p:sp>
        <p:sp>
          <p:nvSpPr>
            <p:cNvPr id="54283" name="AutoShape 10"/>
            <p:cNvSpPr>
              <a:spLocks noChangeArrowheads="1"/>
            </p:cNvSpPr>
            <p:nvPr/>
          </p:nvSpPr>
          <p:spPr bwMode="auto">
            <a:xfrm>
              <a:off x="4848" y="3744"/>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machine</a:t>
              </a:r>
            </a:p>
          </p:txBody>
        </p:sp>
        <p:sp>
          <p:nvSpPr>
            <p:cNvPr id="54284" name="Line 11"/>
            <p:cNvSpPr>
              <a:spLocks noChangeShapeType="1"/>
            </p:cNvSpPr>
            <p:nvPr/>
          </p:nvSpPr>
          <p:spPr bwMode="auto">
            <a:xfrm>
              <a:off x="3984" y="2976"/>
              <a:ext cx="288" cy="0"/>
            </a:xfrm>
            <a:prstGeom prst="line">
              <a:avLst/>
            </a:prstGeom>
            <a:noFill/>
            <a:ln w="9525">
              <a:solidFill>
                <a:schemeClr val="tx1"/>
              </a:solidFill>
              <a:round/>
              <a:tailEnd type="triangle" w="med" len="med"/>
            </a:ln>
          </p:spPr>
          <p:txBody>
            <a:bodyPr wrap="none"/>
            <a:lstStyle/>
            <a:p>
              <a:endParaRPr lang="en-US"/>
            </a:p>
          </p:txBody>
        </p:sp>
        <p:sp>
          <p:nvSpPr>
            <p:cNvPr id="54285" name="Line 12"/>
            <p:cNvSpPr>
              <a:spLocks noChangeShapeType="1"/>
            </p:cNvSpPr>
            <p:nvPr/>
          </p:nvSpPr>
          <p:spPr bwMode="auto">
            <a:xfrm>
              <a:off x="4704" y="3024"/>
              <a:ext cx="192" cy="0"/>
            </a:xfrm>
            <a:prstGeom prst="line">
              <a:avLst/>
            </a:prstGeom>
            <a:noFill/>
            <a:ln w="9525">
              <a:solidFill>
                <a:schemeClr val="tx1"/>
              </a:solidFill>
              <a:round/>
            </a:ln>
          </p:spPr>
          <p:txBody>
            <a:bodyPr wrap="none"/>
            <a:lstStyle/>
            <a:p>
              <a:endParaRPr lang="en-US"/>
            </a:p>
          </p:txBody>
        </p:sp>
        <p:sp>
          <p:nvSpPr>
            <p:cNvPr id="54286" name="Line 13"/>
            <p:cNvSpPr>
              <a:spLocks noChangeShapeType="1"/>
            </p:cNvSpPr>
            <p:nvPr/>
          </p:nvSpPr>
          <p:spPr bwMode="auto">
            <a:xfrm>
              <a:off x="4896" y="3024"/>
              <a:ext cx="144" cy="96"/>
            </a:xfrm>
            <a:prstGeom prst="line">
              <a:avLst/>
            </a:prstGeom>
            <a:noFill/>
            <a:ln w="9525">
              <a:solidFill>
                <a:schemeClr val="tx1"/>
              </a:solidFill>
              <a:round/>
              <a:tailEnd type="triangle" w="med" len="med"/>
            </a:ln>
          </p:spPr>
          <p:txBody>
            <a:bodyPr wrap="none"/>
            <a:lstStyle/>
            <a:p>
              <a:endParaRPr lang="en-US"/>
            </a:p>
          </p:txBody>
        </p:sp>
        <p:sp>
          <p:nvSpPr>
            <p:cNvPr id="54287" name="Line 14"/>
            <p:cNvSpPr>
              <a:spLocks noChangeShapeType="1"/>
            </p:cNvSpPr>
            <p:nvPr/>
          </p:nvSpPr>
          <p:spPr bwMode="auto">
            <a:xfrm>
              <a:off x="4608" y="3072"/>
              <a:ext cx="192" cy="0"/>
            </a:xfrm>
            <a:prstGeom prst="line">
              <a:avLst/>
            </a:prstGeom>
            <a:noFill/>
            <a:ln w="9525">
              <a:solidFill>
                <a:schemeClr val="tx1"/>
              </a:solidFill>
              <a:round/>
            </a:ln>
          </p:spPr>
          <p:txBody>
            <a:bodyPr wrap="none"/>
            <a:lstStyle/>
            <a:p>
              <a:endParaRPr lang="en-US"/>
            </a:p>
          </p:txBody>
        </p:sp>
        <p:sp>
          <p:nvSpPr>
            <p:cNvPr id="54288" name="Line 15"/>
            <p:cNvSpPr>
              <a:spLocks noChangeShapeType="1"/>
            </p:cNvSpPr>
            <p:nvPr/>
          </p:nvSpPr>
          <p:spPr bwMode="auto">
            <a:xfrm>
              <a:off x="4800" y="3072"/>
              <a:ext cx="48" cy="288"/>
            </a:xfrm>
            <a:prstGeom prst="line">
              <a:avLst/>
            </a:prstGeom>
            <a:noFill/>
            <a:ln w="9525">
              <a:solidFill>
                <a:schemeClr val="tx1"/>
              </a:solidFill>
              <a:round/>
              <a:tailEnd type="triangle" w="med" len="med"/>
            </a:ln>
          </p:spPr>
          <p:txBody>
            <a:bodyPr wrap="none"/>
            <a:lstStyle/>
            <a:p>
              <a:endParaRPr lang="en-US"/>
            </a:p>
          </p:txBody>
        </p:sp>
        <p:sp>
          <p:nvSpPr>
            <p:cNvPr id="54289" name="Line 16"/>
            <p:cNvSpPr>
              <a:spLocks noChangeShapeType="1"/>
            </p:cNvSpPr>
            <p:nvPr/>
          </p:nvSpPr>
          <p:spPr bwMode="auto">
            <a:xfrm>
              <a:off x="4944" y="3600"/>
              <a:ext cx="96" cy="192"/>
            </a:xfrm>
            <a:prstGeom prst="line">
              <a:avLst/>
            </a:prstGeom>
            <a:noFill/>
            <a:ln w="9525">
              <a:solidFill>
                <a:schemeClr val="tx1"/>
              </a:solidFill>
              <a:round/>
              <a:tailEnd type="triangle" w="med" len="med"/>
            </a:ln>
          </p:spPr>
          <p:txBody>
            <a:bodyPr wrap="none"/>
            <a:lstStyle/>
            <a:p>
              <a:endParaRPr lang="en-US"/>
            </a:p>
          </p:txBody>
        </p:sp>
      </p:grpSp>
      <p:sp>
        <p:nvSpPr>
          <p:cNvPr id="595985" name="Text Box 17"/>
          <p:cNvSpPr txBox="1">
            <a:spLocks noChangeArrowheads="1"/>
          </p:cNvSpPr>
          <p:nvPr/>
        </p:nvSpPr>
        <p:spPr bwMode="auto">
          <a:xfrm>
            <a:off x="355380" y="1656162"/>
            <a:ext cx="6705600" cy="4589780"/>
          </a:xfrm>
          <a:prstGeom prst="rect">
            <a:avLst/>
          </a:prstGeom>
          <a:noFill/>
          <a:ln w="9525">
            <a:noFill/>
            <a:miter lim="800000"/>
          </a:ln>
          <a:effectLst/>
        </p:spPr>
        <p:txBody>
          <a:bodyPr>
            <a:spAutoFit/>
          </a:bodyPr>
          <a:lstStyle/>
          <a:p>
            <a:pPr eaLnBrk="1" hangingPunct="1">
              <a:buFont typeface="Wingdings" panose="05000000000000000000" pitchFamily="2" charset="2"/>
              <a:buChar char="v"/>
              <a:defRPr/>
            </a:pPr>
            <a:r>
              <a:rPr lang="en-US" b="1">
                <a:solidFill>
                  <a:srgbClr val="990000"/>
                </a:solidFill>
                <a:effectLst>
                  <a:outerShdw blurRad="38100" dist="38100" dir="2700000" algn="tl">
                    <a:srgbClr val="C0C0C0"/>
                  </a:outerShdw>
                </a:effectLst>
                <a:latin typeface="Times New Roman" panose="02020603050405020304" charset="0"/>
              </a:rPr>
              <a:t>Machine Language (1</a:t>
            </a:r>
            <a:r>
              <a:rPr lang="en-US" b="1" baseline="30000">
                <a:solidFill>
                  <a:srgbClr val="990000"/>
                </a:solidFill>
                <a:effectLst>
                  <a:outerShdw blurRad="38100" dist="38100" dir="2700000" algn="tl">
                    <a:srgbClr val="C0C0C0"/>
                  </a:outerShdw>
                </a:effectLst>
                <a:latin typeface="Times New Roman" panose="02020603050405020304" charset="0"/>
              </a:rPr>
              <a:t>st</a:t>
            </a:r>
            <a:r>
              <a:rPr lang="en-US" b="1">
                <a:solidFill>
                  <a:srgbClr val="990000"/>
                </a:solidFill>
                <a:effectLst>
                  <a:outerShdw blurRad="38100" dist="38100" dir="2700000" algn="tl">
                    <a:srgbClr val="C0C0C0"/>
                  </a:outerShdw>
                </a:effectLst>
                <a:latin typeface="Times New Roman" panose="02020603050405020304" charset="0"/>
              </a:rPr>
              <a:t> Generation)</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Binary Code (1101)</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Actual Wire Connections</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Today we compile down to native code</a:t>
            </a:r>
          </a:p>
          <a:p>
            <a:pPr eaLnBrk="1" hangingPunct="1">
              <a:spcBef>
                <a:spcPct val="20000"/>
              </a:spcBef>
              <a:buFont typeface="Wingdings" panose="05000000000000000000" pitchFamily="2" charset="2"/>
              <a:buChar char="v"/>
              <a:defRPr/>
            </a:pPr>
            <a:r>
              <a:rPr lang="en-US" b="1">
                <a:solidFill>
                  <a:srgbClr val="990000"/>
                </a:solidFill>
                <a:effectLst>
                  <a:outerShdw blurRad="38100" dist="38100" dir="2700000" algn="tl">
                    <a:srgbClr val="C0C0C0"/>
                  </a:outerShdw>
                </a:effectLst>
                <a:latin typeface="Times New Roman" panose="02020603050405020304" charset="0"/>
              </a:rPr>
              <a:t>Assembler Language (2</a:t>
            </a:r>
            <a:r>
              <a:rPr lang="en-US" b="1" baseline="30000">
                <a:solidFill>
                  <a:srgbClr val="990000"/>
                </a:solidFill>
                <a:effectLst>
                  <a:outerShdw blurRad="38100" dist="38100" dir="2700000" algn="tl">
                    <a:srgbClr val="C0C0C0"/>
                  </a:outerShdw>
                </a:effectLst>
                <a:latin typeface="Times New Roman" panose="02020603050405020304" charset="0"/>
              </a:rPr>
              <a:t>nd</a:t>
            </a:r>
            <a:r>
              <a:rPr lang="en-US" b="1">
                <a:solidFill>
                  <a:srgbClr val="990000"/>
                </a:solidFill>
                <a:effectLst>
                  <a:outerShdw blurRad="38100" dist="38100" dir="2700000" algn="tl">
                    <a:srgbClr val="C0C0C0"/>
                  </a:outerShdw>
                </a:effectLst>
                <a:latin typeface="Times New Roman" panose="02020603050405020304" charset="0"/>
              </a:rPr>
              <a:t> Generation)</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Symbolic Code acronyms (ADD Z)</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Today we still program system level</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Many HL store as intermediate code.</a:t>
            </a:r>
          </a:p>
          <a:p>
            <a:pPr eaLnBrk="1" hangingPunct="1">
              <a:spcBef>
                <a:spcPct val="20000"/>
              </a:spcBef>
              <a:buFont typeface="Wingdings" panose="05000000000000000000" pitchFamily="2" charset="2"/>
              <a:buChar char="v"/>
              <a:defRPr/>
            </a:pPr>
            <a:r>
              <a:rPr lang="en-US" b="1">
                <a:solidFill>
                  <a:srgbClr val="990000"/>
                </a:solidFill>
                <a:effectLst>
                  <a:outerShdw blurRad="38100" dist="38100" dir="2700000" algn="tl">
                    <a:srgbClr val="C0C0C0"/>
                  </a:outerShdw>
                </a:effectLst>
                <a:latin typeface="Times New Roman" panose="02020603050405020304" charset="0"/>
              </a:rPr>
              <a:t>High-Level Languages (3</a:t>
            </a:r>
            <a:r>
              <a:rPr lang="en-US" b="1" baseline="30000">
                <a:solidFill>
                  <a:srgbClr val="990000"/>
                </a:solidFill>
                <a:effectLst>
                  <a:outerShdw blurRad="38100" dist="38100" dir="2700000" algn="tl">
                    <a:srgbClr val="C0C0C0"/>
                  </a:outerShdw>
                </a:effectLst>
                <a:latin typeface="Times New Roman" panose="02020603050405020304" charset="0"/>
              </a:rPr>
              <a:t>rd</a:t>
            </a:r>
            <a:r>
              <a:rPr lang="en-US" b="1">
                <a:solidFill>
                  <a:srgbClr val="990000"/>
                </a:solidFill>
                <a:effectLst>
                  <a:outerShdw blurRad="38100" dist="38100" dir="2700000" algn="tl">
                    <a:srgbClr val="C0C0C0"/>
                  </a:outerShdw>
                </a:effectLst>
                <a:latin typeface="Times New Roman" panose="02020603050405020304" charset="0"/>
              </a:rPr>
              <a:t> Generation)</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Statements</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Compilers</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Interpreters</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COBOL (Common Business Oriented Language)</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Basic (Beginners All-purpose Symbolic Instruction Code)</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FORTRAN (Formula Translator)</a:t>
            </a:r>
          </a:p>
          <a:p>
            <a:pPr lvl="1" indent="-171450" eaLnBrk="1" hangingPunct="1">
              <a:buFont typeface="Wingdings" panose="05000000000000000000" pitchFamily="2" charset="2"/>
              <a:buChar char="v"/>
              <a:defRPr/>
            </a:pPr>
            <a:r>
              <a:rPr lang="en-US" b="1">
                <a:solidFill>
                  <a:srgbClr val="3399FF"/>
                </a:solidFill>
                <a:effectLst>
                  <a:outerShdw blurRad="38100" dist="38100" dir="2700000" algn="tl">
                    <a:srgbClr val="C0C0C0"/>
                  </a:outerShdw>
                </a:effectLst>
                <a:latin typeface="Times New Roman" panose="02020603050405020304" charset="0"/>
              </a:rPr>
              <a:t>C AT&amp;T Bell Lab’s</a:t>
            </a:r>
          </a:p>
        </p:txBody>
      </p:sp>
    </p:spTree>
  </p:cSld>
  <p:clrMapOvr>
    <a:masterClrMapping/>
  </p:clrMapOvr>
  <p:transition spd="med">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Programming Languages </a:t>
            </a:r>
            <a:r>
              <a:rPr lang="en-US" sz="1800">
                <a:solidFill>
                  <a:schemeClr val="accent1">
                    <a:satMod val="150000"/>
                  </a:schemeClr>
                </a:solidFill>
              </a:rPr>
              <a:t>Continued</a:t>
            </a:r>
          </a:p>
        </p:txBody>
      </p:sp>
      <p:grpSp>
        <p:nvGrpSpPr>
          <p:cNvPr id="55299" name="Group 4"/>
          <p:cNvGrpSpPr/>
          <p:nvPr/>
        </p:nvGrpSpPr>
        <p:grpSpPr bwMode="auto">
          <a:xfrm>
            <a:off x="6781800" y="4800600"/>
            <a:ext cx="2057400" cy="1600200"/>
            <a:chOff x="3312" y="2544"/>
            <a:chExt cx="2160" cy="1488"/>
          </a:xfrm>
        </p:grpSpPr>
        <p:sp>
          <p:nvSpPr>
            <p:cNvPr id="55301" name="AutoShape 5"/>
            <p:cNvSpPr>
              <a:spLocks noChangeArrowheads="1"/>
            </p:cNvSpPr>
            <p:nvPr/>
          </p:nvSpPr>
          <p:spPr bwMode="auto">
            <a:xfrm>
              <a:off x="3312" y="2640"/>
              <a:ext cx="672" cy="624"/>
            </a:xfrm>
            <a:prstGeom prst="foldedCorner">
              <a:avLst>
                <a:gd name="adj" fmla="val 12500"/>
              </a:avLst>
            </a:prstGeom>
            <a:solidFill>
              <a:srgbClr val="FFFFC9"/>
            </a:solidFill>
            <a:ln w="9525">
              <a:solidFill>
                <a:schemeClr val="tx1"/>
              </a:solidFill>
              <a:round/>
            </a:ln>
          </p:spPr>
          <p:txBody>
            <a:bodyPr wrap="none" anchor="ctr"/>
            <a:lstStyle/>
            <a:p>
              <a:pPr algn="ctr" eaLnBrk="1" hangingPunct="1"/>
              <a:r>
                <a:rPr lang="en-US" sz="800" b="1">
                  <a:latin typeface="Times New Roman" panose="02020603050405020304" charset="0"/>
                </a:rPr>
                <a:t>Source Code</a:t>
              </a:r>
            </a:p>
          </p:txBody>
        </p:sp>
        <p:sp>
          <p:nvSpPr>
            <p:cNvPr id="55302" name="AutoShape 6"/>
            <p:cNvSpPr>
              <a:spLocks noChangeArrowheads="1"/>
            </p:cNvSpPr>
            <p:nvPr/>
          </p:nvSpPr>
          <p:spPr bwMode="auto">
            <a:xfrm>
              <a:off x="4128" y="2832"/>
              <a:ext cx="624" cy="336"/>
            </a:xfrm>
            <a:prstGeom prst="flowChartMagneticDrum">
              <a:avLst/>
            </a:prstGeom>
            <a:solidFill>
              <a:srgbClr val="3366FF"/>
            </a:solidFill>
            <a:ln w="9525">
              <a:solidFill>
                <a:schemeClr val="tx1"/>
              </a:solidFill>
              <a:round/>
            </a:ln>
          </p:spPr>
          <p:txBody>
            <a:bodyPr wrap="none" anchor="ctr"/>
            <a:lstStyle/>
            <a:p>
              <a:endParaRPr lang="en-US"/>
            </a:p>
          </p:txBody>
        </p:sp>
        <p:sp>
          <p:nvSpPr>
            <p:cNvPr id="55303" name="AutoShape 7"/>
            <p:cNvSpPr/>
            <p:nvPr/>
          </p:nvSpPr>
          <p:spPr bwMode="auto">
            <a:xfrm>
              <a:off x="4752" y="2544"/>
              <a:ext cx="678" cy="262"/>
            </a:xfrm>
            <a:prstGeom prst="borderCallout2">
              <a:avLst>
                <a:gd name="adj1" fmla="val 27481"/>
                <a:gd name="adj2" fmla="val -7079"/>
                <a:gd name="adj3" fmla="val 27481"/>
                <a:gd name="adj4" fmla="val -27583"/>
                <a:gd name="adj5" fmla="val 115269"/>
                <a:gd name="adj6" fmla="val -49116"/>
              </a:avLst>
            </a:prstGeom>
            <a:solidFill>
              <a:srgbClr val="B2C0FC"/>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Interpreter</a:t>
              </a:r>
            </a:p>
          </p:txBody>
        </p:sp>
        <p:sp>
          <p:nvSpPr>
            <p:cNvPr id="55304" name="AutoShape 8"/>
            <p:cNvSpPr/>
            <p:nvPr/>
          </p:nvSpPr>
          <p:spPr bwMode="auto">
            <a:xfrm>
              <a:off x="3552" y="3360"/>
              <a:ext cx="678" cy="240"/>
            </a:xfrm>
            <a:prstGeom prst="borderCallout2">
              <a:avLst>
                <a:gd name="adj1" fmla="val 30000"/>
                <a:gd name="adj2" fmla="val 107079"/>
                <a:gd name="adj3" fmla="val 30000"/>
                <a:gd name="adj4" fmla="val 116079"/>
                <a:gd name="adj5" fmla="val -90000"/>
                <a:gd name="adj6" fmla="val 125519"/>
              </a:avLst>
            </a:prstGeom>
            <a:solidFill>
              <a:srgbClr val="8984F4"/>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Compiler</a:t>
              </a:r>
            </a:p>
          </p:txBody>
        </p:sp>
        <p:sp>
          <p:nvSpPr>
            <p:cNvPr id="55305" name="AutoShape 9"/>
            <p:cNvSpPr>
              <a:spLocks noChangeArrowheads="1"/>
            </p:cNvSpPr>
            <p:nvPr/>
          </p:nvSpPr>
          <p:spPr bwMode="auto">
            <a:xfrm>
              <a:off x="4992" y="2976"/>
              <a:ext cx="480" cy="288"/>
            </a:xfrm>
            <a:prstGeom prst="flowChartAlternateProcess">
              <a:avLst/>
            </a:prstGeom>
            <a:solidFill>
              <a:srgbClr val="B2C0FC"/>
            </a:solidFill>
            <a:ln w="9525">
              <a:solidFill>
                <a:schemeClr val="tx1"/>
              </a:solidFill>
              <a:miter lim="800000"/>
            </a:ln>
          </p:spPr>
          <p:txBody>
            <a:bodyPr wrap="none" anchor="ctr"/>
            <a:lstStyle/>
            <a:p>
              <a:pPr algn="ctr" eaLnBrk="1" hangingPunct="1"/>
              <a:r>
                <a:rPr lang="en-US" sz="800" b="1">
                  <a:latin typeface="Times New Roman" panose="02020603050405020304" charset="0"/>
                </a:rPr>
                <a:t>Results</a:t>
              </a:r>
            </a:p>
          </p:txBody>
        </p:sp>
        <p:sp>
          <p:nvSpPr>
            <p:cNvPr id="55306" name="AutoShape 10"/>
            <p:cNvSpPr>
              <a:spLocks noChangeArrowheads="1"/>
            </p:cNvSpPr>
            <p:nvPr/>
          </p:nvSpPr>
          <p:spPr bwMode="auto">
            <a:xfrm>
              <a:off x="4560" y="3360"/>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Object </a:t>
              </a:r>
            </a:p>
            <a:p>
              <a:pPr algn="ctr" eaLnBrk="1" hangingPunct="1"/>
              <a:r>
                <a:rPr lang="en-US" sz="800" b="1">
                  <a:latin typeface="Times New Roman" panose="02020603050405020304" charset="0"/>
                </a:rPr>
                <a:t>Code</a:t>
              </a:r>
            </a:p>
          </p:txBody>
        </p:sp>
        <p:sp>
          <p:nvSpPr>
            <p:cNvPr id="55307" name="AutoShape 11"/>
            <p:cNvSpPr>
              <a:spLocks noChangeArrowheads="1"/>
            </p:cNvSpPr>
            <p:nvPr/>
          </p:nvSpPr>
          <p:spPr bwMode="auto">
            <a:xfrm>
              <a:off x="4848" y="3744"/>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machine</a:t>
              </a:r>
            </a:p>
          </p:txBody>
        </p:sp>
        <p:sp>
          <p:nvSpPr>
            <p:cNvPr id="55308" name="Line 12"/>
            <p:cNvSpPr>
              <a:spLocks noChangeShapeType="1"/>
            </p:cNvSpPr>
            <p:nvPr/>
          </p:nvSpPr>
          <p:spPr bwMode="auto">
            <a:xfrm>
              <a:off x="3984" y="2976"/>
              <a:ext cx="288" cy="0"/>
            </a:xfrm>
            <a:prstGeom prst="line">
              <a:avLst/>
            </a:prstGeom>
            <a:noFill/>
            <a:ln w="9525">
              <a:solidFill>
                <a:schemeClr val="tx1"/>
              </a:solidFill>
              <a:round/>
              <a:tailEnd type="triangle" w="med" len="med"/>
            </a:ln>
          </p:spPr>
          <p:txBody>
            <a:bodyPr wrap="none"/>
            <a:lstStyle/>
            <a:p>
              <a:endParaRPr lang="en-US"/>
            </a:p>
          </p:txBody>
        </p:sp>
        <p:sp>
          <p:nvSpPr>
            <p:cNvPr id="55309" name="Line 13"/>
            <p:cNvSpPr>
              <a:spLocks noChangeShapeType="1"/>
            </p:cNvSpPr>
            <p:nvPr/>
          </p:nvSpPr>
          <p:spPr bwMode="auto">
            <a:xfrm>
              <a:off x="4704" y="3024"/>
              <a:ext cx="192" cy="0"/>
            </a:xfrm>
            <a:prstGeom prst="line">
              <a:avLst/>
            </a:prstGeom>
            <a:noFill/>
            <a:ln w="9525">
              <a:solidFill>
                <a:schemeClr val="tx1"/>
              </a:solidFill>
              <a:round/>
            </a:ln>
          </p:spPr>
          <p:txBody>
            <a:bodyPr wrap="none"/>
            <a:lstStyle/>
            <a:p>
              <a:endParaRPr lang="en-US"/>
            </a:p>
          </p:txBody>
        </p:sp>
        <p:sp>
          <p:nvSpPr>
            <p:cNvPr id="55310" name="Line 14"/>
            <p:cNvSpPr>
              <a:spLocks noChangeShapeType="1"/>
            </p:cNvSpPr>
            <p:nvPr/>
          </p:nvSpPr>
          <p:spPr bwMode="auto">
            <a:xfrm>
              <a:off x="4896" y="3024"/>
              <a:ext cx="144" cy="96"/>
            </a:xfrm>
            <a:prstGeom prst="line">
              <a:avLst/>
            </a:prstGeom>
            <a:noFill/>
            <a:ln w="9525">
              <a:solidFill>
                <a:schemeClr val="tx1"/>
              </a:solidFill>
              <a:round/>
              <a:tailEnd type="triangle" w="med" len="med"/>
            </a:ln>
          </p:spPr>
          <p:txBody>
            <a:bodyPr wrap="none"/>
            <a:lstStyle/>
            <a:p>
              <a:endParaRPr lang="en-US"/>
            </a:p>
          </p:txBody>
        </p:sp>
        <p:sp>
          <p:nvSpPr>
            <p:cNvPr id="55311" name="Line 15"/>
            <p:cNvSpPr>
              <a:spLocks noChangeShapeType="1"/>
            </p:cNvSpPr>
            <p:nvPr/>
          </p:nvSpPr>
          <p:spPr bwMode="auto">
            <a:xfrm>
              <a:off x="4608" y="3072"/>
              <a:ext cx="192" cy="0"/>
            </a:xfrm>
            <a:prstGeom prst="line">
              <a:avLst/>
            </a:prstGeom>
            <a:noFill/>
            <a:ln w="9525">
              <a:solidFill>
                <a:schemeClr val="tx1"/>
              </a:solidFill>
              <a:round/>
            </a:ln>
          </p:spPr>
          <p:txBody>
            <a:bodyPr wrap="none"/>
            <a:lstStyle/>
            <a:p>
              <a:endParaRPr lang="en-US"/>
            </a:p>
          </p:txBody>
        </p:sp>
        <p:sp>
          <p:nvSpPr>
            <p:cNvPr id="55312" name="Line 16"/>
            <p:cNvSpPr>
              <a:spLocks noChangeShapeType="1"/>
            </p:cNvSpPr>
            <p:nvPr/>
          </p:nvSpPr>
          <p:spPr bwMode="auto">
            <a:xfrm>
              <a:off x="4800" y="3072"/>
              <a:ext cx="48" cy="288"/>
            </a:xfrm>
            <a:prstGeom prst="line">
              <a:avLst/>
            </a:prstGeom>
            <a:noFill/>
            <a:ln w="9525">
              <a:solidFill>
                <a:schemeClr val="tx1"/>
              </a:solidFill>
              <a:round/>
              <a:tailEnd type="triangle" w="med" len="med"/>
            </a:ln>
          </p:spPr>
          <p:txBody>
            <a:bodyPr wrap="none"/>
            <a:lstStyle/>
            <a:p>
              <a:endParaRPr lang="en-US"/>
            </a:p>
          </p:txBody>
        </p:sp>
        <p:sp>
          <p:nvSpPr>
            <p:cNvPr id="55313" name="Line 17"/>
            <p:cNvSpPr>
              <a:spLocks noChangeShapeType="1"/>
            </p:cNvSpPr>
            <p:nvPr/>
          </p:nvSpPr>
          <p:spPr bwMode="auto">
            <a:xfrm>
              <a:off x="4944" y="3600"/>
              <a:ext cx="96" cy="192"/>
            </a:xfrm>
            <a:prstGeom prst="line">
              <a:avLst/>
            </a:prstGeom>
            <a:noFill/>
            <a:ln w="9525">
              <a:solidFill>
                <a:schemeClr val="tx1"/>
              </a:solidFill>
              <a:round/>
              <a:tailEnd type="triangle" w="med" len="med"/>
            </a:ln>
          </p:spPr>
          <p:txBody>
            <a:bodyPr wrap="none"/>
            <a:lstStyle/>
            <a:p>
              <a:endParaRPr lang="en-US"/>
            </a:p>
          </p:txBody>
        </p:sp>
      </p:grpSp>
      <p:sp>
        <p:nvSpPr>
          <p:cNvPr id="594962" name="Text Box 18"/>
          <p:cNvSpPr txBox="1">
            <a:spLocks noChangeArrowheads="1"/>
          </p:cNvSpPr>
          <p:nvPr/>
        </p:nvSpPr>
        <p:spPr bwMode="auto">
          <a:xfrm>
            <a:off x="647700" y="1873793"/>
            <a:ext cx="6705600" cy="3933384"/>
          </a:xfrm>
          <a:prstGeom prst="rect">
            <a:avLst/>
          </a:prstGeom>
          <a:noFill/>
          <a:ln w="9525" algn="ctr">
            <a:noFill/>
            <a:miter lim="800000"/>
          </a:ln>
          <a:effectLst/>
        </p:spPr>
        <p:txBody>
          <a:bodyPr>
            <a:spAutoFit/>
          </a:bodyPr>
          <a:lstStyle/>
          <a:p>
            <a:pPr eaLnBrk="1" hangingPunct="1">
              <a:spcBef>
                <a:spcPct val="20000"/>
              </a:spcBef>
              <a:buFont typeface="Wingdings" panose="05000000000000000000" pitchFamily="2" charset="2"/>
              <a:buChar char="v"/>
              <a:defRPr/>
            </a:pPr>
            <a:r>
              <a:rPr lang="en-US" sz="2400" b="1" dirty="0">
                <a:solidFill>
                  <a:srgbClr val="990000"/>
                </a:solidFill>
                <a:effectLst>
                  <a:outerShdw blurRad="38100" dist="38100" dir="2700000" algn="tl">
                    <a:srgbClr val="C0C0C0"/>
                  </a:outerShdw>
                </a:effectLst>
                <a:latin typeface="Times New Roman" panose="02020603050405020304" charset="0"/>
              </a:rPr>
              <a:t>Object Oriented Languages</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Visual Basic (Exe)</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Java (JVM)</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C++ (Compiled)</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Object COBOL (Compiled)</a:t>
            </a:r>
          </a:p>
          <a:p>
            <a:pPr eaLnBrk="1" hangingPunct="1">
              <a:spcBef>
                <a:spcPct val="20000"/>
              </a:spcBef>
              <a:buFont typeface="Wingdings" panose="05000000000000000000" pitchFamily="2" charset="2"/>
              <a:buChar char="v"/>
              <a:defRPr/>
            </a:pPr>
            <a:r>
              <a:rPr lang="en-US" sz="2400" b="1" dirty="0">
                <a:solidFill>
                  <a:srgbClr val="990000"/>
                </a:solidFill>
                <a:effectLst>
                  <a:outerShdw blurRad="38100" dist="38100" dir="2700000" algn="tl">
                    <a:srgbClr val="C0C0C0"/>
                  </a:outerShdw>
                </a:effectLst>
                <a:latin typeface="Times New Roman" panose="02020603050405020304" charset="0"/>
              </a:rPr>
              <a:t>?ML (Markup Languages)</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HTML, DHTML, XML, WML (Software Servers) </a:t>
            </a:r>
          </a:p>
          <a:p>
            <a:pPr lvl="1" indent="-171450" eaLnBrk="1" hangingPunct="1">
              <a:buFont typeface="Wingdings" panose="05000000000000000000" pitchFamily="2" charset="2"/>
              <a:buChar char="v"/>
              <a:defRPr/>
            </a:pPr>
            <a:r>
              <a:rPr lang="en-US" sz="2400" b="1" dirty="0">
                <a:solidFill>
                  <a:srgbClr val="3399FF"/>
                </a:solidFill>
                <a:effectLst>
                  <a:outerShdw blurRad="38100" dist="38100" dir="2700000" algn="tl">
                    <a:srgbClr val="C0C0C0"/>
                  </a:outerShdw>
                </a:effectLst>
                <a:latin typeface="Times New Roman" panose="02020603050405020304" charset="0"/>
              </a:rPr>
              <a:t>(CF, ASP) (Software Servers) </a:t>
            </a:r>
          </a:p>
          <a:p>
            <a:pPr eaLnBrk="1" hangingPunct="1">
              <a:spcBef>
                <a:spcPct val="20000"/>
              </a:spcBef>
              <a:buFont typeface="Wingdings" panose="05000000000000000000" pitchFamily="2" charset="2"/>
              <a:buChar char="v"/>
              <a:defRPr/>
            </a:pPr>
            <a:endParaRPr lang="en-US" sz="2400" b="1" dirty="0">
              <a:solidFill>
                <a:srgbClr val="990000"/>
              </a:solidFill>
              <a:effectLst>
                <a:outerShdw blurRad="38100" dist="38100" dir="2700000" algn="tl">
                  <a:srgbClr val="C0C0C0"/>
                </a:outerShdw>
              </a:effectLst>
              <a:latin typeface="Times New Roman" panose="02020603050405020304" charset="0"/>
            </a:endParaRPr>
          </a:p>
        </p:txBody>
      </p:sp>
    </p:spTree>
  </p:cSld>
  <p:clrMapOvr>
    <a:masterClrMapping/>
  </p:clrMapOvr>
  <p:transition spd="med">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Programming Languages </a:t>
            </a:r>
            <a:r>
              <a:rPr lang="en-US" sz="1800">
                <a:solidFill>
                  <a:schemeClr val="accent1">
                    <a:satMod val="150000"/>
                  </a:schemeClr>
                </a:solidFill>
              </a:rPr>
              <a:t>Continued</a:t>
            </a:r>
          </a:p>
        </p:txBody>
      </p:sp>
      <p:grpSp>
        <p:nvGrpSpPr>
          <p:cNvPr id="56323" name="Group 3"/>
          <p:cNvGrpSpPr/>
          <p:nvPr/>
        </p:nvGrpSpPr>
        <p:grpSpPr bwMode="auto">
          <a:xfrm>
            <a:off x="6781800" y="4800600"/>
            <a:ext cx="2057400" cy="1600200"/>
            <a:chOff x="3312" y="2544"/>
            <a:chExt cx="2160" cy="1488"/>
          </a:xfrm>
        </p:grpSpPr>
        <p:sp>
          <p:nvSpPr>
            <p:cNvPr id="56325" name="AutoShape 4"/>
            <p:cNvSpPr>
              <a:spLocks noChangeArrowheads="1"/>
            </p:cNvSpPr>
            <p:nvPr/>
          </p:nvSpPr>
          <p:spPr bwMode="auto">
            <a:xfrm>
              <a:off x="3312" y="2640"/>
              <a:ext cx="672" cy="624"/>
            </a:xfrm>
            <a:prstGeom prst="foldedCorner">
              <a:avLst>
                <a:gd name="adj" fmla="val 12500"/>
              </a:avLst>
            </a:prstGeom>
            <a:solidFill>
              <a:srgbClr val="FFFFC9"/>
            </a:solidFill>
            <a:ln w="9525">
              <a:solidFill>
                <a:schemeClr val="tx1"/>
              </a:solidFill>
              <a:round/>
            </a:ln>
          </p:spPr>
          <p:txBody>
            <a:bodyPr wrap="none" anchor="ctr"/>
            <a:lstStyle/>
            <a:p>
              <a:pPr algn="ctr" eaLnBrk="1" hangingPunct="1"/>
              <a:r>
                <a:rPr lang="en-US" sz="800" b="1">
                  <a:latin typeface="Times New Roman" panose="02020603050405020304" charset="0"/>
                </a:rPr>
                <a:t>Source Code</a:t>
              </a:r>
            </a:p>
          </p:txBody>
        </p:sp>
        <p:sp>
          <p:nvSpPr>
            <p:cNvPr id="56326" name="AutoShape 5"/>
            <p:cNvSpPr>
              <a:spLocks noChangeArrowheads="1"/>
            </p:cNvSpPr>
            <p:nvPr/>
          </p:nvSpPr>
          <p:spPr bwMode="auto">
            <a:xfrm>
              <a:off x="4128" y="2832"/>
              <a:ext cx="624" cy="336"/>
            </a:xfrm>
            <a:prstGeom prst="flowChartMagneticDrum">
              <a:avLst/>
            </a:prstGeom>
            <a:solidFill>
              <a:srgbClr val="3366FF"/>
            </a:solidFill>
            <a:ln w="9525">
              <a:solidFill>
                <a:schemeClr val="tx1"/>
              </a:solidFill>
              <a:round/>
            </a:ln>
          </p:spPr>
          <p:txBody>
            <a:bodyPr wrap="none" anchor="ctr"/>
            <a:lstStyle/>
            <a:p>
              <a:endParaRPr lang="en-US"/>
            </a:p>
          </p:txBody>
        </p:sp>
        <p:sp>
          <p:nvSpPr>
            <p:cNvPr id="56327" name="AutoShape 6"/>
            <p:cNvSpPr/>
            <p:nvPr/>
          </p:nvSpPr>
          <p:spPr bwMode="auto">
            <a:xfrm>
              <a:off x="4752" y="2544"/>
              <a:ext cx="678" cy="262"/>
            </a:xfrm>
            <a:prstGeom prst="borderCallout2">
              <a:avLst>
                <a:gd name="adj1" fmla="val 27481"/>
                <a:gd name="adj2" fmla="val -7079"/>
                <a:gd name="adj3" fmla="val 27481"/>
                <a:gd name="adj4" fmla="val -27583"/>
                <a:gd name="adj5" fmla="val 115269"/>
                <a:gd name="adj6" fmla="val -49116"/>
              </a:avLst>
            </a:prstGeom>
            <a:solidFill>
              <a:srgbClr val="B2C0FC"/>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Interpreter</a:t>
              </a:r>
            </a:p>
          </p:txBody>
        </p:sp>
        <p:sp>
          <p:nvSpPr>
            <p:cNvPr id="56328" name="AutoShape 7"/>
            <p:cNvSpPr/>
            <p:nvPr/>
          </p:nvSpPr>
          <p:spPr bwMode="auto">
            <a:xfrm>
              <a:off x="3552" y="3360"/>
              <a:ext cx="678" cy="240"/>
            </a:xfrm>
            <a:prstGeom prst="borderCallout2">
              <a:avLst>
                <a:gd name="adj1" fmla="val 30000"/>
                <a:gd name="adj2" fmla="val 107079"/>
                <a:gd name="adj3" fmla="val 30000"/>
                <a:gd name="adj4" fmla="val 116079"/>
                <a:gd name="adj5" fmla="val -90000"/>
                <a:gd name="adj6" fmla="val 125519"/>
              </a:avLst>
            </a:prstGeom>
            <a:solidFill>
              <a:srgbClr val="8984F4"/>
            </a:solidFill>
            <a:ln w="9525">
              <a:solidFill>
                <a:schemeClr val="tx1"/>
              </a:solidFill>
              <a:miter lim="800000"/>
              <a:tailEnd type="triangle" w="med" len="med"/>
            </a:ln>
          </p:spPr>
          <p:txBody>
            <a:bodyPr/>
            <a:lstStyle/>
            <a:p>
              <a:pPr algn="ctr" eaLnBrk="1" hangingPunct="1"/>
              <a:r>
                <a:rPr lang="en-US" sz="800" b="1">
                  <a:latin typeface="Times New Roman" panose="02020603050405020304" charset="0"/>
                </a:rPr>
                <a:t>Compiler</a:t>
              </a:r>
            </a:p>
          </p:txBody>
        </p:sp>
        <p:sp>
          <p:nvSpPr>
            <p:cNvPr id="56329" name="AutoShape 8"/>
            <p:cNvSpPr>
              <a:spLocks noChangeArrowheads="1"/>
            </p:cNvSpPr>
            <p:nvPr/>
          </p:nvSpPr>
          <p:spPr bwMode="auto">
            <a:xfrm>
              <a:off x="4992" y="2976"/>
              <a:ext cx="480" cy="288"/>
            </a:xfrm>
            <a:prstGeom prst="flowChartAlternateProcess">
              <a:avLst/>
            </a:prstGeom>
            <a:solidFill>
              <a:srgbClr val="B2C0FC"/>
            </a:solidFill>
            <a:ln w="9525">
              <a:solidFill>
                <a:schemeClr val="tx1"/>
              </a:solidFill>
              <a:miter lim="800000"/>
            </a:ln>
          </p:spPr>
          <p:txBody>
            <a:bodyPr wrap="none" anchor="ctr"/>
            <a:lstStyle/>
            <a:p>
              <a:pPr algn="ctr" eaLnBrk="1" hangingPunct="1"/>
              <a:r>
                <a:rPr lang="en-US" sz="800" b="1">
                  <a:latin typeface="Times New Roman" panose="02020603050405020304" charset="0"/>
                </a:rPr>
                <a:t>Results</a:t>
              </a:r>
            </a:p>
          </p:txBody>
        </p:sp>
        <p:sp>
          <p:nvSpPr>
            <p:cNvPr id="56330" name="AutoShape 9"/>
            <p:cNvSpPr>
              <a:spLocks noChangeArrowheads="1"/>
            </p:cNvSpPr>
            <p:nvPr/>
          </p:nvSpPr>
          <p:spPr bwMode="auto">
            <a:xfrm>
              <a:off x="4560" y="3360"/>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Object </a:t>
              </a:r>
            </a:p>
            <a:p>
              <a:pPr algn="ctr" eaLnBrk="1" hangingPunct="1"/>
              <a:r>
                <a:rPr lang="en-US" sz="800" b="1">
                  <a:latin typeface="Times New Roman" panose="02020603050405020304" charset="0"/>
                </a:rPr>
                <a:t>Code</a:t>
              </a:r>
            </a:p>
          </p:txBody>
        </p:sp>
        <p:sp>
          <p:nvSpPr>
            <p:cNvPr id="56331" name="AutoShape 10"/>
            <p:cNvSpPr>
              <a:spLocks noChangeArrowheads="1"/>
            </p:cNvSpPr>
            <p:nvPr/>
          </p:nvSpPr>
          <p:spPr bwMode="auto">
            <a:xfrm>
              <a:off x="4848" y="3744"/>
              <a:ext cx="480" cy="288"/>
            </a:xfrm>
            <a:prstGeom prst="flowChartAlternateProcess">
              <a:avLst/>
            </a:prstGeom>
            <a:solidFill>
              <a:srgbClr val="8984F4"/>
            </a:solidFill>
            <a:ln w="9525">
              <a:solidFill>
                <a:schemeClr val="tx1"/>
              </a:solidFill>
              <a:miter lim="800000"/>
            </a:ln>
          </p:spPr>
          <p:txBody>
            <a:bodyPr wrap="none" anchor="ctr"/>
            <a:lstStyle/>
            <a:p>
              <a:pPr algn="ctr" eaLnBrk="1" hangingPunct="1"/>
              <a:r>
                <a:rPr lang="en-US" sz="800" b="1">
                  <a:latin typeface="Times New Roman" panose="02020603050405020304" charset="0"/>
                </a:rPr>
                <a:t>machine</a:t>
              </a:r>
            </a:p>
          </p:txBody>
        </p:sp>
        <p:sp>
          <p:nvSpPr>
            <p:cNvPr id="56332" name="Line 11"/>
            <p:cNvSpPr>
              <a:spLocks noChangeShapeType="1"/>
            </p:cNvSpPr>
            <p:nvPr/>
          </p:nvSpPr>
          <p:spPr bwMode="auto">
            <a:xfrm>
              <a:off x="3984" y="2976"/>
              <a:ext cx="288" cy="0"/>
            </a:xfrm>
            <a:prstGeom prst="line">
              <a:avLst/>
            </a:prstGeom>
            <a:noFill/>
            <a:ln w="9525">
              <a:solidFill>
                <a:schemeClr val="tx1"/>
              </a:solidFill>
              <a:round/>
              <a:tailEnd type="triangle" w="med" len="med"/>
            </a:ln>
          </p:spPr>
          <p:txBody>
            <a:bodyPr wrap="none"/>
            <a:lstStyle/>
            <a:p>
              <a:endParaRPr lang="en-US"/>
            </a:p>
          </p:txBody>
        </p:sp>
        <p:sp>
          <p:nvSpPr>
            <p:cNvPr id="56333" name="Line 12"/>
            <p:cNvSpPr>
              <a:spLocks noChangeShapeType="1"/>
            </p:cNvSpPr>
            <p:nvPr/>
          </p:nvSpPr>
          <p:spPr bwMode="auto">
            <a:xfrm>
              <a:off x="4704" y="3024"/>
              <a:ext cx="192" cy="0"/>
            </a:xfrm>
            <a:prstGeom prst="line">
              <a:avLst/>
            </a:prstGeom>
            <a:noFill/>
            <a:ln w="9525">
              <a:solidFill>
                <a:schemeClr val="tx1"/>
              </a:solidFill>
              <a:round/>
            </a:ln>
          </p:spPr>
          <p:txBody>
            <a:bodyPr wrap="none"/>
            <a:lstStyle/>
            <a:p>
              <a:endParaRPr lang="en-US"/>
            </a:p>
          </p:txBody>
        </p:sp>
        <p:sp>
          <p:nvSpPr>
            <p:cNvPr id="56334" name="Line 13"/>
            <p:cNvSpPr>
              <a:spLocks noChangeShapeType="1"/>
            </p:cNvSpPr>
            <p:nvPr/>
          </p:nvSpPr>
          <p:spPr bwMode="auto">
            <a:xfrm>
              <a:off x="4896" y="3024"/>
              <a:ext cx="144" cy="96"/>
            </a:xfrm>
            <a:prstGeom prst="line">
              <a:avLst/>
            </a:prstGeom>
            <a:noFill/>
            <a:ln w="9525">
              <a:solidFill>
                <a:schemeClr val="tx1"/>
              </a:solidFill>
              <a:round/>
              <a:tailEnd type="triangle" w="med" len="med"/>
            </a:ln>
          </p:spPr>
          <p:txBody>
            <a:bodyPr wrap="none"/>
            <a:lstStyle/>
            <a:p>
              <a:endParaRPr lang="en-US"/>
            </a:p>
          </p:txBody>
        </p:sp>
        <p:sp>
          <p:nvSpPr>
            <p:cNvPr id="56335" name="Line 14"/>
            <p:cNvSpPr>
              <a:spLocks noChangeShapeType="1"/>
            </p:cNvSpPr>
            <p:nvPr/>
          </p:nvSpPr>
          <p:spPr bwMode="auto">
            <a:xfrm>
              <a:off x="4608" y="3072"/>
              <a:ext cx="192" cy="0"/>
            </a:xfrm>
            <a:prstGeom prst="line">
              <a:avLst/>
            </a:prstGeom>
            <a:noFill/>
            <a:ln w="9525">
              <a:solidFill>
                <a:schemeClr val="tx1"/>
              </a:solidFill>
              <a:round/>
            </a:ln>
          </p:spPr>
          <p:txBody>
            <a:bodyPr wrap="none"/>
            <a:lstStyle/>
            <a:p>
              <a:endParaRPr lang="en-US"/>
            </a:p>
          </p:txBody>
        </p:sp>
        <p:sp>
          <p:nvSpPr>
            <p:cNvPr id="56336" name="Line 15"/>
            <p:cNvSpPr>
              <a:spLocks noChangeShapeType="1"/>
            </p:cNvSpPr>
            <p:nvPr/>
          </p:nvSpPr>
          <p:spPr bwMode="auto">
            <a:xfrm>
              <a:off x="4800" y="3072"/>
              <a:ext cx="48" cy="288"/>
            </a:xfrm>
            <a:prstGeom prst="line">
              <a:avLst/>
            </a:prstGeom>
            <a:noFill/>
            <a:ln w="9525">
              <a:solidFill>
                <a:schemeClr val="tx1"/>
              </a:solidFill>
              <a:round/>
              <a:tailEnd type="triangle" w="med" len="med"/>
            </a:ln>
          </p:spPr>
          <p:txBody>
            <a:bodyPr wrap="none"/>
            <a:lstStyle/>
            <a:p>
              <a:endParaRPr lang="en-US"/>
            </a:p>
          </p:txBody>
        </p:sp>
        <p:sp>
          <p:nvSpPr>
            <p:cNvPr id="56337" name="Line 16"/>
            <p:cNvSpPr>
              <a:spLocks noChangeShapeType="1"/>
            </p:cNvSpPr>
            <p:nvPr/>
          </p:nvSpPr>
          <p:spPr bwMode="auto">
            <a:xfrm>
              <a:off x="4944" y="3600"/>
              <a:ext cx="96" cy="192"/>
            </a:xfrm>
            <a:prstGeom prst="line">
              <a:avLst/>
            </a:prstGeom>
            <a:noFill/>
            <a:ln w="9525">
              <a:solidFill>
                <a:schemeClr val="tx1"/>
              </a:solidFill>
              <a:round/>
              <a:tailEnd type="triangle" w="med" len="med"/>
            </a:ln>
          </p:spPr>
          <p:txBody>
            <a:bodyPr wrap="none"/>
            <a:lstStyle/>
            <a:p>
              <a:endParaRPr lang="en-US"/>
            </a:p>
          </p:txBody>
        </p:sp>
      </p:grpSp>
      <p:sp>
        <p:nvSpPr>
          <p:cNvPr id="597010" name="Rectangle 18"/>
          <p:cNvSpPr>
            <a:spLocks noChangeArrowheads="1"/>
          </p:cNvSpPr>
          <p:nvPr/>
        </p:nvSpPr>
        <p:spPr bwMode="auto">
          <a:xfrm>
            <a:off x="731520" y="1776207"/>
            <a:ext cx="5867400" cy="4211638"/>
          </a:xfrm>
          <a:prstGeom prst="rect">
            <a:avLst/>
          </a:prstGeom>
          <a:noFill/>
          <a:ln w="9525" algn="ctr">
            <a:noFill/>
            <a:miter lim="800000"/>
          </a:ln>
          <a:effectLst/>
        </p:spPr>
        <p:txBody>
          <a:bodyPr>
            <a:spAutoFit/>
          </a:bodyPr>
          <a:lstStyle/>
          <a:p>
            <a:pPr eaLnBrk="1" hangingPunct="1">
              <a:spcBef>
                <a:spcPct val="20000"/>
              </a:spcBef>
              <a:buFont typeface="Wingdings" panose="05000000000000000000" pitchFamily="2" charset="2"/>
              <a:buChar char="v"/>
              <a:defRPr/>
            </a:pPr>
            <a:r>
              <a:rPr lang="en-US" b="1" dirty="0">
                <a:solidFill>
                  <a:srgbClr val="990000"/>
                </a:solidFill>
                <a:effectLst>
                  <a:outerShdw blurRad="38100" dist="38100" dir="2700000" algn="tl">
                    <a:srgbClr val="C0C0C0"/>
                  </a:outerShdw>
                </a:effectLst>
                <a:latin typeface="Times New Roman" panose="02020603050405020304" charset="0"/>
              </a:rPr>
              <a:t>4GL 4th Generation Language</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SQL, Query Languages Or Natural Language</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Report Generators</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Graphics Tools</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Application Generators (“Wizards”)</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Very High-Level </a:t>
            </a:r>
            <a:r>
              <a:rPr lang="en-US" b="1" dirty="0" err="1">
                <a:solidFill>
                  <a:srgbClr val="3399FF"/>
                </a:solidFill>
                <a:effectLst>
                  <a:outerShdw blurRad="38100" dist="38100" dir="2700000" algn="tl">
                    <a:srgbClr val="C0C0C0"/>
                  </a:outerShdw>
                </a:effectLst>
                <a:latin typeface="Times New Roman" panose="02020603050405020304" charset="0"/>
              </a:rPr>
              <a:t>Pgm</a:t>
            </a:r>
            <a:r>
              <a:rPr lang="en-US" b="1" dirty="0">
                <a:solidFill>
                  <a:srgbClr val="3399FF"/>
                </a:solidFill>
                <a:effectLst>
                  <a:outerShdw blurRad="38100" dist="38100" dir="2700000" algn="tl">
                    <a:srgbClr val="C0C0C0"/>
                  </a:outerShdw>
                </a:effectLst>
                <a:latin typeface="Times New Roman" panose="02020603050405020304" charset="0"/>
              </a:rPr>
              <a:t>. Languages (APL)</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Application Language (Application Software</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Data mining languages</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Painters (</a:t>
            </a:r>
            <a:r>
              <a:rPr lang="en-US" b="1" dirty="0" err="1">
                <a:solidFill>
                  <a:srgbClr val="3399FF"/>
                </a:solidFill>
                <a:effectLst>
                  <a:outerShdw blurRad="38100" dist="38100" dir="2700000" algn="tl">
                    <a:srgbClr val="C0C0C0"/>
                  </a:outerShdw>
                </a:effectLst>
                <a:latin typeface="Times New Roman" panose="02020603050405020304" charset="0"/>
              </a:rPr>
              <a:t>NetObjects</a:t>
            </a:r>
            <a:r>
              <a:rPr lang="en-US" b="1" dirty="0">
                <a:solidFill>
                  <a:srgbClr val="3399FF"/>
                </a:solidFill>
                <a:effectLst>
                  <a:outerShdw blurRad="38100" dist="38100" dir="2700000" algn="tl">
                    <a:srgbClr val="C0C0C0"/>
                  </a:outerShdw>
                </a:effectLst>
                <a:latin typeface="Times New Roman" panose="02020603050405020304" charset="0"/>
              </a:rPr>
              <a:t>, Dreamweaver, )</a:t>
            </a:r>
          </a:p>
          <a:p>
            <a:pPr lvl="1" indent="-171450"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“End-user” Languages</a:t>
            </a:r>
          </a:p>
          <a:p>
            <a:pPr lvl="2"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Spreadsheets</a:t>
            </a:r>
          </a:p>
          <a:p>
            <a:pPr lvl="2"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Word Processing</a:t>
            </a:r>
          </a:p>
          <a:p>
            <a:pPr lvl="2"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Desktop Publishing</a:t>
            </a:r>
          </a:p>
          <a:p>
            <a:pPr lvl="2"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Data management (Access)</a:t>
            </a:r>
          </a:p>
          <a:p>
            <a:pPr lvl="2" eaLnBrk="1" hangingPunct="1">
              <a:buFont typeface="Wingdings" panose="05000000000000000000" pitchFamily="2" charset="2"/>
              <a:buChar char="v"/>
              <a:defRPr/>
            </a:pPr>
            <a:r>
              <a:rPr lang="en-US" b="1" dirty="0">
                <a:solidFill>
                  <a:srgbClr val="3399FF"/>
                </a:solidFill>
                <a:effectLst>
                  <a:outerShdw blurRad="38100" dist="38100" dir="2700000" algn="tl">
                    <a:srgbClr val="C0C0C0"/>
                  </a:outerShdw>
                </a:effectLst>
                <a:latin typeface="Times New Roman" panose="02020603050405020304" charset="0"/>
              </a:rPr>
              <a:t>Presentations</a:t>
            </a:r>
          </a:p>
        </p:txBody>
      </p:sp>
    </p:spTree>
  </p:cSld>
  <p:clrMapOvr>
    <a:masterClrMapping/>
  </p:clrMapOvr>
  <p:transition spd="med">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a:xfrm>
            <a:off x="1295400" y="301625"/>
            <a:ext cx="7848600" cy="1143000"/>
          </a:xfrm>
        </p:spPr>
        <p:txBody>
          <a:bodyPr/>
          <a:lstStyle/>
          <a:p>
            <a:pPr eaLnBrk="1" fontAlgn="auto" hangingPunct="1">
              <a:spcAft>
                <a:spcPts val="0"/>
              </a:spcAft>
              <a:defRPr/>
            </a:pPr>
            <a:r>
              <a:rPr lang="en-US">
                <a:solidFill>
                  <a:schemeClr val="accent1">
                    <a:satMod val="150000"/>
                  </a:schemeClr>
                </a:solidFill>
              </a:rPr>
              <a:t>Case Tools </a:t>
            </a:r>
          </a:p>
        </p:txBody>
      </p:sp>
      <p:sp>
        <p:nvSpPr>
          <p:cNvPr id="57347" name="Rectangle 3"/>
          <p:cNvSpPr>
            <a:spLocks noGrp="1" noChangeArrowheads="1"/>
          </p:cNvSpPr>
          <p:nvPr>
            <p:ph type="body" idx="1"/>
          </p:nvPr>
        </p:nvSpPr>
        <p:spPr>
          <a:xfrm>
            <a:off x="304800" y="3124200"/>
            <a:ext cx="8686800" cy="3581400"/>
          </a:xfrm>
          <a:noFill/>
        </p:spPr>
        <p:txBody>
          <a:bodyPr/>
          <a:lstStyle/>
          <a:p>
            <a:pPr marL="476250" indent="-476250" defTabSz="-635" eaLnBrk="1" hangingPunct="1">
              <a:tabLst>
                <a:tab pos="287020" algn="l"/>
              </a:tabLst>
            </a:pPr>
            <a:r>
              <a:rPr lang="en-US" sz="2400" dirty="0"/>
              <a:t>CASE tools have several advantages: </a:t>
            </a:r>
          </a:p>
          <a:p>
            <a:pPr marL="919480" lvl="1" indent="-400050" defTabSz="-635" eaLnBrk="1" hangingPunct="1">
              <a:tabLst>
                <a:tab pos="287020" algn="l"/>
              </a:tabLst>
            </a:pPr>
            <a:r>
              <a:rPr lang="en-US" sz="2000" dirty="0"/>
              <a:t>CASE improves productivity by helping the analyst understand the problem and how to solve it in an organized manner. </a:t>
            </a:r>
          </a:p>
          <a:p>
            <a:pPr marL="919480" lvl="1" indent="-400050" defTabSz="-635" eaLnBrk="1" hangingPunct="1">
              <a:tabLst>
                <a:tab pos="287020" algn="l"/>
              </a:tabLst>
            </a:pPr>
            <a:r>
              <a:rPr lang="en-US" sz="2000" dirty="0"/>
              <a:t>CASE facilitates joint application and design (JAD) sessions, resulting in better interaction among users and information systems professionals. </a:t>
            </a:r>
          </a:p>
          <a:p>
            <a:pPr marL="919480" lvl="1" indent="-400050" defTabSz="-635" eaLnBrk="1" hangingPunct="1">
              <a:tabLst>
                <a:tab pos="287020" algn="l"/>
              </a:tabLst>
            </a:pPr>
            <a:r>
              <a:rPr lang="en-US" sz="2000" dirty="0"/>
              <a:t>CASE makes it easier to create prototypes, so that users can see what they are going to get at an early stage in the development process. </a:t>
            </a:r>
          </a:p>
          <a:p>
            <a:pPr marL="919480" lvl="1" indent="-400050" defTabSz="-635" eaLnBrk="1" hangingPunct="1">
              <a:tabLst>
                <a:tab pos="287020" algn="l"/>
              </a:tabLst>
            </a:pPr>
            <a:r>
              <a:rPr lang="en-US" sz="2000" dirty="0"/>
              <a:t>CASE makes it easier to make system design changes as circumstances change. </a:t>
            </a:r>
          </a:p>
        </p:txBody>
      </p:sp>
      <p:sp>
        <p:nvSpPr>
          <p:cNvPr id="57348" name="Rectangle 4"/>
          <p:cNvSpPr>
            <a:spLocks noChangeArrowheads="1"/>
          </p:cNvSpPr>
          <p:nvPr/>
        </p:nvSpPr>
        <p:spPr bwMode="auto">
          <a:xfrm>
            <a:off x="762000" y="1524000"/>
            <a:ext cx="7772400" cy="1465263"/>
          </a:xfrm>
          <a:prstGeom prst="rect">
            <a:avLst/>
          </a:prstGeom>
          <a:noFill/>
          <a:ln w="9525">
            <a:noFill/>
            <a:miter lim="800000"/>
          </a:ln>
        </p:spPr>
        <p:txBody>
          <a:bodyPr lIns="0" rIns="0">
            <a:spAutoFit/>
          </a:bodyPr>
          <a:lstStyle/>
          <a:p>
            <a:r>
              <a:rPr lang="en-US" dirty="0">
                <a:solidFill>
                  <a:schemeClr val="accent1"/>
                </a:solidFill>
              </a:rPr>
              <a:t>Computer-aided software engineering (CASE)</a:t>
            </a:r>
            <a:r>
              <a:rPr lang="en-US" b="1" dirty="0"/>
              <a:t> </a:t>
            </a:r>
            <a:r>
              <a:rPr lang="en-US" dirty="0"/>
              <a:t>is a tool for programmers, systems analysts, business analysts, and systems developers to help automate software development and at the same time improve software quality. It is a combination of software tools and structured software development methods.</a:t>
            </a:r>
          </a:p>
        </p:txBody>
      </p:sp>
    </p:spTree>
  </p:cSld>
  <p:clrMapOvr>
    <a:masterClrMapping/>
  </p:clrMapOvr>
  <p:transition spd="med">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eaLnBrk="1" fontAlgn="auto" hangingPunct="1">
              <a:spcAft>
                <a:spcPts val="0"/>
              </a:spcAft>
              <a:defRPr/>
            </a:pPr>
            <a:r>
              <a:rPr lang="en-US">
                <a:solidFill>
                  <a:schemeClr val="accent1">
                    <a:satMod val="150000"/>
                  </a:schemeClr>
                </a:solidFill>
              </a:rPr>
              <a:t>Case Tools </a:t>
            </a:r>
            <a:r>
              <a:rPr lang="en-US" sz="1600">
                <a:solidFill>
                  <a:schemeClr val="accent1">
                    <a:satMod val="150000"/>
                  </a:schemeClr>
                </a:solidFill>
              </a:rPr>
              <a:t>Continued</a:t>
            </a:r>
          </a:p>
        </p:txBody>
      </p:sp>
      <p:pic>
        <p:nvPicPr>
          <p:cNvPr id="59395" name="Picture 6"/>
          <p:cNvPicPr>
            <a:picLocks noGrp="1" noChangeAspect="1" noChangeArrowheads="1"/>
          </p:cNvPicPr>
          <p:nvPr>
            <p:ph idx="1"/>
          </p:nvPr>
        </p:nvPicPr>
        <p:blipFill>
          <a:blip r:embed="rId2" cstate="print"/>
          <a:srcRect/>
          <a:stretch>
            <a:fillRect/>
          </a:stretch>
        </p:blipFill>
        <p:spPr>
          <a:xfrm>
            <a:off x="609600" y="1488899"/>
            <a:ext cx="7543800" cy="5222237"/>
          </a:xfrm>
        </p:spPr>
      </p:pic>
    </p:spTree>
  </p:cSld>
  <p:clrMapOvr>
    <a:masterClrMapping/>
  </p:clrMapOvr>
  <p:transition spd="med">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FE67-9B74-5D58-61AF-D75292ED9D16}"/>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B817C47D-B1C5-26D6-42D7-2F0B2C4B2A2D}"/>
              </a:ext>
            </a:extLst>
          </p:cNvPr>
          <p:cNvSpPr>
            <a:spLocks noGrp="1"/>
          </p:cNvSpPr>
          <p:nvPr>
            <p:ph idx="1"/>
          </p:nvPr>
        </p:nvSpPr>
        <p:spPr/>
        <p:txBody>
          <a:bodyPr/>
          <a:lstStyle/>
          <a:p>
            <a:r>
              <a:rPr lang="en-GB" dirty="0"/>
              <a:t>Patterson, David A. </a:t>
            </a:r>
            <a:r>
              <a:rPr lang="en-GB"/>
              <a:t>(2017) Computer </a:t>
            </a:r>
            <a:r>
              <a:rPr lang="en-GB" dirty="0"/>
              <a:t>Organization and Design: Hardware and Software Interface</a:t>
            </a:r>
            <a:endParaRPr lang="en-US" dirty="0"/>
          </a:p>
        </p:txBody>
      </p:sp>
    </p:spTree>
    <p:extLst>
      <p:ext uri="{BB962C8B-B14F-4D97-AF65-F5344CB8AC3E}">
        <p14:creationId xmlns:p14="http://schemas.microsoft.com/office/powerpoint/2010/main" val="1038627025"/>
      </p:ext>
    </p:extLst>
  </p:cSld>
  <p:clrMapOvr>
    <a:masterClrMapping/>
  </p:clrMapOvr>
  <p:transition spd="med">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4925450"/>
      </p:ext>
    </p:extLst>
  </p:cSld>
  <p:clrMapOvr>
    <a:masterClrMapping/>
  </p:clrMapOvr>
  <p:transition spd="med">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E9C51-B97E-7FF4-736B-89532164141F}"/>
              </a:ext>
            </a:extLst>
          </p:cNvPr>
          <p:cNvSpPr>
            <a:spLocks noGrp="1"/>
          </p:cNvSpPr>
          <p:nvPr>
            <p:ph type="title"/>
          </p:nvPr>
        </p:nvSpPr>
        <p:spPr/>
        <p:txBody>
          <a:bodyPr/>
          <a:lstStyle/>
          <a:p>
            <a:pPr algn="ctr"/>
            <a:r>
              <a:rPr lang="en-PH" dirty="0"/>
              <a:t>Seatwork No. 1</a:t>
            </a:r>
          </a:p>
        </p:txBody>
      </p:sp>
      <p:sp>
        <p:nvSpPr>
          <p:cNvPr id="3" name="Content Placeholder 2">
            <a:extLst>
              <a:ext uri="{FF2B5EF4-FFF2-40B4-BE49-F238E27FC236}">
                <a16:creationId xmlns:a16="http://schemas.microsoft.com/office/drawing/2014/main" id="{5B41AF9D-CCC0-484A-F9B8-6A1513819713}"/>
              </a:ext>
            </a:extLst>
          </p:cNvPr>
          <p:cNvSpPr>
            <a:spLocks noGrp="1"/>
          </p:cNvSpPr>
          <p:nvPr>
            <p:ph idx="1"/>
          </p:nvPr>
        </p:nvSpPr>
        <p:spPr>
          <a:xfrm>
            <a:off x="152400" y="1774825"/>
            <a:ext cx="8534400" cy="4625975"/>
          </a:xfrm>
        </p:spPr>
        <p:txBody>
          <a:bodyPr/>
          <a:lstStyle/>
          <a:p>
            <a:r>
              <a:rPr lang="en-PH" dirty="0"/>
              <a:t>What is a computer?	(5 points)</a:t>
            </a:r>
          </a:p>
          <a:p>
            <a:r>
              <a:rPr lang="en-PH" dirty="0"/>
              <a:t>Two Primary Parts of Computer System (5 pts)</a:t>
            </a:r>
          </a:p>
          <a:p>
            <a:r>
              <a:rPr lang="en-PH" dirty="0"/>
              <a:t>Give 5 examples of hardware</a:t>
            </a:r>
          </a:p>
          <a:p>
            <a:r>
              <a:rPr lang="en-PH" dirty="0"/>
              <a:t>Give 5 examples of software</a:t>
            </a:r>
          </a:p>
          <a:p>
            <a:endParaRPr lang="en-PH" dirty="0"/>
          </a:p>
          <a:p>
            <a:endParaRPr lang="en-PH" dirty="0"/>
          </a:p>
          <a:p>
            <a:endParaRPr lang="en-PH" dirty="0"/>
          </a:p>
        </p:txBody>
      </p:sp>
    </p:spTree>
    <p:extLst>
      <p:ext uri="{BB962C8B-B14F-4D97-AF65-F5344CB8AC3E}">
        <p14:creationId xmlns:p14="http://schemas.microsoft.com/office/powerpoint/2010/main" val="4101115279"/>
      </p:ext>
    </p:extLst>
  </p:cSld>
  <p:clrMapOvr>
    <a:masterClrMapping/>
  </p:clrMapOvr>
  <p:transition spd="med">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otalTime>101</TotalTime>
  <Words>4652</Words>
  <Application>Microsoft Office PowerPoint</Application>
  <PresentationFormat>On-screen Show (4:3)</PresentationFormat>
  <Paragraphs>380</Paragraphs>
  <Slides>60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60</vt:i4>
      </vt:variant>
    </vt:vector>
  </HeadingPairs>
  <TitlesOfParts>
    <vt:vector size="71" baseType="lpstr">
      <vt:lpstr>ADLaM Display</vt:lpstr>
      <vt:lpstr>Adobe Gothic Std B</vt:lpstr>
      <vt:lpstr>Arial</vt:lpstr>
      <vt:lpstr>Calibri</vt:lpstr>
      <vt:lpstr>Corbel</vt:lpstr>
      <vt:lpstr>Times New Roman</vt:lpstr>
      <vt:lpstr>Verdana</vt:lpstr>
      <vt:lpstr>Wingdings</vt:lpstr>
      <vt:lpstr>Wingdings 2</vt:lpstr>
      <vt:lpstr>Wingdings 3</vt:lpstr>
      <vt:lpstr>Module</vt:lpstr>
      <vt:lpstr>PowerPoint Presentation</vt:lpstr>
      <vt:lpstr>PowerPoint Presentation</vt:lpstr>
      <vt:lpstr> What Is a Computer Hardware? </vt:lpstr>
      <vt:lpstr> What Is a Computer System? </vt:lpstr>
      <vt:lpstr>Binary Computers </vt:lpstr>
      <vt:lpstr> Units of Measure </vt:lpstr>
      <vt:lpstr>The Evolution Of Computer Hardware </vt:lpstr>
      <vt:lpstr>The Evolution Of Computer Hardware </vt:lpstr>
      <vt:lpstr>Types Of Computers </vt:lpstr>
      <vt:lpstr>Types Of Computers Continued</vt:lpstr>
      <vt:lpstr>Types Of Computers Continued</vt:lpstr>
      <vt:lpstr>Types Of Computers Mobile Devices</vt:lpstr>
      <vt:lpstr>Types Of Computers Other Mobile Devices</vt:lpstr>
      <vt:lpstr>The Microprocessor </vt:lpstr>
      <vt:lpstr>PowerPoint Presentation</vt:lpstr>
      <vt:lpstr>The Machine Instruction Cycle  </vt:lpstr>
      <vt:lpstr>Evolution Of The Microprocessor </vt:lpstr>
      <vt:lpstr>Computer Architecture </vt:lpstr>
      <vt:lpstr>Primary Storage </vt:lpstr>
      <vt:lpstr>Primary Memory/Example</vt:lpstr>
      <vt:lpstr>Categories Of Memory </vt:lpstr>
      <vt:lpstr>PowerPoint Presentation</vt:lpstr>
      <vt:lpstr>The Control Unit </vt:lpstr>
      <vt:lpstr>Buses </vt:lpstr>
      <vt:lpstr>Example</vt:lpstr>
      <vt:lpstr>Input/Output Devices </vt:lpstr>
      <vt:lpstr>Input Devices </vt:lpstr>
      <vt:lpstr>Output Devices </vt:lpstr>
      <vt:lpstr>Communications Media </vt:lpstr>
      <vt:lpstr>PowerPoint Presentation</vt:lpstr>
      <vt:lpstr>Types Of Software </vt:lpstr>
      <vt:lpstr>Types Of Software </vt:lpstr>
      <vt:lpstr>Application Software </vt:lpstr>
      <vt:lpstr>Application Software Continued</vt:lpstr>
      <vt:lpstr>Application Software Continued</vt:lpstr>
      <vt:lpstr>Application Software Continued</vt:lpstr>
      <vt:lpstr>Application Software Continued</vt:lpstr>
      <vt:lpstr>Application Software Continued</vt:lpstr>
      <vt:lpstr>Systems Software</vt:lpstr>
      <vt:lpstr>Application Software are software with a specific function to produce, such as word processing, spreadsheet, presentation, graphics, and video editing</vt:lpstr>
      <vt:lpstr>Application Software</vt:lpstr>
      <vt:lpstr>System Software are software that help and supports the operating system in maintaining the computers: Here are notable system software and their area of functionality</vt:lpstr>
      <vt:lpstr>Programming Software these are software that is used to create customized systems that are the requirements specified by an entity for its primary purpose. A programming language is a set of instructions needed to direct and control a system</vt:lpstr>
      <vt:lpstr>Programming Software</vt:lpstr>
      <vt:lpstr>Package Software refers to software that are bundled with the Operating or System software. Here are some examples of package software</vt:lpstr>
      <vt:lpstr>Database Software these refers to software for storing large volumes of information and controlling purposes is one of its features. A common database software has a table that is used in partitioning the data or files. Here is a simple graphical idea of how a database software works</vt:lpstr>
      <vt:lpstr>Operating Systems</vt:lpstr>
      <vt:lpstr>Operating Systems Continued</vt:lpstr>
      <vt:lpstr>Operating Systems Continued</vt:lpstr>
      <vt:lpstr>System Supports Programs </vt:lpstr>
      <vt:lpstr>System Development Programs </vt:lpstr>
      <vt:lpstr>Programming Languages </vt:lpstr>
      <vt:lpstr>Programming Languages Continued</vt:lpstr>
      <vt:lpstr>Programming Languages Continued</vt:lpstr>
      <vt:lpstr>Programming Languages Continued</vt:lpstr>
      <vt:lpstr>Case Tools </vt:lpstr>
      <vt:lpstr>Case Tools Continued</vt:lpstr>
      <vt:lpstr>REFERENCES</vt:lpstr>
      <vt:lpstr>PowerPoint Presentation</vt:lpstr>
      <vt:lpstr>Seatwork No.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dc:title>
  <dc:creator>Art Lekacos</dc:creator>
  <cp:lastModifiedBy>SAYO, MARIA RIZETTE H.</cp:lastModifiedBy>
  <cp:revision>1355</cp:revision>
  <dcterms:created xsi:type="dcterms:W3CDTF">2000-12-01T04:01:00Z</dcterms:created>
  <dcterms:modified xsi:type="dcterms:W3CDTF">2023-08-22T02:25:46Z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1033-10.2.0.5871</vt:lpwstr>
  </property>
</Properties>
</file>