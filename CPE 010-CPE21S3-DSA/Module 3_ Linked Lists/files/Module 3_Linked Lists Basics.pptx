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9" r:id="rId3"/>
    <p:sldId id="261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73574" autoAdjust="0"/>
  </p:normalViewPr>
  <p:slideViewPr>
    <p:cSldViewPr snapToGrid="0">
      <p:cViewPr varScale="1">
        <p:scale>
          <a:sx n="56" d="100"/>
          <a:sy n="56" d="100"/>
        </p:scale>
        <p:origin x="12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A4A6A-CC1C-41CF-B770-9CE8C8C0CB6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2E8AC-6056-4A53-893A-BF7EBB10686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642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This code performs our 4 steps: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allocate memory for a new node called </a:t>
            </a:r>
            <a:r>
              <a:rPr lang="en-US" b="0" i="0" dirty="0" err="1">
                <a:solidFill>
                  <a:srgbClr val="2D3B45"/>
                </a:solidFill>
                <a:effectLst/>
                <a:latin typeface="Lato Extended"/>
              </a:rPr>
              <a:t>new_node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 (you can call it whatever you want)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we insert the data, that was passed in as an argument, into the data field of the Node we just created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take the </a:t>
            </a:r>
            <a:r>
              <a:rPr lang="en-US" b="0" i="0" dirty="0" err="1">
                <a:solidFill>
                  <a:srgbClr val="2D3B45"/>
                </a:solidFill>
                <a:effectLst/>
                <a:latin typeface="Lato Extended"/>
              </a:rPr>
              <a:t>head_ref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 pointer, that points to the original head, and set the next field of the new node to point at the previous head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take the address of the </a:t>
            </a:r>
            <a:r>
              <a:rPr lang="en-US" b="0" i="0" dirty="0" err="1">
                <a:solidFill>
                  <a:srgbClr val="2D3B45"/>
                </a:solidFill>
                <a:effectLst/>
                <a:latin typeface="Lato Extended"/>
              </a:rPr>
              <a:t>new_node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 and reset the </a:t>
            </a:r>
            <a:r>
              <a:rPr lang="en-US" b="0" i="0" dirty="0" err="1">
                <a:solidFill>
                  <a:srgbClr val="2D3B45"/>
                </a:solidFill>
                <a:effectLst/>
                <a:latin typeface="Lato Extended"/>
              </a:rPr>
              <a:t>head_ref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 to point to this new node as the head of the linked list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2E8AC-6056-4A53-893A-BF7EBB10686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5884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2E8AC-6056-4A53-893A-BF7EBB10686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559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6F7D-CCE0-4D99-8128-96E3F702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E10B9-F4BD-4667-999B-D1F917BF6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FCD26-72B5-447A-8B59-655A54A3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1E1E-B563-42AE-A43F-24E4DC92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EDA7-9F72-43A0-8559-2A75FDF4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911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D980-3EB5-4978-A2BA-658D3155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7D22-8F6C-4A21-AB4B-BA604A04C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F9A7A-4832-4C6C-A9DF-A75D13E0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92DC2-DA03-44B6-AF08-4D624008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0D835-B71C-4BC2-AA74-F778F30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7753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FA63-F3AC-49CC-80ED-7437987B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02D5-8005-4136-9518-D34125A67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D7829-E060-456D-80EA-955ABB11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A0236-DEBB-42C5-9AAF-FCB2F141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E1E3D-8192-4879-AD02-783C297F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06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9B7E-0F56-4F85-9034-1F0CE946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AD70-BF2F-4FCA-853B-8BC28DDC7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2CE6C-1F71-4EA5-A82A-CE52D9DB2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77EC3-F29F-425C-9429-9F4F5B67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50261-D692-46E0-AE98-E520CE37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C8634-C545-44F2-B386-1F1BE140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179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5CB3-DA67-4EDD-B171-539E9B7B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9A8A-A11D-4A00-BE32-E53FA1063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BA1CC-1191-48F3-BF46-0C2D680D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CAB66-948E-4837-93D2-31DC05C54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F1959-32BD-427C-ADF4-A6872500C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85F8D-6340-4E67-ADA2-F4EA55F8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4BD4E-0AC2-4A21-9F89-B9D7C7BD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8DA97-74EB-4146-BD2F-3D6391C9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32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A273-AB3E-4E65-9F62-02020617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B1E4C-03CF-463F-A6F0-EC254741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EE65B-CD1B-4BF6-B7EF-3881CFA3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93990-4302-4446-9687-8C47A4C5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087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C8C56-8D10-4E8B-B942-B210F9C8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C2E64-21F7-4879-B8CA-66A9FE8D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CA53C-5FFA-4683-A1B2-E1A89F4C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184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3751-E2C8-4731-B9D7-9E8A9C5A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8C18-C2E9-4C3B-9577-D66D13D4C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7425D-26A1-4287-B33F-A547F71BD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33FD5-B98F-4914-966B-96787A61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94492-C8DB-431B-B03F-5D1FF527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59BEB-E86B-44DB-8267-CE2ECD36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646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A701-1ED4-4AC7-9BB3-F0773A500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D5F21-6C74-4A56-85BE-DA1314B62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469B3-9A94-4B82-B37F-D89A80B17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C6845-26D1-4745-A01F-A07868C3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84686-C4A0-4E6D-B8FE-1121922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662ED-159F-462B-B244-AE37FD67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363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00AE-9BFE-4C29-B3F4-E98DFF47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485EA-2199-4660-B864-86C7A163B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21786-696C-4A93-86C1-C1EEBC4C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3F2ED-31EE-42D3-B468-693DA8C6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8FF6-06B7-4DA2-BCAA-D83E7C19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122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C749D-26A1-47D4-B948-2E38149C5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A5EEB-0E26-4857-A069-069D7AB3C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73A24-5E62-4186-B546-5673D86A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34A25-EE81-4EB6-A78D-24EDF37B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CED60-9AFE-4339-B9D1-376102B4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17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3231-CF61-4A0F-BB55-84347B87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0292-7810-4D8A-B7C2-50796D0BE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46304-296A-4A79-9DA9-FE82D2D29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75EEC-AD13-4D9E-8A21-2BE4C075FE56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E6F4-37DB-495A-B7FC-B874922BB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6833C-12D9-4B60-8755-AA291E122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BCA35-541C-4582-932D-266022F19F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617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DD65-0FAD-40CA-B639-451F0F4E3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/>
          <a:p>
            <a:r>
              <a:rPr lang="en-PH" dirty="0"/>
              <a:t>Linked Lists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108770C-410B-3FCD-2A50-DEADC409D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709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F70D-95CB-4CB3-8BBA-1A87C0B6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4000" dirty="0"/>
              <a:t>C++ Standard Template Library (STL)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BDC06-8C5B-45A1-8DF4-96463ED1D2AF}"/>
              </a:ext>
            </a:extLst>
          </p:cNvPr>
          <p:cNvSpPr txBox="1"/>
          <p:nvPr/>
        </p:nvSpPr>
        <p:spPr>
          <a:xfrm>
            <a:off x="838200" y="1690688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C++ STL (Standard Template Library) is a powerful set of C++ template classes to provide general-purpose classes and functions with templates that implement many popular and commonly used algorithms and data structures like vectors, lists, queues, and stacks.</a:t>
            </a:r>
          </a:p>
          <a:p>
            <a:endParaRPr lang="en-US" dirty="0"/>
          </a:p>
          <a:p>
            <a:r>
              <a:rPr lang="en-US" dirty="0"/>
              <a:t>At the core of the C++ Standard Template Library are following three well-structured components −</a:t>
            </a:r>
            <a:endParaRPr lang="en-PH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6AC2BAF-21CE-42BD-9562-5ED48B226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95471"/>
              </p:ext>
            </p:extLst>
          </p:nvPr>
        </p:nvGraphicFramePr>
        <p:xfrm>
          <a:off x="838200" y="3409631"/>
          <a:ext cx="10515600" cy="231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067">
                  <a:extLst>
                    <a:ext uri="{9D8B030D-6E8A-4147-A177-3AD203B41FA5}">
                      <a16:colId xmlns:a16="http://schemas.microsoft.com/office/drawing/2014/main" val="1216298165"/>
                    </a:ext>
                  </a:extLst>
                </a:gridCol>
                <a:gridCol w="9897533">
                  <a:extLst>
                    <a:ext uri="{9D8B030D-6E8A-4147-A177-3AD203B41FA5}">
                      <a16:colId xmlns:a16="http://schemas.microsoft.com/office/drawing/2014/main" val="395556281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Component &amp;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5785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P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Containers</a:t>
                      </a:r>
                      <a:r>
                        <a:rPr lang="en-US" dirty="0"/>
                        <a:t> are used to manage collections of objects of a certain kind. There are several different types of containers like deque, list, vector, map etc.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8536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Algorithms </a:t>
                      </a:r>
                      <a:r>
                        <a:rPr lang="en-US" dirty="0"/>
                        <a:t>act on containers. They provide the means by which you will perform initialization, sorting, searching, and transforming of the contents of containers.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472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Iterators</a:t>
                      </a:r>
                      <a:r>
                        <a:rPr lang="en-US" dirty="0"/>
                        <a:t> are used to step through the elements of collections of objects. These collections may be containers or subsets of containers.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109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998C6EE-21AB-465E-AFBC-9B28BF118CDC}"/>
              </a:ext>
            </a:extLst>
          </p:cNvPr>
          <p:cNvSpPr txBox="1"/>
          <p:nvPr/>
        </p:nvSpPr>
        <p:spPr>
          <a:xfrm>
            <a:off x="838200" y="59696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i="1" dirty="0"/>
              <a:t>https://en.cppreference.com/w/</a:t>
            </a:r>
          </a:p>
        </p:txBody>
      </p:sp>
    </p:spTree>
    <p:extLst>
      <p:ext uri="{BB962C8B-B14F-4D97-AF65-F5344CB8AC3E}">
        <p14:creationId xmlns:p14="http://schemas.microsoft.com/office/powerpoint/2010/main" val="227675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18DC-4400-44A7-BCBE-4EE6B5E1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Recap: Struct vs Class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ABFC9-4B4D-4932-88EE-586E4DC41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How are structures not secure?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99773-C390-46A3-A840-1BAB20067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5250"/>
            <a:ext cx="2390775" cy="3676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640B2-0115-4A49-B313-0B5459A1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267" y="5219170"/>
            <a:ext cx="2590800" cy="314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66C60A-6494-4145-8B50-950AFF2793BA}"/>
              </a:ext>
            </a:extLst>
          </p:cNvPr>
          <p:cNvSpPr txBox="1"/>
          <p:nvPr/>
        </p:nvSpPr>
        <p:spPr>
          <a:xfrm>
            <a:off x="5692140" y="2635250"/>
            <a:ext cx="503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Members of a class are private by default and members of a struct are public by default.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4103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6A961A-366B-4976-9BAF-68C827F7DDF9}"/>
              </a:ext>
            </a:extLst>
          </p:cNvPr>
          <p:cNvSpPr txBox="1"/>
          <p:nvPr/>
        </p:nvSpPr>
        <p:spPr>
          <a:xfrm>
            <a:off x="455121" y="287958"/>
            <a:ext cx="11166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deriving a struct from a class/struct, default access-specifier for a base class/struct is public. And when deriving a class, default access specifier is private.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65E19-D883-4802-8853-47D1C4A1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5" y="1208478"/>
            <a:ext cx="4629805" cy="4574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C37B58-0BDE-458A-961C-2A3EF6FA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84205"/>
            <a:ext cx="4740904" cy="4598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EE1B63-C711-48FE-B924-1BBF8DD8EAB3}"/>
              </a:ext>
            </a:extLst>
          </p:cNvPr>
          <p:cNvSpPr txBox="1"/>
          <p:nvPr/>
        </p:nvSpPr>
        <p:spPr>
          <a:xfrm>
            <a:off x="4411980" y="6186787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Inheritance: Private vs Public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3293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E0C1-F360-444E-9AE9-3E647F8F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/>
              <a:t>Introduction to Linked Lists</a:t>
            </a:r>
            <a:endParaRPr lang="en-PH" dirty="0"/>
          </a:p>
        </p:txBody>
      </p:sp>
      <p:pic>
        <p:nvPicPr>
          <p:cNvPr id="1026" name="Picture 2" descr="A linkedlist with 4 elements. The head pointer points to the first element. Each element has a next pointer that points to the next element. The last element's next pointer is a null pointer">
            <a:extLst>
              <a:ext uri="{FF2B5EF4-FFF2-40B4-BE49-F238E27FC236}">
                <a16:creationId xmlns:a16="http://schemas.microsoft.com/office/drawing/2014/main" id="{7BB8FB60-C96D-4F48-8C8D-1D17CEA5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2" y="2614883"/>
            <a:ext cx="72294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E98AAA-6C88-4480-A94B-26BA1230BAE3}"/>
              </a:ext>
            </a:extLst>
          </p:cNvPr>
          <p:cNvSpPr txBox="1"/>
          <p:nvPr/>
        </p:nvSpPr>
        <p:spPr>
          <a:xfrm>
            <a:off x="838199" y="1829620"/>
            <a:ext cx="10242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Linked Lists are a linear data structure. Unlike arrays, linked list elements are not stored at a contiguous location; the elements are linked using pointers.</a:t>
            </a:r>
            <a:endParaRPr lang="en-P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4A37E-AD52-43C0-837F-BB4834E869E5}"/>
              </a:ext>
            </a:extLst>
          </p:cNvPr>
          <p:cNvSpPr txBox="1"/>
          <p:nvPr/>
        </p:nvSpPr>
        <p:spPr>
          <a:xfrm>
            <a:off x="838199" y="4224608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Linked List?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Arrays are useful but have the following limitations: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Fixed size.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Allocated memory remains to be the upper limit.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Expensive operations (such as insertion) which requires movement of all existing elements and creation of room for new elements.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0790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ngly Linked List - DEV Community">
            <a:extLst>
              <a:ext uri="{FF2B5EF4-FFF2-40B4-BE49-F238E27FC236}">
                <a16:creationId xmlns:a16="http://schemas.microsoft.com/office/drawing/2014/main" id="{65A215D8-E301-4775-A129-BD76620B2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915" y="4007320"/>
            <a:ext cx="3314565" cy="270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4C7E70-5FAC-4BF6-93EF-5EE63857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Linked Lists vs. Arrays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C52A2-C25A-4F05-9545-878CCCBF0C84}"/>
              </a:ext>
            </a:extLst>
          </p:cNvPr>
          <p:cNvSpPr txBox="1"/>
          <p:nvPr/>
        </p:nvSpPr>
        <p:spPr>
          <a:xfrm>
            <a:off x="838200" y="1690688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 over Arrays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Dynamic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Ease of insertion/deletion</a:t>
            </a:r>
            <a:endParaRPr lang="en-P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E6D54-3FF4-42E3-94FE-92DDE4C14325}"/>
              </a:ext>
            </a:extLst>
          </p:cNvPr>
          <p:cNvSpPr txBox="1"/>
          <p:nvPr/>
        </p:nvSpPr>
        <p:spPr>
          <a:xfrm>
            <a:off x="838200" y="2806991"/>
            <a:ext cx="105834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Drawbacks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Random access is not allowed. We have to access elements sequentially starting from the first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Extra memory space for a pointer is required with each element of the list.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Not cache friendly. No locality reference.</a:t>
            </a:r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976BF-9880-4ED9-A3F0-CB51E64D5741}"/>
              </a:ext>
            </a:extLst>
          </p:cNvPr>
          <p:cNvSpPr txBox="1"/>
          <p:nvPr/>
        </p:nvSpPr>
        <p:spPr>
          <a:xfrm>
            <a:off x="838200" y="4184551"/>
            <a:ext cx="60973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Representation: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linked list is represented by a pointer to the first node of the linked list. The first node is called the head. If the linked list is empty, then the value of the head is NULL.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node in a list consists of at least two parts: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Pointer (Or Reference) to the next node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7744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ubly Linked List | Set 1 (Introduction and Insertion) - GeeksforGeeks">
            <a:extLst>
              <a:ext uri="{FF2B5EF4-FFF2-40B4-BE49-F238E27FC236}">
                <a16:creationId xmlns:a16="http://schemas.microsoft.com/office/drawing/2014/main" id="{5F08D756-277A-453E-A899-2FCFCD674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2" y="1960359"/>
            <a:ext cx="86391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F2C350-193E-4E42-BDD3-98BC2CF1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Doubly Linked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6C033-7E12-469A-B0F1-12E952111615}"/>
              </a:ext>
            </a:extLst>
          </p:cNvPr>
          <p:cNvSpPr txBox="1"/>
          <p:nvPr/>
        </p:nvSpPr>
        <p:spPr>
          <a:xfrm>
            <a:off x="838199" y="1825675"/>
            <a:ext cx="10649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Traversed in either direction. It is a linked list in which every node has a next pointer and a </a:t>
            </a:r>
            <a:r>
              <a:rPr lang="en-US" dirty="0" err="1"/>
              <a:t>backpointer</a:t>
            </a:r>
            <a:r>
              <a:rPr lang="en-US" dirty="0"/>
              <a:t>.</a:t>
            </a:r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FF8D1-D05E-4E6F-8D02-9609FA309C1A}"/>
              </a:ext>
            </a:extLst>
          </p:cNvPr>
          <p:cNvSpPr txBox="1"/>
          <p:nvPr/>
        </p:nvSpPr>
        <p:spPr>
          <a:xfrm>
            <a:off x="886977" y="3405028"/>
            <a:ext cx="10418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node contains address of next node (except the last node).</a:t>
            </a:r>
          </a:p>
          <a:p>
            <a:r>
              <a:rPr lang="en-US" dirty="0"/>
              <a:t>Every node contains address of previous node (except the first node).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CD4BD-5BEA-4209-BACF-6C0C7E680B8E}"/>
              </a:ext>
            </a:extLst>
          </p:cNvPr>
          <p:cNvSpPr txBox="1"/>
          <p:nvPr/>
        </p:nvSpPr>
        <p:spPr>
          <a:xfrm>
            <a:off x="1286395" y="4244954"/>
            <a:ext cx="60973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Typical operations: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the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Destroy the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Determine if list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list for a given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 an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Delete an item, and so on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0016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9E84-E18F-4B15-8841-B6045ABC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Simply Linked List</a:t>
            </a:r>
          </a:p>
        </p:txBody>
      </p:sp>
      <p:pic>
        <p:nvPicPr>
          <p:cNvPr id="4" name="Picture 2" descr="Singly Linked List - DEV Community">
            <a:extLst>
              <a:ext uri="{FF2B5EF4-FFF2-40B4-BE49-F238E27FC236}">
                <a16:creationId xmlns:a16="http://schemas.microsoft.com/office/drawing/2014/main" id="{654391A7-92FA-495C-8DA9-706A12D36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43" y="2324389"/>
            <a:ext cx="3314565" cy="270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4C0E41-B99E-4769-9090-635FE707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608" y="2818126"/>
            <a:ext cx="1828800" cy="942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21410A-4920-4134-966C-D87B016DA927}"/>
              </a:ext>
            </a:extLst>
          </p:cNvPr>
          <p:cNvSpPr txBox="1"/>
          <p:nvPr/>
        </p:nvSpPr>
        <p:spPr>
          <a:xfrm>
            <a:off x="616667" y="1892855"/>
            <a:ext cx="685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Create a simple linked list with your name, in this case "ROMAN"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C16D6-BD64-4CDF-9E21-5C5C306C1EC6}"/>
              </a:ext>
            </a:extLst>
          </p:cNvPr>
          <p:cNvSpPr txBox="1"/>
          <p:nvPr/>
        </p:nvSpPr>
        <p:spPr>
          <a:xfrm>
            <a:off x="6019861" y="2601391"/>
            <a:ext cx="460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000" dirty="0"/>
              <a:t>Step 1: Create the node pointers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3F4F5-6AE4-4C7A-A507-8526F4F30DFF}"/>
              </a:ext>
            </a:extLst>
          </p:cNvPr>
          <p:cNvSpPr txBox="1"/>
          <p:nvPr/>
        </p:nvSpPr>
        <p:spPr>
          <a:xfrm>
            <a:off x="6019861" y="2941233"/>
            <a:ext cx="5562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000" dirty="0"/>
              <a:t>Step 2: Create new nodes and allocated in the heap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2F81E-B544-4DE2-A9B8-2E64A25492A3}"/>
              </a:ext>
            </a:extLst>
          </p:cNvPr>
          <p:cNvSpPr txBox="1"/>
          <p:nvPr/>
        </p:nvSpPr>
        <p:spPr>
          <a:xfrm>
            <a:off x="6019861" y="3279787"/>
            <a:ext cx="5562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Step 3: Define every node in the list</a:t>
            </a:r>
            <a:endParaRPr lang="en-PH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856860-CD5F-45D2-BC05-5C3AF7001490}"/>
              </a:ext>
            </a:extLst>
          </p:cNvPr>
          <p:cNvSpPr txBox="1"/>
          <p:nvPr/>
        </p:nvSpPr>
        <p:spPr>
          <a:xfrm>
            <a:off x="6019860" y="3650407"/>
            <a:ext cx="34846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000" dirty="0"/>
              <a:t>Step 4: Point last node to NULL</a:t>
            </a:r>
          </a:p>
        </p:txBody>
      </p:sp>
    </p:spTree>
    <p:extLst>
      <p:ext uri="{BB962C8B-B14F-4D97-AF65-F5344CB8AC3E}">
        <p14:creationId xmlns:p14="http://schemas.microsoft.com/office/powerpoint/2010/main" val="130553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286B-F901-4936-ACEF-9DB93D45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4000" dirty="0"/>
              <a:t>Simply Linked List: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E4B7E-8002-45EB-8747-0504ED544A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589"/>
          <a:stretch/>
        </p:blipFill>
        <p:spPr>
          <a:xfrm>
            <a:off x="981770" y="1893888"/>
            <a:ext cx="4629150" cy="3816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6C6DF2-A9AC-4F7F-AF7B-9464FDCB3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755"/>
          <a:stretch/>
        </p:blipFill>
        <p:spPr>
          <a:xfrm>
            <a:off x="5754490" y="1893888"/>
            <a:ext cx="4629150" cy="269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1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36A8-BF36-4235-8265-A168D3FC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Linked List Traversal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96764-1EDC-47B1-977C-A2CE9443717C}"/>
              </a:ext>
            </a:extLst>
          </p:cNvPr>
          <p:cNvSpPr txBox="1"/>
          <p:nvPr/>
        </p:nvSpPr>
        <p:spPr>
          <a:xfrm>
            <a:off x="838200" y="2781915"/>
            <a:ext cx="6094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>
                <a:latin typeface="Arial Nova" panose="020B0504020202020204" pitchFamily="34" charset="0"/>
              </a:rPr>
              <a:t>Algorithm</a:t>
            </a:r>
            <a:r>
              <a:rPr lang="en-PH" b="1" dirty="0">
                <a:latin typeface="Arial Nova" panose="020B0504020202020204" pitchFamily="34" charset="0"/>
              </a:rPr>
              <a:t>: </a:t>
            </a:r>
            <a:r>
              <a:rPr lang="en-PH" b="1" dirty="0" err="1">
                <a:latin typeface="Arial Nova" panose="020B0504020202020204" pitchFamily="34" charset="0"/>
              </a:rPr>
              <a:t>ListTraversal</a:t>
            </a:r>
            <a:r>
              <a:rPr lang="en-PH" b="1" dirty="0">
                <a:latin typeface="Arial Nova" panose="020B0504020202020204" pitchFamily="34" charset="0"/>
              </a:rPr>
              <a:t> </a:t>
            </a:r>
            <a:r>
              <a:rPr lang="en-PH" dirty="0">
                <a:latin typeface="Arial Nova" panose="020B0504020202020204" pitchFamily="34" charset="0"/>
              </a:rPr>
              <a:t>(parameter: pointer to node n)</a:t>
            </a:r>
            <a:endParaRPr lang="en-PH" b="1" dirty="0">
              <a:latin typeface="Arial Nova" panose="020B0504020202020204" pitchFamily="34" charset="0"/>
            </a:endParaRPr>
          </a:p>
          <a:p>
            <a:r>
              <a:rPr lang="en-PH" dirty="0">
                <a:latin typeface="Arial Nova" panose="020B0504020202020204" pitchFamily="34" charset="0"/>
              </a:rPr>
              <a:t>WHILE n IS NOT EQUAL TO null</a:t>
            </a:r>
          </a:p>
          <a:p>
            <a:r>
              <a:rPr lang="en-PH" dirty="0">
                <a:latin typeface="Arial Nova" panose="020B0504020202020204" pitchFamily="34" charset="0"/>
              </a:rPr>
              <a:t>	PRINT data OF n</a:t>
            </a:r>
          </a:p>
          <a:p>
            <a:r>
              <a:rPr lang="en-PH" dirty="0">
                <a:latin typeface="Arial Nova" panose="020B0504020202020204" pitchFamily="34" charset="0"/>
              </a:rPr>
              <a:t>	GO TO NEXT NODE n := next</a:t>
            </a:r>
          </a:p>
          <a:p>
            <a:r>
              <a:rPr lang="en-PH" dirty="0">
                <a:latin typeface="Arial Nova" panose="020B0504020202020204" pitchFamily="34" charset="0"/>
              </a:rPr>
              <a:t>	ENDWHILE</a:t>
            </a:r>
          </a:p>
          <a:p>
            <a:r>
              <a:rPr lang="en-PH" dirty="0">
                <a:latin typeface="Arial Nova" panose="020B0504020202020204" pitchFamily="34" charset="0"/>
              </a:rPr>
              <a:t>PRINT next line</a:t>
            </a:r>
          </a:p>
          <a:p>
            <a:r>
              <a:rPr lang="en-PH" dirty="0">
                <a:latin typeface="Arial Nova" panose="020B0504020202020204" pitchFamily="34" charset="0"/>
              </a:rPr>
              <a:t>END</a:t>
            </a:r>
          </a:p>
          <a:p>
            <a:r>
              <a:rPr lang="en-PH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6322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01F1-F4A7-45C5-B1FF-F7FC3F0C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Node Insertion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D7E8B-3F3C-46F9-B11F-CE77E2D06EDF}"/>
              </a:ext>
            </a:extLst>
          </p:cNvPr>
          <p:cNvSpPr txBox="1"/>
          <p:nvPr/>
        </p:nvSpPr>
        <p:spPr>
          <a:xfrm>
            <a:off x="891540" y="3573055"/>
            <a:ext cx="104089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new node can be added to a linked list in one of three ways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800" dirty="0"/>
              <a:t>At the front of the linked list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800" dirty="0"/>
              <a:t>After a given node.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800" dirty="0"/>
              <a:t>At the end of the linked list.</a:t>
            </a:r>
            <a:endParaRPr lang="en-PH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F6D21-4BCA-492C-976A-43F6D5F30ACE}"/>
              </a:ext>
            </a:extLst>
          </p:cNvPr>
          <p:cNvSpPr txBox="1"/>
          <p:nvPr/>
        </p:nvSpPr>
        <p:spPr>
          <a:xfrm>
            <a:off x="838200" y="1939374"/>
            <a:ext cx="10408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Sometimes we have a linked list and we need to insert a node somewhere other than at the end of the list. We will take a look at a couple of different ways to insert a node into an existing list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108505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80B4-C939-46DA-9E55-2524B9FA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Node Insertion at 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3871F-DE75-456A-819C-0DF2CCF6E693}"/>
              </a:ext>
            </a:extLst>
          </p:cNvPr>
          <p:cNvSpPr txBox="1"/>
          <p:nvPr/>
        </p:nvSpPr>
        <p:spPr>
          <a:xfrm>
            <a:off x="516924" y="2038584"/>
            <a:ext cx="6097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Allocate memory for the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Put our data into the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Next of the new node to point to the previous Head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Reset Head to point to the new node</a:t>
            </a:r>
            <a:endParaRPr lang="en-PH" dirty="0"/>
          </a:p>
        </p:txBody>
      </p:sp>
      <p:pic>
        <p:nvPicPr>
          <p:cNvPr id="4098" name="Picture 2" descr="Inserting a new node at the beginning of a linked list. We must rest the head pointer to the new node, and set the new node's NEXT pointer to the previous head node.">
            <a:extLst>
              <a:ext uri="{FF2B5EF4-FFF2-40B4-BE49-F238E27FC236}">
                <a16:creationId xmlns:a16="http://schemas.microsoft.com/office/drawing/2014/main" id="{F448FCFA-552C-474E-87B5-C1F531679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2" y="4064000"/>
            <a:ext cx="722947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02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7D6B-E29B-4595-8139-C79AF32A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General Node Insertion</a:t>
            </a:r>
          </a:p>
        </p:txBody>
      </p:sp>
      <p:pic>
        <p:nvPicPr>
          <p:cNvPr id="6146" name="Picture 2" descr="Inserting a new node after a specified node in a linked list">
            <a:extLst>
              <a:ext uri="{FF2B5EF4-FFF2-40B4-BE49-F238E27FC236}">
                <a16:creationId xmlns:a16="http://schemas.microsoft.com/office/drawing/2014/main" id="{63AF31DC-9A1B-41C7-B3C8-CBE4E999C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85"/>
          <a:stretch/>
        </p:blipFill>
        <p:spPr bwMode="auto">
          <a:xfrm>
            <a:off x="2481262" y="4652788"/>
            <a:ext cx="7229475" cy="210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F40794-6E6E-4CDE-A0FC-FBEA09B20B41}"/>
              </a:ext>
            </a:extLst>
          </p:cNvPr>
          <p:cNvSpPr txBox="1"/>
          <p:nvPr/>
        </p:nvSpPr>
        <p:spPr>
          <a:xfrm>
            <a:off x="327378" y="181437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Steps: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Check if it is the head node (previous node is null)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If null, print "Previous node cannot be null."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Allocate a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Store data in the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Point new node to the node previous node was pointing to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Point previous node to the new node</a:t>
            </a:r>
          </a:p>
        </p:txBody>
      </p:sp>
    </p:spTree>
    <p:extLst>
      <p:ext uri="{BB962C8B-B14F-4D97-AF65-F5344CB8AC3E}">
        <p14:creationId xmlns:p14="http://schemas.microsoft.com/office/powerpoint/2010/main" val="2282425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8FF0-DA2F-4F7D-BB4E-866E256C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Insert Node at the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31F90-0A32-4903-B807-B2C86E8BB30D}"/>
              </a:ext>
            </a:extLst>
          </p:cNvPr>
          <p:cNvSpPr txBox="1"/>
          <p:nvPr/>
        </p:nvSpPr>
        <p:spPr>
          <a:xfrm>
            <a:off x="838200" y="169068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Steps: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Allocate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Dereference to the head node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Store data in new node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Point next of new node to NULL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Traverse the list until next of the node is null</a:t>
            </a:r>
          </a:p>
          <a:p>
            <a:pPr marL="342900" indent="-342900">
              <a:buFont typeface="+mj-lt"/>
              <a:buAutoNum type="arabicPeriod"/>
            </a:pPr>
            <a:r>
              <a:rPr lang="en-PH" dirty="0"/>
              <a:t>Point the next of the current node to the new node</a:t>
            </a:r>
          </a:p>
        </p:txBody>
      </p:sp>
      <p:pic>
        <p:nvPicPr>
          <p:cNvPr id="7170" name="Picture 2" descr="Inserting a new node at the end of an existing linked list. We must traverse the linked list until the NEXT field is NULL...then add the new node ">
            <a:extLst>
              <a:ext uri="{FF2B5EF4-FFF2-40B4-BE49-F238E27FC236}">
                <a16:creationId xmlns:a16="http://schemas.microsoft.com/office/drawing/2014/main" id="{C2A4BAF3-4626-4E8D-8226-F12435505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838" y="4524375"/>
            <a:ext cx="722947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9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E578-999F-4EFD-AC43-096EE39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Delete a 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49F05-6CC6-4543-9F44-92CBA5B1AF8F}"/>
              </a:ext>
            </a:extLst>
          </p:cNvPr>
          <p:cNvSpPr txBox="1"/>
          <p:nvPr/>
        </p:nvSpPr>
        <p:spPr>
          <a:xfrm>
            <a:off x="457200" y="1951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To delete a node from linked list, we need to do following steps.</a:t>
            </a:r>
          </a:p>
          <a:p>
            <a:r>
              <a:rPr lang="en-PH" dirty="0"/>
              <a:t>1) Find previous node of the node to be deleted.</a:t>
            </a:r>
          </a:p>
          <a:p>
            <a:r>
              <a:rPr lang="en-PH" dirty="0"/>
              <a:t>2) Change the next of previous node.</a:t>
            </a:r>
          </a:p>
          <a:p>
            <a:r>
              <a:rPr lang="en-PH" dirty="0"/>
              <a:t>3) Free memory for the node to be deleted.</a:t>
            </a:r>
          </a:p>
        </p:txBody>
      </p:sp>
      <p:pic>
        <p:nvPicPr>
          <p:cNvPr id="8194" name="Picture 2" descr="Delete a node from a linked list based on some piece of data">
            <a:extLst>
              <a:ext uri="{FF2B5EF4-FFF2-40B4-BE49-F238E27FC236}">
                <a16:creationId xmlns:a16="http://schemas.microsoft.com/office/drawing/2014/main" id="{64450022-7F8F-4D22-8986-C1436C9BAB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72"/>
          <a:stretch/>
        </p:blipFill>
        <p:spPr bwMode="auto">
          <a:xfrm>
            <a:off x="2481262" y="5167313"/>
            <a:ext cx="7229475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76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1784</TotalTime>
  <Words>1002</Words>
  <Application>Microsoft Office PowerPoint</Application>
  <PresentationFormat>Widescreen</PresentationFormat>
  <Paragraphs>107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Nova</vt:lpstr>
      <vt:lpstr>Calibri</vt:lpstr>
      <vt:lpstr>Lato Extended</vt:lpstr>
      <vt:lpstr>Times New Roman</vt:lpstr>
      <vt:lpstr>Office Theme</vt:lpstr>
      <vt:lpstr>Linked Lists</vt:lpstr>
      <vt:lpstr>C++ Standard Template Library (STL)</vt:lpstr>
      <vt:lpstr>Recap: Struct vs Class in C++</vt:lpstr>
      <vt:lpstr>PowerPoint Presentation</vt:lpstr>
      <vt:lpstr>Introduction to Linked Lists</vt:lpstr>
      <vt:lpstr>Linked Lists vs. Arrays</vt:lpstr>
      <vt:lpstr>Doubly Linked Lists</vt:lpstr>
      <vt:lpstr>Simply Linked List</vt:lpstr>
      <vt:lpstr>Simply Linked List: Implementation</vt:lpstr>
      <vt:lpstr>Linked List Traversal</vt:lpstr>
      <vt:lpstr>Node Insertion</vt:lpstr>
      <vt:lpstr>Node Insertion at head</vt:lpstr>
      <vt:lpstr>General Node Insertion</vt:lpstr>
      <vt:lpstr>Insert Node at the End</vt:lpstr>
      <vt:lpstr>Delete a Node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CPE010 | Data Structures and Algorithms   Linked List, Stacks, and Queues</dc:title>
  <dc:creator>Roman Richard</dc:creator>
  <cp:lastModifiedBy>Roman Richard</cp:lastModifiedBy>
  <cp:revision>7</cp:revision>
  <dcterms:created xsi:type="dcterms:W3CDTF">2021-09-05T06:15:44Z</dcterms:created>
  <dcterms:modified xsi:type="dcterms:W3CDTF">2022-08-14T08:20:58Z</dcterms:modified>
</cp:coreProperties>
</file>