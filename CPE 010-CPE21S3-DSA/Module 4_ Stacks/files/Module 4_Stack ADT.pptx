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8" r:id="rId21"/>
    <p:sldId id="279" r:id="rId22"/>
    <p:sldId id="280" r:id="rId23"/>
    <p:sldId id="281" r:id="rId24"/>
    <p:sldId id="282" r:id="rId25"/>
    <p:sldId id="286" r:id="rId26"/>
    <p:sldId id="287" r:id="rId27"/>
    <p:sldId id="288" r:id="rId28"/>
    <p:sldId id="289" r:id="rId29"/>
    <p:sldId id="290" r:id="rId30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506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D7CFF-E1F9-499C-A628-2EA2E5AC7300}" type="datetimeFigureOut">
              <a:rPr lang="en-PH" smtClean="0"/>
              <a:t>14/08/2022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59A579-46A3-4924-9AEA-BD4594FEEFE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12072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5D9D19-DF67-41E1-9F25-27D151397437}" type="datetime1">
              <a:rPr lang="en-US" smtClean="0"/>
              <a:t>8/14/2022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4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0AC602-6944-44A1-80C8-5E8C9F2BCFA8}" type="datetime1">
              <a:rPr lang="en-US" smtClean="0"/>
              <a:t>8/14/2022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4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4DD5D0-961E-405A-B905-F3ACEFA11E9E}" type="datetime1">
              <a:rPr lang="en-US" smtClean="0"/>
              <a:t>8/14/2022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4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E1839-C544-44DE-B69E-7E2DD5CE8B3A}" type="datetime1">
              <a:rPr lang="en-US" smtClean="0"/>
              <a:t>8/14/2022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4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E95037-EC13-4408-A546-5E5D6A91FDA5}" type="datetime1">
              <a:rPr lang="en-US" smtClean="0"/>
              <a:t>8/14/2022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4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87500" y="421556"/>
            <a:ext cx="431863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6000" y="1803400"/>
            <a:ext cx="6915150" cy="1968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9DFB39-5F07-42DD-B5E8-95BBEAE4CF83}" type="datetime1">
              <a:rPr lang="en-US" smtClean="0"/>
              <a:t>8/14/2022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94492" y="6364354"/>
            <a:ext cx="274319" cy="224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4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685800" y="2125980"/>
            <a:ext cx="77724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PH" dirty="0"/>
              <a:t>The Stack ADT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3700" y="1031156"/>
            <a:ext cx="58693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Stacks</a:t>
            </a:r>
            <a:r>
              <a:rPr spc="-15" dirty="0"/>
              <a:t> </a:t>
            </a:r>
            <a:r>
              <a:rPr spc="-5" dirty="0"/>
              <a:t>of</a:t>
            </a:r>
            <a:r>
              <a:rPr spc="-15" dirty="0"/>
              <a:t> </a:t>
            </a:r>
            <a:r>
              <a:rPr spc="-5" dirty="0"/>
              <a:t>Coins</a:t>
            </a:r>
            <a:r>
              <a:rPr spc="-15" dirty="0"/>
              <a:t> </a:t>
            </a:r>
            <a:r>
              <a:rPr spc="-5" dirty="0"/>
              <a:t>and</a:t>
            </a:r>
            <a:r>
              <a:rPr spc="-15" dirty="0"/>
              <a:t> </a:t>
            </a:r>
            <a:r>
              <a:rPr spc="-5" dirty="0"/>
              <a:t>Plates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7013" y="2177910"/>
            <a:ext cx="4728386" cy="31497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0250" y="2286000"/>
            <a:ext cx="2324100" cy="3505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6600" y="637456"/>
            <a:ext cx="60204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Stacks</a:t>
            </a:r>
            <a:r>
              <a:rPr spc="-20" dirty="0"/>
              <a:t> </a:t>
            </a:r>
            <a:r>
              <a:rPr spc="-5" dirty="0"/>
              <a:t>of</a:t>
            </a:r>
            <a:r>
              <a:rPr spc="-20" dirty="0"/>
              <a:t> </a:t>
            </a:r>
            <a:r>
              <a:rPr spc="-5" dirty="0"/>
              <a:t>Rocks</a:t>
            </a:r>
            <a:r>
              <a:rPr spc="-25" dirty="0"/>
              <a:t> </a:t>
            </a:r>
            <a:r>
              <a:rPr spc="-5" dirty="0"/>
              <a:t>and</a:t>
            </a:r>
            <a:r>
              <a:rPr spc="-20" dirty="0"/>
              <a:t> </a:t>
            </a:r>
            <a:r>
              <a:rPr spc="-5" dirty="0"/>
              <a:t>Books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6612" y="1809389"/>
            <a:ext cx="2223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CC0000"/>
                </a:solidFill>
                <a:latin typeface="Arial"/>
                <a:cs typeface="Arial"/>
              </a:rPr>
              <a:t>TOP</a:t>
            </a:r>
            <a:r>
              <a:rPr sz="1800" b="1" spc="-55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CC0000"/>
                </a:solidFill>
                <a:latin typeface="Arial"/>
                <a:cs typeface="Arial"/>
              </a:rPr>
              <a:t>OF</a:t>
            </a:r>
            <a:r>
              <a:rPr sz="1800" b="1" spc="-25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CC0000"/>
                </a:solidFill>
                <a:latin typeface="Arial"/>
                <a:cs typeface="Arial"/>
              </a:rPr>
              <a:t>THE</a:t>
            </a:r>
            <a:r>
              <a:rPr sz="1800" b="1" spc="-20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1800" b="1" spc="-30" dirty="0">
                <a:solidFill>
                  <a:srgbClr val="CC0000"/>
                </a:solidFill>
                <a:latin typeface="Arial"/>
                <a:cs typeface="Arial"/>
              </a:rPr>
              <a:t>STACK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41812" y="1898289"/>
            <a:ext cx="2223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CC0000"/>
                </a:solidFill>
                <a:latin typeface="Arial"/>
                <a:cs typeface="Arial"/>
              </a:rPr>
              <a:t>TOP</a:t>
            </a:r>
            <a:r>
              <a:rPr sz="1800" b="1" spc="-55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CC0000"/>
                </a:solidFill>
                <a:latin typeface="Arial"/>
                <a:cs typeface="Arial"/>
              </a:rPr>
              <a:t>OF</a:t>
            </a:r>
            <a:r>
              <a:rPr sz="1800" b="1" spc="-25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CC0000"/>
                </a:solidFill>
                <a:latin typeface="Arial"/>
                <a:cs typeface="Arial"/>
              </a:rPr>
              <a:t>THE</a:t>
            </a:r>
            <a:r>
              <a:rPr sz="1800" b="1" spc="-20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1800" b="1" spc="-30" dirty="0">
                <a:solidFill>
                  <a:srgbClr val="CC0000"/>
                </a:solidFill>
                <a:latin typeface="Arial"/>
                <a:cs typeface="Arial"/>
              </a:rPr>
              <a:t>STACK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6304" y="2401058"/>
            <a:ext cx="1637005" cy="335839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6288" y="2338847"/>
            <a:ext cx="3482812" cy="348281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922109" y="2724354"/>
            <a:ext cx="1991995" cy="170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2400" spc="85" dirty="0">
                <a:latin typeface="Microsoft Sans Serif"/>
                <a:cs typeface="Microsoft Sans Serif"/>
              </a:rPr>
              <a:t>Add, </a:t>
            </a:r>
            <a:r>
              <a:rPr sz="2400" spc="15" dirty="0">
                <a:latin typeface="Microsoft Sans Serif"/>
                <a:cs typeface="Microsoft Sans Serif"/>
              </a:rPr>
              <a:t>remove 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10" dirty="0">
                <a:latin typeface="Microsoft Sans Serif"/>
                <a:cs typeface="Microsoft Sans Serif"/>
              </a:rPr>
              <a:t>rock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spc="10" dirty="0">
                <a:latin typeface="Microsoft Sans Serif"/>
                <a:cs typeface="Microsoft Sans Serif"/>
              </a:rPr>
              <a:t>and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spc="75" dirty="0">
                <a:latin typeface="Microsoft Sans Serif"/>
                <a:cs typeface="Microsoft Sans Serif"/>
              </a:rPr>
              <a:t>book </a:t>
            </a:r>
            <a:r>
              <a:rPr sz="2400" spc="-620" dirty="0">
                <a:latin typeface="Microsoft Sans Serif"/>
                <a:cs typeface="Microsoft Sans Serif"/>
              </a:rPr>
              <a:t> </a:t>
            </a:r>
            <a:r>
              <a:rPr sz="2400" spc="55" dirty="0">
                <a:latin typeface="Microsoft Sans Serif"/>
                <a:cs typeface="Microsoft Sans Serif"/>
              </a:rPr>
              <a:t>from the </a:t>
            </a:r>
            <a:r>
              <a:rPr sz="2400" spc="100" dirty="0">
                <a:latin typeface="Microsoft Sans Serif"/>
                <a:cs typeface="Microsoft Sans Serif"/>
              </a:rPr>
              <a:t>top, </a:t>
            </a:r>
            <a:r>
              <a:rPr sz="2400" spc="105" dirty="0">
                <a:latin typeface="Microsoft Sans Serif"/>
                <a:cs typeface="Microsoft Sans Serif"/>
              </a:rPr>
              <a:t> </a:t>
            </a:r>
            <a:r>
              <a:rPr sz="2400" spc="65" dirty="0">
                <a:latin typeface="Microsoft Sans Serif"/>
                <a:cs typeface="Microsoft Sans Serif"/>
              </a:rPr>
              <a:t>or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175" dirty="0">
                <a:latin typeface="Microsoft Sans Serif"/>
                <a:cs typeface="Microsoft Sans Serif"/>
              </a:rPr>
              <a:t>else…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9300" y="769263"/>
            <a:ext cx="5273675" cy="4165600"/>
          </a:xfrm>
          <a:prstGeom prst="rect">
            <a:avLst/>
          </a:prstGeom>
        </p:spPr>
        <p:txBody>
          <a:bodyPr vert="horz" wrap="square" lIns="0" tIns="198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3200" b="1" dirty="0">
                <a:latin typeface="Arial"/>
                <a:cs typeface="Arial"/>
              </a:rPr>
              <a:t>Stack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at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logical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level</a:t>
            </a:r>
            <a:endParaRPr sz="3200">
              <a:latin typeface="Arial"/>
              <a:cs typeface="Arial"/>
            </a:endParaRPr>
          </a:p>
          <a:p>
            <a:pPr marL="312420" marR="5080" indent="-300355">
              <a:lnSpc>
                <a:spcPts val="3700"/>
              </a:lnSpc>
              <a:spcBef>
                <a:spcPts val="1700"/>
              </a:spcBef>
              <a:buChar char="•"/>
              <a:tabLst>
                <a:tab pos="313055" algn="l"/>
              </a:tabLst>
            </a:pPr>
            <a:r>
              <a:rPr sz="3200" dirty="0">
                <a:latin typeface="Arial MT"/>
                <a:cs typeface="Arial MT"/>
              </a:rPr>
              <a:t>A </a:t>
            </a:r>
            <a:r>
              <a:rPr sz="3200" spc="-5" dirty="0">
                <a:latin typeface="Arial MT"/>
                <a:cs typeface="Arial MT"/>
              </a:rPr>
              <a:t>stack </a:t>
            </a:r>
            <a:r>
              <a:rPr sz="3200" dirty="0">
                <a:latin typeface="Arial MT"/>
                <a:cs typeface="Arial MT"/>
              </a:rPr>
              <a:t>is an ADT in which 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FF2600"/>
                </a:solidFill>
                <a:latin typeface="Arial MT"/>
                <a:cs typeface="Arial MT"/>
              </a:rPr>
              <a:t>elements </a:t>
            </a:r>
            <a:r>
              <a:rPr sz="3200" dirty="0">
                <a:solidFill>
                  <a:srgbClr val="FF2600"/>
                </a:solidFill>
                <a:latin typeface="Arial MT"/>
                <a:cs typeface="Arial MT"/>
              </a:rPr>
              <a:t>add added and </a:t>
            </a:r>
            <a:r>
              <a:rPr sz="3200" spc="5" dirty="0">
                <a:solidFill>
                  <a:srgbClr val="FF26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2600"/>
                </a:solidFill>
                <a:latin typeface="Arial MT"/>
                <a:cs typeface="Arial MT"/>
              </a:rPr>
              <a:t>removed</a:t>
            </a:r>
            <a:r>
              <a:rPr sz="3200" spc="-25" dirty="0">
                <a:solidFill>
                  <a:srgbClr val="FF2600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FF2600"/>
                </a:solidFill>
                <a:latin typeface="Arial MT"/>
                <a:cs typeface="Arial MT"/>
              </a:rPr>
              <a:t>from</a:t>
            </a:r>
            <a:r>
              <a:rPr sz="3200" spc="-25" dirty="0">
                <a:solidFill>
                  <a:srgbClr val="FF26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2600"/>
                </a:solidFill>
                <a:latin typeface="Arial MT"/>
                <a:cs typeface="Arial MT"/>
              </a:rPr>
              <a:t>only</a:t>
            </a:r>
            <a:r>
              <a:rPr sz="3200" spc="-25" dirty="0">
                <a:solidFill>
                  <a:srgbClr val="FF26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2600"/>
                </a:solidFill>
                <a:latin typeface="Arial MT"/>
                <a:cs typeface="Arial MT"/>
              </a:rPr>
              <a:t>one</a:t>
            </a:r>
            <a:r>
              <a:rPr sz="3200" spc="-20" dirty="0">
                <a:solidFill>
                  <a:srgbClr val="FF26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2600"/>
                </a:solidFill>
                <a:latin typeface="Arial MT"/>
                <a:cs typeface="Arial MT"/>
              </a:rPr>
              <a:t>end </a:t>
            </a:r>
            <a:r>
              <a:rPr sz="3200" spc="-875" dirty="0">
                <a:solidFill>
                  <a:srgbClr val="FF2600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FF2600"/>
                </a:solidFill>
                <a:latin typeface="Arial MT"/>
                <a:cs typeface="Arial MT"/>
              </a:rPr>
              <a:t>(i.e.,at</a:t>
            </a:r>
            <a:r>
              <a:rPr sz="3200" spc="-10" dirty="0">
                <a:solidFill>
                  <a:srgbClr val="FF2600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FF2600"/>
                </a:solidFill>
                <a:latin typeface="Arial MT"/>
                <a:cs typeface="Arial MT"/>
              </a:rPr>
              <a:t>the top</a:t>
            </a:r>
            <a:r>
              <a:rPr sz="3200" dirty="0">
                <a:solidFill>
                  <a:srgbClr val="FF2600"/>
                </a:solidFill>
                <a:latin typeface="Arial MT"/>
                <a:cs typeface="Arial MT"/>
              </a:rPr>
              <a:t> of</a:t>
            </a:r>
            <a:r>
              <a:rPr sz="3200" spc="-10" dirty="0">
                <a:solidFill>
                  <a:srgbClr val="FF2600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FF2600"/>
                </a:solidFill>
                <a:latin typeface="Arial MT"/>
                <a:cs typeface="Arial MT"/>
              </a:rPr>
              <a:t>the</a:t>
            </a:r>
            <a:r>
              <a:rPr sz="3200" dirty="0">
                <a:solidFill>
                  <a:srgbClr val="FF2600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FF2600"/>
                </a:solidFill>
                <a:latin typeface="Arial MT"/>
                <a:cs typeface="Arial MT"/>
              </a:rPr>
              <a:t>stack).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 MT"/>
              <a:buChar char="•"/>
            </a:pPr>
            <a:endParaRPr sz="3000">
              <a:latin typeface="Arial MT"/>
              <a:cs typeface="Arial MT"/>
            </a:endParaRPr>
          </a:p>
          <a:p>
            <a:pPr marL="355600" marR="415290" indent="-342900">
              <a:lnSpc>
                <a:spcPts val="3700"/>
              </a:lnSpc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A</a:t>
            </a:r>
            <a:r>
              <a:rPr sz="3200" spc="-19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stack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00B050"/>
                </a:solidFill>
                <a:latin typeface="Arial MT"/>
                <a:cs typeface="Arial MT"/>
              </a:rPr>
              <a:t>LIFO</a:t>
            </a:r>
            <a:r>
              <a:rPr sz="3200" spc="-15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“last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in,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first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out” structure.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74486" y="1742158"/>
            <a:ext cx="1375510" cy="39729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897395"/>
            <a:ext cx="40068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Stack</a:t>
            </a:r>
            <a:r>
              <a:rPr sz="3000" spc="-30" dirty="0"/>
              <a:t> </a:t>
            </a:r>
            <a:r>
              <a:rPr sz="3000" dirty="0"/>
              <a:t>at</a:t>
            </a:r>
            <a:r>
              <a:rPr sz="3000" spc="-25" dirty="0"/>
              <a:t> </a:t>
            </a:r>
            <a:r>
              <a:rPr sz="3000" spc="-5" dirty="0"/>
              <a:t>Logical</a:t>
            </a:r>
            <a:r>
              <a:rPr sz="3000" spc="-25" dirty="0"/>
              <a:t> </a:t>
            </a:r>
            <a:r>
              <a:rPr sz="3000" spc="-5" dirty="0"/>
              <a:t>Level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603250" y="1646422"/>
            <a:ext cx="6616065" cy="73914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69875" marR="5080" indent="-257175">
              <a:lnSpc>
                <a:spcPts val="2500"/>
              </a:lnSpc>
              <a:spcBef>
                <a:spcPts val="700"/>
              </a:spcBef>
              <a:buFont typeface="Arial"/>
              <a:buChar char="•"/>
              <a:tabLst>
                <a:tab pos="269240" algn="l"/>
                <a:tab pos="269875" algn="l"/>
              </a:tabLst>
            </a:pPr>
            <a:r>
              <a:rPr sz="2600" spc="-5" dirty="0">
                <a:latin typeface="Arial MT"/>
                <a:cs typeface="Arial MT"/>
              </a:rPr>
              <a:t>What operations</a:t>
            </a:r>
            <a:r>
              <a:rPr sz="2600" dirty="0">
                <a:latin typeface="Arial MT"/>
                <a:cs typeface="Arial MT"/>
              </a:rPr>
              <a:t> would be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appropriate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for </a:t>
            </a:r>
            <a:r>
              <a:rPr sz="2600" dirty="0">
                <a:latin typeface="Arial MT"/>
                <a:cs typeface="Arial MT"/>
              </a:rPr>
              <a:t>a </a:t>
            </a:r>
            <a:r>
              <a:rPr sz="2600" spc="-70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stack?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5137" y="1026392"/>
            <a:ext cx="37865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Stack</a:t>
            </a:r>
            <a:r>
              <a:rPr spc="-70" dirty="0"/>
              <a:t> </a:t>
            </a:r>
            <a:r>
              <a:rPr spc="-5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4100" y="1772185"/>
            <a:ext cx="2298700" cy="135763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2800" b="1" spc="-155" dirty="0">
                <a:solidFill>
                  <a:srgbClr val="00B050"/>
                </a:solidFill>
                <a:latin typeface="Arial"/>
                <a:cs typeface="Arial"/>
              </a:rPr>
              <a:t>T</a:t>
            </a:r>
            <a:r>
              <a:rPr sz="2800" b="1" dirty="0">
                <a:solidFill>
                  <a:srgbClr val="00B050"/>
                </a:solidFill>
                <a:latin typeface="Arial"/>
                <a:cs typeface="Arial"/>
              </a:rPr>
              <a:t>ra</a:t>
            </a:r>
            <a:r>
              <a:rPr sz="2800" b="1" spc="-5" dirty="0">
                <a:solidFill>
                  <a:srgbClr val="00B050"/>
                </a:solidFill>
                <a:latin typeface="Arial"/>
                <a:cs typeface="Arial"/>
              </a:rPr>
              <a:t>n</a:t>
            </a:r>
            <a:r>
              <a:rPr sz="2800" b="1" dirty="0">
                <a:solidFill>
                  <a:srgbClr val="00B050"/>
                </a:solidFill>
                <a:latin typeface="Arial"/>
                <a:cs typeface="Arial"/>
              </a:rPr>
              <a:t>sf</a:t>
            </a:r>
            <a:r>
              <a:rPr sz="2800" b="1" spc="-5" dirty="0">
                <a:solidFill>
                  <a:srgbClr val="00B050"/>
                </a:solidFill>
                <a:latin typeface="Arial"/>
                <a:cs typeface="Arial"/>
              </a:rPr>
              <a:t>o</a:t>
            </a:r>
            <a:r>
              <a:rPr sz="2800" b="1" dirty="0">
                <a:solidFill>
                  <a:srgbClr val="00B050"/>
                </a:solidFill>
                <a:latin typeface="Arial"/>
                <a:cs typeface="Arial"/>
              </a:rPr>
              <a:t>rmers</a:t>
            </a:r>
            <a:endParaRPr sz="2800">
              <a:latin typeface="Arial"/>
              <a:cs typeface="Arial"/>
            </a:endParaRPr>
          </a:p>
          <a:p>
            <a:pPr marL="714375" indent="-245110">
              <a:lnSpc>
                <a:spcPct val="100000"/>
              </a:lnSpc>
              <a:spcBef>
                <a:spcPts val="434"/>
              </a:spcBef>
              <a:buChar char="•"/>
              <a:tabLst>
                <a:tab pos="714375" algn="l"/>
                <a:tab pos="715010" algn="l"/>
              </a:tabLst>
            </a:pPr>
            <a:r>
              <a:rPr sz="2400" b="1" spc="-5" dirty="0">
                <a:latin typeface="Arial"/>
                <a:cs typeface="Arial"/>
              </a:rPr>
              <a:t>Push</a:t>
            </a:r>
            <a:endParaRPr sz="2400">
              <a:latin typeface="Arial"/>
              <a:cs typeface="Arial"/>
            </a:endParaRPr>
          </a:p>
          <a:p>
            <a:pPr marL="714375" indent="-245110">
              <a:lnSpc>
                <a:spcPct val="100000"/>
              </a:lnSpc>
              <a:spcBef>
                <a:spcPts val="420"/>
              </a:spcBef>
              <a:buChar char="•"/>
              <a:tabLst>
                <a:tab pos="714375" algn="l"/>
                <a:tab pos="715010" algn="l"/>
              </a:tabLst>
            </a:pPr>
            <a:r>
              <a:rPr sz="2400" b="1" spc="-5" dirty="0">
                <a:latin typeface="Arial"/>
                <a:cs typeface="Arial"/>
              </a:rPr>
              <a:t>Pop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5550" y="3459846"/>
            <a:ext cx="1742439" cy="175323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2400" b="1" spc="-5" dirty="0">
                <a:solidFill>
                  <a:srgbClr val="00B050"/>
                </a:solidFill>
                <a:latin typeface="Arial"/>
                <a:cs typeface="Arial"/>
              </a:rPr>
              <a:t>Observers</a:t>
            </a:r>
            <a:endParaRPr sz="2400">
              <a:latin typeface="Arial"/>
              <a:cs typeface="Arial"/>
            </a:endParaRPr>
          </a:p>
          <a:p>
            <a:pPr marL="616585" indent="-603885">
              <a:lnSpc>
                <a:spcPct val="100000"/>
              </a:lnSpc>
              <a:spcBef>
                <a:spcPts val="420"/>
              </a:spcBef>
              <a:buFont typeface="Arial MT"/>
              <a:buChar char="•"/>
              <a:tabLst>
                <a:tab pos="615950" algn="l"/>
                <a:tab pos="616585" algn="l"/>
              </a:tabLst>
            </a:pPr>
            <a:r>
              <a:rPr sz="2400" b="1" spc="-65" dirty="0">
                <a:latin typeface="Arial"/>
                <a:cs typeface="Arial"/>
              </a:rPr>
              <a:t>Top</a:t>
            </a:r>
            <a:endParaRPr sz="2400">
              <a:latin typeface="Arial"/>
              <a:cs typeface="Arial"/>
            </a:endParaRPr>
          </a:p>
          <a:p>
            <a:pPr marL="542925" lvl="1" indent="-245110">
              <a:lnSpc>
                <a:spcPct val="100000"/>
              </a:lnSpc>
              <a:spcBef>
                <a:spcPts val="420"/>
              </a:spcBef>
              <a:buChar char="•"/>
              <a:tabLst>
                <a:tab pos="542925" algn="l"/>
                <a:tab pos="543560" algn="l"/>
              </a:tabLst>
            </a:pPr>
            <a:r>
              <a:rPr sz="2400" b="1" spc="-5" dirty="0">
                <a:latin typeface="Arial"/>
                <a:cs typeface="Arial"/>
              </a:rPr>
              <a:t>IsEmpty</a:t>
            </a:r>
            <a:endParaRPr sz="2400">
              <a:latin typeface="Arial"/>
              <a:cs typeface="Arial"/>
            </a:endParaRPr>
          </a:p>
          <a:p>
            <a:pPr marL="542925" lvl="1" indent="-245110">
              <a:lnSpc>
                <a:spcPct val="100000"/>
              </a:lnSpc>
              <a:spcBef>
                <a:spcPts val="819"/>
              </a:spcBef>
              <a:buChar char="•"/>
              <a:tabLst>
                <a:tab pos="542925" algn="l"/>
                <a:tab pos="543560" algn="l"/>
              </a:tabLst>
            </a:pPr>
            <a:r>
              <a:rPr sz="2400" b="1" spc="-5" dirty="0">
                <a:latin typeface="Arial"/>
                <a:cs typeface="Arial"/>
              </a:rPr>
              <a:t>IsFull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800600" y="3922712"/>
            <a:ext cx="3124200" cy="1371600"/>
            <a:chOff x="4800600" y="3922712"/>
            <a:chExt cx="3124200" cy="1371600"/>
          </a:xfrm>
        </p:grpSpPr>
        <p:sp>
          <p:nvSpPr>
            <p:cNvPr id="6" name="object 6"/>
            <p:cNvSpPr/>
            <p:nvPr/>
          </p:nvSpPr>
          <p:spPr>
            <a:xfrm>
              <a:off x="4806949" y="3929062"/>
              <a:ext cx="3111500" cy="1358900"/>
            </a:xfrm>
            <a:custGeom>
              <a:avLst/>
              <a:gdLst/>
              <a:ahLst/>
              <a:cxnLst/>
              <a:rect l="l" t="t" r="r" b="b"/>
              <a:pathLst>
                <a:path w="3111500" h="1358900">
                  <a:moveTo>
                    <a:pt x="1549400" y="0"/>
                  </a:moveTo>
                  <a:lnTo>
                    <a:pt x="0" y="679450"/>
                  </a:lnTo>
                  <a:lnTo>
                    <a:pt x="1549400" y="1358900"/>
                  </a:lnTo>
                  <a:lnTo>
                    <a:pt x="1549400" y="1195387"/>
                  </a:lnTo>
                  <a:lnTo>
                    <a:pt x="3111500" y="1195387"/>
                  </a:lnTo>
                  <a:lnTo>
                    <a:pt x="3111500" y="166687"/>
                  </a:lnTo>
                  <a:lnTo>
                    <a:pt x="1549400" y="166687"/>
                  </a:lnTo>
                  <a:lnTo>
                    <a:pt x="154940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06949" y="3929062"/>
              <a:ext cx="3111500" cy="1358900"/>
            </a:xfrm>
            <a:custGeom>
              <a:avLst/>
              <a:gdLst/>
              <a:ahLst/>
              <a:cxnLst/>
              <a:rect l="l" t="t" r="r" b="b"/>
              <a:pathLst>
                <a:path w="3111500" h="1358900">
                  <a:moveTo>
                    <a:pt x="1549400" y="1195387"/>
                  </a:moveTo>
                  <a:lnTo>
                    <a:pt x="1549400" y="1358901"/>
                  </a:lnTo>
                  <a:lnTo>
                    <a:pt x="0" y="679450"/>
                  </a:lnTo>
                  <a:lnTo>
                    <a:pt x="1549400" y="0"/>
                  </a:lnTo>
                  <a:lnTo>
                    <a:pt x="1549400" y="166687"/>
                  </a:lnTo>
                  <a:lnTo>
                    <a:pt x="3111500" y="166687"/>
                  </a:lnTo>
                  <a:lnTo>
                    <a:pt x="3111500" y="1195387"/>
                  </a:lnTo>
                  <a:lnTo>
                    <a:pt x="1549400" y="1195387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800600" y="1854200"/>
            <a:ext cx="3124200" cy="1371600"/>
            <a:chOff x="4800600" y="1854200"/>
            <a:chExt cx="3124200" cy="1371600"/>
          </a:xfrm>
        </p:grpSpPr>
        <p:sp>
          <p:nvSpPr>
            <p:cNvPr id="9" name="object 9"/>
            <p:cNvSpPr/>
            <p:nvPr/>
          </p:nvSpPr>
          <p:spPr>
            <a:xfrm>
              <a:off x="4806949" y="1860550"/>
              <a:ext cx="3111500" cy="1358900"/>
            </a:xfrm>
            <a:custGeom>
              <a:avLst/>
              <a:gdLst/>
              <a:ahLst/>
              <a:cxnLst/>
              <a:rect l="l" t="t" r="r" b="b"/>
              <a:pathLst>
                <a:path w="3111500" h="1358900">
                  <a:moveTo>
                    <a:pt x="1549400" y="0"/>
                  </a:moveTo>
                  <a:lnTo>
                    <a:pt x="0" y="679450"/>
                  </a:lnTo>
                  <a:lnTo>
                    <a:pt x="1549400" y="1358900"/>
                  </a:lnTo>
                  <a:lnTo>
                    <a:pt x="1549400" y="1193800"/>
                  </a:lnTo>
                  <a:lnTo>
                    <a:pt x="3111500" y="1193800"/>
                  </a:lnTo>
                  <a:lnTo>
                    <a:pt x="3111500" y="165100"/>
                  </a:lnTo>
                  <a:lnTo>
                    <a:pt x="1549400" y="165100"/>
                  </a:lnTo>
                  <a:lnTo>
                    <a:pt x="154940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06949" y="1860550"/>
              <a:ext cx="3111500" cy="1358900"/>
            </a:xfrm>
            <a:custGeom>
              <a:avLst/>
              <a:gdLst/>
              <a:ahLst/>
              <a:cxnLst/>
              <a:rect l="l" t="t" r="r" b="b"/>
              <a:pathLst>
                <a:path w="3111500" h="1358900">
                  <a:moveTo>
                    <a:pt x="1549400" y="1193800"/>
                  </a:moveTo>
                  <a:lnTo>
                    <a:pt x="1549400" y="1358900"/>
                  </a:lnTo>
                  <a:lnTo>
                    <a:pt x="0" y="679450"/>
                  </a:lnTo>
                  <a:lnTo>
                    <a:pt x="1549400" y="0"/>
                  </a:lnTo>
                  <a:lnTo>
                    <a:pt x="1549400" y="165100"/>
                  </a:lnTo>
                  <a:lnTo>
                    <a:pt x="3111500" y="165100"/>
                  </a:lnTo>
                  <a:lnTo>
                    <a:pt x="3111500" y="1193800"/>
                  </a:lnTo>
                  <a:lnTo>
                    <a:pt x="1549400" y="119380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884862" y="2363562"/>
            <a:ext cx="15786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latin typeface="Arial"/>
                <a:cs typeface="Arial"/>
              </a:rPr>
              <a:t>change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state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84862" y="4344762"/>
            <a:ext cx="16637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latin typeface="Arial"/>
                <a:cs typeface="Arial"/>
              </a:rPr>
              <a:t>observe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state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897395"/>
            <a:ext cx="47332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Stack</a:t>
            </a:r>
            <a:r>
              <a:rPr sz="3000" spc="-25" dirty="0"/>
              <a:t> </a:t>
            </a:r>
            <a:r>
              <a:rPr sz="3000" dirty="0"/>
              <a:t>at</a:t>
            </a:r>
            <a:r>
              <a:rPr sz="3000" spc="-130" dirty="0"/>
              <a:t> </a:t>
            </a:r>
            <a:r>
              <a:rPr sz="3000" spc="-5" dirty="0"/>
              <a:t>Application</a:t>
            </a:r>
            <a:r>
              <a:rPr sz="3000" spc="-25" dirty="0"/>
              <a:t> </a:t>
            </a:r>
            <a:r>
              <a:rPr sz="3000" spc="-5" dirty="0"/>
              <a:t>Level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603250" y="1646422"/>
            <a:ext cx="7000240" cy="349504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269875" marR="5080" indent="-257175">
              <a:lnSpc>
                <a:spcPts val="3100"/>
              </a:lnSpc>
              <a:spcBef>
                <a:spcPts val="219"/>
              </a:spcBef>
              <a:buFont typeface="Arial"/>
              <a:buChar char="•"/>
              <a:tabLst>
                <a:tab pos="269240" algn="l"/>
                <a:tab pos="269875" algn="l"/>
              </a:tabLst>
            </a:pPr>
            <a:r>
              <a:rPr sz="2600" spc="-5" dirty="0">
                <a:latin typeface="Arial MT"/>
                <a:cs typeface="Arial MT"/>
              </a:rPr>
              <a:t>For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what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types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problems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would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be</a:t>
            </a:r>
            <a:r>
              <a:rPr sz="2600" spc="-5" dirty="0">
                <a:latin typeface="Arial MT"/>
                <a:cs typeface="Arial MT"/>
              </a:rPr>
              <a:t> stack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be </a:t>
            </a:r>
            <a:r>
              <a:rPr sz="2600" spc="-7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useful for?</a:t>
            </a:r>
            <a:endParaRPr sz="26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69240" algn="l"/>
                <a:tab pos="269875" algn="l"/>
              </a:tabLst>
            </a:pPr>
            <a:r>
              <a:rPr sz="2600" spc="-5" dirty="0">
                <a:latin typeface="Arial MT"/>
                <a:cs typeface="Arial MT"/>
              </a:rPr>
              <a:t>LIFO: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good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for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reversing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data</a:t>
            </a:r>
            <a:endParaRPr sz="2600">
              <a:latin typeface="Arial MT"/>
              <a:cs typeface="Arial MT"/>
            </a:endParaRPr>
          </a:p>
          <a:p>
            <a:pPr marL="727075" marR="172085" lvl="1" indent="-257175">
              <a:lnSpc>
                <a:spcPts val="3100"/>
              </a:lnSpc>
              <a:spcBef>
                <a:spcPts val="600"/>
              </a:spcBef>
              <a:buFont typeface="Arial"/>
              <a:buChar char="•"/>
              <a:tabLst>
                <a:tab pos="726440" algn="l"/>
                <a:tab pos="727075" algn="l"/>
              </a:tabLst>
            </a:pPr>
            <a:r>
              <a:rPr sz="2600" spc="-5" dirty="0">
                <a:latin typeface="Arial MT"/>
                <a:cs typeface="Arial MT"/>
              </a:rPr>
              <a:t>If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we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push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a,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b,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c,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</a:t>
            </a:r>
            <a:r>
              <a:rPr sz="2600" spc="-5" dirty="0">
                <a:latin typeface="Arial MT"/>
                <a:cs typeface="Arial MT"/>
              </a:rPr>
              <a:t> into</a:t>
            </a:r>
            <a:r>
              <a:rPr sz="2600" dirty="0">
                <a:latin typeface="Arial MT"/>
                <a:cs typeface="Arial MT"/>
              </a:rPr>
              <a:t> a</a:t>
            </a:r>
            <a:r>
              <a:rPr sz="2600" spc="-5" dirty="0">
                <a:latin typeface="Arial MT"/>
                <a:cs typeface="Arial MT"/>
              </a:rPr>
              <a:t> stack,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and </a:t>
            </a:r>
            <a:r>
              <a:rPr sz="2600" spc="-5" dirty="0">
                <a:latin typeface="Arial MT"/>
                <a:cs typeface="Arial MT"/>
              </a:rPr>
              <a:t>then </a:t>
            </a:r>
            <a:r>
              <a:rPr sz="2600" spc="-7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pop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all</a:t>
            </a:r>
            <a:r>
              <a:rPr sz="2600" spc="-5" dirty="0">
                <a:latin typeface="Arial MT"/>
                <a:cs typeface="Arial MT"/>
              </a:rPr>
              <a:t> elements out,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we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get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d,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c,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b,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endParaRPr sz="26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69240" algn="l"/>
                <a:tab pos="269875" algn="l"/>
              </a:tabLst>
            </a:pPr>
            <a:r>
              <a:rPr sz="2600" spc="-5" dirty="0">
                <a:latin typeface="Arial MT"/>
                <a:cs typeface="Arial MT"/>
              </a:rPr>
              <a:t>In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OS/language: function</a:t>
            </a:r>
            <a:r>
              <a:rPr sz="2600" dirty="0">
                <a:latin typeface="Arial MT"/>
                <a:cs typeface="Arial MT"/>
              </a:rPr>
              <a:t> call </a:t>
            </a:r>
            <a:r>
              <a:rPr sz="2600" spc="-5" dirty="0">
                <a:latin typeface="Arial MT"/>
                <a:cs typeface="Arial MT"/>
              </a:rPr>
              <a:t>stack</a:t>
            </a:r>
            <a:endParaRPr sz="26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269240" algn="l"/>
                <a:tab pos="269875" algn="l"/>
              </a:tabLst>
            </a:pPr>
            <a:r>
              <a:rPr sz="2600" spc="-5" dirty="0">
                <a:latin typeface="Arial MT"/>
                <a:cs typeface="Arial MT"/>
              </a:rPr>
              <a:t>Finding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Palindromes</a:t>
            </a:r>
            <a:endParaRPr sz="26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269240" algn="l"/>
                <a:tab pos="269875" algn="l"/>
              </a:tabLst>
            </a:pPr>
            <a:r>
              <a:rPr sz="2600" dirty="0">
                <a:latin typeface="Arial MT"/>
                <a:cs typeface="Arial MT"/>
              </a:rPr>
              <a:t>Expression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evaluation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-5" dirty="0">
                <a:latin typeface="Arial MT"/>
                <a:cs typeface="Arial MT"/>
              </a:rPr>
              <a:t> Syntax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Parsing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897395"/>
            <a:ext cx="34556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/>
              <a:t>Function</a:t>
            </a:r>
            <a:r>
              <a:rPr sz="3000" spc="-40" dirty="0"/>
              <a:t> </a:t>
            </a:r>
            <a:r>
              <a:rPr sz="3000" spc="-5" dirty="0"/>
              <a:t>call</a:t>
            </a:r>
            <a:r>
              <a:rPr sz="3000" spc="-35" dirty="0"/>
              <a:t> </a:t>
            </a:r>
            <a:r>
              <a:rPr sz="3000" dirty="0"/>
              <a:t>stack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603250" y="1636349"/>
            <a:ext cx="4299585" cy="427863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36220" marR="334010" indent="-224154">
              <a:lnSpc>
                <a:spcPts val="2600"/>
              </a:lnSpc>
              <a:spcBef>
                <a:spcPts val="280"/>
              </a:spcBef>
              <a:buFont typeface="Arial"/>
              <a:buChar char="•"/>
              <a:tabLst>
                <a:tab pos="236854" algn="l"/>
              </a:tabLst>
            </a:pPr>
            <a:r>
              <a:rPr sz="2250" dirty="0">
                <a:latin typeface="Arial MT"/>
                <a:cs typeface="Arial MT"/>
              </a:rPr>
              <a:t>For </a:t>
            </a:r>
            <a:r>
              <a:rPr sz="2250" spc="5" dirty="0">
                <a:latin typeface="Arial MT"/>
                <a:cs typeface="Arial MT"/>
              </a:rPr>
              <a:t>what </a:t>
            </a:r>
            <a:r>
              <a:rPr sz="2250" dirty="0">
                <a:latin typeface="Arial MT"/>
                <a:cs typeface="Arial MT"/>
              </a:rPr>
              <a:t>types </a:t>
            </a:r>
            <a:r>
              <a:rPr sz="2250" spc="5" dirty="0">
                <a:latin typeface="Arial MT"/>
                <a:cs typeface="Arial MT"/>
              </a:rPr>
              <a:t>of problems </a:t>
            </a:r>
            <a:r>
              <a:rPr sz="2250" spc="10" dirty="0">
                <a:latin typeface="Arial MT"/>
                <a:cs typeface="Arial MT"/>
              </a:rPr>
              <a:t> </a:t>
            </a:r>
            <a:r>
              <a:rPr sz="2250" spc="5" dirty="0">
                <a:latin typeface="Arial MT"/>
                <a:cs typeface="Arial MT"/>
              </a:rPr>
              <a:t>would</a:t>
            </a:r>
            <a:r>
              <a:rPr sz="2250" spc="-5" dirty="0">
                <a:latin typeface="Arial MT"/>
                <a:cs typeface="Arial MT"/>
              </a:rPr>
              <a:t> </a:t>
            </a:r>
            <a:r>
              <a:rPr sz="2250" spc="5" dirty="0">
                <a:latin typeface="Arial MT"/>
                <a:cs typeface="Arial MT"/>
              </a:rPr>
              <a:t>be</a:t>
            </a:r>
            <a:r>
              <a:rPr sz="2250" spc="-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stack</a:t>
            </a:r>
            <a:r>
              <a:rPr sz="2250" spc="-5" dirty="0">
                <a:latin typeface="Arial MT"/>
                <a:cs typeface="Arial MT"/>
              </a:rPr>
              <a:t> </a:t>
            </a:r>
            <a:r>
              <a:rPr sz="2250" spc="5" dirty="0">
                <a:latin typeface="Arial MT"/>
                <a:cs typeface="Arial MT"/>
              </a:rPr>
              <a:t>be</a:t>
            </a:r>
            <a:r>
              <a:rPr sz="2250" spc="-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useful</a:t>
            </a:r>
            <a:r>
              <a:rPr sz="2250" spc="-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for?</a:t>
            </a:r>
            <a:endParaRPr sz="2250">
              <a:latin typeface="Arial MT"/>
              <a:cs typeface="Arial MT"/>
            </a:endParaRPr>
          </a:p>
          <a:p>
            <a:pPr marL="236220" indent="-224154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236854" algn="l"/>
              </a:tabLst>
            </a:pPr>
            <a:r>
              <a:rPr sz="2250" dirty="0">
                <a:latin typeface="Arial MT"/>
                <a:cs typeface="Arial MT"/>
              </a:rPr>
              <a:t>LIFO:</a:t>
            </a:r>
            <a:r>
              <a:rPr sz="2250" spc="-10" dirty="0">
                <a:latin typeface="Arial MT"/>
                <a:cs typeface="Arial MT"/>
              </a:rPr>
              <a:t> </a:t>
            </a:r>
            <a:r>
              <a:rPr sz="2250" spc="5" dirty="0">
                <a:latin typeface="Arial MT"/>
                <a:cs typeface="Arial MT"/>
              </a:rPr>
              <a:t>good</a:t>
            </a:r>
            <a:r>
              <a:rPr sz="2250" spc="-1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for</a:t>
            </a:r>
            <a:r>
              <a:rPr sz="2250" spc="-10" dirty="0">
                <a:latin typeface="Arial MT"/>
                <a:cs typeface="Arial MT"/>
              </a:rPr>
              <a:t> </a:t>
            </a:r>
            <a:r>
              <a:rPr sz="2250" spc="5" dirty="0">
                <a:latin typeface="Arial MT"/>
                <a:cs typeface="Arial MT"/>
              </a:rPr>
              <a:t>reversing</a:t>
            </a:r>
            <a:r>
              <a:rPr sz="2250" spc="-1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data</a:t>
            </a:r>
            <a:endParaRPr sz="2250">
              <a:latin typeface="Arial MT"/>
              <a:cs typeface="Arial MT"/>
            </a:endParaRPr>
          </a:p>
          <a:p>
            <a:pPr marL="693420" marR="5080" lvl="1" indent="-224154">
              <a:lnSpc>
                <a:spcPts val="2600"/>
              </a:lnSpc>
              <a:spcBef>
                <a:spcPts val="505"/>
              </a:spcBef>
              <a:buFont typeface="Arial"/>
              <a:buChar char="•"/>
              <a:tabLst>
                <a:tab pos="694055" algn="l"/>
              </a:tabLst>
            </a:pPr>
            <a:r>
              <a:rPr sz="2250" dirty="0">
                <a:latin typeface="Arial MT"/>
                <a:cs typeface="Arial MT"/>
              </a:rPr>
              <a:t>If </a:t>
            </a:r>
            <a:r>
              <a:rPr sz="2250" spc="5" dirty="0">
                <a:latin typeface="Arial MT"/>
                <a:cs typeface="Arial MT"/>
              </a:rPr>
              <a:t>we push a, b, </a:t>
            </a:r>
            <a:r>
              <a:rPr sz="2250" dirty="0">
                <a:latin typeface="Arial MT"/>
                <a:cs typeface="Arial MT"/>
              </a:rPr>
              <a:t>c, </a:t>
            </a:r>
            <a:r>
              <a:rPr sz="2250" spc="5" dirty="0">
                <a:latin typeface="Arial MT"/>
                <a:cs typeface="Arial MT"/>
              </a:rPr>
              <a:t>d </a:t>
            </a:r>
            <a:r>
              <a:rPr sz="2250" dirty="0">
                <a:latin typeface="Arial MT"/>
                <a:cs typeface="Arial MT"/>
              </a:rPr>
              <a:t>into </a:t>
            </a:r>
            <a:r>
              <a:rPr sz="2250" spc="5" dirty="0">
                <a:latin typeface="Arial MT"/>
                <a:cs typeface="Arial MT"/>
              </a:rPr>
              <a:t>a </a:t>
            </a:r>
            <a:r>
              <a:rPr sz="2250" spc="1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stack, </a:t>
            </a:r>
            <a:r>
              <a:rPr sz="2250" spc="5" dirty="0">
                <a:latin typeface="Arial MT"/>
                <a:cs typeface="Arial MT"/>
              </a:rPr>
              <a:t>and </a:t>
            </a:r>
            <a:r>
              <a:rPr sz="2250" dirty="0">
                <a:latin typeface="Arial MT"/>
                <a:cs typeface="Arial MT"/>
              </a:rPr>
              <a:t>then </a:t>
            </a:r>
            <a:r>
              <a:rPr sz="2250" spc="5" dirty="0">
                <a:latin typeface="Arial MT"/>
                <a:cs typeface="Arial MT"/>
              </a:rPr>
              <a:t>pop </a:t>
            </a:r>
            <a:r>
              <a:rPr sz="2250" dirty="0">
                <a:latin typeface="Arial MT"/>
                <a:cs typeface="Arial MT"/>
              </a:rPr>
              <a:t>all </a:t>
            </a:r>
            <a:r>
              <a:rPr sz="2250" spc="5" dirty="0">
                <a:latin typeface="Arial MT"/>
                <a:cs typeface="Arial MT"/>
              </a:rPr>
              <a:t> elements</a:t>
            </a:r>
            <a:r>
              <a:rPr sz="2250" spc="-1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out,</a:t>
            </a:r>
            <a:r>
              <a:rPr sz="2250" spc="-10" dirty="0">
                <a:latin typeface="Arial MT"/>
                <a:cs typeface="Arial MT"/>
              </a:rPr>
              <a:t> </a:t>
            </a:r>
            <a:r>
              <a:rPr sz="2250" spc="5" dirty="0">
                <a:latin typeface="Arial MT"/>
                <a:cs typeface="Arial MT"/>
              </a:rPr>
              <a:t>we</a:t>
            </a:r>
            <a:r>
              <a:rPr sz="2250" spc="-10" dirty="0">
                <a:latin typeface="Arial MT"/>
                <a:cs typeface="Arial MT"/>
              </a:rPr>
              <a:t> </a:t>
            </a:r>
            <a:r>
              <a:rPr sz="2250" spc="5" dirty="0">
                <a:latin typeface="Arial MT"/>
                <a:cs typeface="Arial MT"/>
              </a:rPr>
              <a:t>get</a:t>
            </a:r>
            <a:r>
              <a:rPr sz="2250" spc="-10" dirty="0">
                <a:latin typeface="Arial MT"/>
                <a:cs typeface="Arial MT"/>
              </a:rPr>
              <a:t> </a:t>
            </a:r>
            <a:r>
              <a:rPr sz="2250" spc="5" dirty="0">
                <a:latin typeface="Arial MT"/>
                <a:cs typeface="Arial MT"/>
              </a:rPr>
              <a:t>d,</a:t>
            </a:r>
            <a:r>
              <a:rPr sz="2250" spc="-1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c,</a:t>
            </a:r>
            <a:r>
              <a:rPr sz="2250" spc="-10" dirty="0">
                <a:latin typeface="Arial MT"/>
                <a:cs typeface="Arial MT"/>
              </a:rPr>
              <a:t> </a:t>
            </a:r>
            <a:r>
              <a:rPr sz="2250" spc="5" dirty="0">
                <a:latin typeface="Arial MT"/>
                <a:cs typeface="Arial MT"/>
              </a:rPr>
              <a:t>b, </a:t>
            </a:r>
            <a:r>
              <a:rPr sz="2250" spc="-610" dirty="0">
                <a:latin typeface="Arial MT"/>
                <a:cs typeface="Arial MT"/>
              </a:rPr>
              <a:t> </a:t>
            </a:r>
            <a:r>
              <a:rPr sz="2250" spc="5" dirty="0">
                <a:latin typeface="Arial MT"/>
                <a:cs typeface="Arial MT"/>
              </a:rPr>
              <a:t>a</a:t>
            </a:r>
            <a:endParaRPr sz="2250">
              <a:latin typeface="Arial MT"/>
              <a:cs typeface="Arial MT"/>
            </a:endParaRPr>
          </a:p>
          <a:p>
            <a:pPr marL="236220" marR="381635" indent="-224154">
              <a:lnSpc>
                <a:spcPts val="2600"/>
              </a:lnSpc>
              <a:spcBef>
                <a:spcPts val="434"/>
              </a:spcBef>
              <a:buFont typeface="Arial"/>
              <a:buChar char="•"/>
              <a:tabLst>
                <a:tab pos="236854" algn="l"/>
              </a:tabLst>
            </a:pPr>
            <a:r>
              <a:rPr sz="2250" dirty="0">
                <a:latin typeface="Arial MT"/>
                <a:cs typeface="Arial MT"/>
              </a:rPr>
              <a:t>In</a:t>
            </a:r>
            <a:r>
              <a:rPr sz="2250" spc="-15" dirty="0">
                <a:latin typeface="Arial MT"/>
                <a:cs typeface="Arial MT"/>
              </a:rPr>
              <a:t> </a:t>
            </a:r>
            <a:r>
              <a:rPr sz="2250" spc="5" dirty="0">
                <a:latin typeface="Arial MT"/>
                <a:cs typeface="Arial MT"/>
              </a:rPr>
              <a:t>OS/language:</a:t>
            </a:r>
            <a:r>
              <a:rPr sz="2250" spc="-1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function</a:t>
            </a:r>
            <a:r>
              <a:rPr sz="2250" spc="-15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call </a:t>
            </a:r>
            <a:r>
              <a:rPr sz="2250" spc="-610" dirty="0">
                <a:latin typeface="Arial MT"/>
                <a:cs typeface="Arial MT"/>
              </a:rPr>
              <a:t> </a:t>
            </a:r>
            <a:r>
              <a:rPr sz="2250" dirty="0">
                <a:latin typeface="Arial MT"/>
                <a:cs typeface="Arial MT"/>
              </a:rPr>
              <a:t>stack</a:t>
            </a:r>
            <a:endParaRPr sz="2250">
              <a:latin typeface="Arial MT"/>
              <a:cs typeface="Arial MT"/>
            </a:endParaRPr>
          </a:p>
          <a:p>
            <a:pPr marL="236220" indent="-224154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236854" algn="l"/>
              </a:tabLst>
            </a:pPr>
            <a:r>
              <a:rPr sz="2250" dirty="0">
                <a:latin typeface="Arial MT"/>
                <a:cs typeface="Arial MT"/>
              </a:rPr>
              <a:t>Finding</a:t>
            </a:r>
            <a:r>
              <a:rPr sz="2250" spc="-25" dirty="0">
                <a:latin typeface="Arial MT"/>
                <a:cs typeface="Arial MT"/>
              </a:rPr>
              <a:t> </a:t>
            </a:r>
            <a:r>
              <a:rPr sz="2250" spc="5" dirty="0">
                <a:latin typeface="Arial MT"/>
                <a:cs typeface="Arial MT"/>
              </a:rPr>
              <a:t>Palindromes</a:t>
            </a:r>
            <a:endParaRPr sz="2250">
              <a:latin typeface="Arial MT"/>
              <a:cs typeface="Arial MT"/>
            </a:endParaRPr>
          </a:p>
          <a:p>
            <a:pPr marL="236220" marR="684530" indent="-224154">
              <a:lnSpc>
                <a:spcPts val="2600"/>
              </a:lnSpc>
              <a:spcBef>
                <a:spcPts val="505"/>
              </a:spcBef>
              <a:buFont typeface="Arial"/>
              <a:buChar char="•"/>
              <a:tabLst>
                <a:tab pos="236854" algn="l"/>
              </a:tabLst>
            </a:pPr>
            <a:r>
              <a:rPr sz="2250" spc="5" dirty="0">
                <a:latin typeface="Arial MT"/>
                <a:cs typeface="Arial MT"/>
              </a:rPr>
              <a:t>Expression</a:t>
            </a:r>
            <a:r>
              <a:rPr sz="2250" spc="-45" dirty="0">
                <a:latin typeface="Arial MT"/>
                <a:cs typeface="Arial MT"/>
              </a:rPr>
              <a:t> </a:t>
            </a:r>
            <a:r>
              <a:rPr sz="2250" spc="5" dirty="0">
                <a:latin typeface="Arial MT"/>
                <a:cs typeface="Arial MT"/>
              </a:rPr>
              <a:t>evaluation</a:t>
            </a:r>
            <a:r>
              <a:rPr sz="2250" spc="-40" dirty="0">
                <a:latin typeface="Arial MT"/>
                <a:cs typeface="Arial MT"/>
              </a:rPr>
              <a:t> </a:t>
            </a:r>
            <a:r>
              <a:rPr sz="2250" spc="5" dirty="0">
                <a:latin typeface="Arial MT"/>
                <a:cs typeface="Arial MT"/>
              </a:rPr>
              <a:t>and </a:t>
            </a:r>
            <a:r>
              <a:rPr sz="2250" spc="-610" dirty="0">
                <a:latin typeface="Arial MT"/>
                <a:cs typeface="Arial MT"/>
              </a:rPr>
              <a:t> </a:t>
            </a:r>
            <a:r>
              <a:rPr sz="2250" spc="5" dirty="0">
                <a:latin typeface="Arial MT"/>
                <a:cs typeface="Arial MT"/>
              </a:rPr>
              <a:t>Syntax</a:t>
            </a:r>
            <a:r>
              <a:rPr sz="2250" spc="-5" dirty="0">
                <a:latin typeface="Arial MT"/>
                <a:cs typeface="Arial MT"/>
              </a:rPr>
              <a:t> </a:t>
            </a:r>
            <a:r>
              <a:rPr sz="2250" spc="5" dirty="0">
                <a:latin typeface="Arial MT"/>
                <a:cs typeface="Arial MT"/>
              </a:rPr>
              <a:t>Parsing</a:t>
            </a:r>
            <a:endParaRPr sz="22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2596" y="1672355"/>
            <a:ext cx="8832215" cy="4259580"/>
            <a:chOff x="182596" y="1672355"/>
            <a:chExt cx="8832215" cy="42595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2596" y="1672355"/>
              <a:ext cx="5341473" cy="42590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66009" y="2048270"/>
              <a:ext cx="3748209" cy="30594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897395"/>
            <a:ext cx="373252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Use</a:t>
            </a:r>
            <a:r>
              <a:rPr sz="3000" spc="-35" dirty="0"/>
              <a:t> </a:t>
            </a:r>
            <a:r>
              <a:rPr sz="3000" dirty="0"/>
              <a:t>stack</a:t>
            </a:r>
            <a:r>
              <a:rPr sz="3000" spc="-30" dirty="0"/>
              <a:t> </a:t>
            </a:r>
            <a:r>
              <a:rPr sz="3000" dirty="0"/>
              <a:t>to</a:t>
            </a:r>
            <a:r>
              <a:rPr sz="3000" spc="-40" dirty="0"/>
              <a:t> </a:t>
            </a:r>
            <a:r>
              <a:rPr sz="3000" dirty="0"/>
              <a:t>reverse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603250" y="1550226"/>
            <a:ext cx="8131175" cy="455104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41300" marR="877569" indent="-228600">
              <a:lnSpc>
                <a:spcPct val="118700"/>
              </a:lnSpc>
              <a:spcBef>
                <a:spcPts val="140"/>
              </a:spcBef>
              <a:buFont typeface="Arial"/>
              <a:buChar char="•"/>
              <a:tabLst>
                <a:tab pos="266700" algn="l"/>
                <a:tab pos="267335" algn="l"/>
              </a:tabLst>
            </a:pPr>
            <a:r>
              <a:rPr dirty="0"/>
              <a:t>	</a:t>
            </a:r>
            <a:r>
              <a:rPr sz="2550" spc="10" dirty="0">
                <a:latin typeface="Arial MT"/>
                <a:cs typeface="Arial MT"/>
              </a:rPr>
              <a:t>Sometimes</a:t>
            </a:r>
            <a:r>
              <a:rPr sz="2550" dirty="0">
                <a:latin typeface="Arial MT"/>
                <a:cs typeface="Arial MT"/>
              </a:rPr>
              <a:t> </a:t>
            </a:r>
            <a:r>
              <a:rPr sz="2550" spc="10" dirty="0">
                <a:latin typeface="Arial MT"/>
                <a:cs typeface="Arial MT"/>
              </a:rPr>
              <a:t>you</a:t>
            </a:r>
            <a:r>
              <a:rPr sz="2550" dirty="0">
                <a:latin typeface="Arial MT"/>
                <a:cs typeface="Arial MT"/>
              </a:rPr>
              <a:t> </a:t>
            </a:r>
            <a:r>
              <a:rPr sz="2550" spc="10" dirty="0">
                <a:latin typeface="Arial MT"/>
                <a:cs typeface="Arial MT"/>
              </a:rPr>
              <a:t>need</a:t>
            </a:r>
            <a:r>
              <a:rPr sz="2550" spc="5" dirty="0">
                <a:latin typeface="Arial MT"/>
                <a:cs typeface="Arial MT"/>
              </a:rPr>
              <a:t> to</a:t>
            </a:r>
            <a:r>
              <a:rPr sz="2550" dirty="0">
                <a:latin typeface="Arial MT"/>
                <a:cs typeface="Arial MT"/>
              </a:rPr>
              <a:t> </a:t>
            </a:r>
            <a:r>
              <a:rPr sz="2550" spc="10" dirty="0">
                <a:latin typeface="Arial MT"/>
                <a:cs typeface="Arial MT"/>
              </a:rPr>
              <a:t>output</a:t>
            </a:r>
            <a:r>
              <a:rPr sz="2550" spc="5" dirty="0">
                <a:latin typeface="Arial MT"/>
                <a:cs typeface="Arial MT"/>
              </a:rPr>
              <a:t> in</a:t>
            </a:r>
            <a:r>
              <a:rPr sz="2550" dirty="0">
                <a:latin typeface="Arial MT"/>
                <a:cs typeface="Arial MT"/>
              </a:rPr>
              <a:t> </a:t>
            </a:r>
            <a:r>
              <a:rPr sz="2550" spc="10" dirty="0">
                <a:latin typeface="Arial MT"/>
                <a:cs typeface="Arial MT"/>
              </a:rPr>
              <a:t>reverse</a:t>
            </a:r>
            <a:r>
              <a:rPr sz="2550" spc="5" dirty="0">
                <a:latin typeface="Arial MT"/>
                <a:cs typeface="Arial MT"/>
              </a:rPr>
              <a:t> </a:t>
            </a:r>
            <a:r>
              <a:rPr sz="2550" spc="10" dirty="0">
                <a:latin typeface="Arial MT"/>
                <a:cs typeface="Arial MT"/>
              </a:rPr>
              <a:t>orders </a:t>
            </a:r>
            <a:r>
              <a:rPr sz="2550" spc="-695" dirty="0">
                <a:latin typeface="Arial MT"/>
                <a:cs typeface="Arial MT"/>
              </a:rPr>
              <a:t> </a:t>
            </a:r>
            <a:r>
              <a:rPr sz="2150" spc="10" dirty="0">
                <a:latin typeface="Arial MT"/>
                <a:cs typeface="Arial MT"/>
              </a:rPr>
              <a:t>Convert</a:t>
            </a:r>
            <a:r>
              <a:rPr sz="2150" spc="25" dirty="0">
                <a:latin typeface="Arial MT"/>
                <a:cs typeface="Arial MT"/>
              </a:rPr>
              <a:t> </a:t>
            </a:r>
            <a:r>
              <a:rPr sz="2150" spc="10" dirty="0">
                <a:latin typeface="Arial MT"/>
                <a:cs typeface="Arial MT"/>
              </a:rPr>
              <a:t>decimal</a:t>
            </a:r>
            <a:r>
              <a:rPr sz="2150" spc="25" dirty="0">
                <a:latin typeface="Arial MT"/>
                <a:cs typeface="Arial MT"/>
              </a:rPr>
              <a:t> </a:t>
            </a:r>
            <a:r>
              <a:rPr sz="2150" spc="5" dirty="0">
                <a:latin typeface="Arial MT"/>
                <a:cs typeface="Arial MT"/>
              </a:rPr>
              <a:t>to</a:t>
            </a:r>
            <a:r>
              <a:rPr sz="2150" spc="30" dirty="0">
                <a:latin typeface="Arial MT"/>
                <a:cs typeface="Arial MT"/>
              </a:rPr>
              <a:t> </a:t>
            </a:r>
            <a:r>
              <a:rPr sz="2150" spc="10" dirty="0">
                <a:latin typeface="Arial MT"/>
                <a:cs typeface="Arial MT"/>
              </a:rPr>
              <a:t>binary:</a:t>
            </a:r>
            <a:r>
              <a:rPr sz="2150" spc="25" dirty="0">
                <a:latin typeface="Arial MT"/>
                <a:cs typeface="Arial MT"/>
              </a:rPr>
              <a:t> </a:t>
            </a:r>
            <a:r>
              <a:rPr sz="2150" spc="10" dirty="0">
                <a:latin typeface="Arial MT"/>
                <a:cs typeface="Arial MT"/>
              </a:rPr>
              <a:t>DisplayInBinary</a:t>
            </a:r>
            <a:r>
              <a:rPr sz="2150" spc="30" dirty="0">
                <a:latin typeface="Arial MT"/>
                <a:cs typeface="Arial MT"/>
              </a:rPr>
              <a:t> </a:t>
            </a:r>
            <a:r>
              <a:rPr sz="2150" spc="5" dirty="0">
                <a:latin typeface="Arial MT"/>
                <a:cs typeface="Arial MT"/>
              </a:rPr>
              <a:t>(int</a:t>
            </a:r>
            <a:r>
              <a:rPr sz="2150" spc="25" dirty="0">
                <a:latin typeface="Arial MT"/>
                <a:cs typeface="Arial MT"/>
              </a:rPr>
              <a:t> </a:t>
            </a:r>
            <a:r>
              <a:rPr sz="2150" spc="15" dirty="0">
                <a:latin typeface="Arial MT"/>
                <a:cs typeface="Arial MT"/>
              </a:rPr>
              <a:t>num) </a:t>
            </a:r>
            <a:r>
              <a:rPr sz="2150" spc="20" dirty="0">
                <a:latin typeface="Arial MT"/>
                <a:cs typeface="Arial MT"/>
              </a:rPr>
              <a:t> </a:t>
            </a:r>
            <a:r>
              <a:rPr sz="2150" spc="10" dirty="0">
                <a:latin typeface="Arial MT"/>
                <a:cs typeface="Arial MT"/>
              </a:rPr>
              <a:t>while</a:t>
            </a:r>
            <a:r>
              <a:rPr sz="2150" dirty="0">
                <a:latin typeface="Arial MT"/>
                <a:cs typeface="Arial MT"/>
              </a:rPr>
              <a:t> </a:t>
            </a:r>
            <a:r>
              <a:rPr sz="2150" spc="15" dirty="0">
                <a:latin typeface="Arial MT"/>
                <a:cs typeface="Arial MT"/>
              </a:rPr>
              <a:t>(num&gt;0)</a:t>
            </a:r>
            <a:endParaRPr sz="2150">
              <a:latin typeface="Arial MT"/>
              <a:cs typeface="Arial MT"/>
            </a:endParaRPr>
          </a:p>
          <a:p>
            <a:pPr marL="779145" marR="5429885">
              <a:lnSpc>
                <a:spcPct val="120000"/>
              </a:lnSpc>
            </a:pPr>
            <a:r>
              <a:rPr sz="2150" spc="10" dirty="0">
                <a:latin typeface="Arial MT"/>
                <a:cs typeface="Arial MT"/>
              </a:rPr>
              <a:t>digit</a:t>
            </a:r>
            <a:r>
              <a:rPr sz="2150" spc="-20" dirty="0">
                <a:latin typeface="Arial MT"/>
                <a:cs typeface="Arial MT"/>
              </a:rPr>
              <a:t> </a:t>
            </a:r>
            <a:r>
              <a:rPr sz="2150" spc="15" dirty="0">
                <a:latin typeface="Arial MT"/>
                <a:cs typeface="Arial MT"/>
              </a:rPr>
              <a:t>=</a:t>
            </a:r>
            <a:r>
              <a:rPr sz="2150" spc="-15" dirty="0">
                <a:latin typeface="Arial MT"/>
                <a:cs typeface="Arial MT"/>
              </a:rPr>
              <a:t> </a:t>
            </a:r>
            <a:r>
              <a:rPr sz="2150" spc="15" dirty="0">
                <a:latin typeface="Arial MT"/>
                <a:cs typeface="Arial MT"/>
              </a:rPr>
              <a:t>num</a:t>
            </a:r>
            <a:r>
              <a:rPr sz="2150" spc="-15" dirty="0">
                <a:latin typeface="Arial MT"/>
                <a:cs typeface="Arial MT"/>
              </a:rPr>
              <a:t> </a:t>
            </a:r>
            <a:r>
              <a:rPr sz="2150" spc="20" dirty="0">
                <a:latin typeface="Arial MT"/>
                <a:cs typeface="Arial MT"/>
              </a:rPr>
              <a:t>%</a:t>
            </a:r>
            <a:r>
              <a:rPr sz="2150" spc="-15" dirty="0">
                <a:latin typeface="Arial MT"/>
                <a:cs typeface="Arial MT"/>
              </a:rPr>
              <a:t> </a:t>
            </a:r>
            <a:r>
              <a:rPr sz="2150" spc="15" dirty="0">
                <a:latin typeface="Arial MT"/>
                <a:cs typeface="Arial MT"/>
              </a:rPr>
              <a:t>2 </a:t>
            </a:r>
            <a:r>
              <a:rPr sz="2150" spc="-580" dirty="0">
                <a:latin typeface="Arial MT"/>
                <a:cs typeface="Arial MT"/>
              </a:rPr>
              <a:t> </a:t>
            </a:r>
            <a:r>
              <a:rPr sz="2150" spc="10" dirty="0">
                <a:latin typeface="Arial MT"/>
                <a:cs typeface="Arial MT"/>
              </a:rPr>
              <a:t>print</a:t>
            </a:r>
            <a:r>
              <a:rPr sz="2150" spc="-5" dirty="0">
                <a:latin typeface="Arial MT"/>
                <a:cs typeface="Arial MT"/>
              </a:rPr>
              <a:t> </a:t>
            </a:r>
            <a:r>
              <a:rPr sz="2150" spc="10" dirty="0">
                <a:latin typeface="Arial MT"/>
                <a:cs typeface="Arial MT"/>
              </a:rPr>
              <a:t>digit</a:t>
            </a:r>
            <a:endParaRPr sz="2150">
              <a:latin typeface="Arial MT"/>
              <a:cs typeface="Arial MT"/>
            </a:endParaRPr>
          </a:p>
          <a:p>
            <a:pPr marL="779145">
              <a:lnSpc>
                <a:spcPct val="100000"/>
              </a:lnSpc>
              <a:spcBef>
                <a:spcPts val="515"/>
              </a:spcBef>
            </a:pPr>
            <a:r>
              <a:rPr sz="2150" spc="15" dirty="0">
                <a:latin typeface="Arial MT"/>
                <a:cs typeface="Arial MT"/>
              </a:rPr>
              <a:t>num</a:t>
            </a:r>
            <a:r>
              <a:rPr sz="2150" spc="-10" dirty="0">
                <a:latin typeface="Arial MT"/>
                <a:cs typeface="Arial MT"/>
              </a:rPr>
              <a:t> </a:t>
            </a:r>
            <a:r>
              <a:rPr sz="2150" spc="15" dirty="0">
                <a:latin typeface="Arial MT"/>
                <a:cs typeface="Arial MT"/>
              </a:rPr>
              <a:t>=</a:t>
            </a:r>
            <a:r>
              <a:rPr sz="2150" spc="-10" dirty="0">
                <a:latin typeface="Arial MT"/>
                <a:cs typeface="Arial MT"/>
              </a:rPr>
              <a:t> </a:t>
            </a:r>
            <a:r>
              <a:rPr sz="2150" spc="15" dirty="0">
                <a:latin typeface="Arial MT"/>
                <a:cs typeface="Arial MT"/>
              </a:rPr>
              <a:t>num</a:t>
            </a:r>
            <a:r>
              <a:rPr sz="2150" spc="-10" dirty="0">
                <a:latin typeface="Arial MT"/>
                <a:cs typeface="Arial MT"/>
              </a:rPr>
              <a:t> </a:t>
            </a:r>
            <a:r>
              <a:rPr sz="2150" spc="5" dirty="0">
                <a:latin typeface="Arial MT"/>
                <a:cs typeface="Arial MT"/>
              </a:rPr>
              <a:t>/</a:t>
            </a:r>
            <a:r>
              <a:rPr sz="2150" spc="-10" dirty="0">
                <a:latin typeface="Arial MT"/>
                <a:cs typeface="Arial MT"/>
              </a:rPr>
              <a:t> </a:t>
            </a:r>
            <a:r>
              <a:rPr sz="2150" spc="15" dirty="0">
                <a:latin typeface="Arial MT"/>
                <a:cs typeface="Arial MT"/>
              </a:rPr>
              <a:t>2</a:t>
            </a:r>
            <a:endParaRPr sz="21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200">
              <a:latin typeface="Arial MT"/>
              <a:cs typeface="Arial MT"/>
            </a:endParaRPr>
          </a:p>
          <a:p>
            <a:pPr marL="266700" indent="-25463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66700" algn="l"/>
                <a:tab pos="267335" algn="l"/>
              </a:tabLst>
            </a:pPr>
            <a:r>
              <a:rPr sz="2550" spc="10" dirty="0">
                <a:latin typeface="Arial MT"/>
                <a:cs typeface="Arial MT"/>
              </a:rPr>
              <a:t>The</a:t>
            </a:r>
            <a:r>
              <a:rPr sz="2550" dirty="0">
                <a:latin typeface="Arial MT"/>
                <a:cs typeface="Arial MT"/>
              </a:rPr>
              <a:t> </a:t>
            </a:r>
            <a:r>
              <a:rPr sz="2550" spc="10" dirty="0">
                <a:latin typeface="Arial MT"/>
                <a:cs typeface="Arial MT"/>
              </a:rPr>
              <a:t>binary</a:t>
            </a:r>
            <a:r>
              <a:rPr sz="2550" dirty="0">
                <a:latin typeface="Arial MT"/>
                <a:cs typeface="Arial MT"/>
              </a:rPr>
              <a:t> </a:t>
            </a:r>
            <a:r>
              <a:rPr sz="2550" spc="10" dirty="0">
                <a:latin typeface="Arial MT"/>
                <a:cs typeface="Arial MT"/>
              </a:rPr>
              <a:t>representation</a:t>
            </a:r>
            <a:r>
              <a:rPr sz="2550" dirty="0">
                <a:latin typeface="Arial MT"/>
                <a:cs typeface="Arial MT"/>
              </a:rPr>
              <a:t> </a:t>
            </a:r>
            <a:r>
              <a:rPr sz="2550" spc="5" dirty="0">
                <a:latin typeface="Arial MT"/>
                <a:cs typeface="Arial MT"/>
              </a:rPr>
              <a:t>is printed</a:t>
            </a:r>
            <a:r>
              <a:rPr sz="2550" dirty="0">
                <a:latin typeface="Arial MT"/>
                <a:cs typeface="Arial MT"/>
              </a:rPr>
              <a:t> </a:t>
            </a:r>
            <a:r>
              <a:rPr sz="2550" spc="10" dirty="0">
                <a:latin typeface="Arial MT"/>
                <a:cs typeface="Arial MT"/>
              </a:rPr>
              <a:t>backward</a:t>
            </a:r>
            <a:endParaRPr sz="2550">
              <a:latin typeface="Arial MT"/>
              <a:cs typeface="Arial MT"/>
            </a:endParaRPr>
          </a:p>
          <a:p>
            <a:pPr marL="808990" lvl="1" indent="-339725">
              <a:lnSpc>
                <a:spcPct val="100000"/>
              </a:lnSpc>
              <a:spcBef>
                <a:spcPts val="334"/>
              </a:spcBef>
              <a:buFont typeface="Arial"/>
              <a:buChar char="•"/>
              <a:tabLst>
                <a:tab pos="808990" algn="l"/>
                <a:tab pos="809625" algn="l"/>
              </a:tabLst>
            </a:pPr>
            <a:r>
              <a:rPr sz="2550" spc="-10" dirty="0">
                <a:latin typeface="Arial MT"/>
                <a:cs typeface="Arial MT"/>
              </a:rPr>
              <a:t>Trace</a:t>
            </a:r>
            <a:r>
              <a:rPr sz="2550" spc="-5" dirty="0">
                <a:latin typeface="Arial MT"/>
                <a:cs typeface="Arial MT"/>
              </a:rPr>
              <a:t> </a:t>
            </a:r>
            <a:r>
              <a:rPr sz="2550" spc="5" dirty="0">
                <a:latin typeface="Arial MT"/>
                <a:cs typeface="Arial MT"/>
              </a:rPr>
              <a:t>it</a:t>
            </a:r>
            <a:r>
              <a:rPr sz="2550" spc="-5" dirty="0">
                <a:latin typeface="Arial MT"/>
                <a:cs typeface="Arial MT"/>
              </a:rPr>
              <a:t> </a:t>
            </a:r>
            <a:r>
              <a:rPr sz="2550" spc="5" dirty="0">
                <a:latin typeface="Arial MT"/>
                <a:cs typeface="Arial MT"/>
              </a:rPr>
              <a:t>with</a:t>
            </a:r>
            <a:r>
              <a:rPr sz="2550" spc="-5" dirty="0">
                <a:latin typeface="Arial MT"/>
                <a:cs typeface="Arial MT"/>
              </a:rPr>
              <a:t> </a:t>
            </a:r>
            <a:r>
              <a:rPr sz="2550" spc="10" dirty="0">
                <a:latin typeface="Arial MT"/>
                <a:cs typeface="Arial MT"/>
              </a:rPr>
              <a:t>num=21,</a:t>
            </a:r>
            <a:r>
              <a:rPr sz="2550" dirty="0">
                <a:latin typeface="Arial MT"/>
                <a:cs typeface="Arial MT"/>
              </a:rPr>
              <a:t> </a:t>
            </a:r>
            <a:r>
              <a:rPr sz="2550" spc="10" dirty="0">
                <a:latin typeface="Arial MT"/>
                <a:cs typeface="Arial MT"/>
              </a:rPr>
              <a:t>output?</a:t>
            </a:r>
            <a:endParaRPr sz="2550">
              <a:latin typeface="Arial MT"/>
              <a:cs typeface="Arial MT"/>
            </a:endParaRPr>
          </a:p>
          <a:p>
            <a:pPr marL="266700" marR="5080" indent="-254635">
              <a:lnSpc>
                <a:spcPts val="2900"/>
              </a:lnSpc>
              <a:spcBef>
                <a:spcPts val="565"/>
              </a:spcBef>
              <a:buFont typeface="Arial"/>
              <a:buChar char="•"/>
              <a:tabLst>
                <a:tab pos="266700" algn="l"/>
                <a:tab pos="267335" algn="l"/>
              </a:tabLst>
            </a:pPr>
            <a:r>
              <a:rPr sz="2550" spc="5" dirty="0">
                <a:latin typeface="Arial MT"/>
                <a:cs typeface="Arial MT"/>
              </a:rPr>
              <a:t>Solution: </a:t>
            </a:r>
            <a:r>
              <a:rPr sz="2550" spc="10" dirty="0">
                <a:latin typeface="Arial MT"/>
                <a:cs typeface="Arial MT"/>
              </a:rPr>
              <a:t>push each </a:t>
            </a:r>
            <a:r>
              <a:rPr sz="2550" spc="5" dirty="0">
                <a:latin typeface="Arial MT"/>
                <a:cs typeface="Arial MT"/>
              </a:rPr>
              <a:t>digit </a:t>
            </a:r>
            <a:r>
              <a:rPr sz="2550" spc="10" dirty="0">
                <a:latin typeface="Arial MT"/>
                <a:cs typeface="Arial MT"/>
              </a:rPr>
              <a:t>onto a stack </a:t>
            </a:r>
            <a:r>
              <a:rPr sz="2550" spc="5" dirty="0">
                <a:latin typeface="Arial MT"/>
                <a:cs typeface="Arial MT"/>
              </a:rPr>
              <a:t>in the </a:t>
            </a:r>
            <a:r>
              <a:rPr sz="2550" spc="10" dirty="0">
                <a:latin typeface="Arial MT"/>
                <a:cs typeface="Arial MT"/>
              </a:rPr>
              <a:t>loop, </a:t>
            </a:r>
            <a:r>
              <a:rPr sz="2550" spc="5" dirty="0">
                <a:latin typeface="Arial MT"/>
                <a:cs typeface="Arial MT"/>
              </a:rPr>
              <a:t>after </a:t>
            </a:r>
            <a:r>
              <a:rPr sz="2550" spc="-695" dirty="0">
                <a:latin typeface="Arial MT"/>
                <a:cs typeface="Arial MT"/>
              </a:rPr>
              <a:t> </a:t>
            </a:r>
            <a:r>
              <a:rPr sz="2550" spc="5" dirty="0">
                <a:latin typeface="Arial MT"/>
                <a:cs typeface="Arial MT"/>
              </a:rPr>
              <a:t>the </a:t>
            </a:r>
            <a:r>
              <a:rPr sz="2550" spc="10" dirty="0">
                <a:latin typeface="Arial MT"/>
                <a:cs typeface="Arial MT"/>
              </a:rPr>
              <a:t>loop,</a:t>
            </a:r>
            <a:r>
              <a:rPr sz="2550" spc="5" dirty="0">
                <a:latin typeface="Arial MT"/>
                <a:cs typeface="Arial MT"/>
              </a:rPr>
              <a:t> </a:t>
            </a:r>
            <a:r>
              <a:rPr sz="2550" spc="10" dirty="0">
                <a:latin typeface="Arial MT"/>
                <a:cs typeface="Arial MT"/>
              </a:rPr>
              <a:t>pop</a:t>
            </a:r>
            <a:r>
              <a:rPr sz="2550" spc="5" dirty="0">
                <a:latin typeface="Arial MT"/>
                <a:cs typeface="Arial MT"/>
              </a:rPr>
              <a:t> digits </a:t>
            </a:r>
            <a:r>
              <a:rPr sz="2550" spc="10" dirty="0">
                <a:latin typeface="Arial MT"/>
                <a:cs typeface="Arial MT"/>
              </a:rPr>
              <a:t>out</a:t>
            </a:r>
            <a:r>
              <a:rPr sz="2550" spc="5" dirty="0">
                <a:latin typeface="Arial MT"/>
                <a:cs typeface="Arial MT"/>
              </a:rPr>
              <a:t> </a:t>
            </a:r>
            <a:r>
              <a:rPr sz="2550" spc="10" dirty="0">
                <a:latin typeface="Arial MT"/>
                <a:cs typeface="Arial MT"/>
              </a:rPr>
              <a:t>one</a:t>
            </a:r>
            <a:r>
              <a:rPr sz="2550" spc="5" dirty="0">
                <a:latin typeface="Arial MT"/>
                <a:cs typeface="Arial MT"/>
              </a:rPr>
              <a:t> </a:t>
            </a:r>
            <a:r>
              <a:rPr sz="2550" spc="10" dirty="0">
                <a:latin typeface="Arial MT"/>
                <a:cs typeface="Arial MT"/>
              </a:rPr>
              <a:t>by</a:t>
            </a:r>
            <a:r>
              <a:rPr sz="2550" spc="5" dirty="0">
                <a:latin typeface="Arial MT"/>
                <a:cs typeface="Arial MT"/>
              </a:rPr>
              <a:t> </a:t>
            </a:r>
            <a:r>
              <a:rPr sz="2550" spc="10" dirty="0">
                <a:latin typeface="Arial MT"/>
                <a:cs typeface="Arial MT"/>
              </a:rPr>
              <a:t>one</a:t>
            </a:r>
            <a:r>
              <a:rPr sz="2550" spc="5" dirty="0">
                <a:latin typeface="Arial MT"/>
                <a:cs typeface="Arial MT"/>
              </a:rPr>
              <a:t> </a:t>
            </a:r>
            <a:r>
              <a:rPr sz="2550" spc="10" dirty="0">
                <a:latin typeface="Arial MT"/>
                <a:cs typeface="Arial MT"/>
              </a:rPr>
              <a:t>and</a:t>
            </a:r>
            <a:r>
              <a:rPr sz="2550" spc="5" dirty="0">
                <a:latin typeface="Arial MT"/>
                <a:cs typeface="Arial MT"/>
              </a:rPr>
              <a:t> </a:t>
            </a:r>
            <a:r>
              <a:rPr sz="2550" spc="10" dirty="0">
                <a:latin typeface="Arial MT"/>
                <a:cs typeface="Arial MT"/>
              </a:rPr>
              <a:t>display</a:t>
            </a:r>
            <a:r>
              <a:rPr sz="2550" spc="5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it.</a:t>
            </a:r>
            <a:endParaRPr sz="2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897395"/>
            <a:ext cx="41554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Use</a:t>
            </a:r>
            <a:r>
              <a:rPr sz="3000" spc="-20" dirty="0"/>
              <a:t> </a:t>
            </a:r>
            <a:r>
              <a:rPr sz="3000" dirty="0"/>
              <a:t>stack</a:t>
            </a:r>
            <a:r>
              <a:rPr sz="3000" spc="-20" dirty="0"/>
              <a:t> </a:t>
            </a:r>
            <a:r>
              <a:rPr sz="3000" dirty="0"/>
              <a:t>to</a:t>
            </a:r>
            <a:r>
              <a:rPr sz="3000" spc="-25" dirty="0"/>
              <a:t> </a:t>
            </a:r>
            <a:r>
              <a:rPr sz="3000" spc="-5" dirty="0"/>
              <a:t>backtrack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603250" y="1646422"/>
            <a:ext cx="8027670" cy="440944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269875" marR="5080" indent="-257175">
              <a:lnSpc>
                <a:spcPts val="3100"/>
              </a:lnSpc>
              <a:spcBef>
                <a:spcPts val="219"/>
              </a:spcBef>
              <a:buFont typeface="Arial"/>
              <a:buChar char="•"/>
              <a:tabLst>
                <a:tab pos="269240" algn="l"/>
                <a:tab pos="269875" algn="l"/>
              </a:tabLst>
            </a:pPr>
            <a:r>
              <a:rPr sz="2600" spc="-5" dirty="0">
                <a:latin typeface="Arial MT"/>
                <a:cs typeface="Arial MT"/>
              </a:rPr>
              <a:t>In </a:t>
            </a:r>
            <a:r>
              <a:rPr sz="2600" dirty="0">
                <a:latin typeface="Arial MT"/>
                <a:cs typeface="Arial MT"/>
              </a:rPr>
              <a:t>maze-walking </a:t>
            </a:r>
            <a:r>
              <a:rPr sz="2600" spc="-5" dirty="0">
                <a:latin typeface="Arial MT"/>
                <a:cs typeface="Arial MT"/>
              </a:rPr>
              <a:t>algorithm, </a:t>
            </a:r>
            <a:r>
              <a:rPr sz="2600" dirty="0">
                <a:latin typeface="Arial MT"/>
                <a:cs typeface="Arial MT"/>
              </a:rPr>
              <a:t>we can use </a:t>
            </a:r>
            <a:r>
              <a:rPr sz="2600" spc="-5" dirty="0">
                <a:latin typeface="Arial MT"/>
                <a:cs typeface="Arial MT"/>
              </a:rPr>
              <a:t>stack to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store </a:t>
            </a:r>
            <a:r>
              <a:rPr sz="2600" spc="-7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all nodes </a:t>
            </a:r>
            <a:r>
              <a:rPr sz="2600" spc="-5" dirty="0">
                <a:latin typeface="Arial MT"/>
                <a:cs typeface="Arial MT"/>
              </a:rPr>
              <a:t>that </a:t>
            </a:r>
            <a:r>
              <a:rPr sz="2600" dirty="0">
                <a:latin typeface="Arial MT"/>
                <a:cs typeface="Arial MT"/>
              </a:rPr>
              <a:t>we led us </a:t>
            </a:r>
            <a:r>
              <a:rPr sz="2600" spc="-5" dirty="0">
                <a:latin typeface="Arial MT"/>
                <a:cs typeface="Arial MT"/>
              </a:rPr>
              <a:t>to </a:t>
            </a:r>
            <a:r>
              <a:rPr sz="2600" dirty="0">
                <a:latin typeface="Arial MT"/>
                <a:cs typeface="Arial MT"/>
              </a:rPr>
              <a:t>current node, so </a:t>
            </a:r>
            <a:r>
              <a:rPr sz="2600" spc="-5" dirty="0">
                <a:latin typeface="Arial MT"/>
                <a:cs typeface="Arial MT"/>
              </a:rPr>
              <a:t>that </a:t>
            </a:r>
            <a:r>
              <a:rPr sz="2600" dirty="0">
                <a:latin typeface="Arial MT"/>
                <a:cs typeface="Arial MT"/>
              </a:rPr>
              <a:t>we 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can</a:t>
            </a:r>
            <a:r>
              <a:rPr sz="2600" spc="-5" dirty="0">
                <a:latin typeface="Arial MT"/>
                <a:cs typeface="Arial MT"/>
              </a:rPr>
              <a:t> backtrack </a:t>
            </a:r>
            <a:r>
              <a:rPr sz="2600" dirty="0">
                <a:latin typeface="Arial MT"/>
                <a:cs typeface="Arial MT"/>
              </a:rPr>
              <a:t>when needed.</a:t>
            </a:r>
            <a:endParaRPr sz="2600">
              <a:latin typeface="Arial MT"/>
              <a:cs typeface="Arial MT"/>
            </a:endParaRPr>
          </a:p>
          <a:p>
            <a:pPr marL="12700" marR="3950335">
              <a:lnSpc>
                <a:spcPts val="3600"/>
              </a:lnSpc>
              <a:spcBef>
                <a:spcPts val="100"/>
              </a:spcBef>
              <a:buFont typeface="Arial"/>
              <a:buChar char="•"/>
              <a:tabLst>
                <a:tab pos="269240" algn="l"/>
                <a:tab pos="269875" algn="l"/>
              </a:tabLst>
            </a:pPr>
            <a:r>
              <a:rPr sz="2600" spc="-5" dirty="0">
                <a:latin typeface="Arial MT"/>
                <a:cs typeface="Arial MT"/>
              </a:rPr>
              <a:t>Goal: find </a:t>
            </a:r>
            <a:r>
              <a:rPr sz="2600" dirty="0">
                <a:latin typeface="Arial MT"/>
                <a:cs typeface="Arial MT"/>
              </a:rPr>
              <a:t>a </a:t>
            </a:r>
            <a:r>
              <a:rPr sz="2600" spc="-5" dirty="0">
                <a:latin typeface="Arial MT"/>
                <a:cs typeface="Arial MT"/>
              </a:rPr>
              <a:t>path </a:t>
            </a:r>
            <a:r>
              <a:rPr sz="2600" dirty="0">
                <a:latin typeface="Arial MT"/>
                <a:cs typeface="Arial MT"/>
              </a:rPr>
              <a:t>via </a:t>
            </a:r>
            <a:r>
              <a:rPr sz="2600" spc="-5" dirty="0">
                <a:latin typeface="Arial MT"/>
                <a:cs typeface="Arial MT"/>
              </a:rPr>
              <a:t>white </a:t>
            </a:r>
            <a:r>
              <a:rPr sz="2600" spc="-7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blocks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from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(0,0)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to (5,5)</a:t>
            </a:r>
            <a:endParaRPr sz="2600">
              <a:latin typeface="Arial MT"/>
              <a:cs typeface="Arial MT"/>
            </a:endParaRPr>
          </a:p>
          <a:p>
            <a:pPr marL="12700" marR="4246880">
              <a:lnSpc>
                <a:spcPts val="3600"/>
              </a:lnSpc>
              <a:buChar char="•"/>
              <a:tabLst>
                <a:tab pos="273050" algn="l"/>
                <a:tab pos="273685" algn="l"/>
              </a:tabLst>
            </a:pPr>
            <a:r>
              <a:rPr sz="2600" spc="-5" dirty="0">
                <a:latin typeface="Arial MT"/>
                <a:cs typeface="Arial MT"/>
              </a:rPr>
              <a:t>Need </a:t>
            </a:r>
            <a:r>
              <a:rPr sz="2600" dirty="0">
                <a:latin typeface="Arial MT"/>
                <a:cs typeface="Arial MT"/>
              </a:rPr>
              <a:t>to </a:t>
            </a:r>
            <a:r>
              <a:rPr sz="2600" spc="-5" dirty="0">
                <a:solidFill>
                  <a:srgbClr val="FF2600"/>
                </a:solidFill>
                <a:latin typeface="Arial MT"/>
                <a:cs typeface="Arial MT"/>
              </a:rPr>
              <a:t>explore</a:t>
            </a:r>
            <a:r>
              <a:rPr sz="2600" spc="-5" dirty="0">
                <a:latin typeface="Arial MT"/>
                <a:cs typeface="Arial MT"/>
              </a:rPr>
              <a:t>: try </a:t>
            </a:r>
            <a:r>
              <a:rPr sz="2600" spc="-15" dirty="0">
                <a:latin typeface="Arial MT"/>
                <a:cs typeface="Arial MT"/>
              </a:rPr>
              <a:t>diff. </a:t>
            </a:r>
            <a:r>
              <a:rPr sz="2600" spc="-7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next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step</a:t>
            </a:r>
            <a:endParaRPr sz="2600">
              <a:latin typeface="Arial MT"/>
              <a:cs typeface="Arial MT"/>
            </a:endParaRPr>
          </a:p>
          <a:p>
            <a:pPr marL="12700" marR="3781425" algn="just">
              <a:lnSpc>
                <a:spcPts val="3600"/>
              </a:lnSpc>
              <a:buChar char="•"/>
              <a:tabLst>
                <a:tab pos="273685" algn="l"/>
              </a:tabLst>
            </a:pPr>
            <a:r>
              <a:rPr sz="2600" spc="-5" dirty="0">
                <a:latin typeface="Arial MT"/>
                <a:cs typeface="Arial MT"/>
              </a:rPr>
              <a:t>and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FF2600"/>
                </a:solidFill>
                <a:latin typeface="Arial MT"/>
                <a:cs typeface="Arial MT"/>
              </a:rPr>
              <a:t>backtrack</a:t>
            </a:r>
            <a:r>
              <a:rPr sz="2600" spc="-25" dirty="0">
                <a:solidFill>
                  <a:srgbClr val="FF2600"/>
                </a:solidFill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(when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reach </a:t>
            </a:r>
            <a:r>
              <a:rPr sz="2600" spc="-7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dead-end): </a:t>
            </a:r>
            <a:r>
              <a:rPr sz="2600" spc="-5" dirty="0">
                <a:latin typeface="Arial MT"/>
                <a:cs typeface="Arial MT"/>
              </a:rPr>
              <a:t>i.e., </a:t>
            </a:r>
            <a:r>
              <a:rPr sz="2600" dirty="0">
                <a:latin typeface="Arial MT"/>
                <a:cs typeface="Arial MT"/>
              </a:rPr>
              <a:t>reverse back </a:t>
            </a:r>
            <a:r>
              <a:rPr sz="2600" spc="-7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to </a:t>
            </a:r>
            <a:r>
              <a:rPr sz="2600" dirty="0">
                <a:latin typeface="Arial MT"/>
                <a:cs typeface="Arial MT"/>
              </a:rPr>
              <a:t>previous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node</a:t>
            </a:r>
            <a:endParaRPr sz="26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3003550"/>
            <a:ext cx="3657600" cy="3644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871995"/>
            <a:ext cx="39636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Stack</a:t>
            </a:r>
            <a:r>
              <a:rPr sz="3000" spc="-55" dirty="0"/>
              <a:t> </a:t>
            </a:r>
            <a:r>
              <a:rPr sz="3000" spc="-5" dirty="0"/>
              <a:t>Implementation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496664" y="1904357"/>
            <a:ext cx="7037070" cy="127254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269875" marR="5080" indent="-257175">
              <a:lnSpc>
                <a:spcPts val="3100"/>
              </a:lnSpc>
              <a:spcBef>
                <a:spcPts val="219"/>
              </a:spcBef>
              <a:buFont typeface="Arial"/>
              <a:buChar char="•"/>
              <a:tabLst>
                <a:tab pos="269240" algn="l"/>
                <a:tab pos="269875" algn="l"/>
              </a:tabLst>
            </a:pPr>
            <a:r>
              <a:rPr sz="2600" dirty="0">
                <a:latin typeface="Arial MT"/>
                <a:cs typeface="Arial MT"/>
              </a:rPr>
              <a:t>array-based </a:t>
            </a:r>
            <a:r>
              <a:rPr sz="2600" spc="-5" dirty="0">
                <a:latin typeface="Arial MT"/>
                <a:cs typeface="Arial MT"/>
              </a:rPr>
              <a:t>implementation: static </a:t>
            </a:r>
            <a:r>
              <a:rPr sz="2600" dirty="0">
                <a:latin typeface="Arial MT"/>
                <a:cs typeface="Arial MT"/>
              </a:rPr>
              <a:t>or dynamic </a:t>
            </a:r>
            <a:r>
              <a:rPr sz="2600" spc="-7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array</a:t>
            </a:r>
            <a:endParaRPr sz="26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69240" algn="l"/>
                <a:tab pos="269875" algn="l"/>
              </a:tabLst>
            </a:pPr>
            <a:r>
              <a:rPr sz="2600" spc="-5" dirty="0">
                <a:latin typeface="Arial MT"/>
                <a:cs typeface="Arial MT"/>
              </a:rPr>
              <a:t>linked-structure</a:t>
            </a:r>
            <a:r>
              <a:rPr sz="2600" spc="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implementation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32592" y="6377054"/>
            <a:ext cx="198120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</a:pPr>
            <a:r>
              <a:rPr sz="1400" dirty="0">
                <a:latin typeface="Arial MT"/>
                <a:cs typeface="Arial MT"/>
              </a:rPr>
              <a:t>13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76200"/>
            <a:ext cx="8521700" cy="6540500"/>
          </a:xfrm>
          <a:custGeom>
            <a:avLst/>
            <a:gdLst/>
            <a:ahLst/>
            <a:cxnLst/>
            <a:rect l="l" t="t" r="r" b="b"/>
            <a:pathLst>
              <a:path w="8521700" h="6540500">
                <a:moveTo>
                  <a:pt x="0" y="0"/>
                </a:moveTo>
                <a:lnTo>
                  <a:pt x="8521700" y="0"/>
                </a:lnTo>
                <a:lnTo>
                  <a:pt x="8521700" y="6540500"/>
                </a:lnTo>
                <a:lnTo>
                  <a:pt x="0" y="6540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92100" y="20253"/>
            <a:ext cx="2083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ourier New"/>
                <a:cs typeface="Courier New"/>
              </a:rPr>
              <a:t>class</a:t>
            </a:r>
            <a:r>
              <a:rPr sz="1800" spc="-9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StackType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2100" y="299652"/>
            <a:ext cx="3180715" cy="1609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800" b="1" dirty="0">
                <a:latin typeface="Courier New"/>
                <a:cs typeface="Courier New"/>
              </a:rPr>
              <a:t>public:</a:t>
            </a:r>
            <a:endParaRPr sz="18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  <a:spcBef>
                <a:spcPts val="1550"/>
              </a:spcBef>
            </a:pPr>
            <a:r>
              <a:rPr sz="1800" b="1" spc="-5" dirty="0">
                <a:latin typeface="Courier New"/>
                <a:cs typeface="Courier New"/>
              </a:rPr>
              <a:t>StackType(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);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95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bool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IsFull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()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const;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1223" y="2171636"/>
            <a:ext cx="27463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5" dirty="0">
                <a:latin typeface="Courier New"/>
                <a:cs typeface="Courier New"/>
              </a:rPr>
              <a:t>bool</a:t>
            </a:r>
            <a:r>
              <a:rPr sz="1700" b="1" spc="-50" dirty="0">
                <a:latin typeface="Courier New"/>
                <a:cs typeface="Courier New"/>
              </a:rPr>
              <a:t> </a:t>
            </a:r>
            <a:r>
              <a:rPr sz="1700" b="1" spc="-5" dirty="0">
                <a:latin typeface="Courier New"/>
                <a:cs typeface="Courier New"/>
              </a:rPr>
              <a:t>IsEmpty()</a:t>
            </a:r>
            <a:r>
              <a:rPr sz="1700" b="1" spc="-45" dirty="0">
                <a:latin typeface="Courier New"/>
                <a:cs typeface="Courier New"/>
              </a:rPr>
              <a:t> </a:t>
            </a:r>
            <a:r>
              <a:rPr sz="1700" b="1" spc="-5" dirty="0">
                <a:latin typeface="Courier New"/>
                <a:cs typeface="Courier New"/>
              </a:rPr>
              <a:t>const;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1223" y="2707576"/>
            <a:ext cx="35236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5" dirty="0">
                <a:latin typeface="Courier New"/>
                <a:cs typeface="Courier New"/>
              </a:rPr>
              <a:t>void</a:t>
            </a:r>
            <a:r>
              <a:rPr sz="1700" b="1" spc="-25" dirty="0">
                <a:latin typeface="Courier New"/>
                <a:cs typeface="Courier New"/>
              </a:rPr>
              <a:t> </a:t>
            </a:r>
            <a:r>
              <a:rPr sz="1700" b="1" spc="-5" dirty="0">
                <a:latin typeface="Courier New"/>
                <a:cs typeface="Courier New"/>
              </a:rPr>
              <a:t>Push(</a:t>
            </a:r>
            <a:r>
              <a:rPr sz="1700" b="1" spc="-25" dirty="0">
                <a:latin typeface="Courier New"/>
                <a:cs typeface="Courier New"/>
              </a:rPr>
              <a:t> </a:t>
            </a:r>
            <a:r>
              <a:rPr sz="1700" b="1" spc="-5" dirty="0">
                <a:latin typeface="Courier New"/>
                <a:cs typeface="Courier New"/>
              </a:rPr>
              <a:t>ItemType</a:t>
            </a:r>
            <a:r>
              <a:rPr sz="1700" b="1" spc="-25" dirty="0">
                <a:latin typeface="Courier New"/>
                <a:cs typeface="Courier New"/>
              </a:rPr>
              <a:t> </a:t>
            </a:r>
            <a:r>
              <a:rPr sz="1700" b="1" spc="-5" dirty="0">
                <a:latin typeface="Courier New"/>
                <a:cs typeface="Courier New"/>
              </a:rPr>
              <a:t>item</a:t>
            </a:r>
            <a:r>
              <a:rPr sz="1700" b="1" spc="-25" dirty="0">
                <a:latin typeface="Courier New"/>
                <a:cs typeface="Courier New"/>
              </a:rPr>
              <a:t> </a:t>
            </a:r>
            <a:r>
              <a:rPr sz="1700" b="1" spc="-5" dirty="0">
                <a:latin typeface="Courier New"/>
                <a:cs typeface="Courier New"/>
              </a:rPr>
              <a:t>);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1223" y="3243516"/>
            <a:ext cx="14509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5" dirty="0">
                <a:latin typeface="Courier New"/>
                <a:cs typeface="Courier New"/>
              </a:rPr>
              <a:t>void</a:t>
            </a:r>
            <a:r>
              <a:rPr sz="1700" b="1" spc="-90" dirty="0">
                <a:latin typeface="Courier New"/>
                <a:cs typeface="Courier New"/>
              </a:rPr>
              <a:t> </a:t>
            </a:r>
            <a:r>
              <a:rPr sz="1700" b="1" spc="-5" dirty="0">
                <a:latin typeface="Courier New"/>
                <a:cs typeface="Courier New"/>
              </a:rPr>
              <a:t>Pop();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1223" y="3779456"/>
            <a:ext cx="196913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5" dirty="0">
                <a:latin typeface="Courier New"/>
                <a:cs typeface="Courier New"/>
              </a:rPr>
              <a:t>ItemType</a:t>
            </a:r>
            <a:r>
              <a:rPr sz="1700" b="1" spc="-90" dirty="0">
                <a:latin typeface="Courier New"/>
                <a:cs typeface="Courier New"/>
              </a:rPr>
              <a:t> </a:t>
            </a:r>
            <a:r>
              <a:rPr sz="1700" b="1" dirty="0">
                <a:latin typeface="Courier New"/>
                <a:cs typeface="Courier New"/>
              </a:rPr>
              <a:t>Top();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2100" y="4315396"/>
            <a:ext cx="106172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5" dirty="0">
                <a:latin typeface="Courier New"/>
                <a:cs typeface="Courier New"/>
              </a:rPr>
              <a:t>private: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30824" y="5119306"/>
            <a:ext cx="209931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latin typeface="Courier New"/>
                <a:cs typeface="Courier New"/>
              </a:rPr>
              <a:t>items[MAX_ITEMS]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16855" y="5168165"/>
            <a:ext cx="130175" cy="245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55"/>
              </a:lnSpc>
            </a:pPr>
            <a:r>
              <a:rPr sz="1700" b="1" dirty="0">
                <a:latin typeface="Courier New"/>
                <a:cs typeface="Courier New"/>
              </a:rPr>
              <a:t>;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2100" y="4851336"/>
            <a:ext cx="1405255" cy="820419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54965" marR="5080">
              <a:lnSpc>
                <a:spcPct val="103400"/>
              </a:lnSpc>
              <a:spcBef>
                <a:spcPts val="30"/>
              </a:spcBef>
            </a:pPr>
            <a:r>
              <a:rPr sz="1700" b="1" dirty="0">
                <a:latin typeface="Courier New"/>
                <a:cs typeface="Courier New"/>
              </a:rPr>
              <a:t>int</a:t>
            </a:r>
            <a:r>
              <a:rPr sz="1700" b="1" spc="-100" dirty="0">
                <a:latin typeface="Courier New"/>
                <a:cs typeface="Courier New"/>
              </a:rPr>
              <a:t> </a:t>
            </a:r>
            <a:r>
              <a:rPr sz="1700" b="1" dirty="0">
                <a:latin typeface="Courier New"/>
                <a:cs typeface="Courier New"/>
              </a:rPr>
              <a:t>top; </a:t>
            </a:r>
            <a:r>
              <a:rPr sz="1700" b="1" spc="-1005" dirty="0">
                <a:latin typeface="Courier New"/>
                <a:cs typeface="Courier New"/>
              </a:rPr>
              <a:t> </a:t>
            </a:r>
            <a:r>
              <a:rPr sz="1700" b="1" dirty="0">
                <a:latin typeface="Courier New"/>
                <a:cs typeface="Courier New"/>
              </a:rPr>
              <a:t>ItemType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700" b="1" dirty="0">
                <a:latin typeface="Courier New"/>
                <a:cs typeface="Courier New"/>
              </a:rPr>
              <a:t>};</a:t>
            </a:r>
            <a:endParaRPr sz="1700">
              <a:latin typeface="Courier New"/>
              <a:cs typeface="Courier New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9400" y="1536700"/>
            <a:ext cx="3657600" cy="467360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6096609" y="2244294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Microsoft Sans Serif"/>
                <a:cs typeface="Microsoft Sans Serif"/>
              </a:rPr>
              <a:t>2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10350" y="4161994"/>
            <a:ext cx="381635" cy="158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00"/>
              </a:spcBef>
            </a:pPr>
            <a:r>
              <a:rPr sz="2400" spc="70" dirty="0">
                <a:latin typeface="Microsoft Sans Serif"/>
                <a:cs typeface="Microsoft Sans Serif"/>
              </a:rPr>
              <a:t>‘c’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sz="2400" spc="130" dirty="0">
                <a:latin typeface="Microsoft Sans Serif"/>
                <a:cs typeface="Microsoft Sans Serif"/>
              </a:rPr>
              <a:t>‘b’</a:t>
            </a:r>
            <a:endParaRPr sz="2400">
              <a:latin typeface="Microsoft Sans Serif"/>
              <a:cs typeface="Microsoft Sans Serif"/>
            </a:endParaRPr>
          </a:p>
          <a:p>
            <a:pPr marL="26670">
              <a:lnSpc>
                <a:spcPct val="100000"/>
              </a:lnSpc>
              <a:spcBef>
                <a:spcPts val="1820"/>
              </a:spcBef>
            </a:pPr>
            <a:r>
              <a:rPr sz="2400" spc="55" dirty="0">
                <a:latin typeface="Microsoft Sans Serif"/>
                <a:cs typeface="Microsoft Sans Serif"/>
              </a:rPr>
              <a:t>‘a’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31709" y="4743654"/>
            <a:ext cx="765175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2400" spc="-40" dirty="0">
                <a:latin typeface="Microsoft Sans Serif"/>
                <a:cs typeface="Microsoft Sans Serif"/>
              </a:rPr>
              <a:t>Stack  </a:t>
            </a:r>
            <a:r>
              <a:rPr sz="2400" spc="10" dirty="0">
                <a:latin typeface="Microsoft Sans Serif"/>
                <a:cs typeface="Microsoft Sans Serif"/>
              </a:rPr>
              <a:t>items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66609" y="2999944"/>
            <a:ext cx="1019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Microsoft Sans Serif"/>
                <a:cs typeface="Microsoft Sans Serif"/>
              </a:rPr>
              <a:t>unused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66609" y="3419044"/>
            <a:ext cx="17418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5" dirty="0">
                <a:latin typeface="Microsoft Sans Serif"/>
                <a:cs typeface="Microsoft Sans Serif"/>
              </a:rPr>
              <a:t>slots/garbag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9900" y="466427"/>
            <a:ext cx="373761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0" spc="90" dirty="0">
                <a:latin typeface="Arial MT"/>
                <a:cs typeface="Arial MT"/>
              </a:rPr>
              <a:t>Class</a:t>
            </a:r>
            <a:r>
              <a:rPr sz="2500" b="0" spc="-100" dirty="0">
                <a:latin typeface="Arial MT"/>
                <a:cs typeface="Arial MT"/>
              </a:rPr>
              <a:t> </a:t>
            </a:r>
            <a:r>
              <a:rPr sz="2500" b="0" spc="140" dirty="0">
                <a:latin typeface="Arial MT"/>
                <a:cs typeface="Arial MT"/>
              </a:rPr>
              <a:t>Interface</a:t>
            </a:r>
            <a:r>
              <a:rPr sz="2500" b="0" spc="-100" dirty="0">
                <a:latin typeface="Arial MT"/>
                <a:cs typeface="Arial MT"/>
              </a:rPr>
              <a:t> </a:t>
            </a:r>
            <a:r>
              <a:rPr sz="2500" b="0" spc="110" dirty="0">
                <a:latin typeface="Arial MT"/>
                <a:cs typeface="Arial MT"/>
              </a:rPr>
              <a:t>Diagram</a:t>
            </a:r>
            <a:endParaRPr sz="25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2725" y="1433452"/>
            <a:ext cx="5409957" cy="472428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1823" y="790542"/>
            <a:ext cx="4563110" cy="814069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120775">
              <a:lnSpc>
                <a:spcPct val="100000"/>
              </a:lnSpc>
              <a:spcBef>
                <a:spcPts val="520"/>
              </a:spcBef>
            </a:pPr>
            <a:r>
              <a:rPr sz="1200" spc="50" dirty="0">
                <a:latin typeface="Arial MT"/>
                <a:cs typeface="Arial MT"/>
              </a:rPr>
              <a:t>(Memory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55" dirty="0">
                <a:latin typeface="Arial MT"/>
                <a:cs typeface="Arial MT"/>
              </a:rPr>
              <a:t>reversed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70" dirty="0">
                <a:latin typeface="Arial MT"/>
                <a:cs typeface="Arial MT"/>
              </a:rPr>
              <a:t>to</a:t>
            </a:r>
            <a:r>
              <a:rPr sz="1200" spc="260" dirty="0">
                <a:latin typeface="Arial MT"/>
                <a:cs typeface="Arial MT"/>
              </a:rPr>
              <a:t> </a:t>
            </a:r>
            <a:r>
              <a:rPr sz="1200" spc="80" dirty="0">
                <a:latin typeface="Arial MT"/>
                <a:cs typeface="Arial MT"/>
              </a:rPr>
              <a:t>better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60" dirty="0">
                <a:latin typeface="Arial MT"/>
                <a:cs typeface="Arial MT"/>
              </a:rPr>
              <a:t>illustrate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70" dirty="0">
                <a:latin typeface="Arial MT"/>
                <a:cs typeface="Arial MT"/>
              </a:rPr>
              <a:t>concept)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800" spc="110" dirty="0">
                <a:latin typeface="Arial MT"/>
                <a:cs typeface="Arial MT"/>
              </a:rPr>
              <a:t>StackType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130" dirty="0">
                <a:latin typeface="Arial MT"/>
                <a:cs typeface="Arial MT"/>
              </a:rPr>
              <a:t>class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66948" y="3952230"/>
            <a:ext cx="5619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latin typeface="Times New Roman"/>
                <a:cs typeface="Times New Roman"/>
              </a:rPr>
              <a:t>Push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32023" y="3418830"/>
            <a:ext cx="6610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IsFull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62162" y="2383779"/>
            <a:ext cx="1163955" cy="831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Sta</a:t>
            </a:r>
            <a:r>
              <a:rPr sz="2000" b="1" spc="-5" dirty="0">
                <a:latin typeface="Times New Roman"/>
                <a:cs typeface="Times New Roman"/>
              </a:rPr>
              <a:t>c</a:t>
            </a:r>
            <a:r>
              <a:rPr sz="2000" b="1" dirty="0">
                <a:latin typeface="Times New Roman"/>
                <a:cs typeface="Times New Roman"/>
              </a:rPr>
              <a:t>k</a:t>
            </a:r>
            <a:r>
              <a:rPr sz="2000" b="1" spc="-150" dirty="0">
                <a:latin typeface="Times New Roman"/>
                <a:cs typeface="Times New Roman"/>
              </a:rPr>
              <a:t>T</a:t>
            </a:r>
            <a:r>
              <a:rPr sz="2000" b="1" dirty="0">
                <a:latin typeface="Times New Roman"/>
                <a:cs typeface="Times New Roman"/>
              </a:rPr>
              <a:t>ype</a:t>
            </a:r>
            <a:endParaRPr sz="200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  <a:spcBef>
                <a:spcPts val="1550"/>
              </a:spcBef>
            </a:pPr>
            <a:r>
              <a:rPr sz="2000" b="1" dirty="0">
                <a:latin typeface="Times New Roman"/>
                <a:cs typeface="Times New Roman"/>
              </a:rPr>
              <a:t>IsEmpty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860800" y="2159000"/>
            <a:ext cx="2438400" cy="3352800"/>
            <a:chOff x="3860800" y="2159000"/>
            <a:chExt cx="2438400" cy="3352800"/>
          </a:xfrm>
        </p:grpSpPr>
        <p:sp>
          <p:nvSpPr>
            <p:cNvPr id="9" name="object 9"/>
            <p:cNvSpPr/>
            <p:nvPr/>
          </p:nvSpPr>
          <p:spPr>
            <a:xfrm>
              <a:off x="3867150" y="2165349"/>
              <a:ext cx="2425700" cy="3340100"/>
            </a:xfrm>
            <a:custGeom>
              <a:avLst/>
              <a:gdLst/>
              <a:ahLst/>
              <a:cxnLst/>
              <a:rect l="l" t="t" r="r" b="b"/>
              <a:pathLst>
                <a:path w="2425700" h="3340100">
                  <a:moveTo>
                    <a:pt x="0" y="0"/>
                  </a:moveTo>
                  <a:lnTo>
                    <a:pt x="2425700" y="0"/>
                  </a:lnTo>
                  <a:lnTo>
                    <a:pt x="2425700" y="3340100"/>
                  </a:lnTo>
                  <a:lnTo>
                    <a:pt x="0" y="3340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67150" y="2165350"/>
              <a:ext cx="2425700" cy="3340100"/>
            </a:xfrm>
            <a:custGeom>
              <a:avLst/>
              <a:gdLst/>
              <a:ahLst/>
              <a:cxnLst/>
              <a:rect l="l" t="t" r="r" b="b"/>
              <a:pathLst>
                <a:path w="2425700" h="3340100">
                  <a:moveTo>
                    <a:pt x="0" y="0"/>
                  </a:moveTo>
                  <a:lnTo>
                    <a:pt x="2425700" y="0"/>
                  </a:lnTo>
                  <a:lnTo>
                    <a:pt x="2425700" y="3340099"/>
                  </a:lnTo>
                  <a:lnTo>
                    <a:pt x="0" y="33400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910012" y="2191914"/>
            <a:ext cx="1301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Private</a:t>
            </a:r>
            <a:r>
              <a:rPr sz="1800" b="1" spc="-7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data: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10012" y="2572914"/>
            <a:ext cx="34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top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10012" y="3138288"/>
            <a:ext cx="1572260" cy="153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Times New Roman"/>
                <a:cs typeface="Times New Roman"/>
              </a:rPr>
              <a:t>[MAX_ITEMS-1]</a:t>
            </a:r>
            <a:endParaRPr sz="1600">
              <a:latin typeface="Times New Roman"/>
              <a:cs typeface="Times New Roman"/>
            </a:endParaRPr>
          </a:p>
          <a:p>
            <a:pPr marR="399415" algn="r">
              <a:lnSpc>
                <a:spcPct val="100000"/>
              </a:lnSpc>
              <a:spcBef>
                <a:spcPts val="1245"/>
              </a:spcBef>
            </a:pPr>
            <a:r>
              <a:rPr sz="800" dirty="0">
                <a:latin typeface="Arial Black"/>
                <a:cs typeface="Arial Black"/>
              </a:rPr>
              <a:t>.</a:t>
            </a:r>
            <a:endParaRPr sz="800">
              <a:latin typeface="Arial Black"/>
              <a:cs typeface="Arial Black"/>
            </a:endParaRPr>
          </a:p>
          <a:p>
            <a:pPr marR="399415" algn="r">
              <a:lnSpc>
                <a:spcPct val="100000"/>
              </a:lnSpc>
              <a:spcBef>
                <a:spcPts val="140"/>
              </a:spcBef>
            </a:pPr>
            <a:r>
              <a:rPr sz="800" dirty="0">
                <a:latin typeface="Arial Black"/>
                <a:cs typeface="Arial Black"/>
              </a:rPr>
              <a:t>.</a:t>
            </a:r>
            <a:endParaRPr sz="800">
              <a:latin typeface="Arial Black"/>
              <a:cs typeface="Arial Black"/>
            </a:endParaRPr>
          </a:p>
          <a:p>
            <a:pPr marR="399415" algn="r">
              <a:lnSpc>
                <a:spcPct val="100000"/>
              </a:lnSpc>
              <a:spcBef>
                <a:spcPts val="140"/>
              </a:spcBef>
            </a:pPr>
            <a:r>
              <a:rPr sz="800" dirty="0">
                <a:latin typeface="Arial Black"/>
                <a:cs typeface="Arial Black"/>
              </a:rPr>
              <a:t>.</a:t>
            </a:r>
            <a:endParaRPr sz="800">
              <a:latin typeface="Arial Black"/>
              <a:cs typeface="Arial Black"/>
            </a:endParaRPr>
          </a:p>
          <a:p>
            <a:pPr marL="977900">
              <a:lnSpc>
                <a:spcPct val="100000"/>
              </a:lnSpc>
              <a:spcBef>
                <a:spcPts val="775"/>
              </a:spcBef>
            </a:pPr>
            <a:r>
              <a:rPr sz="1600" b="1" dirty="0">
                <a:latin typeface="Times New Roman"/>
                <a:cs typeface="Times New Roman"/>
              </a:rPr>
              <a:t>[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2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]</a:t>
            </a:r>
            <a:endParaRPr sz="1600">
              <a:latin typeface="Times New Roman"/>
              <a:cs typeface="Times New Roman"/>
            </a:endParaRPr>
          </a:p>
          <a:p>
            <a:pPr marL="977900">
              <a:lnSpc>
                <a:spcPct val="100000"/>
              </a:lnSpc>
              <a:spcBef>
                <a:spcPts val="980"/>
              </a:spcBef>
            </a:pPr>
            <a:r>
              <a:rPr sz="1600" b="1" dirty="0">
                <a:latin typeface="Times New Roman"/>
                <a:cs typeface="Times New Roman"/>
              </a:rPr>
              <a:t>[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1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]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10012" y="4757314"/>
            <a:ext cx="1151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9465" algn="l"/>
              </a:tabLst>
            </a:pPr>
            <a:r>
              <a:rPr sz="1800" b="1" spc="-5" dirty="0">
                <a:latin typeface="Times New Roman"/>
                <a:cs typeface="Times New Roman"/>
              </a:rPr>
              <a:t>items	</a:t>
            </a:r>
            <a:r>
              <a:rPr sz="1600" b="1" dirty="0">
                <a:latin typeface="Times New Roman"/>
                <a:cs typeface="Times New Roman"/>
              </a:rPr>
              <a:t>[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0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]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5575301" y="3238500"/>
          <a:ext cx="596900" cy="21335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38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03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8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03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6" name="object 16"/>
          <p:cNvGrpSpPr/>
          <p:nvPr/>
        </p:nvGrpSpPr>
        <p:grpSpPr>
          <a:xfrm>
            <a:off x="1670025" y="2730501"/>
            <a:ext cx="3829685" cy="2609850"/>
            <a:chOff x="1670025" y="2730501"/>
            <a:chExt cx="3829685" cy="2609850"/>
          </a:xfrm>
        </p:grpSpPr>
        <p:sp>
          <p:nvSpPr>
            <p:cNvPr id="17" name="object 17"/>
            <p:cNvSpPr/>
            <p:nvPr/>
          </p:nvSpPr>
          <p:spPr>
            <a:xfrm>
              <a:off x="4972049" y="2736850"/>
              <a:ext cx="520700" cy="292100"/>
            </a:xfrm>
            <a:custGeom>
              <a:avLst/>
              <a:gdLst/>
              <a:ahLst/>
              <a:cxnLst/>
              <a:rect l="l" t="t" r="r" b="b"/>
              <a:pathLst>
                <a:path w="520700" h="292100">
                  <a:moveTo>
                    <a:pt x="0" y="0"/>
                  </a:moveTo>
                  <a:lnTo>
                    <a:pt x="520700" y="0"/>
                  </a:lnTo>
                  <a:lnTo>
                    <a:pt x="520700" y="292100"/>
                  </a:lnTo>
                  <a:lnTo>
                    <a:pt x="0" y="292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972050" y="2736850"/>
              <a:ext cx="520700" cy="292100"/>
            </a:xfrm>
            <a:custGeom>
              <a:avLst/>
              <a:gdLst/>
              <a:ahLst/>
              <a:cxnLst/>
              <a:rect l="l" t="t" r="r" b="b"/>
              <a:pathLst>
                <a:path w="520700" h="292100">
                  <a:moveTo>
                    <a:pt x="0" y="0"/>
                  </a:moveTo>
                  <a:lnTo>
                    <a:pt x="520699" y="0"/>
                  </a:lnTo>
                  <a:lnTo>
                    <a:pt x="520699" y="292100"/>
                  </a:lnTo>
                  <a:lnTo>
                    <a:pt x="0" y="29210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676375" y="4965693"/>
              <a:ext cx="1968500" cy="368300"/>
            </a:xfrm>
            <a:custGeom>
              <a:avLst/>
              <a:gdLst/>
              <a:ahLst/>
              <a:cxnLst/>
              <a:rect l="l" t="t" r="r" b="b"/>
              <a:pathLst>
                <a:path w="1968500" h="368300">
                  <a:moveTo>
                    <a:pt x="984224" y="0"/>
                  </a:moveTo>
                  <a:lnTo>
                    <a:pt x="930272" y="275"/>
                  </a:lnTo>
                  <a:lnTo>
                    <a:pt x="876451" y="1100"/>
                  </a:lnTo>
                  <a:lnTo>
                    <a:pt x="822891" y="2476"/>
                  </a:lnTo>
                  <a:lnTo>
                    <a:pt x="769722" y="4403"/>
                  </a:lnTo>
                  <a:lnTo>
                    <a:pt x="717076" y="6880"/>
                  </a:lnTo>
                  <a:lnTo>
                    <a:pt x="665083" y="9907"/>
                  </a:lnTo>
                  <a:lnTo>
                    <a:pt x="613874" y="13485"/>
                  </a:lnTo>
                  <a:lnTo>
                    <a:pt x="563578" y="17614"/>
                  </a:lnTo>
                  <a:lnTo>
                    <a:pt x="514327" y="22292"/>
                  </a:lnTo>
                  <a:lnTo>
                    <a:pt x="466251" y="27521"/>
                  </a:lnTo>
                  <a:lnTo>
                    <a:pt x="419481" y="33301"/>
                  </a:lnTo>
                  <a:lnTo>
                    <a:pt x="374148" y="39631"/>
                  </a:lnTo>
                  <a:lnTo>
                    <a:pt x="330381" y="46512"/>
                  </a:lnTo>
                  <a:lnTo>
                    <a:pt x="288312" y="53942"/>
                  </a:lnTo>
                  <a:lnTo>
                    <a:pt x="227802" y="66325"/>
                  </a:lnTo>
                  <a:lnTo>
                    <a:pt x="174411" y="79443"/>
                  </a:lnTo>
                  <a:lnTo>
                    <a:pt x="128138" y="93205"/>
                  </a:lnTo>
                  <a:lnTo>
                    <a:pt x="88985" y="107519"/>
                  </a:lnTo>
                  <a:lnTo>
                    <a:pt x="32034" y="137434"/>
                  </a:lnTo>
                  <a:lnTo>
                    <a:pt x="3559" y="168453"/>
                  </a:lnTo>
                  <a:lnTo>
                    <a:pt x="0" y="184146"/>
                  </a:lnTo>
                  <a:lnTo>
                    <a:pt x="3559" y="199839"/>
                  </a:lnTo>
                  <a:lnTo>
                    <a:pt x="32034" y="230858"/>
                  </a:lnTo>
                  <a:lnTo>
                    <a:pt x="88985" y="260773"/>
                  </a:lnTo>
                  <a:lnTo>
                    <a:pt x="128138" y="275087"/>
                  </a:lnTo>
                  <a:lnTo>
                    <a:pt x="174411" y="288849"/>
                  </a:lnTo>
                  <a:lnTo>
                    <a:pt x="227802" y="301967"/>
                  </a:lnTo>
                  <a:lnTo>
                    <a:pt x="288312" y="314350"/>
                  </a:lnTo>
                  <a:lnTo>
                    <a:pt x="330381" y="321780"/>
                  </a:lnTo>
                  <a:lnTo>
                    <a:pt x="374148" y="328661"/>
                  </a:lnTo>
                  <a:lnTo>
                    <a:pt x="419481" y="334991"/>
                  </a:lnTo>
                  <a:lnTo>
                    <a:pt x="466251" y="340771"/>
                  </a:lnTo>
                  <a:lnTo>
                    <a:pt x="514327" y="346000"/>
                  </a:lnTo>
                  <a:lnTo>
                    <a:pt x="563578" y="350678"/>
                  </a:lnTo>
                  <a:lnTo>
                    <a:pt x="613874" y="354807"/>
                  </a:lnTo>
                  <a:lnTo>
                    <a:pt x="665083" y="358385"/>
                  </a:lnTo>
                  <a:lnTo>
                    <a:pt x="717076" y="361412"/>
                  </a:lnTo>
                  <a:lnTo>
                    <a:pt x="769722" y="363889"/>
                  </a:lnTo>
                  <a:lnTo>
                    <a:pt x="822891" y="365816"/>
                  </a:lnTo>
                  <a:lnTo>
                    <a:pt x="876451" y="367192"/>
                  </a:lnTo>
                  <a:lnTo>
                    <a:pt x="930272" y="368017"/>
                  </a:lnTo>
                  <a:lnTo>
                    <a:pt x="984224" y="368293"/>
                  </a:lnTo>
                  <a:lnTo>
                    <a:pt x="1038176" y="368017"/>
                  </a:lnTo>
                  <a:lnTo>
                    <a:pt x="1091997" y="367192"/>
                  </a:lnTo>
                  <a:lnTo>
                    <a:pt x="1145557" y="365816"/>
                  </a:lnTo>
                  <a:lnTo>
                    <a:pt x="1198726" y="363889"/>
                  </a:lnTo>
                  <a:lnTo>
                    <a:pt x="1251372" y="361412"/>
                  </a:lnTo>
                  <a:lnTo>
                    <a:pt x="1303365" y="358385"/>
                  </a:lnTo>
                  <a:lnTo>
                    <a:pt x="1354575" y="354807"/>
                  </a:lnTo>
                  <a:lnTo>
                    <a:pt x="1404870" y="350678"/>
                  </a:lnTo>
                  <a:lnTo>
                    <a:pt x="1454121" y="346000"/>
                  </a:lnTo>
                  <a:lnTo>
                    <a:pt x="1502197" y="340771"/>
                  </a:lnTo>
                  <a:lnTo>
                    <a:pt x="1548967" y="334991"/>
                  </a:lnTo>
                  <a:lnTo>
                    <a:pt x="1594301" y="328661"/>
                  </a:lnTo>
                  <a:lnTo>
                    <a:pt x="1638067" y="321780"/>
                  </a:lnTo>
                  <a:lnTo>
                    <a:pt x="1680136" y="314350"/>
                  </a:lnTo>
                  <a:lnTo>
                    <a:pt x="1740647" y="301967"/>
                  </a:lnTo>
                  <a:lnTo>
                    <a:pt x="1794038" y="288849"/>
                  </a:lnTo>
                  <a:lnTo>
                    <a:pt x="1840310" y="275087"/>
                  </a:lnTo>
                  <a:lnTo>
                    <a:pt x="1879464" y="260773"/>
                  </a:lnTo>
                  <a:lnTo>
                    <a:pt x="1936415" y="230858"/>
                  </a:lnTo>
                  <a:lnTo>
                    <a:pt x="1964890" y="199839"/>
                  </a:lnTo>
                  <a:lnTo>
                    <a:pt x="1968450" y="184146"/>
                  </a:lnTo>
                  <a:lnTo>
                    <a:pt x="1964890" y="168453"/>
                  </a:lnTo>
                  <a:lnTo>
                    <a:pt x="1936415" y="137434"/>
                  </a:lnTo>
                  <a:lnTo>
                    <a:pt x="1879464" y="107519"/>
                  </a:lnTo>
                  <a:lnTo>
                    <a:pt x="1840310" y="93205"/>
                  </a:lnTo>
                  <a:lnTo>
                    <a:pt x="1794038" y="79443"/>
                  </a:lnTo>
                  <a:lnTo>
                    <a:pt x="1740647" y="66325"/>
                  </a:lnTo>
                  <a:lnTo>
                    <a:pt x="1680136" y="53942"/>
                  </a:lnTo>
                  <a:lnTo>
                    <a:pt x="1638067" y="46512"/>
                  </a:lnTo>
                  <a:lnTo>
                    <a:pt x="1594301" y="39631"/>
                  </a:lnTo>
                  <a:lnTo>
                    <a:pt x="1548967" y="33301"/>
                  </a:lnTo>
                  <a:lnTo>
                    <a:pt x="1502197" y="27521"/>
                  </a:lnTo>
                  <a:lnTo>
                    <a:pt x="1454121" y="22292"/>
                  </a:lnTo>
                  <a:lnTo>
                    <a:pt x="1404870" y="17614"/>
                  </a:lnTo>
                  <a:lnTo>
                    <a:pt x="1354575" y="13485"/>
                  </a:lnTo>
                  <a:lnTo>
                    <a:pt x="1303365" y="9907"/>
                  </a:lnTo>
                  <a:lnTo>
                    <a:pt x="1251372" y="6880"/>
                  </a:lnTo>
                  <a:lnTo>
                    <a:pt x="1198726" y="4403"/>
                  </a:lnTo>
                  <a:lnTo>
                    <a:pt x="1145557" y="2476"/>
                  </a:lnTo>
                  <a:lnTo>
                    <a:pt x="1091997" y="1100"/>
                  </a:lnTo>
                  <a:lnTo>
                    <a:pt x="1038176" y="275"/>
                  </a:lnTo>
                  <a:lnTo>
                    <a:pt x="984224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676374" y="4965693"/>
              <a:ext cx="1968500" cy="368300"/>
            </a:xfrm>
            <a:custGeom>
              <a:avLst/>
              <a:gdLst/>
              <a:ahLst/>
              <a:cxnLst/>
              <a:rect l="l" t="t" r="r" b="b"/>
              <a:pathLst>
                <a:path w="1968500" h="368300">
                  <a:moveTo>
                    <a:pt x="1680137" y="53942"/>
                  </a:moveTo>
                  <a:lnTo>
                    <a:pt x="1740647" y="66325"/>
                  </a:lnTo>
                  <a:lnTo>
                    <a:pt x="1794038" y="79443"/>
                  </a:lnTo>
                  <a:lnTo>
                    <a:pt x="1840311" y="93205"/>
                  </a:lnTo>
                  <a:lnTo>
                    <a:pt x="1879464" y="107519"/>
                  </a:lnTo>
                  <a:lnTo>
                    <a:pt x="1936415" y="137434"/>
                  </a:lnTo>
                  <a:lnTo>
                    <a:pt x="1964890" y="168453"/>
                  </a:lnTo>
                  <a:lnTo>
                    <a:pt x="1968449" y="184146"/>
                  </a:lnTo>
                  <a:lnTo>
                    <a:pt x="1964890" y="199839"/>
                  </a:lnTo>
                  <a:lnTo>
                    <a:pt x="1936415" y="230858"/>
                  </a:lnTo>
                  <a:lnTo>
                    <a:pt x="1879464" y="260773"/>
                  </a:lnTo>
                  <a:lnTo>
                    <a:pt x="1840311" y="275086"/>
                  </a:lnTo>
                  <a:lnTo>
                    <a:pt x="1794038" y="288849"/>
                  </a:lnTo>
                  <a:lnTo>
                    <a:pt x="1740647" y="301967"/>
                  </a:lnTo>
                  <a:lnTo>
                    <a:pt x="1680137" y="314350"/>
                  </a:lnTo>
                  <a:lnTo>
                    <a:pt x="1638068" y="321780"/>
                  </a:lnTo>
                  <a:lnTo>
                    <a:pt x="1594301" y="328661"/>
                  </a:lnTo>
                  <a:lnTo>
                    <a:pt x="1548968" y="334991"/>
                  </a:lnTo>
                  <a:lnTo>
                    <a:pt x="1502198" y="340770"/>
                  </a:lnTo>
                  <a:lnTo>
                    <a:pt x="1454122" y="346000"/>
                  </a:lnTo>
                  <a:lnTo>
                    <a:pt x="1404871" y="350678"/>
                  </a:lnTo>
                  <a:lnTo>
                    <a:pt x="1354575" y="354807"/>
                  </a:lnTo>
                  <a:lnTo>
                    <a:pt x="1303366" y="358384"/>
                  </a:lnTo>
                  <a:lnTo>
                    <a:pt x="1251372" y="361412"/>
                  </a:lnTo>
                  <a:lnTo>
                    <a:pt x="1198726" y="363889"/>
                  </a:lnTo>
                  <a:lnTo>
                    <a:pt x="1145558" y="365815"/>
                  </a:lnTo>
                  <a:lnTo>
                    <a:pt x="1091998" y="367191"/>
                  </a:lnTo>
                  <a:lnTo>
                    <a:pt x="1038177" y="368017"/>
                  </a:lnTo>
                  <a:lnTo>
                    <a:pt x="984225" y="368292"/>
                  </a:lnTo>
                  <a:lnTo>
                    <a:pt x="930273" y="368017"/>
                  </a:lnTo>
                  <a:lnTo>
                    <a:pt x="876452" y="367191"/>
                  </a:lnTo>
                  <a:lnTo>
                    <a:pt x="822891" y="365815"/>
                  </a:lnTo>
                  <a:lnTo>
                    <a:pt x="769723" y="363889"/>
                  </a:lnTo>
                  <a:lnTo>
                    <a:pt x="717077" y="361412"/>
                  </a:lnTo>
                  <a:lnTo>
                    <a:pt x="665084" y="358384"/>
                  </a:lnTo>
                  <a:lnTo>
                    <a:pt x="613874" y="354807"/>
                  </a:lnTo>
                  <a:lnTo>
                    <a:pt x="563579" y="350678"/>
                  </a:lnTo>
                  <a:lnTo>
                    <a:pt x="514328" y="346000"/>
                  </a:lnTo>
                  <a:lnTo>
                    <a:pt x="466252" y="340770"/>
                  </a:lnTo>
                  <a:lnTo>
                    <a:pt x="419482" y="334991"/>
                  </a:lnTo>
                  <a:lnTo>
                    <a:pt x="374148" y="328661"/>
                  </a:lnTo>
                  <a:lnTo>
                    <a:pt x="330381" y="321780"/>
                  </a:lnTo>
                  <a:lnTo>
                    <a:pt x="288312" y="314350"/>
                  </a:lnTo>
                  <a:lnTo>
                    <a:pt x="227802" y="301967"/>
                  </a:lnTo>
                  <a:lnTo>
                    <a:pt x="174411" y="288849"/>
                  </a:lnTo>
                  <a:lnTo>
                    <a:pt x="128139" y="275086"/>
                  </a:lnTo>
                  <a:lnTo>
                    <a:pt x="88985" y="260773"/>
                  </a:lnTo>
                  <a:lnTo>
                    <a:pt x="32034" y="230858"/>
                  </a:lnTo>
                  <a:lnTo>
                    <a:pt x="3559" y="199839"/>
                  </a:lnTo>
                  <a:lnTo>
                    <a:pt x="0" y="184146"/>
                  </a:lnTo>
                  <a:lnTo>
                    <a:pt x="3559" y="168453"/>
                  </a:lnTo>
                  <a:lnTo>
                    <a:pt x="32034" y="137434"/>
                  </a:lnTo>
                  <a:lnTo>
                    <a:pt x="88985" y="107519"/>
                  </a:lnTo>
                  <a:lnTo>
                    <a:pt x="128139" y="93205"/>
                  </a:lnTo>
                  <a:lnTo>
                    <a:pt x="174411" y="79443"/>
                  </a:lnTo>
                  <a:lnTo>
                    <a:pt x="227802" y="66325"/>
                  </a:lnTo>
                  <a:lnTo>
                    <a:pt x="288312" y="53942"/>
                  </a:lnTo>
                  <a:lnTo>
                    <a:pt x="330381" y="46511"/>
                  </a:lnTo>
                  <a:lnTo>
                    <a:pt x="374148" y="39631"/>
                  </a:lnTo>
                  <a:lnTo>
                    <a:pt x="419482" y="33301"/>
                  </a:lnTo>
                  <a:lnTo>
                    <a:pt x="466252" y="27521"/>
                  </a:lnTo>
                  <a:lnTo>
                    <a:pt x="514328" y="22292"/>
                  </a:lnTo>
                  <a:lnTo>
                    <a:pt x="563579" y="17613"/>
                  </a:lnTo>
                  <a:lnTo>
                    <a:pt x="613874" y="13485"/>
                  </a:lnTo>
                  <a:lnTo>
                    <a:pt x="665084" y="9907"/>
                  </a:lnTo>
                  <a:lnTo>
                    <a:pt x="717077" y="6880"/>
                  </a:lnTo>
                  <a:lnTo>
                    <a:pt x="769723" y="4403"/>
                  </a:lnTo>
                  <a:lnTo>
                    <a:pt x="822891" y="2476"/>
                  </a:lnTo>
                  <a:lnTo>
                    <a:pt x="876452" y="1100"/>
                  </a:lnTo>
                  <a:lnTo>
                    <a:pt x="930273" y="275"/>
                  </a:lnTo>
                  <a:lnTo>
                    <a:pt x="984225" y="0"/>
                  </a:lnTo>
                  <a:lnTo>
                    <a:pt x="1038177" y="275"/>
                  </a:lnTo>
                  <a:lnTo>
                    <a:pt x="1091998" y="1100"/>
                  </a:lnTo>
                  <a:lnTo>
                    <a:pt x="1145558" y="2476"/>
                  </a:lnTo>
                  <a:lnTo>
                    <a:pt x="1198726" y="4403"/>
                  </a:lnTo>
                  <a:lnTo>
                    <a:pt x="1251372" y="6880"/>
                  </a:lnTo>
                  <a:lnTo>
                    <a:pt x="1303366" y="9907"/>
                  </a:lnTo>
                  <a:lnTo>
                    <a:pt x="1354575" y="13485"/>
                  </a:lnTo>
                  <a:lnTo>
                    <a:pt x="1404871" y="17613"/>
                  </a:lnTo>
                  <a:lnTo>
                    <a:pt x="1454122" y="22292"/>
                  </a:lnTo>
                  <a:lnTo>
                    <a:pt x="1502198" y="27521"/>
                  </a:lnTo>
                  <a:lnTo>
                    <a:pt x="1548968" y="33301"/>
                  </a:lnTo>
                  <a:lnTo>
                    <a:pt x="1594301" y="39631"/>
                  </a:lnTo>
                  <a:lnTo>
                    <a:pt x="1638068" y="46511"/>
                  </a:lnTo>
                  <a:lnTo>
                    <a:pt x="1680137" y="53942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306637" y="4333230"/>
            <a:ext cx="47117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225">
              <a:lnSpc>
                <a:spcPct val="150000"/>
              </a:lnSpc>
              <a:spcBef>
                <a:spcPts val="100"/>
              </a:spcBef>
            </a:pPr>
            <a:r>
              <a:rPr sz="2000" b="1" spc="-5" dirty="0">
                <a:latin typeface="Times New Roman"/>
                <a:cs typeface="Times New Roman"/>
              </a:rPr>
              <a:t>P</a:t>
            </a:r>
            <a:r>
              <a:rPr sz="2000" b="1" dirty="0">
                <a:latin typeface="Times New Roman"/>
                <a:cs typeface="Times New Roman"/>
              </a:rPr>
              <a:t>op  </a:t>
            </a:r>
            <a:r>
              <a:rPr sz="2000" b="1" spc="-65" dirty="0">
                <a:latin typeface="Times New Roman"/>
                <a:cs typeface="Times New Roman"/>
              </a:rPr>
              <a:t>Top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4200" y="990600"/>
            <a:ext cx="8420100" cy="5473700"/>
          </a:xfrm>
          <a:custGeom>
            <a:avLst/>
            <a:gdLst/>
            <a:ahLst/>
            <a:cxnLst/>
            <a:rect l="l" t="t" r="r" b="b"/>
            <a:pathLst>
              <a:path w="8420100" h="5473700">
                <a:moveTo>
                  <a:pt x="0" y="0"/>
                </a:moveTo>
                <a:lnTo>
                  <a:pt x="8420100" y="0"/>
                </a:lnTo>
                <a:lnTo>
                  <a:pt x="8420100" y="5473700"/>
                </a:lnTo>
                <a:lnTo>
                  <a:pt x="0" y="5473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71500" y="1176267"/>
            <a:ext cx="7741284" cy="5068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spc="10" dirty="0">
                <a:latin typeface="Courier New"/>
                <a:cs typeface="Courier New"/>
              </a:rPr>
              <a:t>How</a:t>
            </a:r>
            <a:r>
              <a:rPr sz="1850" b="1" spc="-5" dirty="0">
                <a:latin typeface="Courier New"/>
                <a:cs typeface="Courier New"/>
              </a:rPr>
              <a:t> </a:t>
            </a:r>
            <a:r>
              <a:rPr sz="1850" b="1" spc="10" dirty="0">
                <a:latin typeface="Courier New"/>
                <a:cs typeface="Courier New"/>
              </a:rPr>
              <a:t>to</a:t>
            </a:r>
            <a:r>
              <a:rPr sz="1850" b="1" spc="-5" dirty="0">
                <a:latin typeface="Courier New"/>
                <a:cs typeface="Courier New"/>
              </a:rPr>
              <a:t> </a:t>
            </a:r>
            <a:r>
              <a:rPr sz="1850" b="1" spc="10" dirty="0">
                <a:latin typeface="Courier New"/>
                <a:cs typeface="Courier New"/>
              </a:rPr>
              <a:t>initialize</a:t>
            </a:r>
            <a:r>
              <a:rPr sz="1850" b="1" spc="-5" dirty="0">
                <a:latin typeface="Courier New"/>
                <a:cs typeface="Courier New"/>
              </a:rPr>
              <a:t> </a:t>
            </a:r>
            <a:r>
              <a:rPr sz="1850" b="1" spc="10" dirty="0">
                <a:latin typeface="Courier New"/>
                <a:cs typeface="Courier New"/>
              </a:rPr>
              <a:t>data</a:t>
            </a:r>
            <a:r>
              <a:rPr sz="1850" b="1" dirty="0">
                <a:latin typeface="Courier New"/>
                <a:cs typeface="Courier New"/>
              </a:rPr>
              <a:t> </a:t>
            </a:r>
            <a:r>
              <a:rPr sz="1850" b="1" spc="10" dirty="0">
                <a:latin typeface="Courier New"/>
                <a:cs typeface="Courier New"/>
              </a:rPr>
              <a:t>member</a:t>
            </a:r>
            <a:r>
              <a:rPr sz="1850" b="1" spc="-5" dirty="0">
                <a:latin typeface="Courier New"/>
                <a:cs typeface="Courier New"/>
              </a:rPr>
              <a:t> </a:t>
            </a:r>
            <a:r>
              <a:rPr sz="1850" b="1" spc="10" dirty="0">
                <a:latin typeface="Courier New"/>
                <a:cs typeface="Courier New"/>
              </a:rPr>
              <a:t>top?</a:t>
            </a:r>
            <a:endParaRPr sz="18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50">
              <a:latin typeface="Courier New"/>
              <a:cs typeface="Courier New"/>
            </a:endParaRPr>
          </a:p>
          <a:p>
            <a:pPr marL="298450">
              <a:lnSpc>
                <a:spcPct val="100000"/>
              </a:lnSpc>
            </a:pPr>
            <a:r>
              <a:rPr sz="1850" b="1" spc="15" dirty="0">
                <a:latin typeface="Courier New"/>
                <a:cs typeface="Courier New"/>
              </a:rPr>
              <a:t>0</a:t>
            </a:r>
            <a:r>
              <a:rPr sz="1850" b="1" spc="-30" dirty="0">
                <a:latin typeface="Courier New"/>
                <a:cs typeface="Courier New"/>
              </a:rPr>
              <a:t> </a:t>
            </a:r>
            <a:r>
              <a:rPr sz="1850" b="1" spc="10" dirty="0">
                <a:latin typeface="Courier New"/>
                <a:cs typeface="Courier New"/>
              </a:rPr>
              <a:t>or</a:t>
            </a:r>
            <a:r>
              <a:rPr sz="1850" b="1" spc="-25" dirty="0">
                <a:latin typeface="Courier New"/>
                <a:cs typeface="Courier New"/>
              </a:rPr>
              <a:t> </a:t>
            </a:r>
            <a:r>
              <a:rPr sz="1850" b="1" spc="10" dirty="0">
                <a:latin typeface="Courier New"/>
                <a:cs typeface="Courier New"/>
              </a:rPr>
              <a:t>-1</a:t>
            </a:r>
            <a:endParaRPr sz="18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50" b="1" spc="10" dirty="0">
                <a:latin typeface="Courier New"/>
                <a:cs typeface="Courier New"/>
              </a:rPr>
              <a:t>Depends</a:t>
            </a:r>
            <a:r>
              <a:rPr sz="1850" b="1" spc="-10" dirty="0">
                <a:latin typeface="Courier New"/>
                <a:cs typeface="Courier New"/>
              </a:rPr>
              <a:t> </a:t>
            </a:r>
            <a:r>
              <a:rPr sz="1850" b="1" spc="10" dirty="0">
                <a:latin typeface="Courier New"/>
                <a:cs typeface="Courier New"/>
              </a:rPr>
              <a:t>on</a:t>
            </a:r>
            <a:r>
              <a:rPr sz="1850" b="1" spc="-10" dirty="0">
                <a:latin typeface="Courier New"/>
                <a:cs typeface="Courier New"/>
              </a:rPr>
              <a:t> </a:t>
            </a:r>
            <a:r>
              <a:rPr sz="1850" b="1" spc="10" dirty="0">
                <a:latin typeface="Courier New"/>
                <a:cs typeface="Courier New"/>
              </a:rPr>
              <a:t>what</a:t>
            </a:r>
            <a:r>
              <a:rPr sz="1850" b="1" spc="-5" dirty="0">
                <a:latin typeface="Courier New"/>
                <a:cs typeface="Courier New"/>
              </a:rPr>
              <a:t> </a:t>
            </a:r>
            <a:r>
              <a:rPr sz="1850" b="1" spc="10" dirty="0">
                <a:latin typeface="Courier New"/>
                <a:cs typeface="Courier New"/>
              </a:rPr>
              <a:t>top</a:t>
            </a:r>
            <a:r>
              <a:rPr sz="1850" b="1" spc="-10" dirty="0">
                <a:latin typeface="Courier New"/>
                <a:cs typeface="Courier New"/>
              </a:rPr>
              <a:t> </a:t>
            </a:r>
            <a:r>
              <a:rPr sz="1850" b="1" spc="10" dirty="0">
                <a:latin typeface="Courier New"/>
                <a:cs typeface="Courier New"/>
              </a:rPr>
              <a:t>stores:</a:t>
            </a:r>
            <a:endParaRPr sz="18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50">
              <a:latin typeface="Courier New"/>
              <a:cs typeface="Courier New"/>
            </a:endParaRPr>
          </a:p>
          <a:p>
            <a:pPr marL="727075" indent="-286385">
              <a:lnSpc>
                <a:spcPct val="100000"/>
              </a:lnSpc>
              <a:buChar char="*"/>
              <a:tabLst>
                <a:tab pos="727710" algn="l"/>
              </a:tabLst>
            </a:pPr>
            <a:r>
              <a:rPr sz="1850" b="1" spc="10" dirty="0">
                <a:latin typeface="Courier New"/>
                <a:cs typeface="Courier New"/>
              </a:rPr>
              <a:t>initialized</a:t>
            </a:r>
            <a:r>
              <a:rPr sz="1850" b="1" dirty="0">
                <a:latin typeface="Courier New"/>
                <a:cs typeface="Courier New"/>
              </a:rPr>
              <a:t> </a:t>
            </a:r>
            <a:r>
              <a:rPr sz="1850" b="1" spc="10" dirty="0">
                <a:latin typeface="Courier New"/>
                <a:cs typeface="Courier New"/>
              </a:rPr>
              <a:t>to</a:t>
            </a:r>
            <a:r>
              <a:rPr sz="1850" b="1" spc="5" dirty="0">
                <a:latin typeface="Courier New"/>
                <a:cs typeface="Courier New"/>
              </a:rPr>
              <a:t> </a:t>
            </a:r>
            <a:r>
              <a:rPr sz="1850" b="1" spc="10" dirty="0">
                <a:latin typeface="Courier New"/>
                <a:cs typeface="Courier New"/>
              </a:rPr>
              <a:t>0:</a:t>
            </a:r>
            <a:r>
              <a:rPr sz="1850" b="1" dirty="0">
                <a:latin typeface="Courier New"/>
                <a:cs typeface="Courier New"/>
              </a:rPr>
              <a:t> </a:t>
            </a:r>
            <a:r>
              <a:rPr sz="1850" b="1" spc="10" dirty="0">
                <a:latin typeface="Courier New"/>
                <a:cs typeface="Courier New"/>
              </a:rPr>
              <a:t>If</a:t>
            </a:r>
            <a:r>
              <a:rPr sz="1850" b="1" spc="5" dirty="0">
                <a:latin typeface="Courier New"/>
                <a:cs typeface="Courier New"/>
              </a:rPr>
              <a:t> </a:t>
            </a:r>
            <a:r>
              <a:rPr sz="1850" b="1" spc="10" dirty="0">
                <a:latin typeface="Courier New"/>
                <a:cs typeface="Courier New"/>
              </a:rPr>
              <a:t>it’s</a:t>
            </a:r>
            <a:r>
              <a:rPr sz="1850" b="1" dirty="0">
                <a:latin typeface="Courier New"/>
                <a:cs typeface="Courier New"/>
              </a:rPr>
              <a:t> </a:t>
            </a:r>
            <a:r>
              <a:rPr sz="1850" b="1" spc="10" dirty="0">
                <a:latin typeface="Courier New"/>
                <a:cs typeface="Courier New"/>
              </a:rPr>
              <a:t>the</a:t>
            </a:r>
            <a:r>
              <a:rPr sz="1850" b="1" spc="5" dirty="0">
                <a:latin typeface="Courier New"/>
                <a:cs typeface="Courier New"/>
              </a:rPr>
              <a:t> </a:t>
            </a:r>
            <a:r>
              <a:rPr sz="1850" b="1" spc="10" dirty="0">
                <a:latin typeface="Courier New"/>
                <a:cs typeface="Courier New"/>
              </a:rPr>
              <a:t>next</a:t>
            </a:r>
            <a:r>
              <a:rPr sz="1850" b="1" spc="5" dirty="0">
                <a:latin typeface="Courier New"/>
                <a:cs typeface="Courier New"/>
              </a:rPr>
              <a:t> </a:t>
            </a:r>
            <a:r>
              <a:rPr sz="1850" b="1" spc="10" dirty="0">
                <a:latin typeface="Courier New"/>
                <a:cs typeface="Courier New"/>
              </a:rPr>
              <a:t>open</a:t>
            </a:r>
            <a:r>
              <a:rPr sz="1850" b="1" dirty="0">
                <a:latin typeface="Courier New"/>
                <a:cs typeface="Courier New"/>
              </a:rPr>
              <a:t> </a:t>
            </a:r>
            <a:r>
              <a:rPr sz="1850" b="1" spc="10" dirty="0">
                <a:latin typeface="Courier New"/>
                <a:cs typeface="Courier New"/>
              </a:rPr>
              <a:t>slot</a:t>
            </a:r>
            <a:endParaRPr sz="1850">
              <a:latin typeface="Courier New"/>
              <a:cs typeface="Courier New"/>
            </a:endParaRPr>
          </a:p>
          <a:p>
            <a:pPr marL="355600" marR="5080" indent="85725">
              <a:lnSpc>
                <a:spcPts val="1980"/>
              </a:lnSpc>
              <a:spcBef>
                <a:spcPts val="330"/>
              </a:spcBef>
              <a:buChar char="*"/>
              <a:tabLst>
                <a:tab pos="727710" algn="l"/>
              </a:tabLst>
            </a:pPr>
            <a:r>
              <a:rPr sz="1850" b="1" spc="10" dirty="0">
                <a:latin typeface="Courier New"/>
                <a:cs typeface="Courier New"/>
              </a:rPr>
              <a:t>initialized to -1: if it’s the index of stack top </a:t>
            </a:r>
            <a:r>
              <a:rPr sz="1850" b="1" spc="-1100" dirty="0">
                <a:latin typeface="Courier New"/>
                <a:cs typeface="Courier New"/>
              </a:rPr>
              <a:t> </a:t>
            </a:r>
            <a:r>
              <a:rPr sz="1850" b="1" spc="10" dirty="0">
                <a:latin typeface="Courier New"/>
                <a:cs typeface="Courier New"/>
              </a:rPr>
              <a:t>element</a:t>
            </a:r>
            <a:endParaRPr sz="18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250">
              <a:latin typeface="Courier New"/>
              <a:cs typeface="Courier New"/>
            </a:endParaRPr>
          </a:p>
          <a:p>
            <a:pPr marL="355600" marR="147955" indent="-342900">
              <a:lnSpc>
                <a:spcPts val="1980"/>
              </a:lnSpc>
            </a:pPr>
            <a:r>
              <a:rPr sz="1850" b="1" spc="10" dirty="0">
                <a:latin typeface="Courier New"/>
                <a:cs typeface="Courier New"/>
              </a:rPr>
              <a:t>Need to be consistent in all member functions, Top(), </a:t>
            </a:r>
            <a:r>
              <a:rPr sz="1850" b="1" spc="-1100" dirty="0">
                <a:latin typeface="Courier New"/>
                <a:cs typeface="Courier New"/>
              </a:rPr>
              <a:t> </a:t>
            </a:r>
            <a:r>
              <a:rPr sz="1850" b="1" spc="10" dirty="0">
                <a:latin typeface="Courier New"/>
                <a:cs typeface="Courier New"/>
              </a:rPr>
              <a:t>Push(),</a:t>
            </a:r>
            <a:r>
              <a:rPr sz="1850" b="1" spc="5" dirty="0">
                <a:latin typeface="Courier New"/>
                <a:cs typeface="Courier New"/>
              </a:rPr>
              <a:t> </a:t>
            </a:r>
            <a:r>
              <a:rPr sz="1850" b="1" spc="10" dirty="0">
                <a:latin typeface="Courier New"/>
                <a:cs typeface="Courier New"/>
              </a:rPr>
              <a:t>Pop(),</a:t>
            </a:r>
            <a:r>
              <a:rPr sz="1850" b="1" spc="5" dirty="0">
                <a:latin typeface="Courier New"/>
                <a:cs typeface="Courier New"/>
              </a:rPr>
              <a:t> </a:t>
            </a:r>
            <a:r>
              <a:rPr sz="1850" b="1" spc="10" dirty="0">
                <a:latin typeface="Courier New"/>
                <a:cs typeface="Courier New"/>
              </a:rPr>
              <a:t>isfull,</a:t>
            </a:r>
            <a:r>
              <a:rPr sz="1850" b="1" spc="5" dirty="0">
                <a:latin typeface="Courier New"/>
                <a:cs typeface="Courier New"/>
              </a:rPr>
              <a:t> </a:t>
            </a:r>
            <a:r>
              <a:rPr sz="1850" b="1" spc="15" dirty="0">
                <a:latin typeface="Courier New"/>
                <a:cs typeface="Courier New"/>
              </a:rPr>
              <a:t>isEmpty()…</a:t>
            </a:r>
            <a:endParaRPr sz="18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700" b="1" spc="10" dirty="0">
                <a:solidFill>
                  <a:srgbClr val="A50021"/>
                </a:solidFill>
                <a:latin typeface="Courier New"/>
                <a:cs typeface="Courier New"/>
              </a:rPr>
              <a:t>Below</a:t>
            </a:r>
            <a:r>
              <a:rPr sz="1700" b="1" spc="-10" dirty="0">
                <a:solidFill>
                  <a:srgbClr val="A50021"/>
                </a:solidFill>
                <a:latin typeface="Courier New"/>
                <a:cs typeface="Courier New"/>
              </a:rPr>
              <a:t> </a:t>
            </a:r>
            <a:r>
              <a:rPr sz="1700" b="1" spc="10" dirty="0">
                <a:solidFill>
                  <a:srgbClr val="A50021"/>
                </a:solidFill>
                <a:latin typeface="Courier New"/>
                <a:cs typeface="Courier New"/>
              </a:rPr>
              <a:t>we</a:t>
            </a:r>
            <a:r>
              <a:rPr sz="1700" b="1" spc="-10" dirty="0">
                <a:solidFill>
                  <a:srgbClr val="A50021"/>
                </a:solidFill>
                <a:latin typeface="Courier New"/>
                <a:cs typeface="Courier New"/>
              </a:rPr>
              <a:t> </a:t>
            </a:r>
            <a:r>
              <a:rPr sz="1700" b="1" spc="10" dirty="0">
                <a:solidFill>
                  <a:srgbClr val="A50021"/>
                </a:solidFill>
                <a:latin typeface="Courier New"/>
                <a:cs typeface="Courier New"/>
              </a:rPr>
              <a:t>use</a:t>
            </a:r>
            <a:r>
              <a:rPr sz="1700" b="1" spc="-5" dirty="0">
                <a:solidFill>
                  <a:srgbClr val="A50021"/>
                </a:solidFill>
                <a:latin typeface="Courier New"/>
                <a:cs typeface="Courier New"/>
              </a:rPr>
              <a:t> </a:t>
            </a:r>
            <a:r>
              <a:rPr sz="1700" b="1" spc="10" dirty="0">
                <a:solidFill>
                  <a:srgbClr val="A50021"/>
                </a:solidFill>
                <a:latin typeface="Courier New"/>
                <a:cs typeface="Courier New"/>
              </a:rPr>
              <a:t>second</a:t>
            </a:r>
            <a:r>
              <a:rPr sz="1700" b="1" spc="-10" dirty="0">
                <a:solidFill>
                  <a:srgbClr val="A50021"/>
                </a:solidFill>
                <a:latin typeface="Courier New"/>
                <a:cs typeface="Courier New"/>
              </a:rPr>
              <a:t> </a:t>
            </a:r>
            <a:r>
              <a:rPr sz="1700" b="1" spc="10" dirty="0">
                <a:solidFill>
                  <a:srgbClr val="A50021"/>
                </a:solidFill>
                <a:latin typeface="Courier New"/>
                <a:cs typeface="Courier New"/>
              </a:rPr>
              <a:t>option: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689"/>
              </a:spcBef>
            </a:pPr>
            <a:r>
              <a:rPr sz="1500" b="1" spc="-5" dirty="0">
                <a:latin typeface="Courier New"/>
                <a:cs typeface="Courier New"/>
              </a:rPr>
              <a:t>StackType::StackType(</a:t>
            </a:r>
            <a:r>
              <a:rPr sz="1500" b="1" spc="-70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)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500" b="1" dirty="0">
                <a:latin typeface="Courier New"/>
                <a:cs typeface="Courier New"/>
              </a:rPr>
              <a:t>{</a:t>
            </a:r>
            <a:endParaRPr sz="15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30"/>
              </a:spcBef>
            </a:pPr>
            <a:r>
              <a:rPr sz="1500" b="1" spc="-5" dirty="0">
                <a:latin typeface="Courier New"/>
                <a:cs typeface="Courier New"/>
              </a:rPr>
              <a:t>top</a:t>
            </a:r>
            <a:r>
              <a:rPr sz="1500" b="1" spc="-15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=</a:t>
            </a:r>
            <a:r>
              <a:rPr sz="1500" b="1" spc="-15" dirty="0">
                <a:latin typeface="Courier New"/>
                <a:cs typeface="Courier New"/>
              </a:rPr>
              <a:t> </a:t>
            </a:r>
            <a:r>
              <a:rPr sz="1500" b="1" spc="-5" dirty="0">
                <a:latin typeface="Courier New"/>
                <a:cs typeface="Courier New"/>
              </a:rPr>
              <a:t>-1;</a:t>
            </a:r>
            <a:r>
              <a:rPr sz="1500" b="1" spc="-10" dirty="0">
                <a:latin typeface="Courier New"/>
                <a:cs typeface="Courier New"/>
              </a:rPr>
              <a:t> </a:t>
            </a:r>
            <a:r>
              <a:rPr sz="1500" b="1" spc="-5" dirty="0">
                <a:latin typeface="Courier New"/>
                <a:cs typeface="Courier New"/>
              </a:rPr>
              <a:t>//index</a:t>
            </a:r>
            <a:r>
              <a:rPr sz="1500" b="1" spc="-15" dirty="0">
                <a:latin typeface="Courier New"/>
                <a:cs typeface="Courier New"/>
              </a:rPr>
              <a:t> </a:t>
            </a:r>
            <a:r>
              <a:rPr sz="1500" b="1" spc="-5" dirty="0">
                <a:latin typeface="Courier New"/>
                <a:cs typeface="Courier New"/>
              </a:rPr>
              <a:t>of</a:t>
            </a:r>
            <a:r>
              <a:rPr sz="1500" b="1" spc="-10" dirty="0">
                <a:latin typeface="Courier New"/>
                <a:cs typeface="Courier New"/>
              </a:rPr>
              <a:t> </a:t>
            </a:r>
            <a:r>
              <a:rPr sz="1500" b="1" spc="-5" dirty="0">
                <a:latin typeface="Courier New"/>
                <a:cs typeface="Courier New"/>
              </a:rPr>
              <a:t>top</a:t>
            </a:r>
            <a:r>
              <a:rPr sz="1500" b="1" spc="-15" dirty="0">
                <a:latin typeface="Courier New"/>
                <a:cs typeface="Courier New"/>
              </a:rPr>
              <a:t> </a:t>
            </a:r>
            <a:r>
              <a:rPr sz="1500" b="1" spc="-5" dirty="0">
                <a:latin typeface="Courier New"/>
                <a:cs typeface="Courier New"/>
              </a:rPr>
              <a:t>element</a:t>
            </a:r>
            <a:r>
              <a:rPr sz="1500" b="1" spc="-10" dirty="0">
                <a:latin typeface="Courier New"/>
                <a:cs typeface="Courier New"/>
              </a:rPr>
              <a:t> </a:t>
            </a:r>
            <a:r>
              <a:rPr sz="1500" b="1" spc="-5" dirty="0">
                <a:latin typeface="Courier New"/>
                <a:cs typeface="Courier New"/>
              </a:rPr>
              <a:t>in</a:t>
            </a:r>
            <a:r>
              <a:rPr sz="1500" b="1" spc="-15" dirty="0">
                <a:latin typeface="Courier New"/>
                <a:cs typeface="Courier New"/>
              </a:rPr>
              <a:t> </a:t>
            </a:r>
            <a:r>
              <a:rPr sz="1500" b="1" dirty="0">
                <a:latin typeface="Courier New"/>
                <a:cs typeface="Courier New"/>
              </a:rPr>
              <a:t>stack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500" b="1" dirty="0">
                <a:latin typeface="Courier New"/>
                <a:cs typeface="Courier New"/>
              </a:rPr>
              <a:t>}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68019" y="272013"/>
            <a:ext cx="31261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Initialize</a:t>
            </a:r>
            <a:r>
              <a:rPr spc="-75" dirty="0"/>
              <a:t> </a:t>
            </a:r>
            <a:r>
              <a:rPr dirty="0"/>
              <a:t>stack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2100" y="1151814"/>
            <a:ext cx="7950834" cy="4560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-5" dirty="0">
                <a:latin typeface="Courier New"/>
                <a:cs typeface="Courier New"/>
              </a:rPr>
              <a:t>//</a:t>
            </a:r>
            <a:r>
              <a:rPr sz="2000" b="1" i="1" spc="-20" dirty="0">
                <a:latin typeface="Courier New"/>
                <a:cs typeface="Courier New"/>
              </a:rPr>
              <a:t> </a:t>
            </a:r>
            <a:r>
              <a:rPr sz="2000" b="1" i="1" spc="-5" dirty="0">
                <a:latin typeface="Courier New"/>
                <a:cs typeface="Courier New"/>
              </a:rPr>
              <a:t>pre:</a:t>
            </a:r>
            <a:r>
              <a:rPr sz="2000" b="1" i="1" spc="-15" dirty="0">
                <a:latin typeface="Courier New"/>
                <a:cs typeface="Courier New"/>
              </a:rPr>
              <a:t> </a:t>
            </a:r>
            <a:r>
              <a:rPr sz="2000" b="1" i="1" spc="-5" dirty="0">
                <a:latin typeface="Courier New"/>
                <a:cs typeface="Courier New"/>
              </a:rPr>
              <a:t>the</a:t>
            </a:r>
            <a:r>
              <a:rPr sz="2000" b="1" i="1" spc="-15" dirty="0">
                <a:latin typeface="Courier New"/>
                <a:cs typeface="Courier New"/>
              </a:rPr>
              <a:t> </a:t>
            </a:r>
            <a:r>
              <a:rPr sz="2000" b="1" i="1" spc="-5" dirty="0">
                <a:latin typeface="Courier New"/>
                <a:cs typeface="Courier New"/>
              </a:rPr>
              <a:t>stack</a:t>
            </a:r>
            <a:r>
              <a:rPr sz="2000" b="1" i="1" spc="-15" dirty="0">
                <a:latin typeface="Courier New"/>
                <a:cs typeface="Courier New"/>
              </a:rPr>
              <a:t> </a:t>
            </a:r>
            <a:r>
              <a:rPr sz="2000" b="1" i="1" spc="-5" dirty="0">
                <a:latin typeface="Courier New"/>
                <a:cs typeface="Courier New"/>
              </a:rPr>
              <a:t>has</a:t>
            </a:r>
            <a:r>
              <a:rPr sz="2000" b="1" i="1" spc="-15" dirty="0">
                <a:latin typeface="Courier New"/>
                <a:cs typeface="Courier New"/>
              </a:rPr>
              <a:t> </a:t>
            </a:r>
            <a:r>
              <a:rPr sz="2000" b="1" i="1" spc="-5" dirty="0">
                <a:latin typeface="Courier New"/>
                <a:cs typeface="Courier New"/>
              </a:rPr>
              <a:t>been</a:t>
            </a:r>
            <a:r>
              <a:rPr sz="2000" b="1" i="1" spc="-15" dirty="0">
                <a:latin typeface="Courier New"/>
                <a:cs typeface="Courier New"/>
              </a:rPr>
              <a:t> </a:t>
            </a:r>
            <a:r>
              <a:rPr sz="2000" b="1" i="1" spc="-5" dirty="0">
                <a:latin typeface="Courier New"/>
                <a:cs typeface="Courier New"/>
              </a:rPr>
              <a:t>initialized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2000" b="1" i="1" spc="-5" dirty="0">
                <a:latin typeface="Courier New"/>
                <a:cs typeface="Courier New"/>
              </a:rPr>
              <a:t>//</a:t>
            </a:r>
            <a:r>
              <a:rPr sz="2000" b="1" i="1" spc="-10" dirty="0">
                <a:latin typeface="Courier New"/>
                <a:cs typeface="Courier New"/>
              </a:rPr>
              <a:t> </a:t>
            </a:r>
            <a:r>
              <a:rPr sz="2000" b="1" i="1" spc="-5" dirty="0">
                <a:latin typeface="Courier New"/>
                <a:cs typeface="Courier New"/>
              </a:rPr>
              <a:t>post:</a:t>
            </a:r>
            <a:r>
              <a:rPr sz="2000" b="1" i="1" spc="-10" dirty="0">
                <a:latin typeface="Courier New"/>
                <a:cs typeface="Courier New"/>
              </a:rPr>
              <a:t> </a:t>
            </a:r>
            <a:r>
              <a:rPr sz="2000" b="1" i="1" spc="-5" dirty="0">
                <a:latin typeface="Courier New"/>
                <a:cs typeface="Courier New"/>
              </a:rPr>
              <a:t>return</a:t>
            </a:r>
            <a:r>
              <a:rPr sz="2000" b="1" i="1" spc="-10" dirty="0">
                <a:latin typeface="Courier New"/>
                <a:cs typeface="Courier New"/>
              </a:rPr>
              <a:t> </a:t>
            </a:r>
            <a:r>
              <a:rPr sz="2000" b="1" i="1" spc="-5" dirty="0">
                <a:latin typeface="Courier New"/>
                <a:cs typeface="Courier New"/>
              </a:rPr>
              <a:t>true</a:t>
            </a:r>
            <a:r>
              <a:rPr sz="2000" b="1" i="1" spc="-10" dirty="0">
                <a:latin typeface="Courier New"/>
                <a:cs typeface="Courier New"/>
              </a:rPr>
              <a:t> </a:t>
            </a:r>
            <a:r>
              <a:rPr sz="2000" b="1" i="1" spc="-5" dirty="0">
                <a:latin typeface="Courier New"/>
                <a:cs typeface="Courier New"/>
              </a:rPr>
              <a:t>if</a:t>
            </a:r>
            <a:r>
              <a:rPr sz="2000" b="1" i="1" spc="-10" dirty="0">
                <a:latin typeface="Courier New"/>
                <a:cs typeface="Courier New"/>
              </a:rPr>
              <a:t> </a:t>
            </a:r>
            <a:r>
              <a:rPr sz="2000" b="1" i="1" spc="-5" dirty="0">
                <a:latin typeface="Courier New"/>
                <a:cs typeface="Courier New"/>
              </a:rPr>
              <a:t>the</a:t>
            </a:r>
            <a:r>
              <a:rPr sz="2000" b="1" i="1" spc="-10" dirty="0">
                <a:latin typeface="Courier New"/>
                <a:cs typeface="Courier New"/>
              </a:rPr>
              <a:t> </a:t>
            </a:r>
            <a:r>
              <a:rPr sz="2000" b="1" i="1" spc="-5" dirty="0">
                <a:latin typeface="Courier New"/>
                <a:cs typeface="Courier New"/>
              </a:rPr>
              <a:t>stack</a:t>
            </a:r>
            <a:r>
              <a:rPr sz="2000" b="1" i="1" spc="-10" dirty="0">
                <a:latin typeface="Courier New"/>
                <a:cs typeface="Courier New"/>
              </a:rPr>
              <a:t> </a:t>
            </a:r>
            <a:r>
              <a:rPr sz="2000" b="1" i="1" spc="-5" dirty="0">
                <a:latin typeface="Courier New"/>
                <a:cs typeface="Courier New"/>
              </a:rPr>
              <a:t>is</a:t>
            </a:r>
            <a:r>
              <a:rPr sz="2000" b="1" i="1" spc="-10" dirty="0">
                <a:latin typeface="Courier New"/>
                <a:cs typeface="Courier New"/>
              </a:rPr>
              <a:t> </a:t>
            </a:r>
            <a:r>
              <a:rPr sz="2000" b="1" i="1" spc="-5" dirty="0">
                <a:latin typeface="Courier New"/>
                <a:cs typeface="Courier New"/>
              </a:rPr>
              <a:t>empty,</a:t>
            </a:r>
            <a:r>
              <a:rPr sz="2000" b="1" i="1" spc="-10" dirty="0">
                <a:latin typeface="Courier New"/>
                <a:cs typeface="Courier New"/>
              </a:rPr>
              <a:t> </a:t>
            </a:r>
            <a:r>
              <a:rPr sz="2000" b="1" i="1" spc="-5" dirty="0">
                <a:latin typeface="Courier New"/>
                <a:cs typeface="Courier New"/>
              </a:rPr>
              <a:t>false</a:t>
            </a:r>
            <a:r>
              <a:rPr sz="2000" b="1" i="1" spc="-10" dirty="0">
                <a:latin typeface="Courier New"/>
                <a:cs typeface="Courier New"/>
              </a:rPr>
              <a:t> </a:t>
            </a:r>
            <a:r>
              <a:rPr sz="2000" b="1" i="1" dirty="0">
                <a:latin typeface="Courier New"/>
                <a:cs typeface="Courier New"/>
              </a:rPr>
              <a:t>ow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2000" b="1" spc="-5" dirty="0">
                <a:latin typeface="Courier New"/>
                <a:cs typeface="Courier New"/>
              </a:rPr>
              <a:t>bool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StackType::IsEmpty()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const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2000" b="1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  <a:spcBef>
                <a:spcPts val="70"/>
              </a:spcBef>
            </a:pPr>
            <a:r>
              <a:rPr sz="2000" b="1" spc="-5" dirty="0">
                <a:latin typeface="Courier New"/>
                <a:cs typeface="Courier New"/>
              </a:rPr>
              <a:t>return(top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==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-1);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2000" b="1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spc="-5" dirty="0">
                <a:latin typeface="Courier New"/>
                <a:cs typeface="Courier New"/>
              </a:rPr>
              <a:t>//pre: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2000" b="1" dirty="0">
                <a:latin typeface="Courier New"/>
                <a:cs typeface="Courier New"/>
              </a:rPr>
              <a:t>//post: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2000" b="1" spc="-5" dirty="0">
                <a:latin typeface="Courier New"/>
                <a:cs typeface="Courier New"/>
              </a:rPr>
              <a:t>bool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StackType::IsFull()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const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2000" b="1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  <a:spcBef>
                <a:spcPts val="70"/>
              </a:spcBef>
            </a:pPr>
            <a:r>
              <a:rPr sz="2000" b="1" spc="-5" dirty="0">
                <a:latin typeface="Courier New"/>
                <a:cs typeface="Courier New"/>
              </a:rPr>
              <a:t>return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(top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=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=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MAX_ITEMS-1);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2000" b="1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8300" y="421580"/>
            <a:ext cx="4658995" cy="5709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Courier New"/>
                <a:cs typeface="Courier New"/>
              </a:rPr>
              <a:t>void</a:t>
            </a:r>
            <a:r>
              <a:rPr sz="1600" b="1" spc="-4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StackType::Push(ItemType</a:t>
            </a:r>
            <a:r>
              <a:rPr sz="1600" b="1" spc="-4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newItem)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24485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if(</a:t>
            </a:r>
            <a:r>
              <a:rPr sz="1600" b="1" spc="-4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IsFull()</a:t>
            </a:r>
            <a:r>
              <a:rPr sz="1600" b="1" spc="-4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  <a:p>
            <a:pPr marL="324485" marR="1767205" indent="365125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throw</a:t>
            </a:r>
            <a:r>
              <a:rPr sz="1600" b="1" spc="-9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FullStack(): </a:t>
            </a:r>
            <a:r>
              <a:rPr sz="1600" b="1" spc="-944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top++;</a:t>
            </a:r>
            <a:endParaRPr sz="1600">
              <a:latin typeface="Courier New"/>
              <a:cs typeface="Courier New"/>
            </a:endParaRPr>
          </a:p>
          <a:p>
            <a:pPr marL="324485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items[top]</a:t>
            </a:r>
            <a:r>
              <a:rPr sz="1600" b="1" spc="-4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=</a:t>
            </a:r>
            <a:r>
              <a:rPr sz="1600" b="1" spc="-4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newItem;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void</a:t>
            </a:r>
            <a:r>
              <a:rPr sz="1600" b="1" spc="-7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StackType::Pop()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568325" marR="1767205" indent="-24384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if(</a:t>
            </a:r>
            <a:r>
              <a:rPr sz="1600" b="1" spc="95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IsEmpty()</a:t>
            </a:r>
            <a:r>
              <a:rPr sz="1600" b="1" spc="95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) </a:t>
            </a:r>
            <a:r>
              <a:rPr sz="1600" b="1" spc="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throw</a:t>
            </a:r>
            <a:r>
              <a:rPr sz="1600" b="1" spc="-9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EmptyStack();</a:t>
            </a:r>
            <a:endParaRPr sz="16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top--;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ItemType</a:t>
            </a:r>
            <a:r>
              <a:rPr sz="1600" b="1" spc="-7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StackType::Top()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24485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if</a:t>
            </a:r>
            <a:r>
              <a:rPr sz="1600" b="1" spc="-6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(IsEmpty())</a:t>
            </a:r>
            <a:endParaRPr sz="1600">
              <a:latin typeface="Courier New"/>
              <a:cs typeface="Courier New"/>
            </a:endParaRPr>
          </a:p>
          <a:p>
            <a:pPr marL="378460" marR="1767205" indent="189865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throw</a:t>
            </a:r>
            <a:r>
              <a:rPr sz="1600" b="1" spc="-9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EmptyStack(); </a:t>
            </a:r>
            <a:r>
              <a:rPr sz="1600" b="1" spc="-944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return</a:t>
            </a:r>
            <a:r>
              <a:rPr sz="1600" b="1" spc="-3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items[top];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3725" y="40556"/>
            <a:ext cx="43186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Tracing</a:t>
            </a:r>
            <a:r>
              <a:rPr spc="-40" dirty="0"/>
              <a:t> </a:t>
            </a:r>
            <a:r>
              <a:rPr spc="-5" dirty="0"/>
              <a:t>Client</a:t>
            </a:r>
            <a:r>
              <a:rPr spc="-40" dirty="0"/>
              <a:t> </a:t>
            </a:r>
            <a:r>
              <a:rPr spc="-5" dirty="0"/>
              <a:t>Code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229100" y="914400"/>
            <a:ext cx="4559300" cy="5041900"/>
            <a:chOff x="4229100" y="914400"/>
            <a:chExt cx="4559300" cy="5041900"/>
          </a:xfrm>
        </p:grpSpPr>
        <p:sp>
          <p:nvSpPr>
            <p:cNvPr id="4" name="object 4"/>
            <p:cNvSpPr/>
            <p:nvPr/>
          </p:nvSpPr>
          <p:spPr>
            <a:xfrm>
              <a:off x="4235449" y="1390650"/>
              <a:ext cx="4546600" cy="4559300"/>
            </a:xfrm>
            <a:custGeom>
              <a:avLst/>
              <a:gdLst/>
              <a:ahLst/>
              <a:cxnLst/>
              <a:rect l="l" t="t" r="r" b="b"/>
              <a:pathLst>
                <a:path w="4546600" h="4559300">
                  <a:moveTo>
                    <a:pt x="0" y="4559300"/>
                  </a:moveTo>
                  <a:lnTo>
                    <a:pt x="4546600" y="4559300"/>
                  </a:lnTo>
                  <a:lnTo>
                    <a:pt x="4546600" y="0"/>
                  </a:lnTo>
                  <a:lnTo>
                    <a:pt x="0" y="0"/>
                  </a:lnTo>
                  <a:lnTo>
                    <a:pt x="0" y="455930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235450" y="920749"/>
              <a:ext cx="4546600" cy="5029200"/>
            </a:xfrm>
            <a:custGeom>
              <a:avLst/>
              <a:gdLst/>
              <a:ahLst/>
              <a:cxnLst/>
              <a:rect l="l" t="t" r="r" b="b"/>
              <a:pathLst>
                <a:path w="4546600" h="5029200">
                  <a:moveTo>
                    <a:pt x="0" y="0"/>
                  </a:moveTo>
                  <a:lnTo>
                    <a:pt x="4546599" y="0"/>
                  </a:lnTo>
                  <a:lnTo>
                    <a:pt x="4546599" y="5029200"/>
                  </a:lnTo>
                  <a:lnTo>
                    <a:pt x="0" y="502920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35449" y="920749"/>
              <a:ext cx="4546600" cy="469900"/>
            </a:xfrm>
            <a:custGeom>
              <a:avLst/>
              <a:gdLst/>
              <a:ahLst/>
              <a:cxnLst/>
              <a:rect l="l" t="t" r="r" b="b"/>
              <a:pathLst>
                <a:path w="4546600" h="469900">
                  <a:moveTo>
                    <a:pt x="0" y="0"/>
                  </a:moveTo>
                  <a:lnTo>
                    <a:pt x="4546600" y="0"/>
                  </a:lnTo>
                  <a:lnTo>
                    <a:pt x="4546600" y="469900"/>
                  </a:lnTo>
                  <a:lnTo>
                    <a:pt x="0" y="469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35449" y="920750"/>
              <a:ext cx="4546600" cy="469900"/>
            </a:xfrm>
            <a:custGeom>
              <a:avLst/>
              <a:gdLst/>
              <a:ahLst/>
              <a:cxnLst/>
              <a:rect l="l" t="t" r="r" b="b"/>
              <a:pathLst>
                <a:path w="4546600" h="469900">
                  <a:moveTo>
                    <a:pt x="0" y="0"/>
                  </a:moveTo>
                  <a:lnTo>
                    <a:pt x="4546600" y="0"/>
                  </a:lnTo>
                  <a:lnTo>
                    <a:pt x="4546600" y="469900"/>
                  </a:lnTo>
                  <a:lnTo>
                    <a:pt x="0" y="46990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405312" y="1041039"/>
            <a:ext cx="3150870" cy="36525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707390">
              <a:lnSpc>
                <a:spcPts val="2100"/>
              </a:lnSpc>
              <a:spcBef>
                <a:spcPts val="219"/>
              </a:spcBef>
              <a:tabLst>
                <a:tab pos="926465" algn="l"/>
              </a:tabLst>
            </a:pPr>
            <a:r>
              <a:rPr sz="1800" b="1" spc="-5" dirty="0">
                <a:latin typeface="Arial"/>
                <a:cs typeface="Arial"/>
              </a:rPr>
              <a:t>char	letter </a:t>
            </a:r>
            <a:r>
              <a:rPr sz="1800" b="1" dirty="0">
                <a:latin typeface="Arial"/>
                <a:cs typeface="Arial"/>
              </a:rPr>
              <a:t>= </a:t>
            </a:r>
            <a:r>
              <a:rPr sz="1800" b="1" spc="-5" dirty="0">
                <a:latin typeface="Arial"/>
                <a:cs typeface="Arial"/>
              </a:rPr>
              <a:t>‘V’;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StackType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charStack;</a:t>
            </a:r>
            <a:endParaRPr sz="1800">
              <a:latin typeface="Arial"/>
              <a:cs typeface="Arial"/>
            </a:endParaRPr>
          </a:p>
          <a:p>
            <a:pPr marL="12700" marR="627380">
              <a:lnSpc>
                <a:spcPts val="3000"/>
              </a:lnSpc>
              <a:spcBef>
                <a:spcPts val="180"/>
              </a:spcBef>
            </a:pPr>
            <a:r>
              <a:rPr sz="1800" b="1" spc="-5" dirty="0">
                <a:latin typeface="Arial"/>
                <a:cs typeface="Arial"/>
              </a:rPr>
              <a:t>charStack.Push(letter); </a:t>
            </a:r>
            <a:r>
              <a:rPr sz="1800" b="1" spc="-49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charStack.Push(‘C’);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charStack.Push(‘S’);</a:t>
            </a:r>
            <a:endParaRPr sz="1800">
              <a:latin typeface="Arial"/>
              <a:cs typeface="Arial"/>
            </a:endParaRPr>
          </a:p>
          <a:p>
            <a:pPr marL="393700" marR="373380" indent="-381635">
              <a:lnSpc>
                <a:spcPts val="2100"/>
              </a:lnSpc>
              <a:spcBef>
                <a:spcPts val="720"/>
              </a:spcBef>
            </a:pPr>
            <a:r>
              <a:rPr sz="1800" b="1" spc="-5" dirty="0">
                <a:latin typeface="Arial"/>
                <a:cs typeface="Arial"/>
              </a:rPr>
              <a:t>if </a:t>
            </a:r>
            <a:r>
              <a:rPr sz="1800" b="1" dirty="0">
                <a:latin typeface="Arial"/>
                <a:cs typeface="Arial"/>
              </a:rPr>
              <a:t>( </a:t>
            </a:r>
            <a:r>
              <a:rPr sz="1800" b="1" spc="-5" dirty="0">
                <a:latin typeface="Arial"/>
                <a:cs typeface="Arial"/>
              </a:rPr>
              <a:t>!charStack.IsEmpty( </a:t>
            </a:r>
            <a:r>
              <a:rPr sz="1800" b="1" dirty="0">
                <a:latin typeface="Arial"/>
                <a:cs typeface="Arial"/>
              </a:rPr>
              <a:t>)) </a:t>
            </a:r>
            <a:r>
              <a:rPr sz="1800" b="1" spc="-49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charStack.Pop(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);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800" b="1" spc="-5" dirty="0">
                <a:latin typeface="Arial"/>
                <a:cs typeface="Arial"/>
              </a:rPr>
              <a:t>charStack.Push(‘K’);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30"/>
              </a:lnSpc>
              <a:spcBef>
                <a:spcPts val="840"/>
              </a:spcBef>
            </a:pPr>
            <a:r>
              <a:rPr sz="1800" b="1" spc="-5" dirty="0">
                <a:latin typeface="Arial"/>
                <a:cs typeface="Arial"/>
              </a:rPr>
              <a:t>while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(!charStack.IsEmpty(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))</a:t>
            </a:r>
            <a:endParaRPr sz="1800">
              <a:latin typeface="Arial"/>
              <a:cs typeface="Arial"/>
            </a:endParaRPr>
          </a:p>
          <a:p>
            <a:pPr marL="203200" marR="370840" indent="-191135">
              <a:lnSpc>
                <a:spcPts val="2100"/>
              </a:lnSpc>
              <a:spcBef>
                <a:spcPts val="90"/>
              </a:spcBef>
            </a:pPr>
            <a:r>
              <a:rPr sz="1800" b="1" dirty="0">
                <a:latin typeface="Arial"/>
                <a:cs typeface="Arial"/>
              </a:rPr>
              <a:t>{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letter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charStack.Top();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charStack.Pop(0)}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57200" y="1803400"/>
            <a:ext cx="3454400" cy="4533900"/>
            <a:chOff x="457200" y="1803400"/>
            <a:chExt cx="3454400" cy="4533900"/>
          </a:xfrm>
        </p:grpSpPr>
        <p:sp>
          <p:nvSpPr>
            <p:cNvPr id="10" name="object 10"/>
            <p:cNvSpPr/>
            <p:nvPr/>
          </p:nvSpPr>
          <p:spPr>
            <a:xfrm>
              <a:off x="463550" y="1809750"/>
              <a:ext cx="3441700" cy="4521200"/>
            </a:xfrm>
            <a:custGeom>
              <a:avLst/>
              <a:gdLst/>
              <a:ahLst/>
              <a:cxnLst/>
              <a:rect l="l" t="t" r="r" b="b"/>
              <a:pathLst>
                <a:path w="3441700" h="4521200">
                  <a:moveTo>
                    <a:pt x="0" y="0"/>
                  </a:moveTo>
                  <a:lnTo>
                    <a:pt x="3441700" y="0"/>
                  </a:lnTo>
                  <a:lnTo>
                    <a:pt x="3441700" y="4521200"/>
                  </a:lnTo>
                  <a:lnTo>
                    <a:pt x="0" y="4521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3550" y="1809750"/>
              <a:ext cx="3441700" cy="4521200"/>
            </a:xfrm>
            <a:custGeom>
              <a:avLst/>
              <a:gdLst/>
              <a:ahLst/>
              <a:cxnLst/>
              <a:rect l="l" t="t" r="r" b="b"/>
              <a:pathLst>
                <a:path w="3441700" h="4521200">
                  <a:moveTo>
                    <a:pt x="0" y="0"/>
                  </a:moveTo>
                  <a:lnTo>
                    <a:pt x="3441700" y="0"/>
                  </a:lnTo>
                  <a:lnTo>
                    <a:pt x="3441700" y="4521200"/>
                  </a:lnTo>
                  <a:lnTo>
                    <a:pt x="0" y="452120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46136" y="2006178"/>
            <a:ext cx="1301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Private</a:t>
            </a:r>
            <a:r>
              <a:rPr sz="1800" b="1" spc="-7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data: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60486" y="2501478"/>
            <a:ext cx="343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top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6136" y="3149178"/>
            <a:ext cx="1765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[MAX_ITEMS-1]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25025" y="3557155"/>
            <a:ext cx="85090" cy="50800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400" dirty="0">
                <a:latin typeface="Arial Black"/>
                <a:cs typeface="Arial Black"/>
              </a:rPr>
              <a:t>.</a:t>
            </a:r>
            <a:endParaRPr sz="1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1400" dirty="0">
                <a:latin typeface="Arial Black"/>
                <a:cs typeface="Arial Black"/>
              </a:rPr>
              <a:t>.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46286" y="4279478"/>
            <a:ext cx="406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[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2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60486" y="4862781"/>
            <a:ext cx="1098550" cy="1064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0795" algn="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[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1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]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1560"/>
              </a:spcBef>
              <a:tabLst>
                <a:tab pos="691515" algn="l"/>
              </a:tabLst>
            </a:pPr>
            <a:r>
              <a:rPr sz="1800" b="1" spc="-5" dirty="0">
                <a:latin typeface="Times New Roman"/>
                <a:cs typeface="Times New Roman"/>
              </a:rPr>
              <a:t>items	</a:t>
            </a:r>
            <a:r>
              <a:rPr sz="1800" b="1" dirty="0">
                <a:latin typeface="Times New Roman"/>
                <a:cs typeface="Times New Roman"/>
              </a:rPr>
              <a:t>[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0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]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171700" y="2438401"/>
            <a:ext cx="749300" cy="444500"/>
            <a:chOff x="2171700" y="2438401"/>
            <a:chExt cx="749300" cy="444500"/>
          </a:xfrm>
        </p:grpSpPr>
        <p:sp>
          <p:nvSpPr>
            <p:cNvPr id="19" name="object 19"/>
            <p:cNvSpPr/>
            <p:nvPr/>
          </p:nvSpPr>
          <p:spPr>
            <a:xfrm>
              <a:off x="2178050" y="2444750"/>
              <a:ext cx="736600" cy="431800"/>
            </a:xfrm>
            <a:custGeom>
              <a:avLst/>
              <a:gdLst/>
              <a:ahLst/>
              <a:cxnLst/>
              <a:rect l="l" t="t" r="r" b="b"/>
              <a:pathLst>
                <a:path w="736600" h="431800">
                  <a:moveTo>
                    <a:pt x="0" y="0"/>
                  </a:moveTo>
                  <a:lnTo>
                    <a:pt x="736600" y="0"/>
                  </a:lnTo>
                  <a:lnTo>
                    <a:pt x="7366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178050" y="2444750"/>
              <a:ext cx="736600" cy="431800"/>
            </a:xfrm>
            <a:custGeom>
              <a:avLst/>
              <a:gdLst/>
              <a:ahLst/>
              <a:cxnLst/>
              <a:rect l="l" t="t" r="r" b="b"/>
              <a:pathLst>
                <a:path w="736600" h="431800">
                  <a:moveTo>
                    <a:pt x="0" y="0"/>
                  </a:moveTo>
                  <a:lnTo>
                    <a:pt x="736600" y="0"/>
                  </a:lnTo>
                  <a:lnTo>
                    <a:pt x="7366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2768600" y="3022600"/>
          <a:ext cx="838200" cy="30987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22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2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2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43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53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object 22"/>
          <p:cNvSpPr txBox="1"/>
          <p:nvPr/>
        </p:nvSpPr>
        <p:spPr>
          <a:xfrm>
            <a:off x="387350" y="679450"/>
            <a:ext cx="3162300" cy="1003300"/>
          </a:xfrm>
          <a:prstGeom prst="rect">
            <a:avLst/>
          </a:prstGeom>
          <a:solidFill>
            <a:srgbClr val="CCFFCC"/>
          </a:solidFill>
          <a:ln w="12699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2050">
              <a:latin typeface="Times New Roman"/>
              <a:cs typeface="Times New Roman"/>
            </a:endParaRPr>
          </a:p>
          <a:p>
            <a:pPr marL="40132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Times New Roman"/>
                <a:cs typeface="Times New Roman"/>
              </a:rPr>
              <a:t>letter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60550" y="908050"/>
            <a:ext cx="1155700" cy="596900"/>
          </a:xfrm>
          <a:prstGeom prst="rect">
            <a:avLst/>
          </a:prstGeom>
          <a:solidFill>
            <a:srgbClr val="FFFFCC"/>
          </a:solidFill>
          <a:ln w="12699">
            <a:solidFill>
              <a:srgbClr val="000000"/>
            </a:solidFill>
          </a:ln>
        </p:spPr>
        <p:txBody>
          <a:bodyPr vert="horz" wrap="square" lIns="0" tIns="92075" rIns="0" bIns="0" rtlCol="0">
            <a:spAutoFit/>
          </a:bodyPr>
          <a:lstStyle/>
          <a:p>
            <a:pPr marL="290195">
              <a:lnSpc>
                <a:spcPct val="100000"/>
              </a:lnSpc>
              <a:spcBef>
                <a:spcPts val="725"/>
              </a:spcBef>
            </a:pPr>
            <a:r>
              <a:rPr sz="2800" b="1" spc="-5" dirty="0">
                <a:latin typeface="Arial"/>
                <a:cs typeface="Arial"/>
              </a:rPr>
              <a:t>‘V’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7850" y="1116895"/>
            <a:ext cx="759333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15" dirty="0"/>
              <a:t>Stack</a:t>
            </a:r>
            <a:r>
              <a:rPr sz="3200" dirty="0"/>
              <a:t> </a:t>
            </a:r>
            <a:r>
              <a:rPr sz="3200" spc="10" dirty="0"/>
              <a:t>Implementation:</a:t>
            </a:r>
            <a:r>
              <a:rPr sz="3200" spc="5" dirty="0"/>
              <a:t> </a:t>
            </a:r>
            <a:r>
              <a:rPr sz="3200" spc="10" dirty="0"/>
              <a:t>linked</a:t>
            </a:r>
            <a:r>
              <a:rPr sz="3200" dirty="0"/>
              <a:t> </a:t>
            </a:r>
            <a:r>
              <a:rPr sz="3200" spc="10" dirty="0"/>
              <a:t>structure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03162" y="1883835"/>
            <a:ext cx="7695565" cy="341566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88290" marR="26670" indent="-276225">
              <a:lnSpc>
                <a:spcPts val="2620"/>
              </a:lnSpc>
              <a:spcBef>
                <a:spcPts val="505"/>
              </a:spcBef>
              <a:buFont typeface="Arial"/>
              <a:buChar char="•"/>
              <a:tabLst>
                <a:tab pos="288290" algn="l"/>
                <a:tab pos="288925" algn="l"/>
              </a:tabLst>
            </a:pPr>
            <a:r>
              <a:rPr sz="2500" spc="-5" dirty="0">
                <a:latin typeface="Arial MT"/>
                <a:cs typeface="Arial MT"/>
              </a:rPr>
              <a:t>One</a:t>
            </a:r>
            <a:r>
              <a:rPr sz="2500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advantage</a:t>
            </a:r>
            <a:r>
              <a:rPr sz="2500" spc="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of an</a:t>
            </a:r>
            <a:r>
              <a:rPr sz="2500" spc="-13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ADT</a:t>
            </a:r>
            <a:r>
              <a:rPr sz="2500" spc="-4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is </a:t>
            </a:r>
            <a:r>
              <a:rPr sz="2500" spc="-5" dirty="0">
                <a:latin typeface="Arial MT"/>
                <a:cs typeface="Arial MT"/>
              </a:rPr>
              <a:t>that</a:t>
            </a:r>
            <a:r>
              <a:rPr sz="2500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the</a:t>
            </a:r>
            <a:r>
              <a:rPr sz="2500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implementation </a:t>
            </a:r>
            <a:r>
              <a:rPr sz="2500" spc="-67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can be changed </a:t>
            </a:r>
            <a:r>
              <a:rPr sz="2500" spc="-5" dirty="0">
                <a:latin typeface="Arial MT"/>
                <a:cs typeface="Arial MT"/>
              </a:rPr>
              <a:t>without the </a:t>
            </a:r>
            <a:r>
              <a:rPr sz="2500" dirty="0">
                <a:latin typeface="Arial MT"/>
                <a:cs typeface="Arial MT"/>
              </a:rPr>
              <a:t>program using it </a:t>
            </a:r>
            <a:r>
              <a:rPr sz="2500" spc="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knowing</a:t>
            </a:r>
            <a:r>
              <a:rPr sz="2500" spc="-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about</a:t>
            </a:r>
            <a:r>
              <a:rPr sz="2500" spc="-5" dirty="0">
                <a:latin typeface="Arial MT"/>
                <a:cs typeface="Arial MT"/>
              </a:rPr>
              <a:t> it.</a:t>
            </a:r>
            <a:endParaRPr sz="2500">
              <a:latin typeface="Arial MT"/>
              <a:cs typeface="Arial MT"/>
            </a:endParaRPr>
          </a:p>
          <a:p>
            <a:pPr marL="288290" indent="-276225">
              <a:lnSpc>
                <a:spcPct val="100000"/>
              </a:lnSpc>
              <a:spcBef>
                <a:spcPts val="1970"/>
              </a:spcBef>
              <a:buFont typeface="Arial"/>
              <a:buChar char="•"/>
              <a:tabLst>
                <a:tab pos="288290" algn="l"/>
                <a:tab pos="288925" algn="l"/>
              </a:tabLst>
            </a:pPr>
            <a:r>
              <a:rPr sz="2500" dirty="0">
                <a:latin typeface="Arial MT"/>
                <a:cs typeface="Arial MT"/>
              </a:rPr>
              <a:t>in-object</a:t>
            </a:r>
            <a:r>
              <a:rPr sz="2500" spc="-1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array</a:t>
            </a:r>
            <a:r>
              <a:rPr sz="2500" spc="-10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implementation: </a:t>
            </a:r>
            <a:r>
              <a:rPr sz="2500" dirty="0">
                <a:latin typeface="Arial MT"/>
                <a:cs typeface="Arial MT"/>
              </a:rPr>
              <a:t>has</a:t>
            </a:r>
            <a:r>
              <a:rPr sz="2500" spc="-1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 </a:t>
            </a:r>
            <a:r>
              <a:rPr sz="2500" spc="-5" dirty="0">
                <a:latin typeface="Arial MT"/>
                <a:cs typeface="Arial MT"/>
              </a:rPr>
              <a:t>fixed </a:t>
            </a:r>
            <a:r>
              <a:rPr sz="2500" dirty="0">
                <a:latin typeface="Arial MT"/>
                <a:cs typeface="Arial MT"/>
              </a:rPr>
              <a:t>max.</a:t>
            </a:r>
            <a:r>
              <a:rPr sz="2500" spc="-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size</a:t>
            </a:r>
            <a:endParaRPr sz="2500">
              <a:latin typeface="Arial MT"/>
              <a:cs typeface="Arial MT"/>
            </a:endParaRPr>
          </a:p>
          <a:p>
            <a:pPr marL="288290" marR="603885" indent="-276225">
              <a:lnSpc>
                <a:spcPts val="2620"/>
              </a:lnSpc>
              <a:spcBef>
                <a:spcPts val="625"/>
              </a:spcBef>
              <a:buFont typeface="Arial"/>
              <a:buChar char="•"/>
              <a:tabLst>
                <a:tab pos="288290" algn="l"/>
                <a:tab pos="288925" algn="l"/>
              </a:tabLst>
            </a:pPr>
            <a:r>
              <a:rPr sz="2500" dirty="0">
                <a:latin typeface="Arial MT"/>
                <a:cs typeface="Arial MT"/>
              </a:rPr>
              <a:t>dynamically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allocated</a:t>
            </a:r>
            <a:r>
              <a:rPr sz="2500" spc="-1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array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(as</a:t>
            </a:r>
            <a:r>
              <a:rPr sz="2500" spc="-1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in</a:t>
            </a:r>
            <a:r>
              <a:rPr sz="2500" spc="-1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lab2?):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can</a:t>
            </a:r>
            <a:r>
              <a:rPr sz="2500" spc="-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be </a:t>
            </a:r>
            <a:r>
              <a:rPr sz="2500" spc="-68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grown</a:t>
            </a:r>
            <a:r>
              <a:rPr sz="2500" spc="-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when</a:t>
            </a:r>
            <a:r>
              <a:rPr sz="2500" spc="-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needed,</a:t>
            </a:r>
            <a:r>
              <a:rPr sz="2500" spc="-1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but</a:t>
            </a:r>
            <a:r>
              <a:rPr sz="2500" spc="-5" dirty="0">
                <a:latin typeface="Arial MT"/>
                <a:cs typeface="Arial MT"/>
              </a:rPr>
              <a:t> lots</a:t>
            </a:r>
            <a:r>
              <a:rPr sz="2500" spc="-1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of</a:t>
            </a:r>
            <a:r>
              <a:rPr sz="2500" spc="-1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copy!</a:t>
            </a:r>
            <a:endParaRPr sz="2500">
              <a:latin typeface="Arial MT"/>
              <a:cs typeface="Arial MT"/>
            </a:endParaRPr>
          </a:p>
          <a:p>
            <a:pPr marL="288290" marR="198120" indent="-276225">
              <a:lnSpc>
                <a:spcPts val="2620"/>
              </a:lnSpc>
              <a:spcBef>
                <a:spcPts val="2380"/>
              </a:spcBef>
              <a:buFont typeface="Arial"/>
              <a:buChar char="•"/>
              <a:tabLst>
                <a:tab pos="288290" algn="l"/>
                <a:tab pos="288925" algn="l"/>
              </a:tabLst>
            </a:pPr>
            <a:r>
              <a:rPr sz="2500" dirty="0">
                <a:latin typeface="Arial MT"/>
                <a:cs typeface="Arial MT"/>
              </a:rPr>
              <a:t>Linked</a:t>
            </a:r>
            <a:r>
              <a:rPr sz="2500" spc="-5" dirty="0">
                <a:latin typeface="Arial MT"/>
                <a:cs typeface="Arial MT"/>
              </a:rPr>
              <a:t> structure: </a:t>
            </a:r>
            <a:r>
              <a:rPr sz="2500" dirty="0">
                <a:solidFill>
                  <a:srgbClr val="00B050"/>
                </a:solidFill>
                <a:latin typeface="Arial MT"/>
                <a:cs typeface="Arial MT"/>
              </a:rPr>
              <a:t>dynamically</a:t>
            </a:r>
            <a:r>
              <a:rPr sz="2500" spc="-5" dirty="0">
                <a:solidFill>
                  <a:srgbClr val="00B050"/>
                </a:solidFill>
                <a:latin typeface="Arial MT"/>
                <a:cs typeface="Arial MT"/>
              </a:rPr>
              <a:t> allocate</a:t>
            </a:r>
            <a:r>
              <a:rPr sz="250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solidFill>
                  <a:srgbClr val="00B050"/>
                </a:solidFill>
                <a:latin typeface="Arial MT"/>
                <a:cs typeface="Arial MT"/>
              </a:rPr>
              <a:t>the</a:t>
            </a:r>
            <a:r>
              <a:rPr sz="2500" dirty="0">
                <a:solidFill>
                  <a:srgbClr val="00B050"/>
                </a:solidFill>
                <a:latin typeface="Arial MT"/>
                <a:cs typeface="Arial MT"/>
              </a:rPr>
              <a:t> space </a:t>
            </a:r>
            <a:r>
              <a:rPr sz="2500" spc="-5" dirty="0">
                <a:solidFill>
                  <a:srgbClr val="00B050"/>
                </a:solidFill>
                <a:latin typeface="Arial MT"/>
                <a:cs typeface="Arial MT"/>
              </a:rPr>
              <a:t>for </a:t>
            </a:r>
            <a:r>
              <a:rPr sz="2500" spc="-68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B050"/>
                </a:solidFill>
                <a:latin typeface="Arial MT"/>
                <a:cs typeface="Arial MT"/>
              </a:rPr>
              <a:t>each</a:t>
            </a:r>
            <a:r>
              <a:rPr sz="2500" spc="-5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B050"/>
                </a:solidFill>
                <a:latin typeface="Arial MT"/>
                <a:cs typeface="Arial MT"/>
              </a:rPr>
              <a:t>element</a:t>
            </a:r>
            <a:r>
              <a:rPr sz="2500" spc="-5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B050"/>
                </a:solidFill>
                <a:latin typeface="Arial MT"/>
                <a:cs typeface="Arial MT"/>
              </a:rPr>
              <a:t>as</a:t>
            </a:r>
            <a:r>
              <a:rPr sz="2500" spc="-1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B050"/>
                </a:solidFill>
                <a:latin typeface="Arial MT"/>
                <a:cs typeface="Arial MT"/>
              </a:rPr>
              <a:t>it</a:t>
            </a:r>
            <a:r>
              <a:rPr sz="2500" spc="-5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B050"/>
                </a:solidFill>
                <a:latin typeface="Arial MT"/>
                <a:cs typeface="Arial MT"/>
              </a:rPr>
              <a:t>is</a:t>
            </a:r>
            <a:r>
              <a:rPr sz="2500" spc="-1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00B050"/>
                </a:solidFill>
                <a:latin typeface="Arial MT"/>
                <a:cs typeface="Arial MT"/>
              </a:rPr>
              <a:t>pushed</a:t>
            </a:r>
            <a:r>
              <a:rPr sz="2500" spc="-5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sz="2500" spc="-5" dirty="0">
                <a:latin typeface="Arial MT"/>
                <a:cs typeface="Arial MT"/>
              </a:rPr>
              <a:t>onto stack.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3000" y="70220"/>
            <a:ext cx="4598035" cy="117919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434"/>
              </a:spcBef>
              <a:tabLst>
                <a:tab pos="2046605" algn="l"/>
              </a:tabLst>
            </a:pPr>
            <a:r>
              <a:rPr sz="2900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ItemType</a:t>
            </a:r>
            <a:r>
              <a:rPr sz="2900" dirty="0">
                <a:latin typeface="Courier New"/>
                <a:cs typeface="Courier New"/>
              </a:rPr>
              <a:t>	</a:t>
            </a:r>
            <a:r>
              <a:rPr sz="2900" spc="-5" dirty="0">
                <a:latin typeface="Courier New"/>
                <a:cs typeface="Courier New"/>
              </a:rPr>
              <a:t>is</a:t>
            </a:r>
            <a:r>
              <a:rPr sz="2900" spc="-65" dirty="0">
                <a:latin typeface="Courier New"/>
                <a:cs typeface="Courier New"/>
              </a:rPr>
              <a:t> </a:t>
            </a:r>
            <a:r>
              <a:rPr sz="2900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char</a:t>
            </a:r>
            <a:endParaRPr sz="2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4000" spc="-5" dirty="0">
                <a:latin typeface="Courier New"/>
                <a:cs typeface="Courier New"/>
              </a:rPr>
              <a:t>class</a:t>
            </a:r>
            <a:r>
              <a:rPr sz="4000" spc="-100" dirty="0">
                <a:latin typeface="Courier New"/>
                <a:cs typeface="Courier New"/>
              </a:rPr>
              <a:t> </a:t>
            </a:r>
            <a:r>
              <a:rPr sz="4000" dirty="0">
                <a:latin typeface="Courier New"/>
                <a:cs typeface="Courier New"/>
              </a:rPr>
              <a:t>StackType</a:t>
            </a:r>
            <a:endParaRPr sz="4000">
              <a:latin typeface="Courier New"/>
              <a:cs typeface="Courier Ne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3125" y="1449480"/>
            <a:ext cx="4601960" cy="47239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52562" y="2007541"/>
            <a:ext cx="1163955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Sta</a:t>
            </a:r>
            <a:r>
              <a:rPr sz="2000" b="1" spc="-5" dirty="0">
                <a:latin typeface="Times New Roman"/>
                <a:cs typeface="Times New Roman"/>
              </a:rPr>
              <a:t>c</a:t>
            </a:r>
            <a:r>
              <a:rPr sz="2000" b="1" dirty="0">
                <a:latin typeface="Times New Roman"/>
                <a:cs typeface="Times New Roman"/>
              </a:rPr>
              <a:t>k</a:t>
            </a:r>
            <a:r>
              <a:rPr sz="2000" b="1" spc="-150" dirty="0">
                <a:latin typeface="Times New Roman"/>
                <a:cs typeface="Times New Roman"/>
              </a:rPr>
              <a:t>T</a:t>
            </a:r>
            <a:r>
              <a:rPr sz="2000" b="1" dirty="0">
                <a:latin typeface="Times New Roman"/>
                <a:cs typeface="Times New Roman"/>
              </a:rPr>
              <a:t>ype</a:t>
            </a:r>
            <a:endParaRPr sz="2000">
              <a:latin typeface="Times New Roman"/>
              <a:cs typeface="Times New Roman"/>
            </a:endParaRPr>
          </a:p>
          <a:p>
            <a:pPr marL="327025">
              <a:lnSpc>
                <a:spcPct val="100000"/>
              </a:lnSpc>
              <a:spcBef>
                <a:spcPts val="1800"/>
              </a:spcBef>
            </a:pPr>
            <a:r>
              <a:rPr sz="2000" b="1" spc="-65" dirty="0">
                <a:latin typeface="Times New Roman"/>
                <a:cs typeface="Times New Roman"/>
              </a:rPr>
              <a:t>Top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22423" y="3607742"/>
            <a:ext cx="6610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IsFull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25587" y="3074342"/>
            <a:ext cx="9575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IsEmpty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263900" y="2895599"/>
            <a:ext cx="1993900" cy="1447800"/>
            <a:chOff x="3263900" y="2895599"/>
            <a:chExt cx="1993900" cy="1447800"/>
          </a:xfrm>
        </p:grpSpPr>
        <p:sp>
          <p:nvSpPr>
            <p:cNvPr id="8" name="object 8"/>
            <p:cNvSpPr/>
            <p:nvPr/>
          </p:nvSpPr>
          <p:spPr>
            <a:xfrm>
              <a:off x="3270249" y="2901950"/>
              <a:ext cx="1981200" cy="1435100"/>
            </a:xfrm>
            <a:custGeom>
              <a:avLst/>
              <a:gdLst/>
              <a:ahLst/>
              <a:cxnLst/>
              <a:rect l="l" t="t" r="r" b="b"/>
              <a:pathLst>
                <a:path w="1981200" h="1435100">
                  <a:moveTo>
                    <a:pt x="0" y="0"/>
                  </a:moveTo>
                  <a:lnTo>
                    <a:pt x="1981200" y="0"/>
                  </a:lnTo>
                  <a:lnTo>
                    <a:pt x="1981200" y="1435100"/>
                  </a:lnTo>
                  <a:lnTo>
                    <a:pt x="0" y="1435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70250" y="2901949"/>
              <a:ext cx="1981200" cy="1435100"/>
            </a:xfrm>
            <a:custGeom>
              <a:avLst/>
              <a:gdLst/>
              <a:ahLst/>
              <a:cxnLst/>
              <a:rect l="l" t="t" r="r" b="b"/>
              <a:pathLst>
                <a:path w="1981200" h="1435100">
                  <a:moveTo>
                    <a:pt x="0" y="0"/>
                  </a:moveTo>
                  <a:lnTo>
                    <a:pt x="1981199" y="0"/>
                  </a:lnTo>
                  <a:lnTo>
                    <a:pt x="1981199" y="1435100"/>
                  </a:lnTo>
                  <a:lnTo>
                    <a:pt x="0" y="14351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270250" y="2901949"/>
            <a:ext cx="1981200" cy="571500"/>
          </a:xfrm>
          <a:prstGeom prst="rect">
            <a:avLst/>
          </a:prstGeom>
          <a:solidFill>
            <a:srgbClr val="FFFF66"/>
          </a:solidFill>
          <a:ln w="12700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320"/>
              </a:spcBef>
            </a:pPr>
            <a:r>
              <a:rPr sz="1800" b="1" spc="-5" dirty="0">
                <a:latin typeface="Times New Roman"/>
                <a:cs typeface="Times New Roman"/>
              </a:rPr>
              <a:t>Private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data: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21048" y="3425402"/>
            <a:ext cx="660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top</a:t>
            </a:r>
            <a:r>
              <a:rPr sz="1800" b="1" spc="-5" dirty="0">
                <a:latin typeface="Times New Roman"/>
                <a:cs typeface="Times New Roman"/>
              </a:rPr>
              <a:t>P</a:t>
            </a:r>
            <a:r>
              <a:rPr sz="1800" b="1" dirty="0">
                <a:latin typeface="Times New Roman"/>
                <a:cs typeface="Times New Roman"/>
              </a:rPr>
              <a:t>tr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60425" y="3467100"/>
            <a:ext cx="3943985" cy="2113280"/>
            <a:chOff x="1060425" y="3467100"/>
            <a:chExt cx="3943985" cy="2113280"/>
          </a:xfrm>
        </p:grpSpPr>
        <p:sp>
          <p:nvSpPr>
            <p:cNvPr id="13" name="object 13"/>
            <p:cNvSpPr/>
            <p:nvPr/>
          </p:nvSpPr>
          <p:spPr>
            <a:xfrm>
              <a:off x="4387850" y="3473449"/>
              <a:ext cx="609600" cy="546100"/>
            </a:xfrm>
            <a:custGeom>
              <a:avLst/>
              <a:gdLst/>
              <a:ahLst/>
              <a:cxnLst/>
              <a:rect l="l" t="t" r="r" b="b"/>
              <a:pathLst>
                <a:path w="609600" h="546100">
                  <a:moveTo>
                    <a:pt x="0" y="0"/>
                  </a:moveTo>
                  <a:lnTo>
                    <a:pt x="609600" y="0"/>
                  </a:lnTo>
                  <a:lnTo>
                    <a:pt x="609600" y="546100"/>
                  </a:lnTo>
                  <a:lnTo>
                    <a:pt x="0" y="546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387849" y="3473450"/>
              <a:ext cx="609600" cy="546100"/>
            </a:xfrm>
            <a:custGeom>
              <a:avLst/>
              <a:gdLst/>
              <a:ahLst/>
              <a:cxnLst/>
              <a:rect l="l" t="t" r="r" b="b"/>
              <a:pathLst>
                <a:path w="609600" h="546100">
                  <a:moveTo>
                    <a:pt x="0" y="0"/>
                  </a:moveTo>
                  <a:lnTo>
                    <a:pt x="609599" y="0"/>
                  </a:lnTo>
                  <a:lnTo>
                    <a:pt x="609599" y="546099"/>
                  </a:lnTo>
                  <a:lnTo>
                    <a:pt x="0" y="54609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66774" y="5205407"/>
              <a:ext cx="1968500" cy="368300"/>
            </a:xfrm>
            <a:custGeom>
              <a:avLst/>
              <a:gdLst/>
              <a:ahLst/>
              <a:cxnLst/>
              <a:rect l="l" t="t" r="r" b="b"/>
              <a:pathLst>
                <a:path w="1968500" h="368300">
                  <a:moveTo>
                    <a:pt x="984224" y="0"/>
                  </a:moveTo>
                  <a:lnTo>
                    <a:pt x="930273" y="275"/>
                  </a:lnTo>
                  <a:lnTo>
                    <a:pt x="876451" y="1100"/>
                  </a:lnTo>
                  <a:lnTo>
                    <a:pt x="822891" y="2476"/>
                  </a:lnTo>
                  <a:lnTo>
                    <a:pt x="769723" y="4403"/>
                  </a:lnTo>
                  <a:lnTo>
                    <a:pt x="717077" y="6880"/>
                  </a:lnTo>
                  <a:lnTo>
                    <a:pt x="665084" y="9907"/>
                  </a:lnTo>
                  <a:lnTo>
                    <a:pt x="613874" y="13485"/>
                  </a:lnTo>
                  <a:lnTo>
                    <a:pt x="563578" y="17614"/>
                  </a:lnTo>
                  <a:lnTo>
                    <a:pt x="514327" y="22292"/>
                  </a:lnTo>
                  <a:lnTo>
                    <a:pt x="466252" y="27521"/>
                  </a:lnTo>
                  <a:lnTo>
                    <a:pt x="419482" y="33301"/>
                  </a:lnTo>
                  <a:lnTo>
                    <a:pt x="374148" y="39631"/>
                  </a:lnTo>
                  <a:lnTo>
                    <a:pt x="330381" y="46512"/>
                  </a:lnTo>
                  <a:lnTo>
                    <a:pt x="288312" y="53942"/>
                  </a:lnTo>
                  <a:lnTo>
                    <a:pt x="227802" y="66325"/>
                  </a:lnTo>
                  <a:lnTo>
                    <a:pt x="174411" y="79443"/>
                  </a:lnTo>
                  <a:lnTo>
                    <a:pt x="128138" y="93205"/>
                  </a:lnTo>
                  <a:lnTo>
                    <a:pt x="88985" y="107519"/>
                  </a:lnTo>
                  <a:lnTo>
                    <a:pt x="32034" y="137434"/>
                  </a:lnTo>
                  <a:lnTo>
                    <a:pt x="3559" y="168453"/>
                  </a:lnTo>
                  <a:lnTo>
                    <a:pt x="0" y="184146"/>
                  </a:lnTo>
                  <a:lnTo>
                    <a:pt x="3559" y="199839"/>
                  </a:lnTo>
                  <a:lnTo>
                    <a:pt x="32034" y="230858"/>
                  </a:lnTo>
                  <a:lnTo>
                    <a:pt x="88985" y="260773"/>
                  </a:lnTo>
                  <a:lnTo>
                    <a:pt x="128138" y="275087"/>
                  </a:lnTo>
                  <a:lnTo>
                    <a:pt x="174411" y="288849"/>
                  </a:lnTo>
                  <a:lnTo>
                    <a:pt x="227802" y="301967"/>
                  </a:lnTo>
                  <a:lnTo>
                    <a:pt x="288312" y="314350"/>
                  </a:lnTo>
                  <a:lnTo>
                    <a:pt x="330381" y="321780"/>
                  </a:lnTo>
                  <a:lnTo>
                    <a:pt x="374148" y="328661"/>
                  </a:lnTo>
                  <a:lnTo>
                    <a:pt x="419482" y="334991"/>
                  </a:lnTo>
                  <a:lnTo>
                    <a:pt x="466252" y="340770"/>
                  </a:lnTo>
                  <a:lnTo>
                    <a:pt x="514327" y="345999"/>
                  </a:lnTo>
                  <a:lnTo>
                    <a:pt x="563578" y="350678"/>
                  </a:lnTo>
                  <a:lnTo>
                    <a:pt x="613874" y="354806"/>
                  </a:lnTo>
                  <a:lnTo>
                    <a:pt x="665084" y="358384"/>
                  </a:lnTo>
                  <a:lnTo>
                    <a:pt x="717077" y="361412"/>
                  </a:lnTo>
                  <a:lnTo>
                    <a:pt x="769723" y="363888"/>
                  </a:lnTo>
                  <a:lnTo>
                    <a:pt x="822891" y="365815"/>
                  </a:lnTo>
                  <a:lnTo>
                    <a:pt x="876451" y="367191"/>
                  </a:lnTo>
                  <a:lnTo>
                    <a:pt x="930273" y="368017"/>
                  </a:lnTo>
                  <a:lnTo>
                    <a:pt x="984224" y="368292"/>
                  </a:lnTo>
                  <a:lnTo>
                    <a:pt x="1038176" y="368017"/>
                  </a:lnTo>
                  <a:lnTo>
                    <a:pt x="1091998" y="367191"/>
                  </a:lnTo>
                  <a:lnTo>
                    <a:pt x="1145558" y="365815"/>
                  </a:lnTo>
                  <a:lnTo>
                    <a:pt x="1198726" y="363888"/>
                  </a:lnTo>
                  <a:lnTo>
                    <a:pt x="1251372" y="361412"/>
                  </a:lnTo>
                  <a:lnTo>
                    <a:pt x="1303365" y="358384"/>
                  </a:lnTo>
                  <a:lnTo>
                    <a:pt x="1354575" y="354806"/>
                  </a:lnTo>
                  <a:lnTo>
                    <a:pt x="1404871" y="350678"/>
                  </a:lnTo>
                  <a:lnTo>
                    <a:pt x="1454122" y="345999"/>
                  </a:lnTo>
                  <a:lnTo>
                    <a:pt x="1502197" y="340770"/>
                  </a:lnTo>
                  <a:lnTo>
                    <a:pt x="1548967" y="334991"/>
                  </a:lnTo>
                  <a:lnTo>
                    <a:pt x="1594301" y="328661"/>
                  </a:lnTo>
                  <a:lnTo>
                    <a:pt x="1638068" y="321780"/>
                  </a:lnTo>
                  <a:lnTo>
                    <a:pt x="1680137" y="314350"/>
                  </a:lnTo>
                  <a:lnTo>
                    <a:pt x="1740647" y="301967"/>
                  </a:lnTo>
                  <a:lnTo>
                    <a:pt x="1794038" y="288849"/>
                  </a:lnTo>
                  <a:lnTo>
                    <a:pt x="1840311" y="275087"/>
                  </a:lnTo>
                  <a:lnTo>
                    <a:pt x="1879464" y="260773"/>
                  </a:lnTo>
                  <a:lnTo>
                    <a:pt x="1936415" y="230858"/>
                  </a:lnTo>
                  <a:lnTo>
                    <a:pt x="1964891" y="199839"/>
                  </a:lnTo>
                  <a:lnTo>
                    <a:pt x="1968450" y="184146"/>
                  </a:lnTo>
                  <a:lnTo>
                    <a:pt x="1964891" y="168453"/>
                  </a:lnTo>
                  <a:lnTo>
                    <a:pt x="1936415" y="137434"/>
                  </a:lnTo>
                  <a:lnTo>
                    <a:pt x="1879464" y="107519"/>
                  </a:lnTo>
                  <a:lnTo>
                    <a:pt x="1840311" y="93205"/>
                  </a:lnTo>
                  <a:lnTo>
                    <a:pt x="1794038" y="79443"/>
                  </a:lnTo>
                  <a:lnTo>
                    <a:pt x="1740647" y="66325"/>
                  </a:lnTo>
                  <a:lnTo>
                    <a:pt x="1680137" y="53942"/>
                  </a:lnTo>
                  <a:lnTo>
                    <a:pt x="1638068" y="46512"/>
                  </a:lnTo>
                  <a:lnTo>
                    <a:pt x="1594301" y="39631"/>
                  </a:lnTo>
                  <a:lnTo>
                    <a:pt x="1548967" y="33301"/>
                  </a:lnTo>
                  <a:lnTo>
                    <a:pt x="1502197" y="27521"/>
                  </a:lnTo>
                  <a:lnTo>
                    <a:pt x="1454122" y="22292"/>
                  </a:lnTo>
                  <a:lnTo>
                    <a:pt x="1404871" y="17614"/>
                  </a:lnTo>
                  <a:lnTo>
                    <a:pt x="1354575" y="13485"/>
                  </a:lnTo>
                  <a:lnTo>
                    <a:pt x="1303365" y="9907"/>
                  </a:lnTo>
                  <a:lnTo>
                    <a:pt x="1251372" y="6880"/>
                  </a:lnTo>
                  <a:lnTo>
                    <a:pt x="1198726" y="4403"/>
                  </a:lnTo>
                  <a:lnTo>
                    <a:pt x="1145558" y="2476"/>
                  </a:lnTo>
                  <a:lnTo>
                    <a:pt x="1091998" y="1100"/>
                  </a:lnTo>
                  <a:lnTo>
                    <a:pt x="1038176" y="275"/>
                  </a:lnTo>
                  <a:lnTo>
                    <a:pt x="984224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66775" y="5205407"/>
              <a:ext cx="1968500" cy="368300"/>
            </a:xfrm>
            <a:custGeom>
              <a:avLst/>
              <a:gdLst/>
              <a:ahLst/>
              <a:cxnLst/>
              <a:rect l="l" t="t" r="r" b="b"/>
              <a:pathLst>
                <a:path w="1968500" h="368300">
                  <a:moveTo>
                    <a:pt x="1680137" y="53942"/>
                  </a:moveTo>
                  <a:lnTo>
                    <a:pt x="1740647" y="66325"/>
                  </a:lnTo>
                  <a:lnTo>
                    <a:pt x="1794039" y="79443"/>
                  </a:lnTo>
                  <a:lnTo>
                    <a:pt x="1840311" y="93205"/>
                  </a:lnTo>
                  <a:lnTo>
                    <a:pt x="1879465" y="107519"/>
                  </a:lnTo>
                  <a:lnTo>
                    <a:pt x="1936415" y="137434"/>
                  </a:lnTo>
                  <a:lnTo>
                    <a:pt x="1964891" y="168453"/>
                  </a:lnTo>
                  <a:lnTo>
                    <a:pt x="1968450" y="184146"/>
                  </a:lnTo>
                  <a:lnTo>
                    <a:pt x="1964891" y="199839"/>
                  </a:lnTo>
                  <a:lnTo>
                    <a:pt x="1936415" y="230858"/>
                  </a:lnTo>
                  <a:lnTo>
                    <a:pt x="1879465" y="260773"/>
                  </a:lnTo>
                  <a:lnTo>
                    <a:pt x="1840311" y="275087"/>
                  </a:lnTo>
                  <a:lnTo>
                    <a:pt x="1794039" y="288849"/>
                  </a:lnTo>
                  <a:lnTo>
                    <a:pt x="1740647" y="301967"/>
                  </a:lnTo>
                  <a:lnTo>
                    <a:pt x="1680137" y="314350"/>
                  </a:lnTo>
                  <a:lnTo>
                    <a:pt x="1638068" y="321780"/>
                  </a:lnTo>
                  <a:lnTo>
                    <a:pt x="1594301" y="328661"/>
                  </a:lnTo>
                  <a:lnTo>
                    <a:pt x="1548968" y="334991"/>
                  </a:lnTo>
                  <a:lnTo>
                    <a:pt x="1502198" y="340770"/>
                  </a:lnTo>
                  <a:lnTo>
                    <a:pt x="1454122" y="346000"/>
                  </a:lnTo>
                  <a:lnTo>
                    <a:pt x="1404871" y="350678"/>
                  </a:lnTo>
                  <a:lnTo>
                    <a:pt x="1354575" y="354807"/>
                  </a:lnTo>
                  <a:lnTo>
                    <a:pt x="1303366" y="358384"/>
                  </a:lnTo>
                  <a:lnTo>
                    <a:pt x="1251372" y="361412"/>
                  </a:lnTo>
                  <a:lnTo>
                    <a:pt x="1198726" y="363889"/>
                  </a:lnTo>
                  <a:lnTo>
                    <a:pt x="1145558" y="365815"/>
                  </a:lnTo>
                  <a:lnTo>
                    <a:pt x="1091998" y="367191"/>
                  </a:lnTo>
                  <a:lnTo>
                    <a:pt x="1038177" y="368017"/>
                  </a:lnTo>
                  <a:lnTo>
                    <a:pt x="984225" y="368292"/>
                  </a:lnTo>
                  <a:lnTo>
                    <a:pt x="930273" y="368017"/>
                  </a:lnTo>
                  <a:lnTo>
                    <a:pt x="876452" y="367191"/>
                  </a:lnTo>
                  <a:lnTo>
                    <a:pt x="822892" y="365815"/>
                  </a:lnTo>
                  <a:lnTo>
                    <a:pt x="769723" y="363889"/>
                  </a:lnTo>
                  <a:lnTo>
                    <a:pt x="717077" y="361412"/>
                  </a:lnTo>
                  <a:lnTo>
                    <a:pt x="665084" y="358384"/>
                  </a:lnTo>
                  <a:lnTo>
                    <a:pt x="613874" y="354807"/>
                  </a:lnTo>
                  <a:lnTo>
                    <a:pt x="563579" y="350678"/>
                  </a:lnTo>
                  <a:lnTo>
                    <a:pt x="514328" y="346000"/>
                  </a:lnTo>
                  <a:lnTo>
                    <a:pt x="466252" y="340770"/>
                  </a:lnTo>
                  <a:lnTo>
                    <a:pt x="419482" y="334991"/>
                  </a:lnTo>
                  <a:lnTo>
                    <a:pt x="374148" y="328661"/>
                  </a:lnTo>
                  <a:lnTo>
                    <a:pt x="330382" y="321780"/>
                  </a:lnTo>
                  <a:lnTo>
                    <a:pt x="288312" y="314350"/>
                  </a:lnTo>
                  <a:lnTo>
                    <a:pt x="227802" y="301967"/>
                  </a:lnTo>
                  <a:lnTo>
                    <a:pt x="174411" y="288849"/>
                  </a:lnTo>
                  <a:lnTo>
                    <a:pt x="128139" y="275087"/>
                  </a:lnTo>
                  <a:lnTo>
                    <a:pt x="88985" y="260773"/>
                  </a:lnTo>
                  <a:lnTo>
                    <a:pt x="32034" y="230858"/>
                  </a:lnTo>
                  <a:lnTo>
                    <a:pt x="3559" y="199839"/>
                  </a:lnTo>
                  <a:lnTo>
                    <a:pt x="0" y="184146"/>
                  </a:lnTo>
                  <a:lnTo>
                    <a:pt x="3559" y="168453"/>
                  </a:lnTo>
                  <a:lnTo>
                    <a:pt x="32034" y="137434"/>
                  </a:lnTo>
                  <a:lnTo>
                    <a:pt x="88985" y="107519"/>
                  </a:lnTo>
                  <a:lnTo>
                    <a:pt x="128139" y="93205"/>
                  </a:lnTo>
                  <a:lnTo>
                    <a:pt x="174411" y="79443"/>
                  </a:lnTo>
                  <a:lnTo>
                    <a:pt x="227802" y="66325"/>
                  </a:lnTo>
                  <a:lnTo>
                    <a:pt x="288312" y="53942"/>
                  </a:lnTo>
                  <a:lnTo>
                    <a:pt x="330382" y="46511"/>
                  </a:lnTo>
                  <a:lnTo>
                    <a:pt x="374148" y="39631"/>
                  </a:lnTo>
                  <a:lnTo>
                    <a:pt x="419482" y="33301"/>
                  </a:lnTo>
                  <a:lnTo>
                    <a:pt x="466252" y="27521"/>
                  </a:lnTo>
                  <a:lnTo>
                    <a:pt x="514328" y="22292"/>
                  </a:lnTo>
                  <a:lnTo>
                    <a:pt x="563579" y="17613"/>
                  </a:lnTo>
                  <a:lnTo>
                    <a:pt x="613874" y="13485"/>
                  </a:lnTo>
                  <a:lnTo>
                    <a:pt x="665084" y="9907"/>
                  </a:lnTo>
                  <a:lnTo>
                    <a:pt x="717077" y="6880"/>
                  </a:lnTo>
                  <a:lnTo>
                    <a:pt x="769723" y="4403"/>
                  </a:lnTo>
                  <a:lnTo>
                    <a:pt x="822892" y="2476"/>
                  </a:lnTo>
                  <a:lnTo>
                    <a:pt x="876452" y="1100"/>
                  </a:lnTo>
                  <a:lnTo>
                    <a:pt x="930273" y="275"/>
                  </a:lnTo>
                  <a:lnTo>
                    <a:pt x="984225" y="0"/>
                  </a:lnTo>
                  <a:lnTo>
                    <a:pt x="1038177" y="275"/>
                  </a:lnTo>
                  <a:lnTo>
                    <a:pt x="1091998" y="1100"/>
                  </a:lnTo>
                  <a:lnTo>
                    <a:pt x="1145558" y="2476"/>
                  </a:lnTo>
                  <a:lnTo>
                    <a:pt x="1198726" y="4403"/>
                  </a:lnTo>
                  <a:lnTo>
                    <a:pt x="1251372" y="6880"/>
                  </a:lnTo>
                  <a:lnTo>
                    <a:pt x="1303366" y="9907"/>
                  </a:lnTo>
                  <a:lnTo>
                    <a:pt x="1354575" y="13485"/>
                  </a:lnTo>
                  <a:lnTo>
                    <a:pt x="1404871" y="17613"/>
                  </a:lnTo>
                  <a:lnTo>
                    <a:pt x="1454122" y="22292"/>
                  </a:lnTo>
                  <a:lnTo>
                    <a:pt x="1502198" y="27521"/>
                  </a:lnTo>
                  <a:lnTo>
                    <a:pt x="1548968" y="33301"/>
                  </a:lnTo>
                  <a:lnTo>
                    <a:pt x="1594301" y="39631"/>
                  </a:lnTo>
                  <a:lnTo>
                    <a:pt x="1638068" y="46511"/>
                  </a:lnTo>
                  <a:lnTo>
                    <a:pt x="1680137" y="5394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357311" y="4141142"/>
            <a:ext cx="1296035" cy="1424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242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latin typeface="Times New Roman"/>
                <a:cs typeface="Times New Roman"/>
              </a:rPr>
              <a:t>Push</a:t>
            </a:r>
            <a:endParaRPr sz="2000">
              <a:latin typeface="Times New Roman"/>
              <a:cs typeface="Times New Roman"/>
            </a:endParaRPr>
          </a:p>
          <a:p>
            <a:pPr marL="374650">
              <a:lnSpc>
                <a:spcPct val="100000"/>
              </a:lnSpc>
              <a:spcBef>
                <a:spcPts val="1800"/>
              </a:spcBef>
            </a:pPr>
            <a:r>
              <a:rPr sz="2000" b="1" spc="-5" dirty="0">
                <a:latin typeface="Times New Roman"/>
                <a:cs typeface="Times New Roman"/>
              </a:rPr>
              <a:t>Pop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20" dirty="0">
                <a:latin typeface="Times New Roman"/>
                <a:cs typeface="Times New Roman"/>
              </a:rPr>
              <a:t>~StackType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629150" y="3467098"/>
            <a:ext cx="3549650" cy="647700"/>
            <a:chOff x="4629150" y="3467098"/>
            <a:chExt cx="3549650" cy="647700"/>
          </a:xfrm>
        </p:grpSpPr>
        <p:sp>
          <p:nvSpPr>
            <p:cNvPr id="19" name="object 19"/>
            <p:cNvSpPr/>
            <p:nvPr/>
          </p:nvSpPr>
          <p:spPr>
            <a:xfrm>
              <a:off x="4635500" y="3740149"/>
              <a:ext cx="1333500" cy="0"/>
            </a:xfrm>
            <a:custGeom>
              <a:avLst/>
              <a:gdLst/>
              <a:ahLst/>
              <a:cxnLst/>
              <a:rect l="l" t="t" r="r" b="b"/>
              <a:pathLst>
                <a:path w="1333500">
                  <a:moveTo>
                    <a:pt x="0" y="0"/>
                  </a:moveTo>
                  <a:lnTo>
                    <a:pt x="1323022" y="0"/>
                  </a:lnTo>
                  <a:lnTo>
                    <a:pt x="13335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955030" y="3712845"/>
              <a:ext cx="54610" cy="54610"/>
            </a:xfrm>
            <a:custGeom>
              <a:avLst/>
              <a:gdLst/>
              <a:ahLst/>
              <a:cxnLst/>
              <a:rect l="l" t="t" r="r" b="b"/>
              <a:pathLst>
                <a:path w="54610" h="54610">
                  <a:moveTo>
                    <a:pt x="0" y="0"/>
                  </a:moveTo>
                  <a:lnTo>
                    <a:pt x="18202" y="27304"/>
                  </a:lnTo>
                  <a:lnTo>
                    <a:pt x="0" y="54609"/>
                  </a:lnTo>
                  <a:lnTo>
                    <a:pt x="54610" y="273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38850" y="3473450"/>
              <a:ext cx="876300" cy="622300"/>
            </a:xfrm>
            <a:custGeom>
              <a:avLst/>
              <a:gdLst/>
              <a:ahLst/>
              <a:cxnLst/>
              <a:rect l="l" t="t" r="r" b="b"/>
              <a:pathLst>
                <a:path w="876300" h="622300">
                  <a:moveTo>
                    <a:pt x="0" y="0"/>
                  </a:moveTo>
                  <a:lnTo>
                    <a:pt x="876300" y="0"/>
                  </a:lnTo>
                  <a:lnTo>
                    <a:pt x="876300" y="622300"/>
                  </a:lnTo>
                  <a:lnTo>
                    <a:pt x="0" y="622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038849" y="3473450"/>
              <a:ext cx="876300" cy="622300"/>
            </a:xfrm>
            <a:custGeom>
              <a:avLst/>
              <a:gdLst/>
              <a:ahLst/>
              <a:cxnLst/>
              <a:rect l="l" t="t" r="r" b="b"/>
              <a:pathLst>
                <a:path w="876300" h="622300">
                  <a:moveTo>
                    <a:pt x="0" y="0"/>
                  </a:moveTo>
                  <a:lnTo>
                    <a:pt x="876300" y="0"/>
                  </a:lnTo>
                  <a:lnTo>
                    <a:pt x="876300" y="622300"/>
                  </a:lnTo>
                  <a:lnTo>
                    <a:pt x="0" y="622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724650" y="3762375"/>
              <a:ext cx="510540" cy="0"/>
            </a:xfrm>
            <a:custGeom>
              <a:avLst/>
              <a:gdLst/>
              <a:ahLst/>
              <a:cxnLst/>
              <a:rect l="l" t="t" r="r" b="b"/>
              <a:pathLst>
                <a:path w="510540">
                  <a:moveTo>
                    <a:pt x="0" y="0"/>
                  </a:moveTo>
                  <a:lnTo>
                    <a:pt x="503874" y="0"/>
                  </a:lnTo>
                  <a:lnTo>
                    <a:pt x="510224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296150" y="3486150"/>
              <a:ext cx="876300" cy="622300"/>
            </a:xfrm>
            <a:custGeom>
              <a:avLst/>
              <a:gdLst/>
              <a:ahLst/>
              <a:cxnLst/>
              <a:rect l="l" t="t" r="r" b="b"/>
              <a:pathLst>
                <a:path w="876300" h="622300">
                  <a:moveTo>
                    <a:pt x="0" y="0"/>
                  </a:moveTo>
                  <a:lnTo>
                    <a:pt x="876300" y="0"/>
                  </a:lnTo>
                  <a:lnTo>
                    <a:pt x="876300" y="622300"/>
                  </a:lnTo>
                  <a:lnTo>
                    <a:pt x="0" y="622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296150" y="3486150"/>
              <a:ext cx="876300" cy="622300"/>
            </a:xfrm>
            <a:custGeom>
              <a:avLst/>
              <a:gdLst/>
              <a:ahLst/>
              <a:cxnLst/>
              <a:rect l="l" t="t" r="r" b="b"/>
              <a:pathLst>
                <a:path w="876300" h="622300">
                  <a:moveTo>
                    <a:pt x="0" y="0"/>
                  </a:moveTo>
                  <a:lnTo>
                    <a:pt x="876300" y="0"/>
                  </a:lnTo>
                  <a:lnTo>
                    <a:pt x="876300" y="622300"/>
                  </a:lnTo>
                  <a:lnTo>
                    <a:pt x="0" y="622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220903" y="3735070"/>
              <a:ext cx="54610" cy="54610"/>
            </a:xfrm>
            <a:custGeom>
              <a:avLst/>
              <a:gdLst/>
              <a:ahLst/>
              <a:cxnLst/>
              <a:rect l="l" t="t" r="r" b="b"/>
              <a:pathLst>
                <a:path w="54609" h="54610">
                  <a:moveTo>
                    <a:pt x="0" y="0"/>
                  </a:moveTo>
                  <a:lnTo>
                    <a:pt x="18202" y="27304"/>
                  </a:lnTo>
                  <a:lnTo>
                    <a:pt x="0" y="54609"/>
                  </a:lnTo>
                  <a:lnTo>
                    <a:pt x="54609" y="273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905750" y="3473448"/>
              <a:ext cx="0" cy="635000"/>
            </a:xfrm>
            <a:custGeom>
              <a:avLst/>
              <a:gdLst/>
              <a:ahLst/>
              <a:cxnLst/>
              <a:rect l="l" t="t" r="r" b="b"/>
              <a:pathLst>
                <a:path h="635000">
                  <a:moveTo>
                    <a:pt x="0" y="0"/>
                  </a:moveTo>
                  <a:lnTo>
                    <a:pt x="1" y="63500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038849" y="3473450"/>
            <a:ext cx="579755" cy="622300"/>
          </a:xfrm>
          <a:prstGeom prst="rect">
            <a:avLst/>
          </a:prstGeom>
          <a:solidFill>
            <a:srgbClr val="FFFFCC"/>
          </a:solidFill>
          <a:ln w="12701">
            <a:solidFill>
              <a:srgbClr val="000000"/>
            </a:solidFill>
          </a:ln>
        </p:spPr>
        <p:txBody>
          <a:bodyPr vert="horz" wrap="square" lIns="0" tIns="11366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895"/>
              </a:spcBef>
            </a:pPr>
            <a:r>
              <a:rPr sz="2000" b="1" dirty="0">
                <a:latin typeface="Times New Roman"/>
                <a:cs typeface="Times New Roman"/>
              </a:rPr>
              <a:t>‘C’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302500" y="3574403"/>
            <a:ext cx="8699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‘V’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04686" y="3483622"/>
            <a:ext cx="286385" cy="638810"/>
          </a:xfrm>
          <a:custGeom>
            <a:avLst/>
            <a:gdLst/>
            <a:ahLst/>
            <a:cxnLst/>
            <a:rect l="l" t="t" r="r" b="b"/>
            <a:pathLst>
              <a:path w="286384" h="638810">
                <a:moveTo>
                  <a:pt x="0" y="633415"/>
                </a:moveTo>
                <a:lnTo>
                  <a:pt x="274638" y="0"/>
                </a:lnTo>
                <a:lnTo>
                  <a:pt x="286290" y="5052"/>
                </a:lnTo>
                <a:lnTo>
                  <a:pt x="11651" y="638467"/>
                </a:lnTo>
                <a:lnTo>
                  <a:pt x="0" y="6334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2450" y="595430"/>
            <a:ext cx="540639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5" dirty="0"/>
              <a:t>Deleting</a:t>
            </a:r>
            <a:r>
              <a:rPr sz="2500" spc="-10" dirty="0"/>
              <a:t> </a:t>
            </a:r>
            <a:r>
              <a:rPr sz="2500" spc="-5" dirty="0"/>
              <a:t>top</a:t>
            </a:r>
            <a:r>
              <a:rPr sz="2500" spc="-10" dirty="0"/>
              <a:t> </a:t>
            </a:r>
            <a:r>
              <a:rPr sz="2500" spc="-5" dirty="0"/>
              <a:t>element</a:t>
            </a:r>
            <a:r>
              <a:rPr sz="2500" dirty="0"/>
              <a:t> </a:t>
            </a:r>
            <a:r>
              <a:rPr sz="2500" spc="-5" dirty="0"/>
              <a:t>from the</a:t>
            </a:r>
            <a:r>
              <a:rPr sz="2500" dirty="0"/>
              <a:t> stack</a:t>
            </a:r>
            <a:endParaRPr sz="2500"/>
          </a:p>
        </p:txBody>
      </p:sp>
      <p:grpSp>
        <p:nvGrpSpPr>
          <p:cNvPr id="3" name="object 3"/>
          <p:cNvGrpSpPr/>
          <p:nvPr/>
        </p:nvGrpSpPr>
        <p:grpSpPr>
          <a:xfrm>
            <a:off x="1409700" y="1612900"/>
            <a:ext cx="6908800" cy="1968500"/>
            <a:chOff x="1409700" y="1612900"/>
            <a:chExt cx="6908800" cy="1968500"/>
          </a:xfrm>
        </p:grpSpPr>
        <p:sp>
          <p:nvSpPr>
            <p:cNvPr id="4" name="object 4"/>
            <p:cNvSpPr/>
            <p:nvPr/>
          </p:nvSpPr>
          <p:spPr>
            <a:xfrm>
              <a:off x="1416050" y="1619250"/>
              <a:ext cx="6896100" cy="1955800"/>
            </a:xfrm>
            <a:custGeom>
              <a:avLst/>
              <a:gdLst/>
              <a:ahLst/>
              <a:cxnLst/>
              <a:rect l="l" t="t" r="r" b="b"/>
              <a:pathLst>
                <a:path w="6896100" h="1955800">
                  <a:moveTo>
                    <a:pt x="0" y="0"/>
                  </a:moveTo>
                  <a:lnTo>
                    <a:pt x="6896099" y="0"/>
                  </a:lnTo>
                  <a:lnTo>
                    <a:pt x="6896099" y="1955800"/>
                  </a:lnTo>
                  <a:lnTo>
                    <a:pt x="0" y="19558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16049" y="1619250"/>
              <a:ext cx="6896100" cy="381000"/>
            </a:xfrm>
            <a:custGeom>
              <a:avLst/>
              <a:gdLst/>
              <a:ahLst/>
              <a:cxnLst/>
              <a:rect l="l" t="t" r="r" b="b"/>
              <a:pathLst>
                <a:path w="6896100" h="381000">
                  <a:moveTo>
                    <a:pt x="0" y="0"/>
                  </a:moveTo>
                  <a:lnTo>
                    <a:pt x="6896100" y="0"/>
                  </a:lnTo>
                  <a:lnTo>
                    <a:pt x="68961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16050" y="1619250"/>
              <a:ext cx="6896100" cy="381000"/>
            </a:xfrm>
            <a:custGeom>
              <a:avLst/>
              <a:gdLst/>
              <a:ahLst/>
              <a:cxnLst/>
              <a:rect l="l" t="t" r="r" b="b"/>
              <a:pathLst>
                <a:path w="6896100" h="381000">
                  <a:moveTo>
                    <a:pt x="0" y="0"/>
                  </a:moveTo>
                  <a:lnTo>
                    <a:pt x="6896099" y="0"/>
                  </a:lnTo>
                  <a:lnTo>
                    <a:pt x="6896099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16050" y="2000250"/>
            <a:ext cx="6896100" cy="1574800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546100" marR="3493135">
              <a:lnSpc>
                <a:spcPct val="103400"/>
              </a:lnSpc>
              <a:spcBef>
                <a:spcPts val="229"/>
              </a:spcBef>
              <a:tabLst>
                <a:tab pos="1581785" algn="l"/>
              </a:tabLst>
            </a:pPr>
            <a:r>
              <a:rPr sz="1700" b="1" spc="-5" dirty="0">
                <a:latin typeface="Courier New"/>
                <a:cs typeface="Courier New"/>
              </a:rPr>
              <a:t>item </a:t>
            </a:r>
            <a:r>
              <a:rPr sz="1700" b="1" dirty="0">
                <a:latin typeface="Courier New"/>
                <a:cs typeface="Courier New"/>
              </a:rPr>
              <a:t>= </a:t>
            </a:r>
            <a:r>
              <a:rPr sz="1700" b="1" spc="-5" dirty="0">
                <a:latin typeface="Courier New"/>
                <a:cs typeface="Courier New"/>
              </a:rPr>
              <a:t>topPtr-&gt;info; </a:t>
            </a:r>
            <a:r>
              <a:rPr sz="1700" b="1" dirty="0">
                <a:latin typeface="Courier New"/>
                <a:cs typeface="Courier New"/>
              </a:rPr>
              <a:t> </a:t>
            </a:r>
            <a:r>
              <a:rPr sz="1700" b="1" spc="-5" dirty="0">
                <a:latin typeface="Courier New"/>
                <a:cs typeface="Courier New"/>
              </a:rPr>
              <a:t>tempPtr </a:t>
            </a:r>
            <a:r>
              <a:rPr sz="1700" b="1" dirty="0">
                <a:latin typeface="Courier New"/>
                <a:cs typeface="Courier New"/>
              </a:rPr>
              <a:t>= </a:t>
            </a:r>
            <a:r>
              <a:rPr sz="1700" b="1" spc="-5" dirty="0">
                <a:latin typeface="Courier New"/>
                <a:cs typeface="Courier New"/>
              </a:rPr>
              <a:t>topPtr; </a:t>
            </a:r>
            <a:r>
              <a:rPr sz="1700" b="1" dirty="0">
                <a:latin typeface="Courier New"/>
                <a:cs typeface="Courier New"/>
              </a:rPr>
              <a:t> </a:t>
            </a:r>
            <a:r>
              <a:rPr sz="1700" b="1" spc="-5" dirty="0">
                <a:latin typeface="Courier New"/>
                <a:cs typeface="Courier New"/>
              </a:rPr>
              <a:t>topPtr</a:t>
            </a:r>
            <a:r>
              <a:rPr sz="1700" b="1" spc="-50" dirty="0">
                <a:latin typeface="Courier New"/>
                <a:cs typeface="Courier New"/>
              </a:rPr>
              <a:t> </a:t>
            </a:r>
            <a:r>
              <a:rPr sz="1700" b="1" dirty="0">
                <a:latin typeface="Courier New"/>
                <a:cs typeface="Courier New"/>
              </a:rPr>
              <a:t>=</a:t>
            </a:r>
            <a:r>
              <a:rPr sz="1700" b="1" spc="-50" dirty="0">
                <a:latin typeface="Courier New"/>
                <a:cs typeface="Courier New"/>
              </a:rPr>
              <a:t> </a:t>
            </a:r>
            <a:r>
              <a:rPr sz="1700" b="1" spc="-5" dirty="0">
                <a:latin typeface="Courier New"/>
                <a:cs typeface="Courier New"/>
              </a:rPr>
              <a:t>topPtr-&gt;next; </a:t>
            </a:r>
            <a:r>
              <a:rPr sz="1700" b="1" spc="-1005" dirty="0">
                <a:latin typeface="Courier New"/>
                <a:cs typeface="Courier New"/>
              </a:rPr>
              <a:t> </a:t>
            </a:r>
            <a:r>
              <a:rPr sz="1700" b="1" spc="-5" dirty="0">
                <a:latin typeface="Courier New"/>
                <a:cs typeface="Courier New"/>
              </a:rPr>
              <a:t>delete	tempPtr;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76373" y="4584624"/>
            <a:ext cx="9404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ourier New"/>
                <a:cs typeface="Courier New"/>
              </a:rPr>
              <a:t>topPtr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514600" y="4445000"/>
            <a:ext cx="5245100" cy="609600"/>
            <a:chOff x="2514600" y="4445000"/>
            <a:chExt cx="5245100" cy="609600"/>
          </a:xfrm>
        </p:grpSpPr>
        <p:sp>
          <p:nvSpPr>
            <p:cNvPr id="10" name="object 10"/>
            <p:cNvSpPr/>
            <p:nvPr/>
          </p:nvSpPr>
          <p:spPr>
            <a:xfrm>
              <a:off x="2520950" y="4451349"/>
              <a:ext cx="317500" cy="571500"/>
            </a:xfrm>
            <a:custGeom>
              <a:avLst/>
              <a:gdLst/>
              <a:ahLst/>
              <a:cxnLst/>
              <a:rect l="l" t="t" r="r" b="b"/>
              <a:pathLst>
                <a:path w="317500" h="571500">
                  <a:moveTo>
                    <a:pt x="0" y="0"/>
                  </a:moveTo>
                  <a:lnTo>
                    <a:pt x="317500" y="0"/>
                  </a:lnTo>
                  <a:lnTo>
                    <a:pt x="3175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20950" y="4451350"/>
              <a:ext cx="317500" cy="571500"/>
            </a:xfrm>
            <a:custGeom>
              <a:avLst/>
              <a:gdLst/>
              <a:ahLst/>
              <a:cxnLst/>
              <a:rect l="l" t="t" r="r" b="b"/>
              <a:pathLst>
                <a:path w="317500" h="571500">
                  <a:moveTo>
                    <a:pt x="0" y="0"/>
                  </a:moveTo>
                  <a:lnTo>
                    <a:pt x="317500" y="0"/>
                  </a:lnTo>
                  <a:lnTo>
                    <a:pt x="317500" y="571499"/>
                  </a:lnTo>
                  <a:lnTo>
                    <a:pt x="0" y="57149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52712" y="4760911"/>
              <a:ext cx="464184" cy="1905"/>
            </a:xfrm>
            <a:custGeom>
              <a:avLst/>
              <a:gdLst/>
              <a:ahLst/>
              <a:cxnLst/>
              <a:rect l="l" t="t" r="r" b="b"/>
              <a:pathLst>
                <a:path w="464185" h="1904">
                  <a:moveTo>
                    <a:pt x="-6349" y="730"/>
                  </a:moveTo>
                  <a:lnTo>
                    <a:pt x="470536" y="730"/>
                  </a:lnTo>
                </a:path>
              </a:pathLst>
            </a:custGeom>
            <a:ln w="141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02842" y="4735023"/>
              <a:ext cx="55244" cy="54610"/>
            </a:xfrm>
            <a:custGeom>
              <a:avLst/>
              <a:gdLst/>
              <a:ahLst/>
              <a:cxnLst/>
              <a:rect l="l" t="t" r="r" b="b"/>
              <a:pathLst>
                <a:path w="55244" h="54610">
                  <a:moveTo>
                    <a:pt x="171" y="0"/>
                  </a:moveTo>
                  <a:lnTo>
                    <a:pt x="18289" y="27362"/>
                  </a:lnTo>
                  <a:lnTo>
                    <a:pt x="0" y="54610"/>
                  </a:lnTo>
                  <a:lnTo>
                    <a:pt x="54695" y="27477"/>
                  </a:lnTo>
                  <a:lnTo>
                    <a:pt x="1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68650" y="4476749"/>
              <a:ext cx="876300" cy="558800"/>
            </a:xfrm>
            <a:custGeom>
              <a:avLst/>
              <a:gdLst/>
              <a:ahLst/>
              <a:cxnLst/>
              <a:rect l="l" t="t" r="r" b="b"/>
              <a:pathLst>
                <a:path w="876300" h="558800">
                  <a:moveTo>
                    <a:pt x="0" y="0"/>
                  </a:moveTo>
                  <a:lnTo>
                    <a:pt x="876300" y="0"/>
                  </a:lnTo>
                  <a:lnTo>
                    <a:pt x="8763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68650" y="4476750"/>
              <a:ext cx="876300" cy="558800"/>
            </a:xfrm>
            <a:custGeom>
              <a:avLst/>
              <a:gdLst/>
              <a:ahLst/>
              <a:cxnLst/>
              <a:rect l="l" t="t" r="r" b="b"/>
              <a:pathLst>
                <a:path w="876300" h="558800">
                  <a:moveTo>
                    <a:pt x="0" y="0"/>
                  </a:moveTo>
                  <a:lnTo>
                    <a:pt x="876299" y="0"/>
                  </a:lnTo>
                  <a:lnTo>
                    <a:pt x="876299" y="558799"/>
                  </a:lnTo>
                  <a:lnTo>
                    <a:pt x="0" y="5587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919537" y="4768850"/>
              <a:ext cx="464184" cy="1905"/>
            </a:xfrm>
            <a:custGeom>
              <a:avLst/>
              <a:gdLst/>
              <a:ahLst/>
              <a:cxnLst/>
              <a:rect l="l" t="t" r="r" b="b"/>
              <a:pathLst>
                <a:path w="464185" h="1904">
                  <a:moveTo>
                    <a:pt x="-6349" y="730"/>
                  </a:moveTo>
                  <a:lnTo>
                    <a:pt x="470536" y="730"/>
                  </a:lnTo>
                </a:path>
              </a:pathLst>
            </a:custGeom>
            <a:ln w="141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69667" y="4742962"/>
              <a:ext cx="55244" cy="54610"/>
            </a:xfrm>
            <a:custGeom>
              <a:avLst/>
              <a:gdLst/>
              <a:ahLst/>
              <a:cxnLst/>
              <a:rect l="l" t="t" r="r" b="b"/>
              <a:pathLst>
                <a:path w="55245" h="54610">
                  <a:moveTo>
                    <a:pt x="171" y="0"/>
                  </a:moveTo>
                  <a:lnTo>
                    <a:pt x="18289" y="27362"/>
                  </a:lnTo>
                  <a:lnTo>
                    <a:pt x="0" y="54608"/>
                  </a:lnTo>
                  <a:lnTo>
                    <a:pt x="54695" y="27476"/>
                  </a:lnTo>
                  <a:lnTo>
                    <a:pt x="1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25950" y="4476749"/>
              <a:ext cx="876300" cy="571500"/>
            </a:xfrm>
            <a:custGeom>
              <a:avLst/>
              <a:gdLst/>
              <a:ahLst/>
              <a:cxnLst/>
              <a:rect l="l" t="t" r="r" b="b"/>
              <a:pathLst>
                <a:path w="876300" h="571500">
                  <a:moveTo>
                    <a:pt x="0" y="0"/>
                  </a:moveTo>
                  <a:lnTo>
                    <a:pt x="876300" y="0"/>
                  </a:lnTo>
                  <a:lnTo>
                    <a:pt x="8763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25950" y="4476750"/>
              <a:ext cx="876300" cy="571500"/>
            </a:xfrm>
            <a:custGeom>
              <a:avLst/>
              <a:gdLst/>
              <a:ahLst/>
              <a:cxnLst/>
              <a:rect l="l" t="t" r="r" b="b"/>
              <a:pathLst>
                <a:path w="876300" h="571500">
                  <a:moveTo>
                    <a:pt x="0" y="0"/>
                  </a:moveTo>
                  <a:lnTo>
                    <a:pt x="876300" y="0"/>
                  </a:lnTo>
                  <a:lnTo>
                    <a:pt x="876300" y="571499"/>
                  </a:lnTo>
                  <a:lnTo>
                    <a:pt x="0" y="57149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165725" y="4756150"/>
              <a:ext cx="464184" cy="1905"/>
            </a:xfrm>
            <a:custGeom>
              <a:avLst/>
              <a:gdLst/>
              <a:ahLst/>
              <a:cxnLst/>
              <a:rect l="l" t="t" r="r" b="b"/>
              <a:pathLst>
                <a:path w="464185" h="1904">
                  <a:moveTo>
                    <a:pt x="-6349" y="730"/>
                  </a:moveTo>
                  <a:lnTo>
                    <a:pt x="470536" y="730"/>
                  </a:lnTo>
                </a:path>
              </a:pathLst>
            </a:custGeom>
            <a:ln w="141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15854" y="4730262"/>
              <a:ext cx="55244" cy="54610"/>
            </a:xfrm>
            <a:custGeom>
              <a:avLst/>
              <a:gdLst/>
              <a:ahLst/>
              <a:cxnLst/>
              <a:rect l="l" t="t" r="r" b="b"/>
              <a:pathLst>
                <a:path w="55245" h="54610">
                  <a:moveTo>
                    <a:pt x="172" y="0"/>
                  </a:moveTo>
                  <a:lnTo>
                    <a:pt x="18289" y="27362"/>
                  </a:lnTo>
                  <a:lnTo>
                    <a:pt x="0" y="54608"/>
                  </a:lnTo>
                  <a:lnTo>
                    <a:pt x="54696" y="27476"/>
                  </a:lnTo>
                  <a:lnTo>
                    <a:pt x="1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670550" y="4464049"/>
              <a:ext cx="889000" cy="571500"/>
            </a:xfrm>
            <a:custGeom>
              <a:avLst/>
              <a:gdLst/>
              <a:ahLst/>
              <a:cxnLst/>
              <a:rect l="l" t="t" r="r" b="b"/>
              <a:pathLst>
                <a:path w="889000" h="571500">
                  <a:moveTo>
                    <a:pt x="0" y="0"/>
                  </a:moveTo>
                  <a:lnTo>
                    <a:pt x="889000" y="0"/>
                  </a:lnTo>
                  <a:lnTo>
                    <a:pt x="8890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670550" y="4464050"/>
              <a:ext cx="889000" cy="571500"/>
            </a:xfrm>
            <a:custGeom>
              <a:avLst/>
              <a:gdLst/>
              <a:ahLst/>
              <a:cxnLst/>
              <a:rect l="l" t="t" r="r" b="b"/>
              <a:pathLst>
                <a:path w="889000" h="571500">
                  <a:moveTo>
                    <a:pt x="0" y="0"/>
                  </a:moveTo>
                  <a:lnTo>
                    <a:pt x="888999" y="0"/>
                  </a:lnTo>
                  <a:lnTo>
                    <a:pt x="888999" y="571499"/>
                  </a:lnTo>
                  <a:lnTo>
                    <a:pt x="0" y="57149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370637" y="4745036"/>
              <a:ext cx="464184" cy="1905"/>
            </a:xfrm>
            <a:custGeom>
              <a:avLst/>
              <a:gdLst/>
              <a:ahLst/>
              <a:cxnLst/>
              <a:rect l="l" t="t" r="r" b="b"/>
              <a:pathLst>
                <a:path w="464184" h="1904">
                  <a:moveTo>
                    <a:pt x="-6349" y="730"/>
                  </a:moveTo>
                  <a:lnTo>
                    <a:pt x="470536" y="730"/>
                  </a:lnTo>
                </a:path>
              </a:pathLst>
            </a:custGeom>
            <a:ln w="141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820767" y="4719148"/>
              <a:ext cx="55244" cy="54610"/>
            </a:xfrm>
            <a:custGeom>
              <a:avLst/>
              <a:gdLst/>
              <a:ahLst/>
              <a:cxnLst/>
              <a:rect l="l" t="t" r="r" b="b"/>
              <a:pathLst>
                <a:path w="55245" h="54610">
                  <a:moveTo>
                    <a:pt x="171" y="0"/>
                  </a:moveTo>
                  <a:lnTo>
                    <a:pt x="18289" y="27362"/>
                  </a:lnTo>
                  <a:lnTo>
                    <a:pt x="0" y="54610"/>
                  </a:lnTo>
                  <a:lnTo>
                    <a:pt x="54695" y="27477"/>
                  </a:lnTo>
                  <a:lnTo>
                    <a:pt x="1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77050" y="4451349"/>
              <a:ext cx="876300" cy="571500"/>
            </a:xfrm>
            <a:custGeom>
              <a:avLst/>
              <a:gdLst/>
              <a:ahLst/>
              <a:cxnLst/>
              <a:rect l="l" t="t" r="r" b="b"/>
              <a:pathLst>
                <a:path w="876300" h="571500">
                  <a:moveTo>
                    <a:pt x="0" y="0"/>
                  </a:moveTo>
                  <a:lnTo>
                    <a:pt x="876300" y="0"/>
                  </a:lnTo>
                  <a:lnTo>
                    <a:pt x="8763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877050" y="4451350"/>
              <a:ext cx="876300" cy="571500"/>
            </a:xfrm>
            <a:custGeom>
              <a:avLst/>
              <a:gdLst/>
              <a:ahLst/>
              <a:cxnLst/>
              <a:rect l="l" t="t" r="r" b="b"/>
              <a:pathLst>
                <a:path w="876300" h="571500">
                  <a:moveTo>
                    <a:pt x="0" y="0"/>
                  </a:moveTo>
                  <a:lnTo>
                    <a:pt x="876300" y="0"/>
                  </a:lnTo>
                  <a:lnTo>
                    <a:pt x="876300" y="571499"/>
                  </a:lnTo>
                  <a:lnTo>
                    <a:pt x="0" y="57149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488237" y="4471987"/>
              <a:ext cx="0" cy="549275"/>
            </a:xfrm>
            <a:custGeom>
              <a:avLst/>
              <a:gdLst/>
              <a:ahLst/>
              <a:cxnLst/>
              <a:rect l="l" t="t" r="r" b="b"/>
              <a:pathLst>
                <a:path h="549275">
                  <a:moveTo>
                    <a:pt x="0" y="0"/>
                  </a:moveTo>
                  <a:lnTo>
                    <a:pt x="0" y="54927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466011" y="4486274"/>
              <a:ext cx="254000" cy="551180"/>
            </a:xfrm>
            <a:custGeom>
              <a:avLst/>
              <a:gdLst/>
              <a:ahLst/>
              <a:cxnLst/>
              <a:rect l="l" t="t" r="r" b="b"/>
              <a:pathLst>
                <a:path w="254000" h="551179">
                  <a:moveTo>
                    <a:pt x="254000" y="0"/>
                  </a:moveTo>
                  <a:lnTo>
                    <a:pt x="0" y="55086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168650" y="4476750"/>
            <a:ext cx="601980" cy="558800"/>
          </a:xfrm>
          <a:prstGeom prst="rect">
            <a:avLst/>
          </a:prstGeom>
          <a:solidFill>
            <a:srgbClr val="CCFFCC"/>
          </a:solidFill>
          <a:ln w="12700">
            <a:solidFill>
              <a:srgbClr val="000000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67945">
              <a:lnSpc>
                <a:spcPct val="100000"/>
              </a:lnSpc>
              <a:spcBef>
                <a:spcPts val="495"/>
              </a:spcBef>
            </a:pPr>
            <a:r>
              <a:rPr sz="1800" b="1" spc="-5" dirty="0">
                <a:latin typeface="Arial"/>
                <a:cs typeface="Arial"/>
              </a:rPr>
              <a:t>‘B’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25950" y="4476750"/>
            <a:ext cx="611505" cy="571500"/>
          </a:xfrm>
          <a:prstGeom prst="rect">
            <a:avLst/>
          </a:prstGeom>
          <a:solidFill>
            <a:srgbClr val="CCFFCC"/>
          </a:solidFill>
          <a:ln w="12700">
            <a:solidFill>
              <a:srgbClr val="000000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296545">
              <a:lnSpc>
                <a:spcPct val="100000"/>
              </a:lnSpc>
              <a:spcBef>
                <a:spcPts val="495"/>
              </a:spcBef>
            </a:pPr>
            <a:r>
              <a:rPr sz="1800" b="1" spc="-5" dirty="0">
                <a:latin typeface="Arial"/>
                <a:cs typeface="Arial"/>
              </a:rPr>
              <a:t>‘X’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670550" y="4464050"/>
            <a:ext cx="612775" cy="571500"/>
          </a:xfrm>
          <a:prstGeom prst="rect">
            <a:avLst/>
          </a:prstGeom>
          <a:solidFill>
            <a:srgbClr val="CCFFCC"/>
          </a:solidFill>
          <a:ln w="12700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595"/>
              </a:spcBef>
            </a:pPr>
            <a:r>
              <a:rPr sz="1800" b="1" spc="-5" dirty="0">
                <a:latin typeface="Arial"/>
                <a:cs typeface="Arial"/>
              </a:rPr>
              <a:t>‘C’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877050" y="4451350"/>
            <a:ext cx="611505" cy="571500"/>
          </a:xfrm>
          <a:prstGeom prst="rect">
            <a:avLst/>
          </a:prstGeom>
          <a:solidFill>
            <a:srgbClr val="CCFFCC"/>
          </a:solidFill>
          <a:ln w="12700">
            <a:solidFill>
              <a:srgbClr val="000000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234315">
              <a:lnSpc>
                <a:spcPct val="100000"/>
              </a:lnSpc>
              <a:spcBef>
                <a:spcPts val="695"/>
              </a:spcBef>
            </a:pPr>
            <a:r>
              <a:rPr sz="1800" b="1" spc="-35" dirty="0">
                <a:latin typeface="Arial"/>
                <a:cs typeface="Arial"/>
              </a:rPr>
              <a:t>‘L’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463673" y="5583162"/>
            <a:ext cx="10928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800000"/>
                </a:solidFill>
                <a:latin typeface="Courier New"/>
                <a:cs typeface="Courier New"/>
              </a:rPr>
              <a:t>tempPtr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667000" y="5448300"/>
            <a:ext cx="330200" cy="584200"/>
            <a:chOff x="2667000" y="5448300"/>
            <a:chExt cx="330200" cy="584200"/>
          </a:xfrm>
        </p:grpSpPr>
        <p:sp>
          <p:nvSpPr>
            <p:cNvPr id="36" name="object 36"/>
            <p:cNvSpPr/>
            <p:nvPr/>
          </p:nvSpPr>
          <p:spPr>
            <a:xfrm>
              <a:off x="2673349" y="5454650"/>
              <a:ext cx="317500" cy="571500"/>
            </a:xfrm>
            <a:custGeom>
              <a:avLst/>
              <a:gdLst/>
              <a:ahLst/>
              <a:cxnLst/>
              <a:rect l="l" t="t" r="r" b="b"/>
              <a:pathLst>
                <a:path w="317500" h="571500">
                  <a:moveTo>
                    <a:pt x="0" y="0"/>
                  </a:moveTo>
                  <a:lnTo>
                    <a:pt x="317500" y="0"/>
                  </a:lnTo>
                  <a:lnTo>
                    <a:pt x="3175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673350" y="5454650"/>
              <a:ext cx="317500" cy="571500"/>
            </a:xfrm>
            <a:custGeom>
              <a:avLst/>
              <a:gdLst/>
              <a:ahLst/>
              <a:cxnLst/>
              <a:rect l="l" t="t" r="r" b="b"/>
              <a:pathLst>
                <a:path w="317500" h="571500">
                  <a:moveTo>
                    <a:pt x="0" y="0"/>
                  </a:moveTo>
                  <a:lnTo>
                    <a:pt x="317500" y="0"/>
                  </a:lnTo>
                  <a:lnTo>
                    <a:pt x="3175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1384300" y="1066800"/>
            <a:ext cx="774700" cy="469900"/>
            <a:chOff x="1384300" y="1066800"/>
            <a:chExt cx="774700" cy="469900"/>
          </a:xfrm>
        </p:grpSpPr>
        <p:sp>
          <p:nvSpPr>
            <p:cNvPr id="39" name="object 39"/>
            <p:cNvSpPr/>
            <p:nvPr/>
          </p:nvSpPr>
          <p:spPr>
            <a:xfrm>
              <a:off x="1390650" y="1073150"/>
              <a:ext cx="762000" cy="457200"/>
            </a:xfrm>
            <a:custGeom>
              <a:avLst/>
              <a:gdLst/>
              <a:ahLst/>
              <a:cxnLst/>
              <a:rect l="l" t="t" r="r" b="b"/>
              <a:pathLst>
                <a:path w="762000" h="457200">
                  <a:moveTo>
                    <a:pt x="0" y="0"/>
                  </a:moveTo>
                  <a:lnTo>
                    <a:pt x="762000" y="0"/>
                  </a:lnTo>
                  <a:lnTo>
                    <a:pt x="7620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390650" y="1073150"/>
              <a:ext cx="762000" cy="457200"/>
            </a:xfrm>
            <a:custGeom>
              <a:avLst/>
              <a:gdLst/>
              <a:ahLst/>
              <a:cxnLst/>
              <a:rect l="l" t="t" r="r" b="b"/>
              <a:pathLst>
                <a:path w="762000" h="457200">
                  <a:moveTo>
                    <a:pt x="0" y="0"/>
                  </a:moveTo>
                  <a:lnTo>
                    <a:pt x="762000" y="0"/>
                  </a:lnTo>
                  <a:lnTo>
                    <a:pt x="7620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490217" y="1056571"/>
            <a:ext cx="3945890" cy="845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urier New"/>
                <a:cs typeface="Courier New"/>
              </a:rPr>
              <a:t>item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950">
              <a:latin typeface="Courier New"/>
              <a:cs typeface="Courier New"/>
            </a:endParaRPr>
          </a:p>
          <a:p>
            <a:pPr marL="1471930">
              <a:lnSpc>
                <a:spcPct val="100000"/>
              </a:lnSpc>
              <a:tabLst>
                <a:tab pos="2896235" algn="l"/>
              </a:tabLst>
            </a:pPr>
            <a:r>
              <a:rPr sz="1700" b="1" spc="-5" dirty="0">
                <a:latin typeface="Courier New"/>
                <a:cs typeface="Courier New"/>
              </a:rPr>
              <a:t>NodeType</a:t>
            </a:r>
            <a:r>
              <a:rPr sz="1700" b="1" dirty="0">
                <a:latin typeface="Courier New"/>
                <a:cs typeface="Courier New"/>
              </a:rPr>
              <a:t>*	</a:t>
            </a:r>
            <a:r>
              <a:rPr sz="1700" b="1" spc="-5" dirty="0">
                <a:latin typeface="Courier New"/>
                <a:cs typeface="Courier New"/>
              </a:rPr>
              <a:t>tempPtr</a:t>
            </a:r>
            <a:r>
              <a:rPr sz="1700" b="1" dirty="0">
                <a:latin typeface="Courier New"/>
                <a:cs typeface="Courier New"/>
              </a:rPr>
              <a:t>;</a:t>
            </a:r>
            <a:endParaRPr sz="1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8550" y="674463"/>
            <a:ext cx="43307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/>
              <a:t>Deleting</a:t>
            </a:r>
            <a:r>
              <a:rPr sz="2000" spc="-10" dirty="0"/>
              <a:t> </a:t>
            </a:r>
            <a:r>
              <a:rPr sz="2000" spc="-5" dirty="0"/>
              <a:t>top</a:t>
            </a:r>
            <a:r>
              <a:rPr sz="2000" spc="-10" dirty="0"/>
              <a:t> </a:t>
            </a:r>
            <a:r>
              <a:rPr sz="2000" spc="-5" dirty="0"/>
              <a:t>element</a:t>
            </a:r>
            <a:r>
              <a:rPr sz="2000" dirty="0"/>
              <a:t> </a:t>
            </a:r>
            <a:r>
              <a:rPr sz="2000" spc="-5" dirty="0"/>
              <a:t>from the</a:t>
            </a:r>
            <a:r>
              <a:rPr sz="2000" dirty="0"/>
              <a:t> stack</a:t>
            </a:r>
            <a:endParaRPr sz="2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16000" y="2159000"/>
          <a:ext cx="6883400" cy="19557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8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544830">
                        <a:lnSpc>
                          <a:spcPct val="100000"/>
                        </a:lnSpc>
                        <a:spcBef>
                          <a:spcPts val="150"/>
                        </a:spcBef>
                        <a:tabLst>
                          <a:tab pos="1969135" algn="l"/>
                        </a:tabLst>
                      </a:pPr>
                      <a:r>
                        <a:rPr sz="1700" b="1" spc="-5" dirty="0">
                          <a:latin typeface="Courier New"/>
                          <a:cs typeface="Courier New"/>
                        </a:rPr>
                        <a:t>NodeType*	tempPtr;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54483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700" b="1" spc="-5" dirty="0">
                          <a:latin typeface="Courier New"/>
                          <a:cs typeface="Courier New"/>
                        </a:rPr>
                        <a:t>item</a:t>
                      </a:r>
                      <a:r>
                        <a:rPr sz="1700" b="1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700" b="1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topPtr-&gt;info;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2999">
                <a:tc>
                  <a:txBody>
                    <a:bodyPr/>
                    <a:lstStyle/>
                    <a:p>
                      <a:pPr marL="544830">
                        <a:lnSpc>
                          <a:spcPts val="1110"/>
                        </a:lnSpc>
                      </a:pPr>
                      <a:r>
                        <a:rPr sz="1700" b="1" spc="-5" dirty="0">
                          <a:latin typeface="Courier New"/>
                          <a:cs typeface="Courier New"/>
                        </a:rPr>
                        <a:t>tempPtr</a:t>
                      </a:r>
                      <a:r>
                        <a:rPr sz="1700" b="1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700" b="1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topPtr;</a:t>
                      </a:r>
                      <a:endParaRPr sz="1700">
                        <a:latin typeface="Courier New"/>
                        <a:cs typeface="Courier New"/>
                      </a:endParaRPr>
                    </a:p>
                    <a:p>
                      <a:pPr marL="544830" marR="3481704">
                        <a:lnSpc>
                          <a:spcPct val="103400"/>
                        </a:lnSpc>
                        <a:tabLst>
                          <a:tab pos="1580515" algn="l"/>
                        </a:tabLst>
                      </a:pPr>
                      <a:r>
                        <a:rPr sz="1700" b="1" spc="-5" dirty="0">
                          <a:latin typeface="Courier New"/>
                          <a:cs typeface="Courier New"/>
                        </a:rPr>
                        <a:t>topPtr</a:t>
                      </a:r>
                      <a:r>
                        <a:rPr sz="1700" b="1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700" b="1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topPtr-&gt;next; </a:t>
                      </a:r>
                      <a:r>
                        <a:rPr sz="1700" b="1" spc="-100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delete	tempPtr;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476373" y="4584624"/>
            <a:ext cx="9404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ourier New"/>
                <a:cs typeface="Courier New"/>
              </a:rPr>
              <a:t>topPtr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14600" y="4445000"/>
            <a:ext cx="5245100" cy="609600"/>
            <a:chOff x="2514600" y="4445000"/>
            <a:chExt cx="5245100" cy="609600"/>
          </a:xfrm>
        </p:grpSpPr>
        <p:sp>
          <p:nvSpPr>
            <p:cNvPr id="6" name="object 6"/>
            <p:cNvSpPr/>
            <p:nvPr/>
          </p:nvSpPr>
          <p:spPr>
            <a:xfrm>
              <a:off x="2520950" y="4451349"/>
              <a:ext cx="317500" cy="571500"/>
            </a:xfrm>
            <a:custGeom>
              <a:avLst/>
              <a:gdLst/>
              <a:ahLst/>
              <a:cxnLst/>
              <a:rect l="l" t="t" r="r" b="b"/>
              <a:pathLst>
                <a:path w="317500" h="571500">
                  <a:moveTo>
                    <a:pt x="0" y="0"/>
                  </a:moveTo>
                  <a:lnTo>
                    <a:pt x="317500" y="0"/>
                  </a:lnTo>
                  <a:lnTo>
                    <a:pt x="3175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20950" y="4451350"/>
              <a:ext cx="317500" cy="571500"/>
            </a:xfrm>
            <a:custGeom>
              <a:avLst/>
              <a:gdLst/>
              <a:ahLst/>
              <a:cxnLst/>
              <a:rect l="l" t="t" r="r" b="b"/>
              <a:pathLst>
                <a:path w="317500" h="571500">
                  <a:moveTo>
                    <a:pt x="0" y="0"/>
                  </a:moveTo>
                  <a:lnTo>
                    <a:pt x="317500" y="0"/>
                  </a:lnTo>
                  <a:lnTo>
                    <a:pt x="317500" y="571499"/>
                  </a:lnTo>
                  <a:lnTo>
                    <a:pt x="0" y="57149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52712" y="4760911"/>
              <a:ext cx="464184" cy="1905"/>
            </a:xfrm>
            <a:custGeom>
              <a:avLst/>
              <a:gdLst/>
              <a:ahLst/>
              <a:cxnLst/>
              <a:rect l="l" t="t" r="r" b="b"/>
              <a:pathLst>
                <a:path w="464185" h="1904">
                  <a:moveTo>
                    <a:pt x="-6349" y="730"/>
                  </a:moveTo>
                  <a:lnTo>
                    <a:pt x="470536" y="730"/>
                  </a:lnTo>
                </a:path>
              </a:pathLst>
            </a:custGeom>
            <a:ln w="141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02842" y="4735023"/>
              <a:ext cx="55244" cy="54610"/>
            </a:xfrm>
            <a:custGeom>
              <a:avLst/>
              <a:gdLst/>
              <a:ahLst/>
              <a:cxnLst/>
              <a:rect l="l" t="t" r="r" b="b"/>
              <a:pathLst>
                <a:path w="55244" h="54610">
                  <a:moveTo>
                    <a:pt x="171" y="0"/>
                  </a:moveTo>
                  <a:lnTo>
                    <a:pt x="18289" y="27362"/>
                  </a:lnTo>
                  <a:lnTo>
                    <a:pt x="0" y="54610"/>
                  </a:lnTo>
                  <a:lnTo>
                    <a:pt x="54695" y="27477"/>
                  </a:lnTo>
                  <a:lnTo>
                    <a:pt x="1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68650" y="4476749"/>
              <a:ext cx="876300" cy="558800"/>
            </a:xfrm>
            <a:custGeom>
              <a:avLst/>
              <a:gdLst/>
              <a:ahLst/>
              <a:cxnLst/>
              <a:rect l="l" t="t" r="r" b="b"/>
              <a:pathLst>
                <a:path w="876300" h="558800">
                  <a:moveTo>
                    <a:pt x="0" y="0"/>
                  </a:moveTo>
                  <a:lnTo>
                    <a:pt x="876300" y="0"/>
                  </a:lnTo>
                  <a:lnTo>
                    <a:pt x="8763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68650" y="4476750"/>
              <a:ext cx="876300" cy="558800"/>
            </a:xfrm>
            <a:custGeom>
              <a:avLst/>
              <a:gdLst/>
              <a:ahLst/>
              <a:cxnLst/>
              <a:rect l="l" t="t" r="r" b="b"/>
              <a:pathLst>
                <a:path w="876300" h="558800">
                  <a:moveTo>
                    <a:pt x="0" y="0"/>
                  </a:moveTo>
                  <a:lnTo>
                    <a:pt x="876299" y="0"/>
                  </a:lnTo>
                  <a:lnTo>
                    <a:pt x="876299" y="558799"/>
                  </a:lnTo>
                  <a:lnTo>
                    <a:pt x="0" y="5587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919537" y="4768850"/>
              <a:ext cx="464184" cy="1905"/>
            </a:xfrm>
            <a:custGeom>
              <a:avLst/>
              <a:gdLst/>
              <a:ahLst/>
              <a:cxnLst/>
              <a:rect l="l" t="t" r="r" b="b"/>
              <a:pathLst>
                <a:path w="464185" h="1904">
                  <a:moveTo>
                    <a:pt x="-6349" y="730"/>
                  </a:moveTo>
                  <a:lnTo>
                    <a:pt x="470536" y="730"/>
                  </a:lnTo>
                </a:path>
              </a:pathLst>
            </a:custGeom>
            <a:ln w="141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369667" y="4742962"/>
              <a:ext cx="55244" cy="54610"/>
            </a:xfrm>
            <a:custGeom>
              <a:avLst/>
              <a:gdLst/>
              <a:ahLst/>
              <a:cxnLst/>
              <a:rect l="l" t="t" r="r" b="b"/>
              <a:pathLst>
                <a:path w="55245" h="54610">
                  <a:moveTo>
                    <a:pt x="171" y="0"/>
                  </a:moveTo>
                  <a:lnTo>
                    <a:pt x="18289" y="27362"/>
                  </a:lnTo>
                  <a:lnTo>
                    <a:pt x="0" y="54608"/>
                  </a:lnTo>
                  <a:lnTo>
                    <a:pt x="54695" y="27476"/>
                  </a:lnTo>
                  <a:lnTo>
                    <a:pt x="1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25950" y="4476749"/>
              <a:ext cx="876300" cy="571500"/>
            </a:xfrm>
            <a:custGeom>
              <a:avLst/>
              <a:gdLst/>
              <a:ahLst/>
              <a:cxnLst/>
              <a:rect l="l" t="t" r="r" b="b"/>
              <a:pathLst>
                <a:path w="876300" h="571500">
                  <a:moveTo>
                    <a:pt x="0" y="0"/>
                  </a:moveTo>
                  <a:lnTo>
                    <a:pt x="876300" y="0"/>
                  </a:lnTo>
                  <a:lnTo>
                    <a:pt x="8763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25950" y="4476750"/>
              <a:ext cx="876300" cy="571500"/>
            </a:xfrm>
            <a:custGeom>
              <a:avLst/>
              <a:gdLst/>
              <a:ahLst/>
              <a:cxnLst/>
              <a:rect l="l" t="t" r="r" b="b"/>
              <a:pathLst>
                <a:path w="876300" h="571500">
                  <a:moveTo>
                    <a:pt x="0" y="0"/>
                  </a:moveTo>
                  <a:lnTo>
                    <a:pt x="876300" y="0"/>
                  </a:lnTo>
                  <a:lnTo>
                    <a:pt x="876300" y="571499"/>
                  </a:lnTo>
                  <a:lnTo>
                    <a:pt x="0" y="57149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65725" y="4756150"/>
              <a:ext cx="464184" cy="1905"/>
            </a:xfrm>
            <a:custGeom>
              <a:avLst/>
              <a:gdLst/>
              <a:ahLst/>
              <a:cxnLst/>
              <a:rect l="l" t="t" r="r" b="b"/>
              <a:pathLst>
                <a:path w="464185" h="1904">
                  <a:moveTo>
                    <a:pt x="-6349" y="730"/>
                  </a:moveTo>
                  <a:lnTo>
                    <a:pt x="470536" y="730"/>
                  </a:lnTo>
                </a:path>
              </a:pathLst>
            </a:custGeom>
            <a:ln w="141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615854" y="4730262"/>
              <a:ext cx="55244" cy="54610"/>
            </a:xfrm>
            <a:custGeom>
              <a:avLst/>
              <a:gdLst/>
              <a:ahLst/>
              <a:cxnLst/>
              <a:rect l="l" t="t" r="r" b="b"/>
              <a:pathLst>
                <a:path w="55245" h="54610">
                  <a:moveTo>
                    <a:pt x="172" y="0"/>
                  </a:moveTo>
                  <a:lnTo>
                    <a:pt x="18289" y="27362"/>
                  </a:lnTo>
                  <a:lnTo>
                    <a:pt x="0" y="54608"/>
                  </a:lnTo>
                  <a:lnTo>
                    <a:pt x="54696" y="27476"/>
                  </a:lnTo>
                  <a:lnTo>
                    <a:pt x="1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670550" y="4464049"/>
              <a:ext cx="889000" cy="571500"/>
            </a:xfrm>
            <a:custGeom>
              <a:avLst/>
              <a:gdLst/>
              <a:ahLst/>
              <a:cxnLst/>
              <a:rect l="l" t="t" r="r" b="b"/>
              <a:pathLst>
                <a:path w="889000" h="571500">
                  <a:moveTo>
                    <a:pt x="0" y="0"/>
                  </a:moveTo>
                  <a:lnTo>
                    <a:pt x="889000" y="0"/>
                  </a:lnTo>
                  <a:lnTo>
                    <a:pt x="8890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670550" y="4464050"/>
              <a:ext cx="889000" cy="571500"/>
            </a:xfrm>
            <a:custGeom>
              <a:avLst/>
              <a:gdLst/>
              <a:ahLst/>
              <a:cxnLst/>
              <a:rect l="l" t="t" r="r" b="b"/>
              <a:pathLst>
                <a:path w="889000" h="571500">
                  <a:moveTo>
                    <a:pt x="0" y="0"/>
                  </a:moveTo>
                  <a:lnTo>
                    <a:pt x="888999" y="0"/>
                  </a:lnTo>
                  <a:lnTo>
                    <a:pt x="888999" y="571499"/>
                  </a:lnTo>
                  <a:lnTo>
                    <a:pt x="0" y="57149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370637" y="4745036"/>
              <a:ext cx="464184" cy="1905"/>
            </a:xfrm>
            <a:custGeom>
              <a:avLst/>
              <a:gdLst/>
              <a:ahLst/>
              <a:cxnLst/>
              <a:rect l="l" t="t" r="r" b="b"/>
              <a:pathLst>
                <a:path w="464184" h="1904">
                  <a:moveTo>
                    <a:pt x="-6349" y="730"/>
                  </a:moveTo>
                  <a:lnTo>
                    <a:pt x="470536" y="730"/>
                  </a:lnTo>
                </a:path>
              </a:pathLst>
            </a:custGeom>
            <a:ln w="141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20767" y="4719148"/>
              <a:ext cx="55244" cy="54610"/>
            </a:xfrm>
            <a:custGeom>
              <a:avLst/>
              <a:gdLst/>
              <a:ahLst/>
              <a:cxnLst/>
              <a:rect l="l" t="t" r="r" b="b"/>
              <a:pathLst>
                <a:path w="55245" h="54610">
                  <a:moveTo>
                    <a:pt x="171" y="0"/>
                  </a:moveTo>
                  <a:lnTo>
                    <a:pt x="18289" y="27362"/>
                  </a:lnTo>
                  <a:lnTo>
                    <a:pt x="0" y="54610"/>
                  </a:lnTo>
                  <a:lnTo>
                    <a:pt x="54695" y="27477"/>
                  </a:lnTo>
                  <a:lnTo>
                    <a:pt x="1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877050" y="4451349"/>
              <a:ext cx="876300" cy="571500"/>
            </a:xfrm>
            <a:custGeom>
              <a:avLst/>
              <a:gdLst/>
              <a:ahLst/>
              <a:cxnLst/>
              <a:rect l="l" t="t" r="r" b="b"/>
              <a:pathLst>
                <a:path w="876300" h="571500">
                  <a:moveTo>
                    <a:pt x="0" y="0"/>
                  </a:moveTo>
                  <a:lnTo>
                    <a:pt x="876300" y="0"/>
                  </a:lnTo>
                  <a:lnTo>
                    <a:pt x="8763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877050" y="4451350"/>
              <a:ext cx="876300" cy="571500"/>
            </a:xfrm>
            <a:custGeom>
              <a:avLst/>
              <a:gdLst/>
              <a:ahLst/>
              <a:cxnLst/>
              <a:rect l="l" t="t" r="r" b="b"/>
              <a:pathLst>
                <a:path w="876300" h="571500">
                  <a:moveTo>
                    <a:pt x="0" y="0"/>
                  </a:moveTo>
                  <a:lnTo>
                    <a:pt x="876300" y="0"/>
                  </a:lnTo>
                  <a:lnTo>
                    <a:pt x="876300" y="571499"/>
                  </a:lnTo>
                  <a:lnTo>
                    <a:pt x="0" y="57149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488237" y="4471987"/>
              <a:ext cx="0" cy="549275"/>
            </a:xfrm>
            <a:custGeom>
              <a:avLst/>
              <a:gdLst/>
              <a:ahLst/>
              <a:cxnLst/>
              <a:rect l="l" t="t" r="r" b="b"/>
              <a:pathLst>
                <a:path h="549275">
                  <a:moveTo>
                    <a:pt x="0" y="0"/>
                  </a:moveTo>
                  <a:lnTo>
                    <a:pt x="0" y="54927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466011" y="4486274"/>
              <a:ext cx="254000" cy="551180"/>
            </a:xfrm>
            <a:custGeom>
              <a:avLst/>
              <a:gdLst/>
              <a:ahLst/>
              <a:cxnLst/>
              <a:rect l="l" t="t" r="r" b="b"/>
              <a:pathLst>
                <a:path w="254000" h="551179">
                  <a:moveTo>
                    <a:pt x="254000" y="0"/>
                  </a:moveTo>
                  <a:lnTo>
                    <a:pt x="0" y="55086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46098" y="1198487"/>
            <a:ext cx="6356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ourier New"/>
                <a:cs typeface="Courier New"/>
              </a:rPr>
              <a:t>item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168650" y="4476750"/>
            <a:ext cx="601980" cy="558800"/>
          </a:xfrm>
          <a:prstGeom prst="rect">
            <a:avLst/>
          </a:prstGeom>
          <a:solidFill>
            <a:srgbClr val="CCFFCC"/>
          </a:solidFill>
          <a:ln w="12700">
            <a:solidFill>
              <a:srgbClr val="000000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67945">
              <a:lnSpc>
                <a:spcPct val="100000"/>
              </a:lnSpc>
              <a:spcBef>
                <a:spcPts val="495"/>
              </a:spcBef>
            </a:pPr>
            <a:r>
              <a:rPr sz="1800" b="1" spc="-5" dirty="0">
                <a:latin typeface="Arial"/>
                <a:cs typeface="Arial"/>
              </a:rPr>
              <a:t>‘B’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425950" y="4476750"/>
            <a:ext cx="611505" cy="571500"/>
          </a:xfrm>
          <a:prstGeom prst="rect">
            <a:avLst/>
          </a:prstGeom>
          <a:solidFill>
            <a:srgbClr val="CCFFCC"/>
          </a:solidFill>
          <a:ln w="12700">
            <a:solidFill>
              <a:srgbClr val="000000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495"/>
              </a:spcBef>
            </a:pPr>
            <a:r>
              <a:rPr sz="1800" b="1" spc="-5" dirty="0">
                <a:latin typeface="Arial"/>
                <a:cs typeface="Arial"/>
              </a:rPr>
              <a:t>‘X’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670550" y="4464050"/>
            <a:ext cx="612775" cy="571500"/>
          </a:xfrm>
          <a:prstGeom prst="rect">
            <a:avLst/>
          </a:prstGeom>
          <a:solidFill>
            <a:srgbClr val="CCFFCC"/>
          </a:solidFill>
          <a:ln w="12700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595"/>
              </a:spcBef>
            </a:pPr>
            <a:r>
              <a:rPr sz="1800" b="1" spc="-5" dirty="0">
                <a:latin typeface="Arial"/>
                <a:cs typeface="Arial"/>
              </a:rPr>
              <a:t>‘C’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77050" y="4451350"/>
            <a:ext cx="611505" cy="571500"/>
          </a:xfrm>
          <a:prstGeom prst="rect">
            <a:avLst/>
          </a:prstGeom>
          <a:solidFill>
            <a:srgbClr val="CCFFCC"/>
          </a:solidFill>
          <a:ln w="12700">
            <a:solidFill>
              <a:srgbClr val="000000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695"/>
              </a:spcBef>
            </a:pPr>
            <a:r>
              <a:rPr sz="1800" b="1" spc="-35" dirty="0">
                <a:latin typeface="Arial"/>
                <a:cs typeface="Arial"/>
              </a:rPr>
              <a:t>‘L’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63673" y="5583162"/>
            <a:ext cx="10928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ourier New"/>
                <a:cs typeface="Courier New"/>
              </a:rPr>
              <a:t>tempPtr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667000" y="5448300"/>
            <a:ext cx="330200" cy="584200"/>
            <a:chOff x="2667000" y="5448300"/>
            <a:chExt cx="330200" cy="584200"/>
          </a:xfrm>
        </p:grpSpPr>
        <p:sp>
          <p:nvSpPr>
            <p:cNvPr id="33" name="object 33"/>
            <p:cNvSpPr/>
            <p:nvPr/>
          </p:nvSpPr>
          <p:spPr>
            <a:xfrm>
              <a:off x="2673349" y="5454650"/>
              <a:ext cx="317500" cy="571500"/>
            </a:xfrm>
            <a:custGeom>
              <a:avLst/>
              <a:gdLst/>
              <a:ahLst/>
              <a:cxnLst/>
              <a:rect l="l" t="t" r="r" b="b"/>
              <a:pathLst>
                <a:path w="317500" h="571500">
                  <a:moveTo>
                    <a:pt x="0" y="0"/>
                  </a:moveTo>
                  <a:lnTo>
                    <a:pt x="317500" y="0"/>
                  </a:lnTo>
                  <a:lnTo>
                    <a:pt x="3175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673350" y="5454650"/>
              <a:ext cx="317500" cy="571500"/>
            </a:xfrm>
            <a:custGeom>
              <a:avLst/>
              <a:gdLst/>
              <a:ahLst/>
              <a:cxnLst/>
              <a:rect l="l" t="t" r="r" b="b"/>
              <a:pathLst>
                <a:path w="317500" h="571500">
                  <a:moveTo>
                    <a:pt x="0" y="0"/>
                  </a:moveTo>
                  <a:lnTo>
                    <a:pt x="317500" y="0"/>
                  </a:lnTo>
                  <a:lnTo>
                    <a:pt x="3175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339850" y="1085850"/>
            <a:ext cx="685800" cy="673100"/>
          </a:xfrm>
          <a:prstGeom prst="rect">
            <a:avLst/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txBody>
          <a:bodyPr vert="horz" wrap="square" lIns="0" tIns="161290" rIns="0" bIns="0" rtlCol="0">
            <a:spAutoFit/>
          </a:bodyPr>
          <a:lstStyle/>
          <a:p>
            <a:pPr marL="132715">
              <a:lnSpc>
                <a:spcPct val="100000"/>
              </a:lnSpc>
              <a:spcBef>
                <a:spcPts val="1270"/>
              </a:spcBef>
            </a:pPr>
            <a:r>
              <a:rPr sz="1800" b="1" spc="-5" dirty="0">
                <a:solidFill>
                  <a:srgbClr val="800000"/>
                </a:solidFill>
                <a:latin typeface="Arial"/>
                <a:cs typeface="Arial"/>
              </a:rPr>
              <a:t>‘B’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8550" y="674463"/>
            <a:ext cx="34270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/>
              <a:t>Deleting</a:t>
            </a:r>
            <a:r>
              <a:rPr sz="2000" spc="-15" dirty="0"/>
              <a:t> </a:t>
            </a:r>
            <a:r>
              <a:rPr sz="2000" spc="-5" dirty="0"/>
              <a:t>item</a:t>
            </a:r>
            <a:r>
              <a:rPr sz="2000" spc="-10" dirty="0"/>
              <a:t> </a:t>
            </a:r>
            <a:r>
              <a:rPr sz="2000" spc="-5" dirty="0"/>
              <a:t>from the</a:t>
            </a:r>
            <a:r>
              <a:rPr sz="2000" spc="-10" dirty="0"/>
              <a:t> </a:t>
            </a:r>
            <a:r>
              <a:rPr sz="2000" dirty="0"/>
              <a:t>stack</a:t>
            </a:r>
            <a:endParaRPr sz="2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16000" y="1930400"/>
          <a:ext cx="6883400" cy="19557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8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52500">
                <a:tc>
                  <a:txBody>
                    <a:bodyPr/>
                    <a:lstStyle/>
                    <a:p>
                      <a:pPr marL="570230" marR="3715385">
                        <a:lnSpc>
                          <a:spcPct val="157400"/>
                        </a:lnSpc>
                        <a:spcBef>
                          <a:spcPts val="990"/>
                        </a:spcBef>
                        <a:tabLst>
                          <a:tab pos="1994535" algn="l"/>
                        </a:tabLst>
                      </a:pPr>
                      <a:r>
                        <a:rPr sz="1700" b="1" spc="-5" dirty="0">
                          <a:latin typeface="Courier New"/>
                          <a:cs typeface="Courier New"/>
                        </a:rPr>
                        <a:t>NodeType*	tempPtr; </a:t>
                      </a:r>
                      <a:r>
                        <a:rPr sz="1700" b="1" spc="-10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item</a:t>
                      </a:r>
                      <a:r>
                        <a:rPr sz="1700" b="1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700" b="1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topPtr-&gt;info;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1257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57023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b="1" spc="-5" dirty="0">
                          <a:latin typeface="Courier New"/>
                          <a:cs typeface="Courier New"/>
                        </a:rPr>
                        <a:t>tempPtr</a:t>
                      </a:r>
                      <a:r>
                        <a:rPr sz="1700" b="1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700" b="1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topPtr;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599">
                <a:tc>
                  <a:txBody>
                    <a:bodyPr/>
                    <a:lstStyle/>
                    <a:p>
                      <a:pPr marL="570230">
                        <a:lnSpc>
                          <a:spcPts val="1065"/>
                        </a:lnSpc>
                      </a:pPr>
                      <a:r>
                        <a:rPr sz="1700" b="1" spc="-5" dirty="0">
                          <a:latin typeface="Courier New"/>
                          <a:cs typeface="Courier New"/>
                        </a:rPr>
                        <a:t>topPtr</a:t>
                      </a:r>
                      <a:r>
                        <a:rPr sz="1700" b="1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700" b="1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topPtr-&gt;next;</a:t>
                      </a:r>
                      <a:endParaRPr sz="1700">
                        <a:latin typeface="Courier New"/>
                        <a:cs typeface="Courier New"/>
                      </a:endParaRPr>
                    </a:p>
                    <a:p>
                      <a:pPr marL="570230">
                        <a:lnSpc>
                          <a:spcPct val="100000"/>
                        </a:lnSpc>
                        <a:spcBef>
                          <a:spcPts val="70"/>
                        </a:spcBef>
                        <a:tabLst>
                          <a:tab pos="1605915" algn="l"/>
                        </a:tabLst>
                      </a:pPr>
                      <a:r>
                        <a:rPr sz="1700" b="1" spc="-5" dirty="0">
                          <a:latin typeface="Courier New"/>
                          <a:cs typeface="Courier New"/>
                        </a:rPr>
                        <a:t>delete	tempPtr;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476373" y="4584624"/>
            <a:ext cx="9404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ourier New"/>
                <a:cs typeface="Courier New"/>
              </a:rPr>
              <a:t>topPtr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14600" y="4445000"/>
            <a:ext cx="5245100" cy="609600"/>
            <a:chOff x="2514600" y="4445000"/>
            <a:chExt cx="5245100" cy="609600"/>
          </a:xfrm>
        </p:grpSpPr>
        <p:sp>
          <p:nvSpPr>
            <p:cNvPr id="6" name="object 6"/>
            <p:cNvSpPr/>
            <p:nvPr/>
          </p:nvSpPr>
          <p:spPr>
            <a:xfrm>
              <a:off x="2520950" y="4451349"/>
              <a:ext cx="317500" cy="571500"/>
            </a:xfrm>
            <a:custGeom>
              <a:avLst/>
              <a:gdLst/>
              <a:ahLst/>
              <a:cxnLst/>
              <a:rect l="l" t="t" r="r" b="b"/>
              <a:pathLst>
                <a:path w="317500" h="571500">
                  <a:moveTo>
                    <a:pt x="0" y="0"/>
                  </a:moveTo>
                  <a:lnTo>
                    <a:pt x="317500" y="0"/>
                  </a:lnTo>
                  <a:lnTo>
                    <a:pt x="3175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20950" y="4451350"/>
              <a:ext cx="317500" cy="571500"/>
            </a:xfrm>
            <a:custGeom>
              <a:avLst/>
              <a:gdLst/>
              <a:ahLst/>
              <a:cxnLst/>
              <a:rect l="l" t="t" r="r" b="b"/>
              <a:pathLst>
                <a:path w="317500" h="571500">
                  <a:moveTo>
                    <a:pt x="0" y="0"/>
                  </a:moveTo>
                  <a:lnTo>
                    <a:pt x="317500" y="0"/>
                  </a:lnTo>
                  <a:lnTo>
                    <a:pt x="317500" y="571499"/>
                  </a:lnTo>
                  <a:lnTo>
                    <a:pt x="0" y="57149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52712" y="4760911"/>
              <a:ext cx="464184" cy="1905"/>
            </a:xfrm>
            <a:custGeom>
              <a:avLst/>
              <a:gdLst/>
              <a:ahLst/>
              <a:cxnLst/>
              <a:rect l="l" t="t" r="r" b="b"/>
              <a:pathLst>
                <a:path w="464185" h="1904">
                  <a:moveTo>
                    <a:pt x="-6349" y="730"/>
                  </a:moveTo>
                  <a:lnTo>
                    <a:pt x="470536" y="730"/>
                  </a:lnTo>
                </a:path>
              </a:pathLst>
            </a:custGeom>
            <a:ln w="141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02842" y="4735023"/>
              <a:ext cx="55244" cy="54610"/>
            </a:xfrm>
            <a:custGeom>
              <a:avLst/>
              <a:gdLst/>
              <a:ahLst/>
              <a:cxnLst/>
              <a:rect l="l" t="t" r="r" b="b"/>
              <a:pathLst>
                <a:path w="55244" h="54610">
                  <a:moveTo>
                    <a:pt x="171" y="0"/>
                  </a:moveTo>
                  <a:lnTo>
                    <a:pt x="18289" y="27362"/>
                  </a:lnTo>
                  <a:lnTo>
                    <a:pt x="0" y="54610"/>
                  </a:lnTo>
                  <a:lnTo>
                    <a:pt x="54695" y="27477"/>
                  </a:lnTo>
                  <a:lnTo>
                    <a:pt x="1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68650" y="4476749"/>
              <a:ext cx="876300" cy="558800"/>
            </a:xfrm>
            <a:custGeom>
              <a:avLst/>
              <a:gdLst/>
              <a:ahLst/>
              <a:cxnLst/>
              <a:rect l="l" t="t" r="r" b="b"/>
              <a:pathLst>
                <a:path w="876300" h="558800">
                  <a:moveTo>
                    <a:pt x="0" y="0"/>
                  </a:moveTo>
                  <a:lnTo>
                    <a:pt x="876300" y="0"/>
                  </a:lnTo>
                  <a:lnTo>
                    <a:pt x="8763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68650" y="4476750"/>
              <a:ext cx="876300" cy="558800"/>
            </a:xfrm>
            <a:custGeom>
              <a:avLst/>
              <a:gdLst/>
              <a:ahLst/>
              <a:cxnLst/>
              <a:rect l="l" t="t" r="r" b="b"/>
              <a:pathLst>
                <a:path w="876300" h="558800">
                  <a:moveTo>
                    <a:pt x="0" y="0"/>
                  </a:moveTo>
                  <a:lnTo>
                    <a:pt x="876299" y="0"/>
                  </a:lnTo>
                  <a:lnTo>
                    <a:pt x="876299" y="558799"/>
                  </a:lnTo>
                  <a:lnTo>
                    <a:pt x="0" y="55879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919537" y="4768850"/>
              <a:ext cx="464184" cy="1905"/>
            </a:xfrm>
            <a:custGeom>
              <a:avLst/>
              <a:gdLst/>
              <a:ahLst/>
              <a:cxnLst/>
              <a:rect l="l" t="t" r="r" b="b"/>
              <a:pathLst>
                <a:path w="464185" h="1904">
                  <a:moveTo>
                    <a:pt x="-6349" y="730"/>
                  </a:moveTo>
                  <a:lnTo>
                    <a:pt x="470536" y="730"/>
                  </a:lnTo>
                </a:path>
              </a:pathLst>
            </a:custGeom>
            <a:ln w="141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369667" y="4742962"/>
              <a:ext cx="55244" cy="54610"/>
            </a:xfrm>
            <a:custGeom>
              <a:avLst/>
              <a:gdLst/>
              <a:ahLst/>
              <a:cxnLst/>
              <a:rect l="l" t="t" r="r" b="b"/>
              <a:pathLst>
                <a:path w="55245" h="54610">
                  <a:moveTo>
                    <a:pt x="171" y="0"/>
                  </a:moveTo>
                  <a:lnTo>
                    <a:pt x="18289" y="27362"/>
                  </a:lnTo>
                  <a:lnTo>
                    <a:pt x="0" y="54608"/>
                  </a:lnTo>
                  <a:lnTo>
                    <a:pt x="54695" y="27476"/>
                  </a:lnTo>
                  <a:lnTo>
                    <a:pt x="1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25950" y="4476749"/>
              <a:ext cx="876300" cy="571500"/>
            </a:xfrm>
            <a:custGeom>
              <a:avLst/>
              <a:gdLst/>
              <a:ahLst/>
              <a:cxnLst/>
              <a:rect l="l" t="t" r="r" b="b"/>
              <a:pathLst>
                <a:path w="876300" h="571500">
                  <a:moveTo>
                    <a:pt x="0" y="0"/>
                  </a:moveTo>
                  <a:lnTo>
                    <a:pt x="876300" y="0"/>
                  </a:lnTo>
                  <a:lnTo>
                    <a:pt x="8763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25950" y="4476750"/>
              <a:ext cx="876300" cy="571500"/>
            </a:xfrm>
            <a:custGeom>
              <a:avLst/>
              <a:gdLst/>
              <a:ahLst/>
              <a:cxnLst/>
              <a:rect l="l" t="t" r="r" b="b"/>
              <a:pathLst>
                <a:path w="876300" h="571500">
                  <a:moveTo>
                    <a:pt x="0" y="0"/>
                  </a:moveTo>
                  <a:lnTo>
                    <a:pt x="876300" y="0"/>
                  </a:lnTo>
                  <a:lnTo>
                    <a:pt x="876300" y="571499"/>
                  </a:lnTo>
                  <a:lnTo>
                    <a:pt x="0" y="57149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65725" y="4756150"/>
              <a:ext cx="464184" cy="1905"/>
            </a:xfrm>
            <a:custGeom>
              <a:avLst/>
              <a:gdLst/>
              <a:ahLst/>
              <a:cxnLst/>
              <a:rect l="l" t="t" r="r" b="b"/>
              <a:pathLst>
                <a:path w="464185" h="1904">
                  <a:moveTo>
                    <a:pt x="-6349" y="730"/>
                  </a:moveTo>
                  <a:lnTo>
                    <a:pt x="470536" y="730"/>
                  </a:lnTo>
                </a:path>
              </a:pathLst>
            </a:custGeom>
            <a:ln w="141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615854" y="4730262"/>
              <a:ext cx="55244" cy="54610"/>
            </a:xfrm>
            <a:custGeom>
              <a:avLst/>
              <a:gdLst/>
              <a:ahLst/>
              <a:cxnLst/>
              <a:rect l="l" t="t" r="r" b="b"/>
              <a:pathLst>
                <a:path w="55245" h="54610">
                  <a:moveTo>
                    <a:pt x="172" y="0"/>
                  </a:moveTo>
                  <a:lnTo>
                    <a:pt x="18289" y="27362"/>
                  </a:lnTo>
                  <a:lnTo>
                    <a:pt x="0" y="54608"/>
                  </a:lnTo>
                  <a:lnTo>
                    <a:pt x="54696" y="27476"/>
                  </a:lnTo>
                  <a:lnTo>
                    <a:pt x="1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670550" y="4464049"/>
              <a:ext cx="889000" cy="571500"/>
            </a:xfrm>
            <a:custGeom>
              <a:avLst/>
              <a:gdLst/>
              <a:ahLst/>
              <a:cxnLst/>
              <a:rect l="l" t="t" r="r" b="b"/>
              <a:pathLst>
                <a:path w="889000" h="571500">
                  <a:moveTo>
                    <a:pt x="0" y="0"/>
                  </a:moveTo>
                  <a:lnTo>
                    <a:pt x="889000" y="0"/>
                  </a:lnTo>
                  <a:lnTo>
                    <a:pt x="8890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670550" y="4464050"/>
              <a:ext cx="889000" cy="571500"/>
            </a:xfrm>
            <a:custGeom>
              <a:avLst/>
              <a:gdLst/>
              <a:ahLst/>
              <a:cxnLst/>
              <a:rect l="l" t="t" r="r" b="b"/>
              <a:pathLst>
                <a:path w="889000" h="571500">
                  <a:moveTo>
                    <a:pt x="0" y="0"/>
                  </a:moveTo>
                  <a:lnTo>
                    <a:pt x="888999" y="0"/>
                  </a:lnTo>
                  <a:lnTo>
                    <a:pt x="888999" y="571499"/>
                  </a:lnTo>
                  <a:lnTo>
                    <a:pt x="0" y="57149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370637" y="4745036"/>
              <a:ext cx="464184" cy="1905"/>
            </a:xfrm>
            <a:custGeom>
              <a:avLst/>
              <a:gdLst/>
              <a:ahLst/>
              <a:cxnLst/>
              <a:rect l="l" t="t" r="r" b="b"/>
              <a:pathLst>
                <a:path w="464184" h="1904">
                  <a:moveTo>
                    <a:pt x="-6349" y="730"/>
                  </a:moveTo>
                  <a:lnTo>
                    <a:pt x="470536" y="730"/>
                  </a:lnTo>
                </a:path>
              </a:pathLst>
            </a:custGeom>
            <a:ln w="141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20767" y="4719148"/>
              <a:ext cx="55244" cy="54610"/>
            </a:xfrm>
            <a:custGeom>
              <a:avLst/>
              <a:gdLst/>
              <a:ahLst/>
              <a:cxnLst/>
              <a:rect l="l" t="t" r="r" b="b"/>
              <a:pathLst>
                <a:path w="55245" h="54610">
                  <a:moveTo>
                    <a:pt x="171" y="0"/>
                  </a:moveTo>
                  <a:lnTo>
                    <a:pt x="18289" y="27362"/>
                  </a:lnTo>
                  <a:lnTo>
                    <a:pt x="0" y="54610"/>
                  </a:lnTo>
                  <a:lnTo>
                    <a:pt x="54695" y="27477"/>
                  </a:lnTo>
                  <a:lnTo>
                    <a:pt x="1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877050" y="4451349"/>
              <a:ext cx="876300" cy="571500"/>
            </a:xfrm>
            <a:custGeom>
              <a:avLst/>
              <a:gdLst/>
              <a:ahLst/>
              <a:cxnLst/>
              <a:rect l="l" t="t" r="r" b="b"/>
              <a:pathLst>
                <a:path w="876300" h="571500">
                  <a:moveTo>
                    <a:pt x="0" y="0"/>
                  </a:moveTo>
                  <a:lnTo>
                    <a:pt x="876300" y="0"/>
                  </a:lnTo>
                  <a:lnTo>
                    <a:pt x="8763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877050" y="4451350"/>
              <a:ext cx="876300" cy="571500"/>
            </a:xfrm>
            <a:custGeom>
              <a:avLst/>
              <a:gdLst/>
              <a:ahLst/>
              <a:cxnLst/>
              <a:rect l="l" t="t" r="r" b="b"/>
              <a:pathLst>
                <a:path w="876300" h="571500">
                  <a:moveTo>
                    <a:pt x="0" y="0"/>
                  </a:moveTo>
                  <a:lnTo>
                    <a:pt x="876300" y="0"/>
                  </a:lnTo>
                  <a:lnTo>
                    <a:pt x="876300" y="571499"/>
                  </a:lnTo>
                  <a:lnTo>
                    <a:pt x="0" y="57149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488237" y="4471987"/>
              <a:ext cx="0" cy="549275"/>
            </a:xfrm>
            <a:custGeom>
              <a:avLst/>
              <a:gdLst/>
              <a:ahLst/>
              <a:cxnLst/>
              <a:rect l="l" t="t" r="r" b="b"/>
              <a:pathLst>
                <a:path h="549275">
                  <a:moveTo>
                    <a:pt x="0" y="0"/>
                  </a:moveTo>
                  <a:lnTo>
                    <a:pt x="0" y="54927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466011" y="4486274"/>
              <a:ext cx="254000" cy="551180"/>
            </a:xfrm>
            <a:custGeom>
              <a:avLst/>
              <a:gdLst/>
              <a:ahLst/>
              <a:cxnLst/>
              <a:rect l="l" t="t" r="r" b="b"/>
              <a:pathLst>
                <a:path w="254000" h="551179">
                  <a:moveTo>
                    <a:pt x="254000" y="0"/>
                  </a:moveTo>
                  <a:lnTo>
                    <a:pt x="0" y="55086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46098" y="1046087"/>
            <a:ext cx="6356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ourier New"/>
                <a:cs typeface="Courier New"/>
              </a:rPr>
              <a:t>item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168650" y="4476750"/>
            <a:ext cx="601980" cy="558800"/>
          </a:xfrm>
          <a:prstGeom prst="rect">
            <a:avLst/>
          </a:prstGeom>
          <a:solidFill>
            <a:srgbClr val="CCFFCC"/>
          </a:solidFill>
          <a:ln w="12700">
            <a:solidFill>
              <a:srgbClr val="000000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67945">
              <a:lnSpc>
                <a:spcPct val="100000"/>
              </a:lnSpc>
              <a:spcBef>
                <a:spcPts val="495"/>
              </a:spcBef>
            </a:pPr>
            <a:r>
              <a:rPr sz="1800" b="1" spc="-5" dirty="0">
                <a:latin typeface="Arial"/>
                <a:cs typeface="Arial"/>
              </a:rPr>
              <a:t>‘B’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425950" y="4476750"/>
            <a:ext cx="611505" cy="571500"/>
          </a:xfrm>
          <a:prstGeom prst="rect">
            <a:avLst/>
          </a:prstGeom>
          <a:solidFill>
            <a:srgbClr val="CCFFCC"/>
          </a:solidFill>
          <a:ln w="12700">
            <a:solidFill>
              <a:srgbClr val="000000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495"/>
              </a:spcBef>
            </a:pPr>
            <a:r>
              <a:rPr sz="1800" b="1" spc="-5" dirty="0">
                <a:latin typeface="Arial"/>
                <a:cs typeface="Arial"/>
              </a:rPr>
              <a:t>‘X’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670550" y="4464050"/>
            <a:ext cx="612775" cy="571500"/>
          </a:xfrm>
          <a:prstGeom prst="rect">
            <a:avLst/>
          </a:prstGeom>
          <a:solidFill>
            <a:srgbClr val="CCFFCC"/>
          </a:solidFill>
          <a:ln w="12700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595"/>
              </a:spcBef>
            </a:pPr>
            <a:r>
              <a:rPr sz="1800" b="1" spc="-5" dirty="0">
                <a:latin typeface="Arial"/>
                <a:cs typeface="Arial"/>
              </a:rPr>
              <a:t>‘C’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77050" y="4451350"/>
            <a:ext cx="611505" cy="571500"/>
          </a:xfrm>
          <a:prstGeom prst="rect">
            <a:avLst/>
          </a:prstGeom>
          <a:solidFill>
            <a:srgbClr val="CCFFCC"/>
          </a:solidFill>
          <a:ln w="12700">
            <a:solidFill>
              <a:srgbClr val="000000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170180">
              <a:lnSpc>
                <a:spcPct val="100000"/>
              </a:lnSpc>
              <a:spcBef>
                <a:spcPts val="695"/>
              </a:spcBef>
            </a:pPr>
            <a:r>
              <a:rPr sz="1800" b="1" spc="-35" dirty="0">
                <a:latin typeface="Arial"/>
                <a:cs typeface="Arial"/>
              </a:rPr>
              <a:t>‘L’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63673" y="5583162"/>
            <a:ext cx="10928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ourier New"/>
                <a:cs typeface="Courier New"/>
              </a:rPr>
              <a:t>tempPtr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667000" y="5059362"/>
            <a:ext cx="698500" cy="973455"/>
            <a:chOff x="2667000" y="5059362"/>
            <a:chExt cx="698500" cy="973455"/>
          </a:xfrm>
        </p:grpSpPr>
        <p:sp>
          <p:nvSpPr>
            <p:cNvPr id="33" name="object 33"/>
            <p:cNvSpPr/>
            <p:nvPr/>
          </p:nvSpPr>
          <p:spPr>
            <a:xfrm>
              <a:off x="2673349" y="5454650"/>
              <a:ext cx="317500" cy="571500"/>
            </a:xfrm>
            <a:custGeom>
              <a:avLst/>
              <a:gdLst/>
              <a:ahLst/>
              <a:cxnLst/>
              <a:rect l="l" t="t" r="r" b="b"/>
              <a:pathLst>
                <a:path w="317500" h="571500">
                  <a:moveTo>
                    <a:pt x="0" y="0"/>
                  </a:moveTo>
                  <a:lnTo>
                    <a:pt x="317500" y="0"/>
                  </a:lnTo>
                  <a:lnTo>
                    <a:pt x="3175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673350" y="5454650"/>
              <a:ext cx="317500" cy="571500"/>
            </a:xfrm>
            <a:custGeom>
              <a:avLst/>
              <a:gdLst/>
              <a:ahLst/>
              <a:cxnLst/>
              <a:rect l="l" t="t" r="r" b="b"/>
              <a:pathLst>
                <a:path w="317500" h="571500">
                  <a:moveTo>
                    <a:pt x="0" y="0"/>
                  </a:moveTo>
                  <a:lnTo>
                    <a:pt x="317500" y="0"/>
                  </a:lnTo>
                  <a:lnTo>
                    <a:pt x="3175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793998" y="5089569"/>
              <a:ext cx="544830" cy="605155"/>
            </a:xfrm>
            <a:custGeom>
              <a:avLst/>
              <a:gdLst/>
              <a:ahLst/>
              <a:cxnLst/>
              <a:rect l="l" t="t" r="r" b="b"/>
              <a:pathLst>
                <a:path w="544829" h="605154">
                  <a:moveTo>
                    <a:pt x="0" y="604793"/>
                  </a:moveTo>
                  <a:lnTo>
                    <a:pt x="540067" y="4719"/>
                  </a:lnTo>
                  <a:lnTo>
                    <a:pt x="544315" y="0"/>
                  </a:lnTo>
                </a:path>
              </a:pathLst>
            </a:custGeom>
            <a:ln w="12699">
              <a:solidFill>
                <a:srgbClr val="8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308673" y="5059362"/>
              <a:ext cx="57150" cy="59055"/>
            </a:xfrm>
            <a:custGeom>
              <a:avLst/>
              <a:gdLst/>
              <a:ahLst/>
              <a:cxnLst/>
              <a:rect l="l" t="t" r="r" b="b"/>
              <a:pathLst>
                <a:path w="57150" h="59054">
                  <a:moveTo>
                    <a:pt x="56827" y="0"/>
                  </a:moveTo>
                  <a:lnTo>
                    <a:pt x="0" y="22324"/>
                  </a:lnTo>
                  <a:lnTo>
                    <a:pt x="32472" y="27059"/>
                  </a:lnTo>
                  <a:lnTo>
                    <a:pt x="40590" y="58856"/>
                  </a:lnTo>
                  <a:lnTo>
                    <a:pt x="56827" y="0"/>
                  </a:lnTo>
                  <a:close/>
                </a:path>
              </a:pathLst>
            </a:custGeom>
            <a:solidFill>
              <a:srgbClr val="8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339850" y="933450"/>
            <a:ext cx="685800" cy="673100"/>
          </a:xfrm>
          <a:prstGeom prst="rect">
            <a:avLst/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txBody>
          <a:bodyPr vert="horz" wrap="square" lIns="0" tIns="161290" rIns="0" bIns="0" rtlCol="0">
            <a:spAutoFit/>
          </a:bodyPr>
          <a:lstStyle/>
          <a:p>
            <a:pPr marL="132715">
              <a:lnSpc>
                <a:spcPct val="100000"/>
              </a:lnSpc>
              <a:spcBef>
                <a:spcPts val="1270"/>
              </a:spcBef>
            </a:pPr>
            <a:r>
              <a:rPr sz="1800" b="1" spc="-5" dirty="0">
                <a:solidFill>
                  <a:srgbClr val="800000"/>
                </a:solidFill>
                <a:latin typeface="Arial"/>
                <a:cs typeface="Arial"/>
              </a:rPr>
              <a:t>‘B’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8550" y="671630"/>
            <a:ext cx="427799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5" dirty="0"/>
              <a:t>Deleting</a:t>
            </a:r>
            <a:r>
              <a:rPr sz="2500" spc="-15" dirty="0"/>
              <a:t> </a:t>
            </a:r>
            <a:r>
              <a:rPr sz="2500" spc="-5" dirty="0"/>
              <a:t>item</a:t>
            </a:r>
            <a:r>
              <a:rPr sz="2500" spc="-10" dirty="0"/>
              <a:t> </a:t>
            </a:r>
            <a:r>
              <a:rPr sz="2500" spc="-5" dirty="0"/>
              <a:t>from the</a:t>
            </a:r>
            <a:r>
              <a:rPr sz="2500" spc="-10" dirty="0"/>
              <a:t> </a:t>
            </a:r>
            <a:r>
              <a:rPr sz="2500" dirty="0"/>
              <a:t>stack</a:t>
            </a:r>
            <a:endParaRPr sz="2500"/>
          </a:p>
        </p:txBody>
      </p:sp>
      <p:grpSp>
        <p:nvGrpSpPr>
          <p:cNvPr id="3" name="object 3"/>
          <p:cNvGrpSpPr/>
          <p:nvPr/>
        </p:nvGrpSpPr>
        <p:grpSpPr>
          <a:xfrm>
            <a:off x="2514600" y="4330700"/>
            <a:ext cx="5245100" cy="723900"/>
            <a:chOff x="2514600" y="4330700"/>
            <a:chExt cx="5245100" cy="7239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19650" y="4330700"/>
              <a:ext cx="133349" cy="1539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168650" y="4476750"/>
              <a:ext cx="876300" cy="558800"/>
            </a:xfrm>
            <a:custGeom>
              <a:avLst/>
              <a:gdLst/>
              <a:ahLst/>
              <a:cxnLst/>
              <a:rect l="l" t="t" r="r" b="b"/>
              <a:pathLst>
                <a:path w="876300" h="558800">
                  <a:moveTo>
                    <a:pt x="0" y="0"/>
                  </a:moveTo>
                  <a:lnTo>
                    <a:pt x="876300" y="0"/>
                  </a:lnTo>
                  <a:lnTo>
                    <a:pt x="8763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68650" y="4476750"/>
              <a:ext cx="876300" cy="558800"/>
            </a:xfrm>
            <a:custGeom>
              <a:avLst/>
              <a:gdLst/>
              <a:ahLst/>
              <a:cxnLst/>
              <a:rect l="l" t="t" r="r" b="b"/>
              <a:pathLst>
                <a:path w="876300" h="558800">
                  <a:moveTo>
                    <a:pt x="0" y="0"/>
                  </a:moveTo>
                  <a:lnTo>
                    <a:pt x="876300" y="0"/>
                  </a:lnTo>
                  <a:lnTo>
                    <a:pt x="876300" y="558799"/>
                  </a:lnTo>
                  <a:lnTo>
                    <a:pt x="0" y="55879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70312" y="4487862"/>
              <a:ext cx="0" cy="549275"/>
            </a:xfrm>
            <a:custGeom>
              <a:avLst/>
              <a:gdLst/>
              <a:ahLst/>
              <a:cxnLst/>
              <a:rect l="l" t="t" r="r" b="b"/>
              <a:pathLst>
                <a:path h="549275">
                  <a:moveTo>
                    <a:pt x="0" y="0"/>
                  </a:moveTo>
                  <a:lnTo>
                    <a:pt x="0" y="54927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19537" y="4768850"/>
              <a:ext cx="464184" cy="1905"/>
            </a:xfrm>
            <a:custGeom>
              <a:avLst/>
              <a:gdLst/>
              <a:ahLst/>
              <a:cxnLst/>
              <a:rect l="l" t="t" r="r" b="b"/>
              <a:pathLst>
                <a:path w="464185" h="1904">
                  <a:moveTo>
                    <a:pt x="-6349" y="730"/>
                  </a:moveTo>
                  <a:lnTo>
                    <a:pt x="470536" y="730"/>
                  </a:lnTo>
                </a:path>
              </a:pathLst>
            </a:custGeom>
            <a:ln w="141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69667" y="4742962"/>
              <a:ext cx="55244" cy="54610"/>
            </a:xfrm>
            <a:custGeom>
              <a:avLst/>
              <a:gdLst/>
              <a:ahLst/>
              <a:cxnLst/>
              <a:rect l="l" t="t" r="r" b="b"/>
              <a:pathLst>
                <a:path w="55245" h="54610">
                  <a:moveTo>
                    <a:pt x="171" y="0"/>
                  </a:moveTo>
                  <a:lnTo>
                    <a:pt x="18289" y="27362"/>
                  </a:lnTo>
                  <a:lnTo>
                    <a:pt x="0" y="54608"/>
                  </a:lnTo>
                  <a:lnTo>
                    <a:pt x="54695" y="27476"/>
                  </a:lnTo>
                  <a:lnTo>
                    <a:pt x="1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25950" y="4476750"/>
              <a:ext cx="876300" cy="571500"/>
            </a:xfrm>
            <a:custGeom>
              <a:avLst/>
              <a:gdLst/>
              <a:ahLst/>
              <a:cxnLst/>
              <a:rect l="l" t="t" r="r" b="b"/>
              <a:pathLst>
                <a:path w="876300" h="571500">
                  <a:moveTo>
                    <a:pt x="0" y="0"/>
                  </a:moveTo>
                  <a:lnTo>
                    <a:pt x="876300" y="0"/>
                  </a:lnTo>
                  <a:lnTo>
                    <a:pt x="8763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425950" y="4476750"/>
              <a:ext cx="876300" cy="571500"/>
            </a:xfrm>
            <a:custGeom>
              <a:avLst/>
              <a:gdLst/>
              <a:ahLst/>
              <a:cxnLst/>
              <a:rect l="l" t="t" r="r" b="b"/>
              <a:pathLst>
                <a:path w="876300" h="571500">
                  <a:moveTo>
                    <a:pt x="0" y="0"/>
                  </a:moveTo>
                  <a:lnTo>
                    <a:pt x="876300" y="0"/>
                  </a:lnTo>
                  <a:lnTo>
                    <a:pt x="876300" y="571499"/>
                  </a:lnTo>
                  <a:lnTo>
                    <a:pt x="0" y="57149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65725" y="4756150"/>
              <a:ext cx="464184" cy="1905"/>
            </a:xfrm>
            <a:custGeom>
              <a:avLst/>
              <a:gdLst/>
              <a:ahLst/>
              <a:cxnLst/>
              <a:rect l="l" t="t" r="r" b="b"/>
              <a:pathLst>
                <a:path w="464185" h="1904">
                  <a:moveTo>
                    <a:pt x="-6349" y="730"/>
                  </a:moveTo>
                  <a:lnTo>
                    <a:pt x="470536" y="730"/>
                  </a:lnTo>
                </a:path>
              </a:pathLst>
            </a:custGeom>
            <a:ln w="141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615854" y="4730262"/>
              <a:ext cx="55244" cy="54610"/>
            </a:xfrm>
            <a:custGeom>
              <a:avLst/>
              <a:gdLst/>
              <a:ahLst/>
              <a:cxnLst/>
              <a:rect l="l" t="t" r="r" b="b"/>
              <a:pathLst>
                <a:path w="55245" h="54610">
                  <a:moveTo>
                    <a:pt x="172" y="0"/>
                  </a:moveTo>
                  <a:lnTo>
                    <a:pt x="18289" y="27362"/>
                  </a:lnTo>
                  <a:lnTo>
                    <a:pt x="0" y="54608"/>
                  </a:lnTo>
                  <a:lnTo>
                    <a:pt x="54696" y="27476"/>
                  </a:lnTo>
                  <a:lnTo>
                    <a:pt x="1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70550" y="4464050"/>
              <a:ext cx="889000" cy="571500"/>
            </a:xfrm>
            <a:custGeom>
              <a:avLst/>
              <a:gdLst/>
              <a:ahLst/>
              <a:cxnLst/>
              <a:rect l="l" t="t" r="r" b="b"/>
              <a:pathLst>
                <a:path w="889000" h="571500">
                  <a:moveTo>
                    <a:pt x="0" y="0"/>
                  </a:moveTo>
                  <a:lnTo>
                    <a:pt x="889000" y="0"/>
                  </a:lnTo>
                  <a:lnTo>
                    <a:pt x="8890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670550" y="4464050"/>
              <a:ext cx="889000" cy="571500"/>
            </a:xfrm>
            <a:custGeom>
              <a:avLst/>
              <a:gdLst/>
              <a:ahLst/>
              <a:cxnLst/>
              <a:rect l="l" t="t" r="r" b="b"/>
              <a:pathLst>
                <a:path w="889000" h="571500">
                  <a:moveTo>
                    <a:pt x="0" y="0"/>
                  </a:moveTo>
                  <a:lnTo>
                    <a:pt x="888999" y="0"/>
                  </a:lnTo>
                  <a:lnTo>
                    <a:pt x="888999" y="571499"/>
                  </a:lnTo>
                  <a:lnTo>
                    <a:pt x="0" y="57149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370637" y="4745036"/>
              <a:ext cx="464184" cy="1905"/>
            </a:xfrm>
            <a:custGeom>
              <a:avLst/>
              <a:gdLst/>
              <a:ahLst/>
              <a:cxnLst/>
              <a:rect l="l" t="t" r="r" b="b"/>
              <a:pathLst>
                <a:path w="464184" h="1904">
                  <a:moveTo>
                    <a:pt x="-6349" y="730"/>
                  </a:moveTo>
                  <a:lnTo>
                    <a:pt x="470536" y="730"/>
                  </a:lnTo>
                </a:path>
              </a:pathLst>
            </a:custGeom>
            <a:ln w="141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20767" y="4719148"/>
              <a:ext cx="55244" cy="54610"/>
            </a:xfrm>
            <a:custGeom>
              <a:avLst/>
              <a:gdLst/>
              <a:ahLst/>
              <a:cxnLst/>
              <a:rect l="l" t="t" r="r" b="b"/>
              <a:pathLst>
                <a:path w="55245" h="54610">
                  <a:moveTo>
                    <a:pt x="171" y="0"/>
                  </a:moveTo>
                  <a:lnTo>
                    <a:pt x="18289" y="27362"/>
                  </a:lnTo>
                  <a:lnTo>
                    <a:pt x="0" y="54610"/>
                  </a:lnTo>
                  <a:lnTo>
                    <a:pt x="54695" y="27477"/>
                  </a:lnTo>
                  <a:lnTo>
                    <a:pt x="1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77050" y="4451350"/>
              <a:ext cx="876300" cy="571500"/>
            </a:xfrm>
            <a:custGeom>
              <a:avLst/>
              <a:gdLst/>
              <a:ahLst/>
              <a:cxnLst/>
              <a:rect l="l" t="t" r="r" b="b"/>
              <a:pathLst>
                <a:path w="876300" h="571500">
                  <a:moveTo>
                    <a:pt x="0" y="0"/>
                  </a:moveTo>
                  <a:lnTo>
                    <a:pt x="876300" y="0"/>
                  </a:lnTo>
                  <a:lnTo>
                    <a:pt x="8763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77050" y="4451350"/>
              <a:ext cx="876300" cy="571500"/>
            </a:xfrm>
            <a:custGeom>
              <a:avLst/>
              <a:gdLst/>
              <a:ahLst/>
              <a:cxnLst/>
              <a:rect l="l" t="t" r="r" b="b"/>
              <a:pathLst>
                <a:path w="876300" h="571500">
                  <a:moveTo>
                    <a:pt x="0" y="0"/>
                  </a:moveTo>
                  <a:lnTo>
                    <a:pt x="876300" y="0"/>
                  </a:lnTo>
                  <a:lnTo>
                    <a:pt x="876300" y="571499"/>
                  </a:lnTo>
                  <a:lnTo>
                    <a:pt x="0" y="57149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488237" y="4471987"/>
              <a:ext cx="0" cy="549275"/>
            </a:xfrm>
            <a:custGeom>
              <a:avLst/>
              <a:gdLst/>
              <a:ahLst/>
              <a:cxnLst/>
              <a:rect l="l" t="t" r="r" b="b"/>
              <a:pathLst>
                <a:path h="549275">
                  <a:moveTo>
                    <a:pt x="0" y="0"/>
                  </a:moveTo>
                  <a:lnTo>
                    <a:pt x="0" y="54927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466011" y="4486275"/>
              <a:ext cx="254000" cy="551180"/>
            </a:xfrm>
            <a:custGeom>
              <a:avLst/>
              <a:gdLst/>
              <a:ahLst/>
              <a:cxnLst/>
              <a:rect l="l" t="t" r="r" b="b"/>
              <a:pathLst>
                <a:path w="254000" h="551179">
                  <a:moveTo>
                    <a:pt x="254000" y="0"/>
                  </a:moveTo>
                  <a:lnTo>
                    <a:pt x="0" y="55086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520950" y="4451350"/>
              <a:ext cx="317500" cy="571500"/>
            </a:xfrm>
            <a:custGeom>
              <a:avLst/>
              <a:gdLst/>
              <a:ahLst/>
              <a:cxnLst/>
              <a:rect l="l" t="t" r="r" b="b"/>
              <a:pathLst>
                <a:path w="317500" h="571500">
                  <a:moveTo>
                    <a:pt x="0" y="0"/>
                  </a:moveTo>
                  <a:lnTo>
                    <a:pt x="317500" y="0"/>
                  </a:lnTo>
                  <a:lnTo>
                    <a:pt x="3175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520950" y="4451350"/>
              <a:ext cx="317500" cy="571500"/>
            </a:xfrm>
            <a:custGeom>
              <a:avLst/>
              <a:gdLst/>
              <a:ahLst/>
              <a:cxnLst/>
              <a:rect l="l" t="t" r="r" b="b"/>
              <a:pathLst>
                <a:path w="317500" h="571500">
                  <a:moveTo>
                    <a:pt x="0" y="0"/>
                  </a:moveTo>
                  <a:lnTo>
                    <a:pt x="317500" y="0"/>
                  </a:lnTo>
                  <a:lnTo>
                    <a:pt x="317500" y="571499"/>
                  </a:lnTo>
                  <a:lnTo>
                    <a:pt x="0" y="57149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1016000" y="1803400"/>
          <a:ext cx="6896100" cy="19557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9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16000">
                <a:tc>
                  <a:txBody>
                    <a:bodyPr/>
                    <a:lstStyle/>
                    <a:p>
                      <a:pPr marL="544830">
                        <a:lnSpc>
                          <a:spcPct val="100000"/>
                        </a:lnSpc>
                        <a:spcBef>
                          <a:spcPts val="439"/>
                        </a:spcBef>
                        <a:tabLst>
                          <a:tab pos="1969135" algn="l"/>
                        </a:tabLst>
                      </a:pPr>
                      <a:r>
                        <a:rPr sz="1700" b="1" spc="-5" dirty="0">
                          <a:latin typeface="Courier New"/>
                          <a:cs typeface="Courier New"/>
                        </a:rPr>
                        <a:t>NodeType*	tempPtr;</a:t>
                      </a:r>
                      <a:endParaRPr sz="1700">
                        <a:latin typeface="Courier New"/>
                        <a:cs typeface="Courier New"/>
                      </a:endParaRPr>
                    </a:p>
                    <a:p>
                      <a:pPr marL="544830" marR="3753485">
                        <a:lnSpc>
                          <a:spcPct val="103400"/>
                        </a:lnSpc>
                        <a:spcBef>
                          <a:spcPts val="1100"/>
                        </a:spcBef>
                      </a:pPr>
                      <a:r>
                        <a:rPr sz="1700" b="1" spc="-5" dirty="0">
                          <a:latin typeface="Courier New"/>
                          <a:cs typeface="Courier New"/>
                        </a:rPr>
                        <a:t>item</a:t>
                      </a:r>
                      <a:r>
                        <a:rPr sz="1700" b="1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700" b="1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topPtr-&gt;info; </a:t>
                      </a:r>
                      <a:r>
                        <a:rPr sz="1700" b="1" spc="-100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tempPtr</a:t>
                      </a:r>
                      <a:r>
                        <a:rPr sz="1700" b="1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700" b="1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topPtr;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5587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544830">
                        <a:lnSpc>
                          <a:spcPts val="1910"/>
                        </a:lnSpc>
                      </a:pPr>
                      <a:r>
                        <a:rPr sz="1700" b="1" spc="-5" dirty="0">
                          <a:latin typeface="Courier New"/>
                          <a:cs typeface="Courier New"/>
                        </a:rPr>
                        <a:t>topPtr</a:t>
                      </a:r>
                      <a:r>
                        <a:rPr sz="1700" b="1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700" b="1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topPtr-&gt;next;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299">
                <a:tc>
                  <a:txBody>
                    <a:bodyPr/>
                    <a:lstStyle/>
                    <a:p>
                      <a:pPr marL="544830">
                        <a:lnSpc>
                          <a:spcPts val="1520"/>
                        </a:lnSpc>
                        <a:tabLst>
                          <a:tab pos="1580515" algn="l"/>
                        </a:tabLst>
                      </a:pPr>
                      <a:r>
                        <a:rPr sz="1700" b="1" spc="-5" dirty="0">
                          <a:latin typeface="Courier New"/>
                          <a:cs typeface="Courier New"/>
                        </a:rPr>
                        <a:t>delete	tempPtr;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object 25"/>
          <p:cNvSpPr txBox="1"/>
          <p:nvPr/>
        </p:nvSpPr>
        <p:spPr>
          <a:xfrm>
            <a:off x="1476373" y="4584624"/>
            <a:ext cx="9404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ourier New"/>
                <a:cs typeface="Courier New"/>
              </a:rPr>
              <a:t>topPtr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6098" y="1046087"/>
            <a:ext cx="6356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ourier New"/>
                <a:cs typeface="Courier New"/>
              </a:rPr>
              <a:t>item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24211" y="4527189"/>
            <a:ext cx="318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‘</a:t>
            </a:r>
            <a:r>
              <a:rPr sz="1800" b="1" dirty="0">
                <a:latin typeface="Arial"/>
                <a:cs typeface="Arial"/>
              </a:rPr>
              <a:t>B’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425950" y="4476750"/>
            <a:ext cx="611505" cy="571500"/>
          </a:xfrm>
          <a:prstGeom prst="rect">
            <a:avLst/>
          </a:prstGeom>
          <a:solidFill>
            <a:srgbClr val="CCFFCC"/>
          </a:solidFill>
          <a:ln w="12700">
            <a:solidFill>
              <a:srgbClr val="000000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495"/>
              </a:spcBef>
            </a:pPr>
            <a:r>
              <a:rPr sz="1800" b="1" spc="-5" dirty="0">
                <a:latin typeface="Arial"/>
                <a:cs typeface="Arial"/>
              </a:rPr>
              <a:t>‘X’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670550" y="4464050"/>
            <a:ext cx="612775" cy="571500"/>
          </a:xfrm>
          <a:prstGeom prst="rect">
            <a:avLst/>
          </a:prstGeom>
          <a:solidFill>
            <a:srgbClr val="CCFFCC"/>
          </a:solidFill>
          <a:ln w="12700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208279">
              <a:lnSpc>
                <a:spcPct val="100000"/>
              </a:lnSpc>
              <a:spcBef>
                <a:spcPts val="595"/>
              </a:spcBef>
            </a:pPr>
            <a:r>
              <a:rPr sz="1800" b="1" spc="-5" dirty="0">
                <a:latin typeface="Arial"/>
                <a:cs typeface="Arial"/>
              </a:rPr>
              <a:t>‘C’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77050" y="4451350"/>
            <a:ext cx="611505" cy="571500"/>
          </a:xfrm>
          <a:prstGeom prst="rect">
            <a:avLst/>
          </a:prstGeom>
          <a:solidFill>
            <a:srgbClr val="CCFFCC"/>
          </a:solidFill>
          <a:ln w="12700">
            <a:solidFill>
              <a:srgbClr val="000000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170180">
              <a:lnSpc>
                <a:spcPct val="100000"/>
              </a:lnSpc>
              <a:spcBef>
                <a:spcPts val="695"/>
              </a:spcBef>
            </a:pPr>
            <a:r>
              <a:rPr sz="1800" b="1" spc="-35" dirty="0">
                <a:latin typeface="Arial"/>
                <a:cs typeface="Arial"/>
              </a:rPr>
              <a:t>‘L’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63673" y="5583162"/>
            <a:ext cx="10928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ourier New"/>
                <a:cs typeface="Courier New"/>
              </a:rPr>
              <a:t>tempPtr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667000" y="3873850"/>
            <a:ext cx="2180590" cy="2159000"/>
            <a:chOff x="2667000" y="3873850"/>
            <a:chExt cx="2180590" cy="2159000"/>
          </a:xfrm>
        </p:grpSpPr>
        <p:sp>
          <p:nvSpPr>
            <p:cNvPr id="33" name="object 33"/>
            <p:cNvSpPr/>
            <p:nvPr/>
          </p:nvSpPr>
          <p:spPr>
            <a:xfrm>
              <a:off x="2673349" y="5454649"/>
              <a:ext cx="317500" cy="571500"/>
            </a:xfrm>
            <a:custGeom>
              <a:avLst/>
              <a:gdLst/>
              <a:ahLst/>
              <a:cxnLst/>
              <a:rect l="l" t="t" r="r" b="b"/>
              <a:pathLst>
                <a:path w="317500" h="571500">
                  <a:moveTo>
                    <a:pt x="0" y="0"/>
                  </a:moveTo>
                  <a:lnTo>
                    <a:pt x="317500" y="0"/>
                  </a:lnTo>
                  <a:lnTo>
                    <a:pt x="3175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673350" y="5454649"/>
              <a:ext cx="317500" cy="571500"/>
            </a:xfrm>
            <a:custGeom>
              <a:avLst/>
              <a:gdLst/>
              <a:ahLst/>
              <a:cxnLst/>
              <a:rect l="l" t="t" r="r" b="b"/>
              <a:pathLst>
                <a:path w="317500" h="571500">
                  <a:moveTo>
                    <a:pt x="0" y="0"/>
                  </a:moveTo>
                  <a:lnTo>
                    <a:pt x="317500" y="0"/>
                  </a:lnTo>
                  <a:lnTo>
                    <a:pt x="3175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793998" y="5089569"/>
              <a:ext cx="544830" cy="605155"/>
            </a:xfrm>
            <a:custGeom>
              <a:avLst/>
              <a:gdLst/>
              <a:ahLst/>
              <a:cxnLst/>
              <a:rect l="l" t="t" r="r" b="b"/>
              <a:pathLst>
                <a:path w="544829" h="605154">
                  <a:moveTo>
                    <a:pt x="0" y="604793"/>
                  </a:moveTo>
                  <a:lnTo>
                    <a:pt x="540067" y="4719"/>
                  </a:lnTo>
                  <a:lnTo>
                    <a:pt x="544315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308673" y="5059362"/>
              <a:ext cx="57150" cy="59055"/>
            </a:xfrm>
            <a:custGeom>
              <a:avLst/>
              <a:gdLst/>
              <a:ahLst/>
              <a:cxnLst/>
              <a:rect l="l" t="t" r="r" b="b"/>
              <a:pathLst>
                <a:path w="57150" h="59054">
                  <a:moveTo>
                    <a:pt x="56827" y="0"/>
                  </a:moveTo>
                  <a:lnTo>
                    <a:pt x="0" y="22324"/>
                  </a:lnTo>
                  <a:lnTo>
                    <a:pt x="32472" y="27059"/>
                  </a:lnTo>
                  <a:lnTo>
                    <a:pt x="40590" y="58856"/>
                  </a:lnTo>
                  <a:lnTo>
                    <a:pt x="568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762767" y="3880200"/>
              <a:ext cx="2078355" cy="581025"/>
            </a:xfrm>
            <a:custGeom>
              <a:avLst/>
              <a:gdLst/>
              <a:ahLst/>
              <a:cxnLst/>
              <a:rect l="l" t="t" r="r" b="b"/>
              <a:pathLst>
                <a:path w="2078354" h="581025">
                  <a:moveTo>
                    <a:pt x="0" y="580501"/>
                  </a:moveTo>
                  <a:lnTo>
                    <a:pt x="19209" y="544218"/>
                  </a:lnTo>
                  <a:lnTo>
                    <a:pt x="40766" y="508682"/>
                  </a:lnTo>
                  <a:lnTo>
                    <a:pt x="64596" y="473940"/>
                  </a:lnTo>
                  <a:lnTo>
                    <a:pt x="90624" y="440040"/>
                  </a:lnTo>
                  <a:lnTo>
                    <a:pt x="118775" y="407028"/>
                  </a:lnTo>
                  <a:lnTo>
                    <a:pt x="148974" y="374950"/>
                  </a:lnTo>
                  <a:lnTo>
                    <a:pt x="181146" y="343853"/>
                  </a:lnTo>
                  <a:lnTo>
                    <a:pt x="215216" y="313785"/>
                  </a:lnTo>
                  <a:lnTo>
                    <a:pt x="251109" y="284791"/>
                  </a:lnTo>
                  <a:lnTo>
                    <a:pt x="288751" y="256919"/>
                  </a:lnTo>
                  <a:lnTo>
                    <a:pt x="328066" y="230214"/>
                  </a:lnTo>
                  <a:lnTo>
                    <a:pt x="368979" y="204725"/>
                  </a:lnTo>
                  <a:lnTo>
                    <a:pt x="411417" y="180496"/>
                  </a:lnTo>
                  <a:lnTo>
                    <a:pt x="455302" y="157576"/>
                  </a:lnTo>
                  <a:lnTo>
                    <a:pt x="500561" y="136011"/>
                  </a:lnTo>
                  <a:lnTo>
                    <a:pt x="547120" y="115847"/>
                  </a:lnTo>
                  <a:lnTo>
                    <a:pt x="594901" y="97132"/>
                  </a:lnTo>
                  <a:lnTo>
                    <a:pt x="643832" y="79911"/>
                  </a:lnTo>
                  <a:lnTo>
                    <a:pt x="693837" y="64232"/>
                  </a:lnTo>
                  <a:lnTo>
                    <a:pt x="744841" y="50142"/>
                  </a:lnTo>
                  <a:lnTo>
                    <a:pt x="796769" y="37686"/>
                  </a:lnTo>
                  <a:lnTo>
                    <a:pt x="849546" y="26912"/>
                  </a:lnTo>
                  <a:lnTo>
                    <a:pt x="903098" y="17867"/>
                  </a:lnTo>
                  <a:lnTo>
                    <a:pt x="958846" y="10414"/>
                  </a:lnTo>
                  <a:lnTo>
                    <a:pt x="1014156" y="4975"/>
                  </a:lnTo>
                  <a:lnTo>
                    <a:pt x="1068952" y="1516"/>
                  </a:lnTo>
                  <a:lnTo>
                    <a:pt x="1123155" y="0"/>
                  </a:lnTo>
                  <a:lnTo>
                    <a:pt x="1176686" y="390"/>
                  </a:lnTo>
                  <a:lnTo>
                    <a:pt x="1229469" y="2651"/>
                  </a:lnTo>
                  <a:lnTo>
                    <a:pt x="1281426" y="6747"/>
                  </a:lnTo>
                  <a:lnTo>
                    <a:pt x="1332478" y="12641"/>
                  </a:lnTo>
                  <a:lnTo>
                    <a:pt x="1382548" y="20298"/>
                  </a:lnTo>
                  <a:lnTo>
                    <a:pt x="1431558" y="29681"/>
                  </a:lnTo>
                  <a:lnTo>
                    <a:pt x="1479430" y="40755"/>
                  </a:lnTo>
                  <a:lnTo>
                    <a:pt x="1526087" y="53484"/>
                  </a:lnTo>
                  <a:lnTo>
                    <a:pt x="1571449" y="67830"/>
                  </a:lnTo>
                  <a:lnTo>
                    <a:pt x="1615441" y="83759"/>
                  </a:lnTo>
                  <a:lnTo>
                    <a:pt x="1657982" y="101234"/>
                  </a:lnTo>
                  <a:lnTo>
                    <a:pt x="1698997" y="120219"/>
                  </a:lnTo>
                  <a:lnTo>
                    <a:pt x="1738407" y="140679"/>
                  </a:lnTo>
                  <a:lnTo>
                    <a:pt x="1776134" y="162576"/>
                  </a:lnTo>
                  <a:lnTo>
                    <a:pt x="1812100" y="185875"/>
                  </a:lnTo>
                  <a:lnTo>
                    <a:pt x="1846227" y="210541"/>
                  </a:lnTo>
                  <a:lnTo>
                    <a:pt x="1878438" y="236536"/>
                  </a:lnTo>
                  <a:lnTo>
                    <a:pt x="1908655" y="263825"/>
                  </a:lnTo>
                  <a:lnTo>
                    <a:pt x="1936799" y="292371"/>
                  </a:lnTo>
                  <a:lnTo>
                    <a:pt x="1962794" y="322140"/>
                  </a:lnTo>
                  <a:lnTo>
                    <a:pt x="1986561" y="353094"/>
                  </a:lnTo>
                  <a:lnTo>
                    <a:pt x="2008022" y="385197"/>
                  </a:lnTo>
                  <a:lnTo>
                    <a:pt x="2027099" y="418414"/>
                  </a:lnTo>
                  <a:lnTo>
                    <a:pt x="2043716" y="452708"/>
                  </a:lnTo>
                  <a:lnTo>
                    <a:pt x="2069252" y="524385"/>
                  </a:lnTo>
                  <a:lnTo>
                    <a:pt x="2078017" y="561696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339850" y="933450"/>
            <a:ext cx="685800" cy="673100"/>
          </a:xfrm>
          <a:prstGeom prst="rect">
            <a:avLst/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txBody>
          <a:bodyPr vert="horz" wrap="square" lIns="0" tIns="161290" rIns="0" bIns="0" rtlCol="0">
            <a:spAutoFit/>
          </a:bodyPr>
          <a:lstStyle/>
          <a:p>
            <a:pPr marL="132715">
              <a:lnSpc>
                <a:spcPct val="100000"/>
              </a:lnSpc>
              <a:spcBef>
                <a:spcPts val="1270"/>
              </a:spcBef>
            </a:pPr>
            <a:r>
              <a:rPr sz="1800" b="1" spc="-5" dirty="0">
                <a:solidFill>
                  <a:srgbClr val="800000"/>
                </a:solidFill>
                <a:latin typeface="Arial"/>
                <a:cs typeface="Arial"/>
              </a:rPr>
              <a:t>‘B’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8550" y="637183"/>
            <a:ext cx="54686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Deleting</a:t>
            </a:r>
            <a:r>
              <a:rPr sz="3200" spc="-15" dirty="0"/>
              <a:t> </a:t>
            </a:r>
            <a:r>
              <a:rPr sz="3200" spc="-5" dirty="0"/>
              <a:t>item</a:t>
            </a:r>
            <a:r>
              <a:rPr sz="3200" spc="-10" dirty="0"/>
              <a:t> </a:t>
            </a:r>
            <a:r>
              <a:rPr sz="3200" spc="-5" dirty="0"/>
              <a:t>from</a:t>
            </a:r>
            <a:r>
              <a:rPr sz="3200" spc="-10" dirty="0"/>
              <a:t> </a:t>
            </a:r>
            <a:r>
              <a:rPr sz="3200" spc="-5" dirty="0"/>
              <a:t>the </a:t>
            </a:r>
            <a:r>
              <a:rPr sz="3200" dirty="0"/>
              <a:t>stack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1016000" y="1828800"/>
            <a:ext cx="6896100" cy="1968500"/>
            <a:chOff x="1016000" y="1828800"/>
            <a:chExt cx="6896100" cy="1968500"/>
          </a:xfrm>
        </p:grpSpPr>
        <p:sp>
          <p:nvSpPr>
            <p:cNvPr id="4" name="object 4"/>
            <p:cNvSpPr/>
            <p:nvPr/>
          </p:nvSpPr>
          <p:spPr>
            <a:xfrm>
              <a:off x="1022350" y="1835150"/>
              <a:ext cx="6883400" cy="1562100"/>
            </a:xfrm>
            <a:custGeom>
              <a:avLst/>
              <a:gdLst/>
              <a:ahLst/>
              <a:cxnLst/>
              <a:rect l="l" t="t" r="r" b="b"/>
              <a:pathLst>
                <a:path w="6883400" h="1562100">
                  <a:moveTo>
                    <a:pt x="0" y="1562100"/>
                  </a:moveTo>
                  <a:lnTo>
                    <a:pt x="6883400" y="1562100"/>
                  </a:lnTo>
                  <a:lnTo>
                    <a:pt x="6883400" y="0"/>
                  </a:lnTo>
                  <a:lnTo>
                    <a:pt x="0" y="0"/>
                  </a:lnTo>
                  <a:lnTo>
                    <a:pt x="0" y="156210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22350" y="1835150"/>
              <a:ext cx="6883400" cy="1943100"/>
            </a:xfrm>
            <a:custGeom>
              <a:avLst/>
              <a:gdLst/>
              <a:ahLst/>
              <a:cxnLst/>
              <a:rect l="l" t="t" r="r" b="b"/>
              <a:pathLst>
                <a:path w="6883400" h="1943100">
                  <a:moveTo>
                    <a:pt x="0" y="0"/>
                  </a:moveTo>
                  <a:lnTo>
                    <a:pt x="6883400" y="0"/>
                  </a:lnTo>
                  <a:lnTo>
                    <a:pt x="6883400" y="1943100"/>
                  </a:lnTo>
                  <a:lnTo>
                    <a:pt x="0" y="19431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22350" y="3397250"/>
              <a:ext cx="6883400" cy="393700"/>
            </a:xfrm>
            <a:custGeom>
              <a:avLst/>
              <a:gdLst/>
              <a:ahLst/>
              <a:cxnLst/>
              <a:rect l="l" t="t" r="r" b="b"/>
              <a:pathLst>
                <a:path w="6883400" h="393700">
                  <a:moveTo>
                    <a:pt x="0" y="0"/>
                  </a:moveTo>
                  <a:lnTo>
                    <a:pt x="6883400" y="0"/>
                  </a:lnTo>
                  <a:lnTo>
                    <a:pt x="6883400" y="393700"/>
                  </a:lnTo>
                  <a:lnTo>
                    <a:pt x="0" y="393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22350" y="3397250"/>
              <a:ext cx="6883400" cy="393700"/>
            </a:xfrm>
            <a:custGeom>
              <a:avLst/>
              <a:gdLst/>
              <a:ahLst/>
              <a:cxnLst/>
              <a:rect l="l" t="t" r="r" b="b"/>
              <a:pathLst>
                <a:path w="6883400" h="393700">
                  <a:moveTo>
                    <a:pt x="0" y="0"/>
                  </a:moveTo>
                  <a:lnTo>
                    <a:pt x="6883400" y="0"/>
                  </a:lnTo>
                  <a:lnTo>
                    <a:pt x="6883400" y="393699"/>
                  </a:lnTo>
                  <a:lnTo>
                    <a:pt x="0" y="39369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22350" y="1835150"/>
            <a:ext cx="6883400" cy="1562100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</a:ln>
        </p:spPr>
        <p:txBody>
          <a:bodyPr vert="horz" wrap="square" lIns="0" tIns="69850" rIns="0" bIns="0" rtlCol="0">
            <a:spAutoFit/>
          </a:bodyPr>
          <a:lstStyle/>
          <a:p>
            <a:pPr marL="609600" marR="3390265">
              <a:lnSpc>
                <a:spcPct val="158300"/>
              </a:lnSpc>
              <a:spcBef>
                <a:spcPts val="550"/>
              </a:spcBef>
              <a:tabLst>
                <a:tab pos="2691765" algn="l"/>
              </a:tabLst>
            </a:pPr>
            <a:r>
              <a:rPr sz="1300" b="1" dirty="0">
                <a:latin typeface="Courier New"/>
                <a:cs typeface="Courier New"/>
              </a:rPr>
              <a:t>NodeType&lt;ItemType&gt;*	tempPtr;  item</a:t>
            </a:r>
            <a:r>
              <a:rPr sz="1300" b="1" spc="-10" dirty="0">
                <a:latin typeface="Courier New"/>
                <a:cs typeface="Courier New"/>
              </a:rPr>
              <a:t> </a:t>
            </a:r>
            <a:r>
              <a:rPr sz="1300" b="1" dirty="0">
                <a:latin typeface="Courier New"/>
                <a:cs typeface="Courier New"/>
              </a:rPr>
              <a:t>=</a:t>
            </a:r>
            <a:r>
              <a:rPr sz="1300" b="1" spc="-10" dirty="0">
                <a:latin typeface="Courier New"/>
                <a:cs typeface="Courier New"/>
              </a:rPr>
              <a:t> </a:t>
            </a:r>
            <a:r>
              <a:rPr sz="1300" b="1" dirty="0">
                <a:latin typeface="Courier New"/>
                <a:cs typeface="Courier New"/>
              </a:rPr>
              <a:t>topPtr-&gt;info;</a:t>
            </a:r>
            <a:endParaRPr sz="1300">
              <a:latin typeface="Courier New"/>
              <a:cs typeface="Courier New"/>
            </a:endParaRPr>
          </a:p>
          <a:p>
            <a:pPr marL="609600" marR="4084320">
              <a:lnSpc>
                <a:spcPct val="105800"/>
              </a:lnSpc>
              <a:tabLst>
                <a:tab pos="1402715" algn="l"/>
              </a:tabLst>
            </a:pPr>
            <a:r>
              <a:rPr sz="1300" b="1" dirty="0">
                <a:latin typeface="Courier New"/>
                <a:cs typeface="Courier New"/>
              </a:rPr>
              <a:t>tempPtr = topPtr; </a:t>
            </a:r>
            <a:r>
              <a:rPr sz="1300" b="1" spc="5" dirty="0">
                <a:latin typeface="Courier New"/>
                <a:cs typeface="Courier New"/>
              </a:rPr>
              <a:t> </a:t>
            </a:r>
            <a:r>
              <a:rPr sz="1300" b="1" dirty="0">
                <a:latin typeface="Courier New"/>
                <a:cs typeface="Courier New"/>
              </a:rPr>
              <a:t>topPtr</a:t>
            </a:r>
            <a:r>
              <a:rPr sz="1300" b="1" spc="-50" dirty="0">
                <a:latin typeface="Courier New"/>
                <a:cs typeface="Courier New"/>
              </a:rPr>
              <a:t> </a:t>
            </a:r>
            <a:r>
              <a:rPr sz="1300" b="1" dirty="0">
                <a:latin typeface="Courier New"/>
                <a:cs typeface="Courier New"/>
              </a:rPr>
              <a:t>=</a:t>
            </a:r>
            <a:r>
              <a:rPr sz="1300" b="1" spc="-50" dirty="0">
                <a:latin typeface="Courier New"/>
                <a:cs typeface="Courier New"/>
              </a:rPr>
              <a:t> </a:t>
            </a:r>
            <a:r>
              <a:rPr sz="1300" b="1" dirty="0">
                <a:latin typeface="Courier New"/>
                <a:cs typeface="Courier New"/>
              </a:rPr>
              <a:t>topPtr-&gt;next; </a:t>
            </a:r>
            <a:r>
              <a:rPr sz="1300" b="1" spc="-765" dirty="0">
                <a:latin typeface="Courier New"/>
                <a:cs typeface="Courier New"/>
              </a:rPr>
              <a:t> </a:t>
            </a:r>
            <a:r>
              <a:rPr sz="1300" b="1" dirty="0">
                <a:latin typeface="Courier New"/>
                <a:cs typeface="Courier New"/>
              </a:rPr>
              <a:t>delete	tempPtr;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76373" y="4584624"/>
            <a:ext cx="9404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ourier New"/>
                <a:cs typeface="Courier New"/>
              </a:rPr>
              <a:t>topPtr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514600" y="4445000"/>
            <a:ext cx="5245100" cy="609600"/>
            <a:chOff x="2514600" y="4445000"/>
            <a:chExt cx="5245100" cy="609600"/>
          </a:xfrm>
        </p:grpSpPr>
        <p:sp>
          <p:nvSpPr>
            <p:cNvPr id="11" name="object 11"/>
            <p:cNvSpPr/>
            <p:nvPr/>
          </p:nvSpPr>
          <p:spPr>
            <a:xfrm>
              <a:off x="2520950" y="4451349"/>
              <a:ext cx="317500" cy="571500"/>
            </a:xfrm>
            <a:custGeom>
              <a:avLst/>
              <a:gdLst/>
              <a:ahLst/>
              <a:cxnLst/>
              <a:rect l="l" t="t" r="r" b="b"/>
              <a:pathLst>
                <a:path w="317500" h="571500">
                  <a:moveTo>
                    <a:pt x="0" y="0"/>
                  </a:moveTo>
                  <a:lnTo>
                    <a:pt x="317500" y="0"/>
                  </a:lnTo>
                  <a:lnTo>
                    <a:pt x="3175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20950" y="4451350"/>
              <a:ext cx="317500" cy="571500"/>
            </a:xfrm>
            <a:custGeom>
              <a:avLst/>
              <a:gdLst/>
              <a:ahLst/>
              <a:cxnLst/>
              <a:rect l="l" t="t" r="r" b="b"/>
              <a:pathLst>
                <a:path w="317500" h="571500">
                  <a:moveTo>
                    <a:pt x="0" y="0"/>
                  </a:moveTo>
                  <a:lnTo>
                    <a:pt x="317500" y="0"/>
                  </a:lnTo>
                  <a:lnTo>
                    <a:pt x="317500" y="571499"/>
                  </a:lnTo>
                  <a:lnTo>
                    <a:pt x="0" y="57149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25950" y="4476749"/>
              <a:ext cx="876300" cy="571500"/>
            </a:xfrm>
            <a:custGeom>
              <a:avLst/>
              <a:gdLst/>
              <a:ahLst/>
              <a:cxnLst/>
              <a:rect l="l" t="t" r="r" b="b"/>
              <a:pathLst>
                <a:path w="876300" h="571500">
                  <a:moveTo>
                    <a:pt x="0" y="0"/>
                  </a:moveTo>
                  <a:lnTo>
                    <a:pt x="876300" y="0"/>
                  </a:lnTo>
                  <a:lnTo>
                    <a:pt x="8763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25950" y="4476749"/>
              <a:ext cx="876300" cy="571500"/>
            </a:xfrm>
            <a:custGeom>
              <a:avLst/>
              <a:gdLst/>
              <a:ahLst/>
              <a:cxnLst/>
              <a:rect l="l" t="t" r="r" b="b"/>
              <a:pathLst>
                <a:path w="876300" h="571500">
                  <a:moveTo>
                    <a:pt x="0" y="0"/>
                  </a:moveTo>
                  <a:lnTo>
                    <a:pt x="876300" y="0"/>
                  </a:lnTo>
                  <a:lnTo>
                    <a:pt x="8763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037137" y="4495799"/>
              <a:ext cx="0" cy="549275"/>
            </a:xfrm>
            <a:custGeom>
              <a:avLst/>
              <a:gdLst/>
              <a:ahLst/>
              <a:cxnLst/>
              <a:rect l="l" t="t" r="r" b="b"/>
              <a:pathLst>
                <a:path h="549275">
                  <a:moveTo>
                    <a:pt x="0" y="0"/>
                  </a:moveTo>
                  <a:lnTo>
                    <a:pt x="0" y="54927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65725" y="4756150"/>
              <a:ext cx="464184" cy="1905"/>
            </a:xfrm>
            <a:custGeom>
              <a:avLst/>
              <a:gdLst/>
              <a:ahLst/>
              <a:cxnLst/>
              <a:rect l="l" t="t" r="r" b="b"/>
              <a:pathLst>
                <a:path w="464185" h="1904">
                  <a:moveTo>
                    <a:pt x="-6349" y="730"/>
                  </a:moveTo>
                  <a:lnTo>
                    <a:pt x="470536" y="730"/>
                  </a:lnTo>
                </a:path>
              </a:pathLst>
            </a:custGeom>
            <a:ln w="141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615854" y="4730262"/>
              <a:ext cx="55244" cy="54610"/>
            </a:xfrm>
            <a:custGeom>
              <a:avLst/>
              <a:gdLst/>
              <a:ahLst/>
              <a:cxnLst/>
              <a:rect l="l" t="t" r="r" b="b"/>
              <a:pathLst>
                <a:path w="55245" h="54610">
                  <a:moveTo>
                    <a:pt x="172" y="0"/>
                  </a:moveTo>
                  <a:lnTo>
                    <a:pt x="18289" y="27362"/>
                  </a:lnTo>
                  <a:lnTo>
                    <a:pt x="0" y="54608"/>
                  </a:lnTo>
                  <a:lnTo>
                    <a:pt x="54696" y="27476"/>
                  </a:lnTo>
                  <a:lnTo>
                    <a:pt x="1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670550" y="4464049"/>
              <a:ext cx="889000" cy="571500"/>
            </a:xfrm>
            <a:custGeom>
              <a:avLst/>
              <a:gdLst/>
              <a:ahLst/>
              <a:cxnLst/>
              <a:rect l="l" t="t" r="r" b="b"/>
              <a:pathLst>
                <a:path w="889000" h="571500">
                  <a:moveTo>
                    <a:pt x="0" y="0"/>
                  </a:moveTo>
                  <a:lnTo>
                    <a:pt x="889000" y="0"/>
                  </a:lnTo>
                  <a:lnTo>
                    <a:pt x="8890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670550" y="4464050"/>
              <a:ext cx="889000" cy="571500"/>
            </a:xfrm>
            <a:custGeom>
              <a:avLst/>
              <a:gdLst/>
              <a:ahLst/>
              <a:cxnLst/>
              <a:rect l="l" t="t" r="r" b="b"/>
              <a:pathLst>
                <a:path w="889000" h="571500">
                  <a:moveTo>
                    <a:pt x="0" y="0"/>
                  </a:moveTo>
                  <a:lnTo>
                    <a:pt x="888999" y="0"/>
                  </a:lnTo>
                  <a:lnTo>
                    <a:pt x="888999" y="571499"/>
                  </a:lnTo>
                  <a:lnTo>
                    <a:pt x="0" y="57149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370637" y="4745036"/>
              <a:ext cx="464184" cy="1905"/>
            </a:xfrm>
            <a:custGeom>
              <a:avLst/>
              <a:gdLst/>
              <a:ahLst/>
              <a:cxnLst/>
              <a:rect l="l" t="t" r="r" b="b"/>
              <a:pathLst>
                <a:path w="464184" h="1904">
                  <a:moveTo>
                    <a:pt x="-6349" y="730"/>
                  </a:moveTo>
                  <a:lnTo>
                    <a:pt x="470536" y="730"/>
                  </a:lnTo>
                </a:path>
              </a:pathLst>
            </a:custGeom>
            <a:ln w="141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20767" y="4719148"/>
              <a:ext cx="55244" cy="54610"/>
            </a:xfrm>
            <a:custGeom>
              <a:avLst/>
              <a:gdLst/>
              <a:ahLst/>
              <a:cxnLst/>
              <a:rect l="l" t="t" r="r" b="b"/>
              <a:pathLst>
                <a:path w="55245" h="54610">
                  <a:moveTo>
                    <a:pt x="171" y="0"/>
                  </a:moveTo>
                  <a:lnTo>
                    <a:pt x="18289" y="27362"/>
                  </a:lnTo>
                  <a:lnTo>
                    <a:pt x="0" y="54610"/>
                  </a:lnTo>
                  <a:lnTo>
                    <a:pt x="54695" y="27477"/>
                  </a:lnTo>
                  <a:lnTo>
                    <a:pt x="1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877050" y="4451349"/>
              <a:ext cx="876300" cy="571500"/>
            </a:xfrm>
            <a:custGeom>
              <a:avLst/>
              <a:gdLst/>
              <a:ahLst/>
              <a:cxnLst/>
              <a:rect l="l" t="t" r="r" b="b"/>
              <a:pathLst>
                <a:path w="876300" h="571500">
                  <a:moveTo>
                    <a:pt x="0" y="0"/>
                  </a:moveTo>
                  <a:lnTo>
                    <a:pt x="876300" y="0"/>
                  </a:lnTo>
                  <a:lnTo>
                    <a:pt x="8763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877050" y="4451350"/>
              <a:ext cx="876300" cy="571500"/>
            </a:xfrm>
            <a:custGeom>
              <a:avLst/>
              <a:gdLst/>
              <a:ahLst/>
              <a:cxnLst/>
              <a:rect l="l" t="t" r="r" b="b"/>
              <a:pathLst>
                <a:path w="876300" h="571500">
                  <a:moveTo>
                    <a:pt x="0" y="0"/>
                  </a:moveTo>
                  <a:lnTo>
                    <a:pt x="876300" y="0"/>
                  </a:lnTo>
                  <a:lnTo>
                    <a:pt x="876300" y="571499"/>
                  </a:lnTo>
                  <a:lnTo>
                    <a:pt x="0" y="57149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488237" y="4471987"/>
              <a:ext cx="0" cy="549275"/>
            </a:xfrm>
            <a:custGeom>
              <a:avLst/>
              <a:gdLst/>
              <a:ahLst/>
              <a:cxnLst/>
              <a:rect l="l" t="t" r="r" b="b"/>
              <a:pathLst>
                <a:path h="549275">
                  <a:moveTo>
                    <a:pt x="0" y="0"/>
                  </a:moveTo>
                  <a:lnTo>
                    <a:pt x="0" y="54927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466011" y="4486274"/>
              <a:ext cx="254000" cy="551180"/>
            </a:xfrm>
            <a:custGeom>
              <a:avLst/>
              <a:gdLst/>
              <a:ahLst/>
              <a:cxnLst/>
              <a:rect l="l" t="t" r="r" b="b"/>
              <a:pathLst>
                <a:path w="254000" h="551179">
                  <a:moveTo>
                    <a:pt x="254000" y="0"/>
                  </a:moveTo>
                  <a:lnTo>
                    <a:pt x="0" y="55086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46098" y="1274687"/>
            <a:ext cx="6356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ourier New"/>
                <a:cs typeface="Courier New"/>
              </a:rPr>
              <a:t>item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32338" y="4527189"/>
            <a:ext cx="305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‘</a:t>
            </a:r>
            <a:r>
              <a:rPr sz="1800" b="1" dirty="0">
                <a:latin typeface="Arial"/>
                <a:cs typeface="Arial"/>
              </a:rPr>
              <a:t>X’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670550" y="4464050"/>
            <a:ext cx="612775" cy="571500"/>
          </a:xfrm>
          <a:prstGeom prst="rect">
            <a:avLst/>
          </a:prstGeom>
          <a:solidFill>
            <a:srgbClr val="CCFFCC"/>
          </a:solidFill>
          <a:ln w="12700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220345">
              <a:lnSpc>
                <a:spcPct val="100000"/>
              </a:lnSpc>
              <a:spcBef>
                <a:spcPts val="595"/>
              </a:spcBef>
            </a:pPr>
            <a:r>
              <a:rPr sz="1800" b="1" spc="-5" dirty="0">
                <a:latin typeface="Arial"/>
                <a:cs typeface="Arial"/>
              </a:rPr>
              <a:t>‘C’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77050" y="4451350"/>
            <a:ext cx="611505" cy="571500"/>
          </a:xfrm>
          <a:prstGeom prst="rect">
            <a:avLst/>
          </a:prstGeom>
          <a:solidFill>
            <a:srgbClr val="CCFFCC"/>
          </a:solidFill>
          <a:ln w="12700">
            <a:solidFill>
              <a:srgbClr val="000000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119380">
              <a:lnSpc>
                <a:spcPct val="100000"/>
              </a:lnSpc>
              <a:spcBef>
                <a:spcPts val="695"/>
              </a:spcBef>
            </a:pPr>
            <a:r>
              <a:rPr sz="1800" b="1" spc="-35" dirty="0">
                <a:latin typeface="Arial"/>
                <a:cs typeface="Arial"/>
              </a:rPr>
              <a:t>‘L’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463673" y="5583162"/>
            <a:ext cx="10928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ourier New"/>
                <a:cs typeface="Courier New"/>
              </a:rPr>
              <a:t>tempPtr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667000" y="5448300"/>
            <a:ext cx="330200" cy="584200"/>
            <a:chOff x="2667000" y="5448300"/>
            <a:chExt cx="330200" cy="584200"/>
          </a:xfrm>
        </p:grpSpPr>
        <p:sp>
          <p:nvSpPr>
            <p:cNvPr id="32" name="object 32"/>
            <p:cNvSpPr/>
            <p:nvPr/>
          </p:nvSpPr>
          <p:spPr>
            <a:xfrm>
              <a:off x="2673349" y="5454650"/>
              <a:ext cx="317500" cy="571500"/>
            </a:xfrm>
            <a:custGeom>
              <a:avLst/>
              <a:gdLst/>
              <a:ahLst/>
              <a:cxnLst/>
              <a:rect l="l" t="t" r="r" b="b"/>
              <a:pathLst>
                <a:path w="317500" h="571500">
                  <a:moveTo>
                    <a:pt x="0" y="0"/>
                  </a:moveTo>
                  <a:lnTo>
                    <a:pt x="317500" y="0"/>
                  </a:lnTo>
                  <a:lnTo>
                    <a:pt x="3175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673350" y="5454650"/>
              <a:ext cx="317500" cy="571500"/>
            </a:xfrm>
            <a:custGeom>
              <a:avLst/>
              <a:gdLst/>
              <a:ahLst/>
              <a:cxnLst/>
              <a:rect l="l" t="t" r="r" b="b"/>
              <a:pathLst>
                <a:path w="317500" h="571500">
                  <a:moveTo>
                    <a:pt x="0" y="0"/>
                  </a:moveTo>
                  <a:lnTo>
                    <a:pt x="317500" y="0"/>
                  </a:lnTo>
                  <a:lnTo>
                    <a:pt x="3175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339850" y="1085850"/>
            <a:ext cx="685800" cy="673100"/>
          </a:xfrm>
          <a:prstGeom prst="rect">
            <a:avLst/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txBody>
          <a:bodyPr vert="horz" wrap="square" lIns="0" tIns="161290" rIns="0" bIns="0" rtlCol="0">
            <a:spAutoFit/>
          </a:bodyPr>
          <a:lstStyle/>
          <a:p>
            <a:pPr marL="132715">
              <a:lnSpc>
                <a:spcPct val="100000"/>
              </a:lnSpc>
              <a:spcBef>
                <a:spcPts val="1270"/>
              </a:spcBef>
            </a:pPr>
            <a:r>
              <a:rPr sz="1800" b="1" spc="-5" dirty="0">
                <a:solidFill>
                  <a:srgbClr val="800000"/>
                </a:solidFill>
                <a:latin typeface="Arial"/>
                <a:cs typeface="Arial"/>
              </a:rPr>
              <a:t>‘B’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756417" y="3873850"/>
            <a:ext cx="2197100" cy="610870"/>
            <a:chOff x="2756417" y="3873850"/>
            <a:chExt cx="2197100" cy="610870"/>
          </a:xfrm>
        </p:grpSpPr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19650" y="4330699"/>
              <a:ext cx="133349" cy="153988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2762767" y="3880200"/>
              <a:ext cx="2078355" cy="581025"/>
            </a:xfrm>
            <a:custGeom>
              <a:avLst/>
              <a:gdLst/>
              <a:ahLst/>
              <a:cxnLst/>
              <a:rect l="l" t="t" r="r" b="b"/>
              <a:pathLst>
                <a:path w="2078354" h="581025">
                  <a:moveTo>
                    <a:pt x="0" y="580501"/>
                  </a:moveTo>
                  <a:lnTo>
                    <a:pt x="19209" y="544218"/>
                  </a:lnTo>
                  <a:lnTo>
                    <a:pt x="40766" y="508682"/>
                  </a:lnTo>
                  <a:lnTo>
                    <a:pt x="64596" y="473940"/>
                  </a:lnTo>
                  <a:lnTo>
                    <a:pt x="90624" y="440040"/>
                  </a:lnTo>
                  <a:lnTo>
                    <a:pt x="118775" y="407028"/>
                  </a:lnTo>
                  <a:lnTo>
                    <a:pt x="148974" y="374950"/>
                  </a:lnTo>
                  <a:lnTo>
                    <a:pt x="181146" y="343853"/>
                  </a:lnTo>
                  <a:lnTo>
                    <a:pt x="215216" y="313785"/>
                  </a:lnTo>
                  <a:lnTo>
                    <a:pt x="251109" y="284791"/>
                  </a:lnTo>
                  <a:lnTo>
                    <a:pt x="288751" y="256919"/>
                  </a:lnTo>
                  <a:lnTo>
                    <a:pt x="328066" y="230214"/>
                  </a:lnTo>
                  <a:lnTo>
                    <a:pt x="368979" y="204725"/>
                  </a:lnTo>
                  <a:lnTo>
                    <a:pt x="411417" y="180496"/>
                  </a:lnTo>
                  <a:lnTo>
                    <a:pt x="455302" y="157576"/>
                  </a:lnTo>
                  <a:lnTo>
                    <a:pt x="500561" y="136011"/>
                  </a:lnTo>
                  <a:lnTo>
                    <a:pt x="547120" y="115847"/>
                  </a:lnTo>
                  <a:lnTo>
                    <a:pt x="594901" y="97132"/>
                  </a:lnTo>
                  <a:lnTo>
                    <a:pt x="643832" y="79911"/>
                  </a:lnTo>
                  <a:lnTo>
                    <a:pt x="693837" y="64232"/>
                  </a:lnTo>
                  <a:lnTo>
                    <a:pt x="744841" y="50142"/>
                  </a:lnTo>
                  <a:lnTo>
                    <a:pt x="796769" y="37686"/>
                  </a:lnTo>
                  <a:lnTo>
                    <a:pt x="849546" y="26912"/>
                  </a:lnTo>
                  <a:lnTo>
                    <a:pt x="903098" y="17867"/>
                  </a:lnTo>
                  <a:lnTo>
                    <a:pt x="958846" y="10414"/>
                  </a:lnTo>
                  <a:lnTo>
                    <a:pt x="1014156" y="4975"/>
                  </a:lnTo>
                  <a:lnTo>
                    <a:pt x="1068952" y="1516"/>
                  </a:lnTo>
                  <a:lnTo>
                    <a:pt x="1123155" y="0"/>
                  </a:lnTo>
                  <a:lnTo>
                    <a:pt x="1176686" y="390"/>
                  </a:lnTo>
                  <a:lnTo>
                    <a:pt x="1229469" y="2651"/>
                  </a:lnTo>
                  <a:lnTo>
                    <a:pt x="1281426" y="6747"/>
                  </a:lnTo>
                  <a:lnTo>
                    <a:pt x="1332478" y="12641"/>
                  </a:lnTo>
                  <a:lnTo>
                    <a:pt x="1382548" y="20298"/>
                  </a:lnTo>
                  <a:lnTo>
                    <a:pt x="1431558" y="29681"/>
                  </a:lnTo>
                  <a:lnTo>
                    <a:pt x="1479430" y="40755"/>
                  </a:lnTo>
                  <a:lnTo>
                    <a:pt x="1526087" y="53484"/>
                  </a:lnTo>
                  <a:lnTo>
                    <a:pt x="1571449" y="67830"/>
                  </a:lnTo>
                  <a:lnTo>
                    <a:pt x="1615441" y="83759"/>
                  </a:lnTo>
                  <a:lnTo>
                    <a:pt x="1657982" y="101234"/>
                  </a:lnTo>
                  <a:lnTo>
                    <a:pt x="1698997" y="120219"/>
                  </a:lnTo>
                  <a:lnTo>
                    <a:pt x="1738407" y="140679"/>
                  </a:lnTo>
                  <a:lnTo>
                    <a:pt x="1776134" y="162576"/>
                  </a:lnTo>
                  <a:lnTo>
                    <a:pt x="1812100" y="185875"/>
                  </a:lnTo>
                  <a:lnTo>
                    <a:pt x="1846227" y="210541"/>
                  </a:lnTo>
                  <a:lnTo>
                    <a:pt x="1878438" y="236536"/>
                  </a:lnTo>
                  <a:lnTo>
                    <a:pt x="1908655" y="263825"/>
                  </a:lnTo>
                  <a:lnTo>
                    <a:pt x="1936799" y="292371"/>
                  </a:lnTo>
                  <a:lnTo>
                    <a:pt x="1962794" y="322140"/>
                  </a:lnTo>
                  <a:lnTo>
                    <a:pt x="1986561" y="353094"/>
                  </a:lnTo>
                  <a:lnTo>
                    <a:pt x="2008022" y="385197"/>
                  </a:lnTo>
                  <a:lnTo>
                    <a:pt x="2027099" y="418414"/>
                  </a:lnTo>
                  <a:lnTo>
                    <a:pt x="2043716" y="452708"/>
                  </a:lnTo>
                  <a:lnTo>
                    <a:pt x="2069252" y="524385"/>
                  </a:lnTo>
                  <a:lnTo>
                    <a:pt x="2078017" y="561696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4700" y="820472"/>
            <a:ext cx="46843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Array</a:t>
            </a:r>
            <a:r>
              <a:rPr sz="3000" spc="-20" dirty="0"/>
              <a:t> </a:t>
            </a:r>
            <a:r>
              <a:rPr sz="3000" dirty="0"/>
              <a:t>vs</a:t>
            </a:r>
            <a:r>
              <a:rPr sz="3000" spc="-15" dirty="0"/>
              <a:t> </a:t>
            </a:r>
            <a:r>
              <a:rPr sz="3000" spc="-5" dirty="0"/>
              <a:t>Linked</a:t>
            </a:r>
            <a:r>
              <a:rPr sz="3000" spc="-20" dirty="0"/>
              <a:t> </a:t>
            </a:r>
            <a:r>
              <a:rPr sz="3000" spc="-5" dirty="0"/>
              <a:t>Structure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495300" y="1598406"/>
            <a:ext cx="7591425" cy="431736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479425" indent="-466725">
              <a:lnSpc>
                <a:spcPct val="100000"/>
              </a:lnSpc>
              <a:spcBef>
                <a:spcPts val="330"/>
              </a:spcBef>
              <a:buChar char="•"/>
              <a:tabLst>
                <a:tab pos="478790" algn="l"/>
                <a:tab pos="479425" algn="l"/>
              </a:tabLst>
            </a:pPr>
            <a:r>
              <a:rPr sz="2800" dirty="0">
                <a:latin typeface="Arial MT"/>
                <a:cs typeface="Arial MT"/>
              </a:rPr>
              <a:t>Drawback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array-based</a:t>
            </a:r>
            <a:r>
              <a:rPr sz="2800" spc="-5" dirty="0">
                <a:latin typeface="Arial MT"/>
                <a:cs typeface="Arial MT"/>
              </a:rPr>
              <a:t> implementation:</a:t>
            </a:r>
            <a:endParaRPr sz="2800">
              <a:latin typeface="Arial MT"/>
              <a:cs typeface="Arial MT"/>
            </a:endParaRPr>
          </a:p>
          <a:p>
            <a:pPr marL="935990" marR="44450" lvl="1" indent="-466725">
              <a:lnSpc>
                <a:spcPts val="2890"/>
              </a:lnSpc>
              <a:spcBef>
                <a:spcPts val="715"/>
              </a:spcBef>
              <a:buChar char="•"/>
              <a:tabLst>
                <a:tab pos="935990" algn="l"/>
                <a:tab pos="936625" algn="l"/>
              </a:tabLst>
            </a:pPr>
            <a:r>
              <a:rPr sz="2800" dirty="0">
                <a:latin typeface="Arial MT"/>
                <a:cs typeface="Arial MT"/>
              </a:rPr>
              <a:t>at any point of </a:t>
            </a:r>
            <a:r>
              <a:rPr sz="2800" spc="-5" dirty="0">
                <a:latin typeface="Arial MT"/>
                <a:cs typeface="Arial MT"/>
              </a:rPr>
              <a:t>time, </a:t>
            </a:r>
            <a:r>
              <a:rPr sz="2800" dirty="0">
                <a:latin typeface="Arial MT"/>
                <a:cs typeface="Arial MT"/>
              </a:rPr>
              <a:t>array is </a:t>
            </a:r>
            <a:r>
              <a:rPr sz="2800" spc="-5" dirty="0">
                <a:latin typeface="Arial MT"/>
                <a:cs typeface="Arial MT"/>
              </a:rPr>
              <a:t>either filled </a:t>
            </a:r>
            <a:r>
              <a:rPr sz="2800" dirty="0">
                <a:latin typeface="Arial MT"/>
                <a:cs typeface="Arial MT"/>
              </a:rPr>
              <a:t>or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not</a:t>
            </a:r>
            <a:endParaRPr sz="2800">
              <a:latin typeface="Arial MT"/>
              <a:cs typeface="Arial MT"/>
            </a:endParaRPr>
          </a:p>
          <a:p>
            <a:pPr marL="936625" lvl="1" indent="-466725">
              <a:lnSpc>
                <a:spcPct val="100000"/>
              </a:lnSpc>
              <a:spcBef>
                <a:spcPts val="210"/>
              </a:spcBef>
              <a:buChar char="•"/>
              <a:tabLst>
                <a:tab pos="935990" algn="l"/>
                <a:tab pos="936625" algn="l"/>
              </a:tabLst>
            </a:pPr>
            <a:r>
              <a:rPr sz="2800" dirty="0">
                <a:latin typeface="Arial MT"/>
                <a:cs typeface="Arial MT"/>
              </a:rPr>
              <a:t>memory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either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not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enough,</a:t>
            </a:r>
            <a:endParaRPr sz="2800">
              <a:latin typeface="Arial MT"/>
              <a:cs typeface="Arial MT"/>
            </a:endParaRPr>
          </a:p>
          <a:p>
            <a:pPr marL="936625" lvl="1" indent="-466725">
              <a:lnSpc>
                <a:spcPct val="100000"/>
              </a:lnSpc>
              <a:spcBef>
                <a:spcPts val="229"/>
              </a:spcBef>
              <a:buChar char="•"/>
              <a:tabLst>
                <a:tab pos="935990" algn="l"/>
                <a:tab pos="936625" algn="l"/>
              </a:tabLst>
            </a:pPr>
            <a:r>
              <a:rPr sz="2800" dirty="0">
                <a:latin typeface="Arial MT"/>
                <a:cs typeface="Arial MT"/>
              </a:rPr>
              <a:t>or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wasted</a:t>
            </a:r>
            <a:endParaRPr sz="2800">
              <a:latin typeface="Arial MT"/>
              <a:cs typeface="Arial MT"/>
            </a:endParaRPr>
          </a:p>
          <a:p>
            <a:pPr marL="479425" indent="-466725">
              <a:lnSpc>
                <a:spcPct val="100000"/>
              </a:lnSpc>
              <a:spcBef>
                <a:spcPts val="229"/>
              </a:spcBef>
              <a:buChar char="•"/>
              <a:tabLst>
                <a:tab pos="478790" algn="l"/>
                <a:tab pos="479425" algn="l"/>
              </a:tabLst>
            </a:pPr>
            <a:r>
              <a:rPr sz="2800" dirty="0">
                <a:latin typeface="Arial MT"/>
                <a:cs typeface="Arial MT"/>
              </a:rPr>
              <a:t>Linked</a:t>
            </a:r>
            <a:r>
              <a:rPr sz="2800" spc="-5" dirty="0">
                <a:latin typeface="Arial MT"/>
                <a:cs typeface="Arial MT"/>
              </a:rPr>
              <a:t> Structure: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allocate </a:t>
            </a:r>
            <a:r>
              <a:rPr sz="2800" dirty="0">
                <a:latin typeface="Arial MT"/>
                <a:cs typeface="Arial MT"/>
              </a:rPr>
              <a:t>on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demand</a:t>
            </a:r>
            <a:endParaRPr sz="2800">
              <a:latin typeface="Arial MT"/>
              <a:cs typeface="Arial MT"/>
            </a:endParaRPr>
          </a:p>
          <a:p>
            <a:pPr marL="935990" marR="5080" lvl="1" indent="-466725">
              <a:lnSpc>
                <a:spcPts val="2890"/>
              </a:lnSpc>
              <a:spcBef>
                <a:spcPts val="715"/>
              </a:spcBef>
              <a:buChar char="•"/>
              <a:tabLst>
                <a:tab pos="935990" algn="l"/>
                <a:tab pos="936625" algn="l"/>
              </a:tabLst>
            </a:pPr>
            <a:r>
              <a:rPr sz="2800" dirty="0">
                <a:latin typeface="Arial MT"/>
                <a:cs typeface="Arial MT"/>
              </a:rPr>
              <a:t>Drawback: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need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to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store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lots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addresses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(in</a:t>
            </a:r>
            <a:r>
              <a:rPr sz="2800" spc="-5" dirty="0">
                <a:latin typeface="Arial MT"/>
                <a:cs typeface="Arial MT"/>
              </a:rPr>
              <a:t> pointer field</a:t>
            </a:r>
            <a:r>
              <a:rPr sz="2800" dirty="0">
                <a:latin typeface="Arial MT"/>
                <a:cs typeface="Arial MT"/>
              </a:rPr>
              <a:t> of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node)</a:t>
            </a:r>
            <a:endParaRPr sz="2800">
              <a:latin typeface="Arial MT"/>
              <a:cs typeface="Arial MT"/>
            </a:endParaRPr>
          </a:p>
          <a:p>
            <a:pPr marL="935990" marR="281940" lvl="1" indent="-466725">
              <a:lnSpc>
                <a:spcPts val="2890"/>
              </a:lnSpc>
              <a:spcBef>
                <a:spcPts val="700"/>
              </a:spcBef>
              <a:buChar char="•"/>
              <a:tabLst>
                <a:tab pos="935990" algn="l"/>
                <a:tab pos="936625" algn="l"/>
              </a:tabLst>
            </a:pPr>
            <a:r>
              <a:rPr sz="2800" dirty="0">
                <a:latin typeface="Arial MT"/>
                <a:cs typeface="Arial MT"/>
              </a:rPr>
              <a:t>if </a:t>
            </a:r>
            <a:r>
              <a:rPr sz="2800" spc="-25" dirty="0">
                <a:latin typeface="Arial MT"/>
                <a:cs typeface="Arial MT"/>
              </a:rPr>
              <a:t>ItemType </a:t>
            </a:r>
            <a:r>
              <a:rPr sz="2800" dirty="0">
                <a:latin typeface="Arial MT"/>
                <a:cs typeface="Arial MT"/>
              </a:rPr>
              <a:t>is small compared </a:t>
            </a:r>
            <a:r>
              <a:rPr sz="2800" spc="-5" dirty="0">
                <a:latin typeface="Arial MT"/>
                <a:cs typeface="Arial MT"/>
              </a:rPr>
              <a:t>to </a:t>
            </a:r>
            <a:r>
              <a:rPr sz="2800" spc="-20" dirty="0">
                <a:latin typeface="Arial MT"/>
                <a:cs typeface="Arial MT"/>
              </a:rPr>
              <a:t>pointer, </a:t>
            </a:r>
            <a:r>
              <a:rPr sz="2800" spc="-77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then </a:t>
            </a:r>
            <a:r>
              <a:rPr sz="2800" spc="-15" dirty="0">
                <a:latin typeface="Arial MT"/>
                <a:cs typeface="Arial MT"/>
              </a:rPr>
              <a:t>it’s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not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memory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efficient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4700" y="661126"/>
            <a:ext cx="40906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/>
              <a:t>Efficiency</a:t>
            </a:r>
            <a:r>
              <a:rPr sz="3000" spc="-35" dirty="0"/>
              <a:t> </a:t>
            </a:r>
            <a:r>
              <a:rPr sz="3000" spc="-5" dirty="0"/>
              <a:t>comparison</a:t>
            </a:r>
            <a:endParaRPr sz="3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7884" y="1726175"/>
            <a:ext cx="8273610" cy="369014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4700" y="820472"/>
            <a:ext cx="56508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C++</a:t>
            </a:r>
            <a:r>
              <a:rPr sz="3000" spc="-15" dirty="0"/>
              <a:t> </a:t>
            </a:r>
            <a:r>
              <a:rPr sz="3000" spc="-5" dirty="0"/>
              <a:t>Standard</a:t>
            </a:r>
            <a:r>
              <a:rPr sz="3000" spc="-20" dirty="0"/>
              <a:t> </a:t>
            </a:r>
            <a:r>
              <a:rPr sz="3000" spc="-30" dirty="0"/>
              <a:t>Template</a:t>
            </a:r>
            <a:r>
              <a:rPr sz="3000" spc="-15" dirty="0"/>
              <a:t> </a:t>
            </a:r>
            <a:r>
              <a:rPr sz="3000" spc="-5" dirty="0"/>
              <a:t>Library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495300" y="1627509"/>
            <a:ext cx="8082915" cy="456628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478790" marR="894715" indent="-466725" algn="just">
              <a:lnSpc>
                <a:spcPts val="2890"/>
              </a:lnSpc>
              <a:spcBef>
                <a:spcPts val="585"/>
              </a:spcBef>
              <a:buChar char="•"/>
              <a:tabLst>
                <a:tab pos="479425" algn="l"/>
              </a:tabLst>
            </a:pPr>
            <a:r>
              <a:rPr sz="2800" dirty="0">
                <a:latin typeface="Arial MT"/>
                <a:cs typeface="Arial MT"/>
              </a:rPr>
              <a:t>a set of C++ class </a:t>
            </a:r>
            <a:r>
              <a:rPr sz="2800" spc="-5" dirty="0">
                <a:latin typeface="Arial MT"/>
                <a:cs typeface="Arial MT"/>
              </a:rPr>
              <a:t>templates that </a:t>
            </a:r>
            <a:r>
              <a:rPr sz="2800" dirty="0">
                <a:latin typeface="Arial MT"/>
                <a:cs typeface="Arial MT"/>
              </a:rPr>
              <a:t>provides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common programming </a:t>
            </a:r>
            <a:r>
              <a:rPr sz="2800" spc="-5" dirty="0">
                <a:latin typeface="Arial MT"/>
                <a:cs typeface="Arial MT"/>
              </a:rPr>
              <a:t>data structures </a:t>
            </a:r>
            <a:r>
              <a:rPr sz="2800" dirty="0">
                <a:latin typeface="Arial MT"/>
                <a:cs typeface="Arial MT"/>
              </a:rPr>
              <a:t>and </a:t>
            </a:r>
            <a:r>
              <a:rPr sz="2800" spc="-77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functions</a:t>
            </a:r>
            <a:endParaRPr sz="2800">
              <a:latin typeface="Arial MT"/>
              <a:cs typeface="Arial MT"/>
            </a:endParaRPr>
          </a:p>
          <a:p>
            <a:pPr marL="935990" marR="1050290" lvl="1" indent="-466725" algn="just">
              <a:lnSpc>
                <a:spcPts val="2890"/>
              </a:lnSpc>
              <a:spcBef>
                <a:spcPts val="700"/>
              </a:spcBef>
              <a:buChar char="•"/>
              <a:tabLst>
                <a:tab pos="936625" algn="l"/>
              </a:tabLst>
            </a:pPr>
            <a:r>
              <a:rPr sz="2800" spc="-5" dirty="0">
                <a:latin typeface="Arial MT"/>
                <a:cs typeface="Arial MT"/>
              </a:rPr>
              <a:t>lists, stacks, </a:t>
            </a:r>
            <a:r>
              <a:rPr sz="2800" dirty="0">
                <a:latin typeface="Arial MT"/>
                <a:cs typeface="Arial MT"/>
              </a:rPr>
              <a:t>queues, hash </a:t>
            </a:r>
            <a:r>
              <a:rPr sz="2800" spc="-5" dirty="0">
                <a:latin typeface="Arial MT"/>
                <a:cs typeface="Arial MT"/>
              </a:rPr>
              <a:t>table, </a:t>
            </a:r>
            <a:r>
              <a:rPr sz="2800" dirty="0">
                <a:latin typeface="Arial MT"/>
                <a:cs typeface="Arial MT"/>
              </a:rPr>
              <a:t>many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more…</a:t>
            </a:r>
            <a:endParaRPr sz="2800">
              <a:latin typeface="Arial MT"/>
              <a:cs typeface="Arial MT"/>
            </a:endParaRPr>
          </a:p>
          <a:p>
            <a:pPr marL="478790" marR="5080" indent="-466725" algn="just">
              <a:lnSpc>
                <a:spcPts val="2890"/>
              </a:lnSpc>
              <a:spcBef>
                <a:spcPts val="695"/>
              </a:spcBef>
              <a:buChar char="•"/>
              <a:tabLst>
                <a:tab pos="479425" algn="l"/>
              </a:tabLst>
            </a:pPr>
            <a:r>
              <a:rPr sz="2800" dirty="0">
                <a:latin typeface="Arial MT"/>
                <a:cs typeface="Arial MT"/>
              </a:rPr>
              <a:t>all </a:t>
            </a:r>
            <a:r>
              <a:rPr sz="2800" spc="-5" dirty="0">
                <a:latin typeface="Arial MT"/>
                <a:cs typeface="Arial MT"/>
              </a:rPr>
              <a:t>data structures/container </a:t>
            </a:r>
            <a:r>
              <a:rPr sz="2800" dirty="0">
                <a:latin typeface="Arial MT"/>
                <a:cs typeface="Arial MT"/>
              </a:rPr>
              <a:t>are </a:t>
            </a:r>
            <a:r>
              <a:rPr sz="2800" spc="-5" dirty="0">
                <a:latin typeface="Arial MT"/>
                <a:cs typeface="Arial MT"/>
              </a:rPr>
              <a:t>implemented </a:t>
            </a:r>
            <a:r>
              <a:rPr sz="2800" dirty="0">
                <a:latin typeface="Arial MT"/>
                <a:cs typeface="Arial MT"/>
              </a:rPr>
              <a:t>as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class</a:t>
            </a:r>
            <a:r>
              <a:rPr sz="2800" spc="-5" dirty="0">
                <a:latin typeface="Arial MT"/>
                <a:cs typeface="Arial MT"/>
              </a:rPr>
              <a:t> template, </a:t>
            </a:r>
            <a:r>
              <a:rPr sz="2800" dirty="0">
                <a:latin typeface="Arial MT"/>
                <a:cs typeface="Arial MT"/>
              </a:rPr>
              <a:t>which can be </a:t>
            </a:r>
            <a:r>
              <a:rPr sz="2800" spc="-5" dirty="0">
                <a:latin typeface="Arial MT"/>
                <a:cs typeface="Arial MT"/>
              </a:rPr>
              <a:t>parameterized:</a:t>
            </a:r>
            <a:endParaRPr sz="2800">
              <a:latin typeface="Arial MT"/>
              <a:cs typeface="Arial MT"/>
            </a:endParaRPr>
          </a:p>
          <a:p>
            <a:pPr marL="936625" lvl="1" indent="-466725" algn="just">
              <a:lnSpc>
                <a:spcPct val="100000"/>
              </a:lnSpc>
              <a:spcBef>
                <a:spcPts val="215"/>
              </a:spcBef>
              <a:buChar char="•"/>
              <a:tabLst>
                <a:tab pos="936625" algn="l"/>
              </a:tabLst>
            </a:pPr>
            <a:r>
              <a:rPr sz="2800" spc="-5" dirty="0">
                <a:latin typeface="Arial MT"/>
                <a:cs typeface="Arial MT"/>
              </a:rPr>
              <a:t>vector&lt;int&gt;, vector&lt;double&gt;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…</a:t>
            </a:r>
            <a:endParaRPr sz="2800">
              <a:latin typeface="Arial MT"/>
              <a:cs typeface="Arial MT"/>
            </a:endParaRPr>
          </a:p>
          <a:p>
            <a:pPr marL="936625" lvl="1" indent="-466725" algn="just">
              <a:lnSpc>
                <a:spcPct val="100000"/>
              </a:lnSpc>
              <a:spcBef>
                <a:spcPts val="225"/>
              </a:spcBef>
              <a:buChar char="•"/>
              <a:tabLst>
                <a:tab pos="936625" algn="l"/>
              </a:tabLst>
            </a:pPr>
            <a:r>
              <a:rPr sz="2800" spc="-5" dirty="0">
                <a:latin typeface="Arial MT"/>
                <a:cs typeface="Arial MT"/>
              </a:rPr>
              <a:t>stack&lt;int&gt;,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stack&lt;char&gt;</a:t>
            </a:r>
            <a:endParaRPr sz="2800">
              <a:latin typeface="Arial MT"/>
              <a:cs typeface="Arial MT"/>
            </a:endParaRPr>
          </a:p>
          <a:p>
            <a:pPr marL="935990" marR="377825" lvl="1" indent="-466725" algn="just">
              <a:lnSpc>
                <a:spcPts val="2890"/>
              </a:lnSpc>
              <a:spcBef>
                <a:spcPts val="720"/>
              </a:spcBef>
              <a:buChar char="•"/>
              <a:tabLst>
                <a:tab pos="936625" algn="l"/>
              </a:tabLst>
            </a:pPr>
            <a:r>
              <a:rPr sz="2800" spc="-5" dirty="0">
                <a:latin typeface="Arial MT"/>
                <a:cs typeface="Arial MT"/>
              </a:rPr>
              <a:t>the type </a:t>
            </a:r>
            <a:r>
              <a:rPr sz="2800" dirty="0">
                <a:latin typeface="Arial MT"/>
                <a:cs typeface="Arial MT"/>
              </a:rPr>
              <a:t>in &lt;&gt; is </a:t>
            </a:r>
            <a:r>
              <a:rPr sz="2800" spc="-5" dirty="0">
                <a:solidFill>
                  <a:srgbClr val="FF2600"/>
                </a:solidFill>
                <a:latin typeface="Arial MT"/>
                <a:cs typeface="Arial MT"/>
              </a:rPr>
              <a:t>type </a:t>
            </a:r>
            <a:r>
              <a:rPr sz="2800" spc="-20" dirty="0">
                <a:solidFill>
                  <a:srgbClr val="FF2600"/>
                </a:solidFill>
                <a:latin typeface="Arial MT"/>
                <a:cs typeface="Arial MT"/>
              </a:rPr>
              <a:t>parameter, </a:t>
            </a:r>
            <a:r>
              <a:rPr sz="2800" spc="-5" dirty="0">
                <a:latin typeface="Arial MT"/>
                <a:cs typeface="Arial MT"/>
              </a:rPr>
              <a:t>specifying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type</a:t>
            </a:r>
            <a:r>
              <a:rPr sz="2800" dirty="0">
                <a:latin typeface="Arial MT"/>
                <a:cs typeface="Arial MT"/>
              </a:rPr>
              <a:t> of</a:t>
            </a:r>
            <a:r>
              <a:rPr sz="2800" spc="-5" dirty="0">
                <a:latin typeface="Arial MT"/>
                <a:cs typeface="Arial MT"/>
              </a:rPr>
              <a:t> items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that the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stack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stores…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4700" y="820472"/>
            <a:ext cx="53968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/>
              <a:t>Sample</a:t>
            </a:r>
            <a:r>
              <a:rPr sz="3000" spc="-15" dirty="0"/>
              <a:t> </a:t>
            </a:r>
            <a:r>
              <a:rPr sz="3000" spc="-5" dirty="0"/>
              <a:t>code</a:t>
            </a:r>
            <a:r>
              <a:rPr sz="3000" spc="-10" dirty="0"/>
              <a:t> </a:t>
            </a:r>
            <a:r>
              <a:rPr sz="3000" spc="-5" dirty="0"/>
              <a:t>using</a:t>
            </a:r>
            <a:r>
              <a:rPr sz="3000" spc="-20" dirty="0"/>
              <a:t> </a:t>
            </a:r>
            <a:r>
              <a:rPr sz="3000" spc="-5" dirty="0"/>
              <a:t>STL</a:t>
            </a:r>
            <a:r>
              <a:rPr sz="3000" spc="-65" dirty="0"/>
              <a:t> </a:t>
            </a:r>
            <a:r>
              <a:rPr sz="3000" dirty="0"/>
              <a:t>stack</a:t>
            </a:r>
            <a:endParaRPr sz="3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472" y="1758710"/>
            <a:ext cx="7416875" cy="408010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32592" y="6377054"/>
            <a:ext cx="198120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</a:pPr>
            <a:r>
              <a:rPr sz="1400" dirty="0">
                <a:latin typeface="Arial MT"/>
                <a:cs typeface="Arial MT"/>
              </a:rPr>
              <a:t>35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6900" y="528372"/>
            <a:ext cx="53968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/>
              <a:t>Sample</a:t>
            </a:r>
            <a:r>
              <a:rPr sz="3000" spc="-15" dirty="0"/>
              <a:t> </a:t>
            </a:r>
            <a:r>
              <a:rPr sz="3000" spc="-5" dirty="0"/>
              <a:t>code</a:t>
            </a:r>
            <a:r>
              <a:rPr sz="3000" spc="-10" dirty="0"/>
              <a:t> </a:t>
            </a:r>
            <a:r>
              <a:rPr sz="3000" spc="-5" dirty="0"/>
              <a:t>using</a:t>
            </a:r>
            <a:r>
              <a:rPr sz="3000" spc="-20" dirty="0"/>
              <a:t> </a:t>
            </a:r>
            <a:r>
              <a:rPr sz="3000" spc="-5" dirty="0"/>
              <a:t>STL</a:t>
            </a:r>
            <a:r>
              <a:rPr sz="3000" spc="-65" dirty="0"/>
              <a:t> </a:t>
            </a:r>
            <a:r>
              <a:rPr sz="3000" dirty="0"/>
              <a:t>stack</a:t>
            </a:r>
            <a:endParaRPr sz="30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0839" y="1355553"/>
            <a:ext cx="4663684" cy="510909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541109" y="4784294"/>
            <a:ext cx="2573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heavy" spc="6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</a:rPr>
              <a:t>More</a:t>
            </a:r>
            <a:r>
              <a:rPr sz="24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400" u="heavy" spc="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</a:rPr>
              <a:t>info</a:t>
            </a:r>
            <a:r>
              <a:rPr sz="2400" spc="5" dirty="0">
                <a:solidFill>
                  <a:srgbClr val="0000FF"/>
                </a:solidFill>
                <a:latin typeface="Microsoft Sans Serif"/>
                <a:cs typeface="Microsoft Sans Serif"/>
              </a:rPr>
              <a:t> </a:t>
            </a:r>
            <a:r>
              <a:rPr sz="2400" spc="45" dirty="0">
                <a:latin typeface="Microsoft Sans Serif"/>
                <a:cs typeface="Microsoft Sans Serif"/>
              </a:rPr>
              <a:t>on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30" dirty="0">
                <a:latin typeface="Microsoft Sans Serif"/>
                <a:cs typeface="Microsoft Sans Serif"/>
              </a:rPr>
              <a:t>stack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1309</Words>
  <Application>Microsoft Office PowerPoint</Application>
  <PresentationFormat>On-screen Show (4:3)</PresentationFormat>
  <Paragraphs>261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Arial Black</vt:lpstr>
      <vt:lpstr>Arial MT</vt:lpstr>
      <vt:lpstr>Calibri</vt:lpstr>
      <vt:lpstr>Courier New</vt:lpstr>
      <vt:lpstr>Microsoft Sans Serif</vt:lpstr>
      <vt:lpstr>Times New Roman</vt:lpstr>
      <vt:lpstr>Office Theme</vt:lpstr>
      <vt:lpstr>The Stack ADT</vt:lpstr>
      <vt:lpstr>Stacks of Coins and Plates</vt:lpstr>
      <vt:lpstr>Stacks of Rocks and Books</vt:lpstr>
      <vt:lpstr>PowerPoint Presentation</vt:lpstr>
      <vt:lpstr>Stack at Logical Level</vt:lpstr>
      <vt:lpstr>Stack Operations</vt:lpstr>
      <vt:lpstr>Stack at Application Level</vt:lpstr>
      <vt:lpstr>Function call stack</vt:lpstr>
      <vt:lpstr>Use stack to reverse</vt:lpstr>
      <vt:lpstr>Use stack to backtrack</vt:lpstr>
      <vt:lpstr>Stack Implementation</vt:lpstr>
      <vt:lpstr>class StackType</vt:lpstr>
      <vt:lpstr>Class Interface Diagram</vt:lpstr>
      <vt:lpstr>Initialize stack</vt:lpstr>
      <vt:lpstr>PowerPoint Presentation</vt:lpstr>
      <vt:lpstr>PowerPoint Presentation</vt:lpstr>
      <vt:lpstr>Tracing Client Code</vt:lpstr>
      <vt:lpstr>Stack Implementation: linked structure</vt:lpstr>
      <vt:lpstr>ItemType is char class StackType</vt:lpstr>
      <vt:lpstr>Deleting top element from the stack</vt:lpstr>
      <vt:lpstr>Deleting top element from the stack</vt:lpstr>
      <vt:lpstr>Deleting item from the stack</vt:lpstr>
      <vt:lpstr>Deleting item from the stack</vt:lpstr>
      <vt:lpstr>Deleting item from the stack</vt:lpstr>
      <vt:lpstr>Array vs Linked Structure</vt:lpstr>
      <vt:lpstr>Efficiency comparison</vt:lpstr>
      <vt:lpstr>C++ Standard Template Library</vt:lpstr>
      <vt:lpstr>Sample code using STL stack</vt:lpstr>
      <vt:lpstr>Sample code using STL stack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Stack ADT</dc:title>
  <cp:lastModifiedBy>Roman Richard</cp:lastModifiedBy>
  <cp:revision>1</cp:revision>
  <dcterms:created xsi:type="dcterms:W3CDTF">2022-08-14T08:22:24Z</dcterms:created>
  <dcterms:modified xsi:type="dcterms:W3CDTF">2022-08-14T08:25:10Z</dcterms:modified>
</cp:coreProperties>
</file>