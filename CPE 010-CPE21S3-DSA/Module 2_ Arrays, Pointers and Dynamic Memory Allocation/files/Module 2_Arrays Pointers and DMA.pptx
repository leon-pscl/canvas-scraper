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3004800" cy="9753600"/>
  <p:notesSz cx="13004800" cy="9753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152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46725" y="355600"/>
            <a:ext cx="1911350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0600" y="1828800"/>
            <a:ext cx="11023600" cy="5803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87680" y="2895600"/>
            <a:ext cx="12029440" cy="2340384"/>
          </a:xfrm>
          <a:prstGeom prst="rect">
            <a:avLst/>
          </a:prstGeom>
        </p:spPr>
        <p:txBody>
          <a:bodyPr vert="horz" wrap="square" lIns="0" tIns="488950" rIns="0" bIns="0" rtlCol="0" anchor="ctr">
            <a:spAutoFit/>
          </a:bodyPr>
          <a:lstStyle/>
          <a:p>
            <a:pPr marL="12700" marR="5080" algn="ctr">
              <a:spcBef>
                <a:spcPts val="1780"/>
              </a:spcBef>
            </a:pPr>
            <a:r>
              <a:rPr sz="6000" b="1" spc="5" dirty="0"/>
              <a:t>Pointers, </a:t>
            </a:r>
            <a:r>
              <a:rPr sz="6000" b="1" spc="10" dirty="0"/>
              <a:t>Dynamic </a:t>
            </a:r>
            <a:r>
              <a:rPr sz="6000" b="1" spc="30" dirty="0"/>
              <a:t>Memory</a:t>
            </a:r>
            <a:r>
              <a:rPr sz="6000" b="1" spc="5" dirty="0"/>
              <a:t> </a:t>
            </a:r>
            <a:r>
              <a:rPr sz="6000" b="1" spc="20" dirty="0"/>
              <a:t>Allocation,</a:t>
            </a:r>
            <a:r>
              <a:rPr sz="6000" b="1" spc="10" dirty="0"/>
              <a:t> </a:t>
            </a:r>
            <a:r>
              <a:rPr sz="6000" b="1" spc="20" dirty="0"/>
              <a:t>and</a:t>
            </a:r>
            <a:r>
              <a:rPr sz="6000" b="1" spc="10" dirty="0"/>
              <a:t> </a:t>
            </a:r>
            <a:r>
              <a:rPr sz="6000" b="1" spc="45" dirty="0" err="1"/>
              <a:t>Buil</a:t>
            </a:r>
            <a:r>
              <a:rPr lang="en-PH" sz="6000" b="1" spc="45" dirty="0"/>
              <a:t>t</a:t>
            </a:r>
            <a:r>
              <a:rPr sz="6000" b="1" spc="45" dirty="0"/>
              <a:t>-in </a:t>
            </a:r>
            <a:r>
              <a:rPr sz="6000" b="1" spc="-930" dirty="0"/>
              <a:t> </a:t>
            </a:r>
            <a:r>
              <a:rPr sz="6000" b="1" spc="-20" dirty="0"/>
              <a:t>Arrays</a:t>
            </a:r>
            <a:endParaRPr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0BD20-BA5F-1CA5-2533-867B8D54422D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492443"/>
          </a:xfrm>
        </p:spPr>
        <p:txBody>
          <a:bodyPr/>
          <a:lstStyle/>
          <a:p>
            <a:pPr algn="ctr"/>
            <a:r>
              <a:rPr lang="en-US" dirty="0"/>
              <a:t>CPE010 – Data Structures and Algorithms</a:t>
            </a:r>
            <a:endParaRPr lang="en-PH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A434757-8D42-6F15-E0EE-0D5ADBF10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838200"/>
            <a:ext cx="11023600" cy="1168400"/>
          </a:xfrm>
        </p:spPr>
        <p:txBody>
          <a:bodyPr/>
          <a:lstStyle/>
          <a:p>
            <a:r>
              <a:rPr lang="en-US" dirty="0"/>
              <a:t>Intended Learning Outcomes:</a:t>
            </a:r>
            <a:endParaRPr lang="en-PH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58E779-3F91-28B7-5B91-44B46ECC8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3657600"/>
            <a:ext cx="11023600" cy="3859262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dirty="0"/>
              <a:t>After this module, the student should be able to: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eriod"/>
            </a:pPr>
            <a:r>
              <a:rPr lang="en-PH" dirty="0"/>
              <a:t>Implement static and dynamic memory allocation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eriod"/>
            </a:pPr>
            <a:r>
              <a:rPr lang="en-PH" dirty="0"/>
              <a:t>Create dynamically allocated objects using pointers and arrays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PH" dirty="0"/>
              <a:t>Solve programming problems using dynamic memory allocation, arrays and pointers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91348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6600" y="355600"/>
            <a:ext cx="900112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“Normal”</a:t>
            </a:r>
            <a:r>
              <a:rPr spc="-20" dirty="0"/>
              <a:t> </a:t>
            </a:r>
            <a:r>
              <a:rPr dirty="0"/>
              <a:t>Variable</a:t>
            </a:r>
            <a:r>
              <a:rPr spc="-15" dirty="0"/>
              <a:t> </a:t>
            </a:r>
            <a:r>
              <a:rPr spc="120" dirty="0"/>
              <a:t>declarations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28800"/>
            <a:ext cx="10790555" cy="55041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209550" algn="just">
              <a:lnSpc>
                <a:spcPts val="3800"/>
              </a:lnSpc>
              <a:spcBef>
                <a:spcPts val="260"/>
              </a:spcBef>
            </a:pPr>
            <a:r>
              <a:rPr sz="3200" spc="5" dirty="0">
                <a:latin typeface="Arial MT"/>
                <a:cs typeface="Arial MT"/>
              </a:rPr>
              <a:t>Normal </a:t>
            </a:r>
            <a:r>
              <a:rPr sz="3200" spc="-10" dirty="0">
                <a:latin typeface="Arial MT"/>
                <a:cs typeface="Arial MT"/>
              </a:rPr>
              <a:t>variable </a:t>
            </a:r>
            <a:r>
              <a:rPr sz="3200" spc="20" dirty="0">
                <a:latin typeface="Arial MT"/>
                <a:cs typeface="Arial MT"/>
              </a:rPr>
              <a:t>instantiation automatically </a:t>
            </a:r>
            <a:r>
              <a:rPr sz="3200" spc="5" dirty="0">
                <a:latin typeface="Arial MT"/>
                <a:cs typeface="Arial MT"/>
              </a:rPr>
              <a:t>assigned </a:t>
            </a:r>
            <a:r>
              <a:rPr sz="3200" spc="-65" dirty="0">
                <a:latin typeface="Arial MT"/>
                <a:cs typeface="Arial MT"/>
              </a:rPr>
              <a:t>a </a:t>
            </a:r>
            <a:r>
              <a:rPr sz="3200" spc="-35" dirty="0">
                <a:latin typeface="Arial MT"/>
                <a:cs typeface="Arial MT"/>
              </a:rPr>
              <a:t>free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 </a:t>
            </a:r>
            <a:r>
              <a:rPr sz="3200" spc="5" dirty="0">
                <a:latin typeface="Arial MT"/>
                <a:cs typeface="Arial MT"/>
              </a:rPr>
              <a:t>address </a:t>
            </a:r>
            <a:r>
              <a:rPr sz="3200" spc="85" dirty="0">
                <a:latin typeface="Arial MT"/>
                <a:cs typeface="Arial MT"/>
              </a:rPr>
              <a:t>to </a:t>
            </a:r>
            <a:r>
              <a:rPr sz="3200" spc="-65" dirty="0">
                <a:latin typeface="Arial MT"/>
                <a:cs typeface="Arial MT"/>
              </a:rPr>
              <a:t>a </a:t>
            </a:r>
            <a:r>
              <a:rPr sz="3200" spc="-10" dirty="0">
                <a:latin typeface="Arial MT"/>
                <a:cs typeface="Arial MT"/>
              </a:rPr>
              <a:t>variable </a:t>
            </a:r>
            <a:r>
              <a:rPr sz="3200" spc="15" dirty="0">
                <a:latin typeface="Arial MT"/>
                <a:cs typeface="Arial MT"/>
              </a:rPr>
              <a:t>and </a:t>
            </a:r>
            <a:r>
              <a:rPr sz="3200" spc="5" dirty="0">
                <a:latin typeface="Arial MT"/>
                <a:cs typeface="Arial MT"/>
              </a:rPr>
              <a:t>stores </a:t>
            </a:r>
            <a:r>
              <a:rPr sz="3200" spc="40" dirty="0">
                <a:latin typeface="Arial MT"/>
                <a:cs typeface="Arial MT"/>
              </a:rPr>
              <a:t>that </a:t>
            </a:r>
            <a:r>
              <a:rPr sz="3200" spc="-25" dirty="0">
                <a:latin typeface="Arial MT"/>
                <a:cs typeface="Arial MT"/>
              </a:rPr>
              <a:t>value </a:t>
            </a:r>
            <a:r>
              <a:rPr sz="3200" spc="-5" dirty="0">
                <a:latin typeface="Arial MT"/>
                <a:cs typeface="Arial MT"/>
              </a:rPr>
              <a:t>in </a:t>
            </a:r>
            <a:r>
              <a:rPr sz="3200" spc="40" dirty="0">
                <a:latin typeface="Arial MT"/>
                <a:cs typeface="Arial MT"/>
              </a:rPr>
              <a:t>that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address.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50">
              <a:latin typeface="Arial MT"/>
              <a:cs typeface="Arial MT"/>
            </a:endParaRPr>
          </a:p>
          <a:p>
            <a:pPr marR="22860" algn="ctr">
              <a:lnSpc>
                <a:spcPct val="100000"/>
              </a:lnSpc>
              <a:tabLst>
                <a:tab pos="975360" algn="l"/>
              </a:tabLst>
            </a:pP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int	</a:t>
            </a:r>
            <a:r>
              <a:rPr sz="3200" dirty="0">
                <a:latin typeface="Courier New"/>
                <a:cs typeface="Courier New"/>
              </a:rPr>
              <a:t>x</a:t>
            </a:r>
            <a:r>
              <a:rPr sz="3200" spc="-4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40" dirty="0"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BF8F00"/>
                </a:solidFill>
                <a:latin typeface="Courier New"/>
                <a:cs typeface="Courier New"/>
              </a:rPr>
              <a:t>10</a:t>
            </a:r>
            <a:r>
              <a:rPr sz="3200" dirty="0">
                <a:latin typeface="Courier New"/>
                <a:cs typeface="Courier New"/>
              </a:rPr>
              <a:t>;</a:t>
            </a:r>
            <a:endParaRPr sz="3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300">
              <a:latin typeface="Courier New"/>
              <a:cs typeface="Courier New"/>
            </a:endParaRPr>
          </a:p>
          <a:p>
            <a:pPr marL="12700" marR="5080">
              <a:lnSpc>
                <a:spcPts val="3800"/>
              </a:lnSpc>
            </a:pPr>
            <a:r>
              <a:rPr sz="3200" i="1" spc="-65" dirty="0">
                <a:latin typeface="Arial"/>
                <a:cs typeface="Arial"/>
              </a:rPr>
              <a:t>x</a:t>
            </a:r>
            <a:r>
              <a:rPr sz="3200" i="1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represents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35" dirty="0">
                <a:latin typeface="Arial MT"/>
                <a:cs typeface="Arial MT"/>
              </a:rPr>
              <a:t>an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alias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for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address </a:t>
            </a:r>
            <a:r>
              <a:rPr sz="3200" spc="40" dirty="0">
                <a:latin typeface="Arial MT"/>
                <a:cs typeface="Arial MT"/>
              </a:rPr>
              <a:t>that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holds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value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10.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600">
              <a:latin typeface="Arial MT"/>
              <a:cs typeface="Arial MT"/>
            </a:endParaRPr>
          </a:p>
          <a:p>
            <a:pPr marL="12700" marR="577215">
              <a:lnSpc>
                <a:spcPts val="3800"/>
              </a:lnSpc>
            </a:pPr>
            <a:r>
              <a:rPr sz="3200" spc="-30" dirty="0">
                <a:latin typeface="Arial MT"/>
                <a:cs typeface="Arial MT"/>
              </a:rPr>
              <a:t>When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45" dirty="0">
                <a:latin typeface="Arial MT"/>
                <a:cs typeface="Arial MT"/>
              </a:rPr>
              <a:t>compiled,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variable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name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gets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translated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it’s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appropriate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address.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200" y="355600"/>
            <a:ext cx="67437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Reference</a:t>
            </a:r>
            <a:r>
              <a:rPr spc="-25" dirty="0"/>
              <a:t> </a:t>
            </a:r>
            <a:r>
              <a:rPr spc="100" dirty="0"/>
              <a:t>Operator</a:t>
            </a:r>
            <a:r>
              <a:rPr spc="-25" dirty="0"/>
              <a:t> </a:t>
            </a:r>
            <a:r>
              <a:rPr spc="-215" dirty="0"/>
              <a:t>(&amp;)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41500"/>
            <a:ext cx="11022965" cy="45389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16255">
              <a:lnSpc>
                <a:spcPts val="3800"/>
              </a:lnSpc>
              <a:spcBef>
                <a:spcPts val="260"/>
              </a:spcBef>
            </a:pPr>
            <a:r>
              <a:rPr sz="3200" spc="-60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b="1" spc="10" dirty="0">
                <a:latin typeface="Arial"/>
                <a:cs typeface="Arial"/>
              </a:rPr>
              <a:t>reference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spc="25" dirty="0">
                <a:latin typeface="Arial MT"/>
                <a:cs typeface="Arial MT"/>
              </a:rPr>
              <a:t>operator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00" dirty="0">
                <a:latin typeface="Arial MT"/>
                <a:cs typeface="Arial MT"/>
              </a:rPr>
              <a:t>(&amp;)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used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retrieve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address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assigned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variable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00">
              <a:latin typeface="Arial MT"/>
              <a:cs typeface="Arial MT"/>
            </a:endParaRPr>
          </a:p>
          <a:p>
            <a:pPr marL="1117600">
              <a:lnSpc>
                <a:spcPts val="2950"/>
              </a:lnSpc>
              <a:tabLst>
                <a:tab pos="1879600" algn="l"/>
              </a:tabLst>
            </a:pPr>
            <a:r>
              <a:rPr sz="2500" dirty="0">
                <a:solidFill>
                  <a:srgbClr val="006DBC"/>
                </a:solidFill>
                <a:latin typeface="Courier New"/>
                <a:cs typeface="Courier New"/>
              </a:rPr>
              <a:t>int	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45" dirty="0"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=</a:t>
            </a:r>
            <a:r>
              <a:rPr sz="2500" spc="-40" dirty="0"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BF8F00"/>
                </a:solidFill>
                <a:latin typeface="Courier New"/>
                <a:cs typeface="Courier New"/>
              </a:rPr>
              <a:t>10</a:t>
            </a:r>
            <a:r>
              <a:rPr sz="2500" dirty="0"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1117600">
              <a:lnSpc>
                <a:spcPts val="2900"/>
              </a:lnSpc>
            </a:pPr>
            <a:r>
              <a:rPr sz="2500" spc="-5" dirty="0">
                <a:latin typeface="Courier New"/>
                <a:cs typeface="Courier New"/>
              </a:rPr>
              <a:t>cout</a:t>
            </a:r>
            <a:r>
              <a:rPr sz="2500" spc="-20" dirty="0">
                <a:latin typeface="Courier New"/>
                <a:cs typeface="Courier New"/>
              </a:rPr>
              <a:t> </a:t>
            </a:r>
            <a:r>
              <a:rPr sz="2500" spc="-5" dirty="0">
                <a:latin typeface="Courier New"/>
                <a:cs typeface="Courier New"/>
              </a:rPr>
              <a:t>&lt;&lt;</a:t>
            </a:r>
            <a:r>
              <a:rPr sz="2500" spc="-15" dirty="0">
                <a:latin typeface="Courier New"/>
                <a:cs typeface="Courier New"/>
              </a:rPr>
              <a:t> </a:t>
            </a:r>
            <a:r>
              <a:rPr sz="2500" spc="-5" dirty="0">
                <a:latin typeface="Courier New"/>
                <a:cs typeface="Courier New"/>
              </a:rPr>
              <a:t>x;</a:t>
            </a:r>
            <a:r>
              <a:rPr sz="2500" spc="-10" dirty="0">
                <a:latin typeface="Courier New"/>
                <a:cs typeface="Courier New"/>
              </a:rPr>
              <a:t> </a:t>
            </a:r>
            <a:r>
              <a:rPr sz="2500" i="1" spc="-5" dirty="0">
                <a:solidFill>
                  <a:srgbClr val="959395"/>
                </a:solidFill>
                <a:latin typeface="Courier New"/>
                <a:cs typeface="Courier New"/>
              </a:rPr>
              <a:t>//</a:t>
            </a:r>
            <a:r>
              <a:rPr sz="2500" i="1" spc="-15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2500" i="1" spc="-5" dirty="0">
                <a:solidFill>
                  <a:srgbClr val="959395"/>
                </a:solidFill>
                <a:latin typeface="Courier New"/>
                <a:cs typeface="Courier New"/>
              </a:rPr>
              <a:t>prints</a:t>
            </a:r>
            <a:r>
              <a:rPr sz="2500" i="1" spc="-15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2500" i="1" spc="-5" dirty="0">
                <a:solidFill>
                  <a:srgbClr val="959395"/>
                </a:solidFill>
                <a:latin typeface="Courier New"/>
                <a:cs typeface="Courier New"/>
              </a:rPr>
              <a:t>value</a:t>
            </a:r>
            <a:r>
              <a:rPr sz="2500" i="1" spc="-15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2500" i="1" dirty="0">
                <a:solidFill>
                  <a:srgbClr val="959395"/>
                </a:solidFill>
                <a:latin typeface="Courier New"/>
                <a:cs typeface="Courier New"/>
              </a:rPr>
              <a:t>10</a:t>
            </a:r>
            <a:endParaRPr sz="2500">
              <a:latin typeface="Courier New"/>
              <a:cs typeface="Courier New"/>
            </a:endParaRPr>
          </a:p>
          <a:p>
            <a:pPr marL="1117600">
              <a:lnSpc>
                <a:spcPts val="2950"/>
              </a:lnSpc>
            </a:pPr>
            <a:r>
              <a:rPr sz="2500" spc="-5" dirty="0">
                <a:latin typeface="Courier New"/>
                <a:cs typeface="Courier New"/>
              </a:rPr>
              <a:t>cout</a:t>
            </a:r>
            <a:r>
              <a:rPr sz="2500" spc="-15" dirty="0">
                <a:latin typeface="Courier New"/>
                <a:cs typeface="Courier New"/>
              </a:rPr>
              <a:t> </a:t>
            </a:r>
            <a:r>
              <a:rPr sz="2500" spc="-5" dirty="0">
                <a:latin typeface="Courier New"/>
                <a:cs typeface="Courier New"/>
              </a:rPr>
              <a:t>&lt;&lt;</a:t>
            </a:r>
            <a:r>
              <a:rPr sz="2500" spc="-10" dirty="0">
                <a:latin typeface="Courier New"/>
                <a:cs typeface="Courier New"/>
              </a:rPr>
              <a:t> </a:t>
            </a:r>
            <a:r>
              <a:rPr sz="2500" spc="-5" dirty="0">
                <a:latin typeface="Courier New"/>
                <a:cs typeface="Courier New"/>
              </a:rPr>
              <a:t>&amp;x; </a:t>
            </a:r>
            <a:r>
              <a:rPr sz="2500" i="1" spc="-5" dirty="0">
                <a:solidFill>
                  <a:srgbClr val="959395"/>
                </a:solidFill>
                <a:latin typeface="Courier New"/>
                <a:cs typeface="Courier New"/>
              </a:rPr>
              <a:t>//</a:t>
            </a:r>
            <a:r>
              <a:rPr sz="2500" i="1" spc="-10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2500" i="1" spc="-5" dirty="0">
                <a:solidFill>
                  <a:srgbClr val="959395"/>
                </a:solidFill>
                <a:latin typeface="Courier New"/>
                <a:cs typeface="Courier New"/>
              </a:rPr>
              <a:t>prints</a:t>
            </a:r>
            <a:r>
              <a:rPr sz="2500" i="1" spc="-10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2500" i="1" spc="-5" dirty="0">
                <a:solidFill>
                  <a:srgbClr val="959395"/>
                </a:solidFill>
                <a:latin typeface="Courier New"/>
                <a:cs typeface="Courier New"/>
              </a:rPr>
              <a:t>the</a:t>
            </a:r>
            <a:r>
              <a:rPr sz="2500" i="1" spc="-10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2500" i="1" spc="-5" dirty="0">
                <a:solidFill>
                  <a:srgbClr val="959395"/>
                </a:solidFill>
                <a:latin typeface="Courier New"/>
                <a:cs typeface="Courier New"/>
              </a:rPr>
              <a:t>memory</a:t>
            </a:r>
            <a:r>
              <a:rPr sz="2500" i="1" spc="-15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2500" i="1" spc="-5" dirty="0">
                <a:solidFill>
                  <a:srgbClr val="959395"/>
                </a:solidFill>
                <a:latin typeface="Courier New"/>
                <a:cs typeface="Courier New"/>
              </a:rPr>
              <a:t>address</a:t>
            </a:r>
            <a:r>
              <a:rPr sz="2500" i="1" spc="-10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2500" i="1" spc="-5" dirty="0">
                <a:solidFill>
                  <a:srgbClr val="959395"/>
                </a:solidFill>
                <a:latin typeface="Courier New"/>
                <a:cs typeface="Courier New"/>
              </a:rPr>
              <a:t>of</a:t>
            </a:r>
            <a:r>
              <a:rPr sz="2500" i="1" spc="-10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2500" i="1" dirty="0">
                <a:solidFill>
                  <a:srgbClr val="959395"/>
                </a:solidFill>
                <a:latin typeface="Courier New"/>
                <a:cs typeface="Courier New"/>
              </a:rPr>
              <a:t>x</a:t>
            </a:r>
            <a:endParaRPr sz="2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50">
              <a:latin typeface="Courier New"/>
              <a:cs typeface="Courier New"/>
            </a:endParaRPr>
          </a:p>
          <a:p>
            <a:pPr marL="12700" marR="5080">
              <a:lnSpc>
                <a:spcPct val="101600"/>
              </a:lnSpc>
            </a:pPr>
            <a:r>
              <a:rPr sz="3200" spc="-155" dirty="0">
                <a:latin typeface="Arial MT"/>
                <a:cs typeface="Arial MT"/>
              </a:rPr>
              <a:t>We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use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reference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operator</a:t>
            </a:r>
            <a:r>
              <a:rPr sz="3200" spc="10" dirty="0">
                <a:latin typeface="Arial MT"/>
                <a:cs typeface="Arial MT"/>
              </a:rPr>
              <a:t> when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using </a:t>
            </a:r>
            <a:r>
              <a:rPr sz="3200" spc="40" dirty="0">
                <a:latin typeface="Arial MT"/>
                <a:cs typeface="Arial MT"/>
              </a:rPr>
              <a:t>function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75" dirty="0">
                <a:latin typeface="Arial MT"/>
                <a:cs typeface="Arial MT"/>
              </a:rPr>
              <a:t>/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45" dirty="0">
                <a:latin typeface="Arial MT"/>
                <a:cs typeface="Arial MT"/>
              </a:rPr>
              <a:t>method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parameter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passing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i="1" spc="25" dirty="0">
                <a:latin typeface="Arial"/>
                <a:cs typeface="Arial"/>
              </a:rPr>
              <a:t>by</a:t>
            </a:r>
            <a:r>
              <a:rPr sz="3200" i="1" dirty="0">
                <a:latin typeface="Arial"/>
                <a:cs typeface="Arial"/>
              </a:rPr>
              <a:t> </a:t>
            </a:r>
            <a:r>
              <a:rPr sz="3200" i="1" spc="-20" dirty="0">
                <a:latin typeface="Arial"/>
                <a:cs typeface="Arial"/>
              </a:rPr>
              <a:t>reference.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3700" y="355600"/>
            <a:ext cx="714375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Dereference</a:t>
            </a:r>
            <a:r>
              <a:rPr spc="-25" dirty="0"/>
              <a:t> </a:t>
            </a:r>
            <a:r>
              <a:rPr spc="100" dirty="0"/>
              <a:t>Operator</a:t>
            </a:r>
            <a:r>
              <a:rPr spc="-20" dirty="0"/>
              <a:t> </a:t>
            </a:r>
            <a:r>
              <a:rPr spc="-220" dirty="0"/>
              <a:t>(*)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41500"/>
            <a:ext cx="1002792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sz="3200" spc="-60" dirty="0">
                <a:latin typeface="Arial MT"/>
                <a:cs typeface="Arial MT"/>
              </a:rPr>
              <a:t>The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b="1" spc="15" dirty="0">
                <a:latin typeface="Arial"/>
                <a:cs typeface="Arial"/>
              </a:rPr>
              <a:t>dereference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20" dirty="0">
                <a:latin typeface="Arial"/>
                <a:cs typeface="Arial"/>
              </a:rPr>
              <a:t>operator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60" dirty="0">
                <a:latin typeface="Arial"/>
                <a:cs typeface="Arial"/>
              </a:rPr>
              <a:t>(*)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spc="15" dirty="0">
                <a:latin typeface="Arial MT"/>
                <a:cs typeface="Arial MT"/>
              </a:rPr>
              <a:t>allows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you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access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-869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value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at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particular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address.</a:t>
            </a:r>
            <a:endParaRPr sz="32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76450" y="3393275"/>
          <a:ext cx="8634095" cy="146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6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3983">
                <a:tc>
                  <a:txBody>
                    <a:bodyPr/>
                    <a:lstStyle/>
                    <a:p>
                      <a:pPr marL="31750">
                        <a:lnSpc>
                          <a:spcPts val="2580"/>
                        </a:lnSpc>
                        <a:tabLst>
                          <a:tab pos="793750" algn="l"/>
                        </a:tabLst>
                      </a:pPr>
                      <a:r>
                        <a:rPr sz="2500" dirty="0">
                          <a:solidFill>
                            <a:srgbClr val="006DBC"/>
                          </a:solidFill>
                          <a:latin typeface="Courier New"/>
                          <a:cs typeface="Courier New"/>
                        </a:rPr>
                        <a:t>int	</a:t>
                      </a:r>
                      <a:r>
                        <a:rPr sz="250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25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dirty="0">
                          <a:latin typeface="Courier New"/>
                          <a:cs typeface="Courier New"/>
                        </a:rPr>
                        <a:t>=</a:t>
                      </a:r>
                      <a:endParaRPr sz="2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2580"/>
                        </a:lnSpc>
                      </a:pPr>
                      <a:r>
                        <a:rPr sz="2500" dirty="0">
                          <a:solidFill>
                            <a:srgbClr val="BF8F00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r>
                        <a:rPr sz="2500" dirty="0">
                          <a:latin typeface="Courier New"/>
                          <a:cs typeface="Courier New"/>
                        </a:rPr>
                        <a:t>;</a:t>
                      </a:r>
                      <a:endParaRPr sz="2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ts val="2615"/>
                        </a:lnSpc>
                      </a:pPr>
                      <a:r>
                        <a:rPr sz="2500" spc="-5" dirty="0">
                          <a:latin typeface="Courier New"/>
                          <a:cs typeface="Courier New"/>
                        </a:rPr>
                        <a:t>cout</a:t>
                      </a:r>
                      <a:r>
                        <a:rPr sz="25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spc="-5" dirty="0">
                          <a:latin typeface="Courier New"/>
                          <a:cs typeface="Courier New"/>
                        </a:rPr>
                        <a:t>&lt;&lt;</a:t>
                      </a:r>
                      <a:endParaRPr sz="2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15"/>
                        </a:lnSpc>
                      </a:pPr>
                      <a:r>
                        <a:rPr sz="2500" spc="-5" dirty="0">
                          <a:latin typeface="Courier New"/>
                          <a:cs typeface="Courier New"/>
                        </a:rPr>
                        <a:t>x;</a:t>
                      </a:r>
                      <a:r>
                        <a:rPr sz="25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i="1" spc="-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2500" i="1" spc="-2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i="1" spc="-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prints</a:t>
                      </a:r>
                      <a:r>
                        <a:rPr sz="2500" i="1" spc="-20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i="1" spc="-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value</a:t>
                      </a:r>
                      <a:r>
                        <a:rPr sz="2500" i="1" spc="-2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i="1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2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ts val="2615"/>
                        </a:lnSpc>
                      </a:pPr>
                      <a:r>
                        <a:rPr sz="2500" spc="-5" dirty="0">
                          <a:latin typeface="Courier New"/>
                          <a:cs typeface="Courier New"/>
                        </a:rPr>
                        <a:t>cout</a:t>
                      </a:r>
                      <a:r>
                        <a:rPr sz="25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spc="-5" dirty="0">
                          <a:latin typeface="Courier New"/>
                          <a:cs typeface="Courier New"/>
                        </a:rPr>
                        <a:t>&lt;&lt;</a:t>
                      </a:r>
                      <a:endParaRPr sz="2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15"/>
                        </a:lnSpc>
                      </a:pPr>
                      <a:r>
                        <a:rPr sz="2500" spc="-5" dirty="0">
                          <a:latin typeface="Courier New"/>
                          <a:cs typeface="Courier New"/>
                        </a:rPr>
                        <a:t>&amp;x;</a:t>
                      </a:r>
                      <a:r>
                        <a:rPr sz="25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i="1" spc="-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2500" i="1" spc="-2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i="1" spc="-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prints</a:t>
                      </a:r>
                      <a:r>
                        <a:rPr sz="2500" i="1" spc="-20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i="1" spc="-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2500" i="1" spc="-2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i="1" spc="-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memory</a:t>
                      </a:r>
                      <a:endParaRPr sz="2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2615"/>
                        </a:lnSpc>
                      </a:pPr>
                      <a:r>
                        <a:rPr sz="2500" i="1" spc="-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address</a:t>
                      </a:r>
                      <a:endParaRPr sz="2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2615"/>
                        </a:lnSpc>
                      </a:pPr>
                      <a:r>
                        <a:rPr sz="2500" i="1" spc="-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of</a:t>
                      </a:r>
                      <a:endParaRPr sz="2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2615"/>
                        </a:lnSpc>
                      </a:pPr>
                      <a:r>
                        <a:rPr sz="2500" i="1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x</a:t>
                      </a:r>
                      <a:endParaRPr sz="2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983">
                <a:tc>
                  <a:txBody>
                    <a:bodyPr/>
                    <a:lstStyle/>
                    <a:p>
                      <a:pPr marL="31750">
                        <a:lnSpc>
                          <a:spcPts val="2615"/>
                        </a:lnSpc>
                      </a:pPr>
                      <a:r>
                        <a:rPr sz="2500" spc="-5" dirty="0">
                          <a:latin typeface="Courier New"/>
                          <a:cs typeface="Courier New"/>
                        </a:rPr>
                        <a:t>cout</a:t>
                      </a:r>
                      <a:r>
                        <a:rPr sz="25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spc="-5" dirty="0">
                          <a:latin typeface="Courier New"/>
                          <a:cs typeface="Courier New"/>
                        </a:rPr>
                        <a:t>&lt;&lt;</a:t>
                      </a:r>
                      <a:endParaRPr sz="2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15"/>
                        </a:lnSpc>
                      </a:pPr>
                      <a:r>
                        <a:rPr sz="2500" spc="-5" dirty="0">
                          <a:latin typeface="Courier New"/>
                          <a:cs typeface="Courier New"/>
                        </a:rPr>
                        <a:t>*&amp;x;</a:t>
                      </a:r>
                      <a:r>
                        <a:rPr sz="25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i="1" spc="-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2500" i="1" spc="-2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i="1" spc="-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prints</a:t>
                      </a:r>
                      <a:r>
                        <a:rPr sz="2500" i="1" spc="-20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i="1" spc="-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2500" i="1" spc="-2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00" i="1" spc="-5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value</a:t>
                      </a:r>
                      <a:endParaRPr sz="2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2615"/>
                        </a:lnSpc>
                      </a:pPr>
                      <a:r>
                        <a:rPr sz="2500" i="1" dirty="0">
                          <a:solidFill>
                            <a:srgbClr val="959395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2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343834" y="8920566"/>
            <a:ext cx="3248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example: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spc="15" dirty="0">
                <a:latin typeface="Arial MT"/>
                <a:cs typeface="Arial MT"/>
              </a:rPr>
              <a:t>variables.cpp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0500" y="355600"/>
            <a:ext cx="246062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41500"/>
            <a:ext cx="10850245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b="1" spc="-5" dirty="0">
                <a:latin typeface="Arial"/>
                <a:cs typeface="Arial"/>
              </a:rPr>
              <a:t>Pointer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variable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that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contains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spc="5" dirty="0">
                <a:latin typeface="Arial MT"/>
                <a:cs typeface="Arial MT"/>
              </a:rPr>
              <a:t> address </a:t>
            </a:r>
            <a:r>
              <a:rPr sz="3200" spc="55" dirty="0">
                <a:latin typeface="Arial MT"/>
                <a:cs typeface="Arial MT"/>
              </a:rPr>
              <a:t>of </a:t>
            </a:r>
            <a:r>
              <a:rPr sz="3200" spc="-869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another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location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that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contains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information.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8268" y="4704144"/>
            <a:ext cx="2082164" cy="1661160"/>
          </a:xfrm>
          <a:prstGeom prst="rect">
            <a:avLst/>
          </a:prstGeom>
          <a:ln w="63500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395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</a:pPr>
            <a:r>
              <a:rPr sz="3200" spc="15" dirty="0">
                <a:latin typeface="Arial MT"/>
                <a:cs typeface="Arial MT"/>
              </a:rPr>
              <a:t>0x1234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8000" y="4013200"/>
            <a:ext cx="1036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0x0234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700" y="5334000"/>
            <a:ext cx="1075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Pointer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88500" y="5334000"/>
            <a:ext cx="1131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" dirty="0">
                <a:latin typeface="Arial"/>
                <a:cs typeface="Arial"/>
              </a:rPr>
              <a:t>Pointee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23856" y="4704144"/>
            <a:ext cx="2082164" cy="1661160"/>
          </a:xfrm>
          <a:prstGeom prst="rect">
            <a:avLst/>
          </a:prstGeom>
          <a:ln w="63500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3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200" spc="-5" dirty="0">
                <a:latin typeface="Arial MT"/>
                <a:cs typeface="Arial MT"/>
              </a:rPr>
              <a:t>10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0" y="4076700"/>
            <a:ext cx="1036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0x1234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48510" y="5439874"/>
            <a:ext cx="1927860" cy="121920"/>
            <a:chOff x="4948510" y="5439874"/>
            <a:chExt cx="1927860" cy="121920"/>
          </a:xfrm>
        </p:grpSpPr>
        <p:sp>
          <p:nvSpPr>
            <p:cNvPr id="11" name="object 11"/>
            <p:cNvSpPr/>
            <p:nvPr/>
          </p:nvSpPr>
          <p:spPr>
            <a:xfrm>
              <a:off x="4948510" y="5500834"/>
              <a:ext cx="1818639" cy="0"/>
            </a:xfrm>
            <a:custGeom>
              <a:avLst/>
              <a:gdLst/>
              <a:ahLst/>
              <a:cxnLst/>
              <a:rect l="l" t="t" r="r" b="b"/>
              <a:pathLst>
                <a:path w="1818640">
                  <a:moveTo>
                    <a:pt x="0" y="0"/>
                  </a:moveTo>
                  <a:lnTo>
                    <a:pt x="1805341" y="0"/>
                  </a:lnTo>
                  <a:lnTo>
                    <a:pt x="1818041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53852" y="5439874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0300" y="355600"/>
            <a:ext cx="566039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Pointer</a:t>
            </a:r>
            <a:r>
              <a:rPr spc="-85" dirty="0"/>
              <a:t> </a:t>
            </a:r>
            <a:r>
              <a:rPr spc="100" dirty="0"/>
              <a:t>Declaration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28800"/>
            <a:ext cx="10940415" cy="27736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5"/>
              </a:spcBef>
            </a:pPr>
            <a:r>
              <a:rPr sz="3200" spc="-215" dirty="0">
                <a:latin typeface="Arial MT"/>
                <a:cs typeface="Arial MT"/>
              </a:rPr>
              <a:t>To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declare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pointer,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you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need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specify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variable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type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of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i="1" spc="20" dirty="0">
                <a:latin typeface="Arial"/>
                <a:cs typeface="Arial"/>
              </a:rPr>
              <a:t>pointee </a:t>
            </a:r>
            <a:r>
              <a:rPr sz="3200" spc="15" dirty="0">
                <a:latin typeface="Arial MT"/>
                <a:cs typeface="Arial MT"/>
              </a:rPr>
              <a:t>and </a:t>
            </a:r>
            <a:r>
              <a:rPr sz="3200" spc="20" dirty="0">
                <a:latin typeface="Arial MT"/>
                <a:cs typeface="Arial MT"/>
              </a:rPr>
              <a:t>provide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5" dirty="0">
                <a:latin typeface="Arial MT"/>
                <a:cs typeface="Arial MT"/>
              </a:rPr>
              <a:t>asterisk </a:t>
            </a:r>
            <a:r>
              <a:rPr sz="3200" spc="20" dirty="0">
                <a:latin typeface="Arial MT"/>
                <a:cs typeface="Arial MT"/>
              </a:rPr>
              <a:t>between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25" dirty="0">
                <a:latin typeface="Arial MT"/>
                <a:cs typeface="Arial MT"/>
              </a:rPr>
              <a:t>data </a:t>
            </a:r>
            <a:r>
              <a:rPr sz="3200" spc="40" dirty="0">
                <a:latin typeface="Arial MT"/>
                <a:cs typeface="Arial MT"/>
              </a:rPr>
              <a:t>type 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and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name.</a:t>
            </a:r>
            <a:endParaRPr sz="3200">
              <a:latin typeface="Arial MT"/>
              <a:cs typeface="Arial MT"/>
            </a:endParaRPr>
          </a:p>
          <a:p>
            <a:pPr marL="3797300" marR="3964940">
              <a:lnSpc>
                <a:spcPts val="3700"/>
              </a:lnSpc>
              <a:spcBef>
                <a:spcPts val="2800"/>
              </a:spcBef>
              <a:tabLst>
                <a:tab pos="4772660" algn="l"/>
                <a:tab pos="5504180" algn="l"/>
              </a:tabLst>
            </a:pP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int	</a:t>
            </a:r>
            <a:r>
              <a:rPr sz="3200" spc="-5" dirty="0">
                <a:latin typeface="Courier New"/>
                <a:cs typeface="Courier New"/>
              </a:rPr>
              <a:t>*iPtr; 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double	</a:t>
            </a:r>
            <a:r>
              <a:rPr sz="3200" spc="-5" dirty="0">
                <a:latin typeface="Courier New"/>
                <a:cs typeface="Courier New"/>
              </a:rPr>
              <a:t>*dPtr;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5880100"/>
            <a:ext cx="11601450" cy="3432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5" dirty="0">
                <a:latin typeface="Arial MT"/>
                <a:cs typeface="Arial MT"/>
              </a:rPr>
              <a:t>It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best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practice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declare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pointers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on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their </a:t>
            </a:r>
            <a:r>
              <a:rPr sz="3200" spc="55" dirty="0">
                <a:latin typeface="Arial MT"/>
                <a:cs typeface="Arial MT"/>
              </a:rPr>
              <a:t>own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lines.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Arial MT"/>
              <a:cs typeface="Arial MT"/>
            </a:endParaRPr>
          </a:p>
          <a:p>
            <a:pPr marL="12700" marR="680720">
              <a:lnSpc>
                <a:spcPts val="3800"/>
              </a:lnSpc>
            </a:pPr>
            <a:r>
              <a:rPr sz="3200" spc="25" dirty="0">
                <a:latin typeface="Arial MT"/>
                <a:cs typeface="Arial MT"/>
              </a:rPr>
              <a:t>It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also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best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practice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define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function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return </a:t>
            </a:r>
            <a:r>
              <a:rPr sz="3200" spc="40" dirty="0">
                <a:latin typeface="Arial MT"/>
                <a:cs typeface="Arial MT"/>
              </a:rPr>
              <a:t>type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-35" dirty="0">
                <a:latin typeface="Arial MT"/>
                <a:cs typeface="Arial MT"/>
              </a:rPr>
              <a:t>as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pointer </a:t>
            </a:r>
            <a:r>
              <a:rPr sz="3200" spc="55" dirty="0">
                <a:latin typeface="Arial MT"/>
                <a:cs typeface="Arial MT"/>
              </a:rPr>
              <a:t>with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5" dirty="0">
                <a:latin typeface="Arial MT"/>
                <a:cs typeface="Arial MT"/>
              </a:rPr>
              <a:t>asterisks </a:t>
            </a:r>
            <a:r>
              <a:rPr sz="3200" spc="25" dirty="0">
                <a:latin typeface="Arial MT"/>
                <a:cs typeface="Arial MT"/>
              </a:rPr>
              <a:t>next </a:t>
            </a:r>
            <a:r>
              <a:rPr sz="3200" spc="85" dirty="0">
                <a:latin typeface="Arial MT"/>
                <a:cs typeface="Arial MT"/>
              </a:rPr>
              <a:t>to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25" dirty="0">
                <a:latin typeface="Arial MT"/>
                <a:cs typeface="Arial MT"/>
              </a:rPr>
              <a:t>data </a:t>
            </a:r>
            <a:r>
              <a:rPr sz="3200" spc="35" dirty="0">
                <a:latin typeface="Arial MT"/>
                <a:cs typeface="Arial MT"/>
              </a:rPr>
              <a:t>type, </a:t>
            </a:r>
            <a:r>
              <a:rPr sz="3200" spc="55" dirty="0">
                <a:latin typeface="Arial MT"/>
                <a:cs typeface="Arial MT"/>
              </a:rPr>
              <a:t>not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20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function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name.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tabLst>
                <a:tab pos="1483360" algn="l"/>
              </a:tabLst>
            </a:pPr>
            <a:r>
              <a:rPr sz="2400" b="1" spc="-10" dirty="0">
                <a:latin typeface="Arial"/>
                <a:cs typeface="Arial"/>
              </a:rPr>
              <a:t>example:	</a:t>
            </a:r>
            <a:r>
              <a:rPr sz="2400" spc="35" dirty="0">
                <a:latin typeface="Arial MT"/>
                <a:cs typeface="Arial MT"/>
              </a:rPr>
              <a:t>pointers.cpp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9500" y="355600"/>
            <a:ext cx="57658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Pointer</a:t>
            </a:r>
            <a:r>
              <a:rPr spc="-85" dirty="0"/>
              <a:t> </a:t>
            </a:r>
            <a:r>
              <a:rPr spc="110" dirty="0"/>
              <a:t>Assignment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41500"/>
            <a:ext cx="10339070" cy="14782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sz="3200" spc="-10" dirty="0">
                <a:latin typeface="Arial MT"/>
                <a:cs typeface="Arial MT"/>
              </a:rPr>
              <a:t>Remember </a:t>
            </a:r>
            <a:r>
              <a:rPr sz="3200" spc="40" dirty="0">
                <a:latin typeface="Arial MT"/>
                <a:cs typeface="Arial MT"/>
              </a:rPr>
              <a:t>that </a:t>
            </a:r>
            <a:r>
              <a:rPr sz="3200" spc="25" dirty="0">
                <a:latin typeface="Arial MT"/>
                <a:cs typeface="Arial MT"/>
              </a:rPr>
              <a:t>pointers </a:t>
            </a:r>
            <a:r>
              <a:rPr sz="3200" i="1" spc="-5" dirty="0">
                <a:latin typeface="Arial"/>
                <a:cs typeface="Arial"/>
              </a:rPr>
              <a:t>only </a:t>
            </a:r>
            <a:r>
              <a:rPr sz="3200" spc="40" dirty="0">
                <a:latin typeface="Arial MT"/>
                <a:cs typeface="Arial MT"/>
              </a:rPr>
              <a:t>hold </a:t>
            </a:r>
            <a:r>
              <a:rPr sz="3200" spc="-65" dirty="0">
                <a:latin typeface="Arial MT"/>
                <a:cs typeface="Arial MT"/>
              </a:rPr>
              <a:t>a </a:t>
            </a:r>
            <a:r>
              <a:rPr sz="3200" b="1" spc="5" dirty="0">
                <a:latin typeface="Arial"/>
                <a:cs typeface="Arial"/>
              </a:rPr>
              <a:t>memory </a:t>
            </a:r>
            <a:r>
              <a:rPr sz="3200" b="1" spc="-10" dirty="0">
                <a:latin typeface="Arial"/>
                <a:cs typeface="Arial"/>
              </a:rPr>
              <a:t>address</a:t>
            </a:r>
            <a:r>
              <a:rPr sz="3200" spc="-10" dirty="0">
                <a:latin typeface="Arial MT"/>
                <a:cs typeface="Arial MT"/>
              </a:rPr>
              <a:t>. 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30" dirty="0">
                <a:latin typeface="Arial MT"/>
                <a:cs typeface="Arial MT"/>
              </a:rPr>
              <a:t>When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we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assign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value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pointer,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value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45" dirty="0">
                <a:latin typeface="Arial MT"/>
                <a:cs typeface="Arial MT"/>
              </a:rPr>
              <a:t>must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be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address.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4864100"/>
            <a:ext cx="7958455" cy="196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spc="-15" dirty="0">
                <a:latin typeface="Arial"/>
                <a:cs typeface="Arial"/>
              </a:rPr>
              <a:t>Draw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i="1" spc="15" dirty="0">
                <a:latin typeface="Arial"/>
                <a:cs typeface="Arial"/>
              </a:rPr>
              <a:t>the</a:t>
            </a:r>
            <a:r>
              <a:rPr sz="3200" i="1" spc="5" dirty="0">
                <a:latin typeface="Arial"/>
                <a:cs typeface="Arial"/>
              </a:rPr>
              <a:t> memory </a:t>
            </a:r>
            <a:r>
              <a:rPr sz="3200" i="1" spc="-5" dirty="0">
                <a:latin typeface="Arial"/>
                <a:cs typeface="Arial"/>
              </a:rPr>
              <a:t>diagram</a:t>
            </a:r>
            <a:r>
              <a:rPr sz="3200" i="1" spc="10" dirty="0">
                <a:latin typeface="Arial"/>
                <a:cs typeface="Arial"/>
              </a:rPr>
              <a:t> </a:t>
            </a:r>
            <a:r>
              <a:rPr sz="3200" i="1" spc="35" dirty="0">
                <a:latin typeface="Arial"/>
                <a:cs typeface="Arial"/>
              </a:rPr>
              <a:t>for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i="1" spc="15" dirty="0">
                <a:latin typeface="Arial"/>
                <a:cs typeface="Arial"/>
              </a:rPr>
              <a:t>the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i="1" spc="30" dirty="0">
                <a:latin typeface="Arial"/>
                <a:cs typeface="Arial"/>
              </a:rPr>
              <a:t>following: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>
              <a:latin typeface="Arial"/>
              <a:cs typeface="Arial"/>
            </a:endParaRPr>
          </a:p>
          <a:p>
            <a:pPr marL="3187700" marR="373380">
              <a:lnSpc>
                <a:spcPts val="3700"/>
              </a:lnSpc>
              <a:tabLst>
                <a:tab pos="4163060" algn="l"/>
              </a:tabLst>
            </a:pP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int	</a:t>
            </a:r>
            <a:r>
              <a:rPr sz="3200" spc="-5" dirty="0">
                <a:latin typeface="Courier New"/>
                <a:cs typeface="Courier New"/>
              </a:rPr>
              <a:t>value</a:t>
            </a:r>
            <a:r>
              <a:rPr sz="3200" spc="191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1920" dirty="0"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BF8F00"/>
                </a:solidFill>
                <a:latin typeface="Courier New"/>
                <a:cs typeface="Courier New"/>
              </a:rPr>
              <a:t>5</a:t>
            </a:r>
            <a:r>
              <a:rPr sz="3200" dirty="0">
                <a:latin typeface="Courier New"/>
                <a:cs typeface="Courier New"/>
              </a:rPr>
              <a:t>; </a:t>
            </a:r>
            <a:r>
              <a:rPr sz="3200" spc="5" dirty="0"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int	</a:t>
            </a:r>
            <a:r>
              <a:rPr sz="3200" spc="-5" dirty="0">
                <a:latin typeface="Courier New"/>
                <a:cs typeface="Courier New"/>
              </a:rPr>
              <a:t>*ptr</a:t>
            </a:r>
            <a:r>
              <a:rPr sz="3200" spc="-5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5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&amp;value;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96614" y="8920566"/>
            <a:ext cx="3395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6060" algn="l"/>
              </a:tabLst>
            </a:pPr>
            <a:r>
              <a:rPr sz="2400" b="1" spc="-10" dirty="0">
                <a:latin typeface="Arial"/>
                <a:cs typeface="Arial"/>
              </a:rPr>
              <a:t>example:	</a:t>
            </a:r>
            <a:r>
              <a:rPr sz="2400" spc="30" dirty="0">
                <a:latin typeface="Arial MT"/>
                <a:cs typeface="Arial MT"/>
              </a:rPr>
              <a:t>pointers2.cpp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62600" y="355600"/>
            <a:ext cx="18834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/>
              <a:t>nullptr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41500"/>
            <a:ext cx="10472420" cy="20243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60"/>
              </a:spcBef>
            </a:pPr>
            <a:r>
              <a:rPr sz="3200" b="1" spc="-30" dirty="0">
                <a:latin typeface="Arial"/>
                <a:cs typeface="Arial"/>
              </a:rPr>
              <a:t>nullptr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235" dirty="0">
                <a:latin typeface="Arial"/>
                <a:cs typeface="Arial"/>
              </a:rPr>
              <a:t>-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spc="-5" dirty="0">
                <a:latin typeface="Arial MT"/>
                <a:cs typeface="Arial MT"/>
              </a:rPr>
              <a:t>null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pointer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keyword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spc="10" dirty="0">
                <a:latin typeface="Arial MT"/>
                <a:cs typeface="Arial MT"/>
              </a:rPr>
              <a:t> used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indicate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pointer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45" dirty="0">
                <a:latin typeface="Arial MT"/>
                <a:cs typeface="Arial MT"/>
              </a:rPr>
              <a:t>points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nothing.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pointer</a:t>
            </a:r>
            <a:r>
              <a:rPr sz="3200" spc="5" dirty="0">
                <a:latin typeface="Arial MT"/>
                <a:cs typeface="Arial MT"/>
              </a:rPr>
              <a:t> assigned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i="1" spc="30" dirty="0">
                <a:latin typeface="Arial"/>
                <a:cs typeface="Arial"/>
              </a:rPr>
              <a:t>nullptr</a:t>
            </a:r>
            <a:r>
              <a:rPr sz="3200" i="1" dirty="0">
                <a:latin typeface="Arial"/>
                <a:cs typeface="Arial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said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be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null.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48025" y="8920566"/>
            <a:ext cx="2943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6060" algn="l"/>
              </a:tabLst>
            </a:pPr>
            <a:r>
              <a:rPr sz="2400" b="1" spc="-10" dirty="0">
                <a:latin typeface="Arial"/>
                <a:cs typeface="Arial"/>
              </a:rPr>
              <a:t>example:	</a:t>
            </a:r>
            <a:r>
              <a:rPr sz="2400" spc="15" dirty="0">
                <a:latin typeface="Arial MT"/>
                <a:cs typeface="Arial MT"/>
              </a:rPr>
              <a:t>nullptr.cpp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8268" y="5461386"/>
            <a:ext cx="2082164" cy="1661160"/>
          </a:xfrm>
          <a:prstGeom prst="rect">
            <a:avLst/>
          </a:prstGeom>
          <a:ln w="635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3900">
              <a:latin typeface="Times New Roman"/>
              <a:cs typeface="Times New Roman"/>
            </a:endParaRPr>
          </a:p>
          <a:p>
            <a:pPr marL="5715" algn="ctr">
              <a:lnSpc>
                <a:spcPct val="100000"/>
              </a:lnSpc>
            </a:pPr>
            <a:r>
              <a:rPr sz="3200" spc="35" dirty="0">
                <a:latin typeface="Arial MT"/>
                <a:cs typeface="Arial MT"/>
              </a:rPr>
              <a:t>0x0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8000" y="4775200"/>
            <a:ext cx="1036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0x0234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5700" y="6083300"/>
            <a:ext cx="1075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Pointer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4300" y="355600"/>
            <a:ext cx="516572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Dynamic</a:t>
            </a:r>
            <a:r>
              <a:rPr spc="-65" dirty="0"/>
              <a:t> </a:t>
            </a:r>
            <a:r>
              <a:rPr spc="135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28800"/>
            <a:ext cx="10526395" cy="404367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5"/>
              </a:spcBef>
            </a:pPr>
            <a:r>
              <a:rPr sz="3200" spc="-35" dirty="0">
                <a:latin typeface="Arial MT"/>
                <a:cs typeface="Arial MT"/>
              </a:rPr>
              <a:t>In </a:t>
            </a:r>
            <a:r>
              <a:rPr sz="3200" spc="25" dirty="0">
                <a:latin typeface="Arial MT"/>
                <a:cs typeface="Arial MT"/>
              </a:rPr>
              <a:t>this </a:t>
            </a:r>
            <a:r>
              <a:rPr sz="3200" spc="5" dirty="0">
                <a:latin typeface="Arial MT"/>
                <a:cs typeface="Arial MT"/>
              </a:rPr>
              <a:t>class, </a:t>
            </a:r>
            <a:r>
              <a:rPr sz="3200" spc="55" dirty="0">
                <a:latin typeface="Arial MT"/>
                <a:cs typeface="Arial MT"/>
              </a:rPr>
              <a:t>up </a:t>
            </a:r>
            <a:r>
              <a:rPr sz="3200" spc="20" dirty="0">
                <a:latin typeface="Arial MT"/>
                <a:cs typeface="Arial MT"/>
              </a:rPr>
              <a:t>until </a:t>
            </a:r>
            <a:r>
              <a:rPr sz="3200" spc="25" dirty="0">
                <a:latin typeface="Arial MT"/>
                <a:cs typeface="Arial MT"/>
              </a:rPr>
              <a:t>this </a:t>
            </a:r>
            <a:r>
              <a:rPr sz="3200" spc="45" dirty="0">
                <a:latin typeface="Arial MT"/>
                <a:cs typeface="Arial MT"/>
              </a:rPr>
              <a:t>point, </a:t>
            </a:r>
            <a:r>
              <a:rPr sz="3200" spc="25" dirty="0">
                <a:latin typeface="Arial MT"/>
                <a:cs typeface="Arial MT"/>
              </a:rPr>
              <a:t>we </a:t>
            </a:r>
            <a:r>
              <a:rPr sz="3200" spc="-35" dirty="0">
                <a:latin typeface="Arial MT"/>
                <a:cs typeface="Arial MT"/>
              </a:rPr>
              <a:t>have </a:t>
            </a:r>
            <a:r>
              <a:rPr sz="3200" spc="10" dirty="0">
                <a:latin typeface="Arial MT"/>
                <a:cs typeface="Arial MT"/>
              </a:rPr>
              <a:t>only </a:t>
            </a:r>
            <a:r>
              <a:rPr sz="3200" spc="-5" dirty="0">
                <a:latin typeface="Arial MT"/>
                <a:cs typeface="Arial MT"/>
              </a:rPr>
              <a:t>been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concerned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with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data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75" dirty="0">
                <a:latin typeface="Arial MT"/>
                <a:cs typeface="Arial MT"/>
              </a:rPr>
              <a:t>/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that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has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been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allocated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on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i="1" spc="-5" dirty="0">
                <a:latin typeface="Arial"/>
                <a:cs typeface="Arial"/>
              </a:rPr>
              <a:t>stack.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650">
              <a:latin typeface="Arial"/>
              <a:cs typeface="Arial"/>
            </a:endParaRPr>
          </a:p>
          <a:p>
            <a:pPr marL="12700" marR="354965">
              <a:lnSpc>
                <a:spcPct val="101600"/>
              </a:lnSpc>
              <a:spcBef>
                <a:spcPts val="5"/>
              </a:spcBef>
            </a:pPr>
            <a:r>
              <a:rPr sz="3200" spc="15" dirty="0">
                <a:latin typeface="Arial MT"/>
                <a:cs typeface="Arial MT"/>
              </a:rPr>
              <a:t>With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b="1" spc="-5" dirty="0">
                <a:latin typeface="Arial"/>
                <a:cs typeface="Arial"/>
              </a:rPr>
              <a:t>Dynamic </a:t>
            </a:r>
            <a:r>
              <a:rPr sz="3200" b="1" spc="35" dirty="0">
                <a:latin typeface="Arial"/>
                <a:cs typeface="Arial"/>
              </a:rPr>
              <a:t>Memory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20" dirty="0">
                <a:latin typeface="Arial"/>
                <a:cs typeface="Arial"/>
              </a:rPr>
              <a:t>Allocation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spc="-5" dirty="0">
                <a:latin typeface="Arial MT"/>
                <a:cs typeface="Arial MT"/>
              </a:rPr>
              <a:t> is </a:t>
            </a:r>
            <a:r>
              <a:rPr sz="3200" spc="25" dirty="0">
                <a:latin typeface="Arial MT"/>
                <a:cs typeface="Arial MT"/>
              </a:rPr>
              <a:t>allocated </a:t>
            </a:r>
            <a:r>
              <a:rPr sz="3200" spc="-88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during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i="1" spc="10" dirty="0">
                <a:latin typeface="Arial"/>
                <a:cs typeface="Arial"/>
              </a:rPr>
              <a:t>runtime.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200" spc="5" dirty="0">
                <a:latin typeface="Arial MT"/>
                <a:cs typeface="Arial MT"/>
              </a:rPr>
              <a:t>Dynamic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Memory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allocation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uses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b="1" spc="35" dirty="0">
                <a:latin typeface="Arial"/>
                <a:cs typeface="Arial"/>
              </a:rPr>
              <a:t>Heap.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0" y="355600"/>
            <a:ext cx="38220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C++</a:t>
            </a:r>
            <a:r>
              <a:rPr spc="-60" dirty="0"/>
              <a:t> </a:t>
            </a:r>
            <a:r>
              <a:rPr spc="135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744979"/>
            <a:ext cx="20637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50" b="1" dirty="0">
                <a:latin typeface="Arial"/>
                <a:cs typeface="Arial"/>
              </a:rPr>
              <a:t>•</a:t>
            </a:r>
            <a:endParaRPr sz="4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100" y="1841500"/>
            <a:ext cx="36341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Arial"/>
                <a:cs typeface="Arial"/>
              </a:rPr>
              <a:t>4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35" dirty="0">
                <a:latin typeface="Arial"/>
                <a:cs typeface="Arial"/>
              </a:rPr>
              <a:t>Main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30" dirty="0">
                <a:latin typeface="Arial"/>
                <a:cs typeface="Arial"/>
              </a:rPr>
              <a:t>Memory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5" dirty="0">
                <a:latin typeface="Arial"/>
                <a:cs typeface="Arial"/>
              </a:rPr>
              <a:t>Parts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5100" y="2303779"/>
            <a:ext cx="206375" cy="2320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4630"/>
              </a:lnSpc>
              <a:spcBef>
                <a:spcPts val="110"/>
              </a:spcBef>
            </a:pPr>
            <a:r>
              <a:rPr sz="4050" dirty="0">
                <a:latin typeface="Arial MT"/>
                <a:cs typeface="Arial MT"/>
              </a:rPr>
              <a:t>•</a:t>
            </a:r>
            <a:endParaRPr sz="4050">
              <a:latin typeface="Arial MT"/>
              <a:cs typeface="Arial MT"/>
            </a:endParaRPr>
          </a:p>
          <a:p>
            <a:pPr marL="12700">
              <a:lnSpc>
                <a:spcPts val="4400"/>
              </a:lnSpc>
            </a:pPr>
            <a:r>
              <a:rPr sz="4050" dirty="0">
                <a:latin typeface="Arial MT"/>
                <a:cs typeface="Arial MT"/>
              </a:rPr>
              <a:t>•</a:t>
            </a:r>
            <a:endParaRPr sz="4050">
              <a:latin typeface="Arial MT"/>
              <a:cs typeface="Arial MT"/>
            </a:endParaRPr>
          </a:p>
          <a:p>
            <a:pPr marL="12700">
              <a:lnSpc>
                <a:spcPts val="4400"/>
              </a:lnSpc>
            </a:pPr>
            <a:r>
              <a:rPr sz="4050" dirty="0">
                <a:latin typeface="Arial MT"/>
                <a:cs typeface="Arial MT"/>
              </a:rPr>
              <a:t>•</a:t>
            </a:r>
            <a:endParaRPr sz="4050">
              <a:latin typeface="Arial MT"/>
              <a:cs typeface="Arial MT"/>
            </a:endParaRPr>
          </a:p>
          <a:p>
            <a:pPr marL="12700">
              <a:lnSpc>
                <a:spcPts val="4630"/>
              </a:lnSpc>
            </a:pPr>
            <a:r>
              <a:rPr sz="4050" dirty="0">
                <a:latin typeface="Arial MT"/>
                <a:cs typeface="Arial MT"/>
              </a:rPr>
              <a:t>•</a:t>
            </a:r>
            <a:endParaRPr sz="4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9600" y="2268220"/>
            <a:ext cx="4852670" cy="226060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800" spc="20" dirty="0">
                <a:latin typeface="Arial MT"/>
                <a:cs typeface="Arial MT"/>
              </a:rPr>
              <a:t>Code</a:t>
            </a: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ts val="4400"/>
              </a:lnSpc>
              <a:spcBef>
                <a:spcPts val="320"/>
              </a:spcBef>
            </a:pPr>
            <a:r>
              <a:rPr sz="2800" spc="30" dirty="0">
                <a:latin typeface="Arial MT"/>
                <a:cs typeface="Arial MT"/>
              </a:rPr>
              <a:t>Static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(Global)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45" dirty="0">
                <a:latin typeface="Arial MT"/>
                <a:cs typeface="Arial MT"/>
              </a:rPr>
              <a:t>Variables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150" dirty="0">
                <a:latin typeface="Arial MT"/>
                <a:cs typeface="Arial MT"/>
              </a:rPr>
              <a:t>/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5" dirty="0">
                <a:latin typeface="Arial MT"/>
                <a:cs typeface="Arial MT"/>
              </a:rPr>
              <a:t>Data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30" dirty="0">
                <a:latin typeface="Arial MT"/>
                <a:cs typeface="Arial MT"/>
              </a:rPr>
              <a:t>Stack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Arial MT"/>
                <a:cs typeface="Arial MT"/>
              </a:rPr>
              <a:t>Heap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600" y="5097779"/>
            <a:ext cx="20637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50" dirty="0">
                <a:latin typeface="Arial MT"/>
                <a:cs typeface="Arial MT"/>
              </a:rPr>
              <a:t>•</a:t>
            </a:r>
            <a:endParaRPr sz="40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5100" y="5194300"/>
            <a:ext cx="5321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Heap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15" dirty="0">
                <a:latin typeface="Arial MT"/>
                <a:cs typeface="Arial MT"/>
              </a:rPr>
              <a:t>and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30" dirty="0">
                <a:latin typeface="Arial MT"/>
                <a:cs typeface="Arial MT"/>
              </a:rPr>
              <a:t>Stack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15" dirty="0">
                <a:latin typeface="Arial MT"/>
                <a:cs typeface="Arial MT"/>
              </a:rPr>
              <a:t>vary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10" dirty="0">
                <a:latin typeface="Arial MT"/>
                <a:cs typeface="Arial MT"/>
              </a:rPr>
              <a:t>dynamically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600" y="6215379"/>
            <a:ext cx="20637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50" dirty="0">
                <a:latin typeface="Arial MT"/>
                <a:cs typeface="Arial MT"/>
              </a:rPr>
              <a:t>•</a:t>
            </a:r>
            <a:endParaRPr sz="40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5100" y="6311900"/>
            <a:ext cx="56432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0" dirty="0">
                <a:latin typeface="Arial MT"/>
                <a:cs typeface="Arial MT"/>
              </a:rPr>
              <a:t>Code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15" dirty="0">
                <a:latin typeface="Arial MT"/>
                <a:cs typeface="Arial MT"/>
              </a:rPr>
              <a:t>and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30" dirty="0">
                <a:latin typeface="Arial MT"/>
                <a:cs typeface="Arial MT"/>
              </a:rPr>
              <a:t>Static/Global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use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 </a:t>
            </a:r>
            <a:r>
              <a:rPr sz="2800" spc="30" dirty="0">
                <a:latin typeface="Arial MT"/>
                <a:cs typeface="Arial MT"/>
              </a:rPr>
              <a:t>fixed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0600" y="7332980"/>
            <a:ext cx="20637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50" dirty="0">
                <a:latin typeface="Arial MT"/>
                <a:cs typeface="Arial MT"/>
              </a:rPr>
              <a:t>•</a:t>
            </a:r>
            <a:endParaRPr sz="4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35100" y="7429500"/>
            <a:ext cx="2844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0" dirty="0">
                <a:latin typeface="Arial MT"/>
                <a:cs typeface="Arial MT"/>
              </a:rPr>
              <a:t>Code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15" dirty="0">
                <a:latin typeface="Arial MT"/>
                <a:cs typeface="Arial MT"/>
              </a:rPr>
              <a:t>read-only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185150" y="2355850"/>
          <a:ext cx="3054350" cy="6759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898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spc="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Stack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5E5E5E"/>
                      </a:solidFill>
                      <a:prstDash val="solid"/>
                    </a:lnL>
                    <a:lnR w="12700">
                      <a:solidFill>
                        <a:srgbClr val="5E5E5E"/>
                      </a:solidFill>
                      <a:prstDash val="solid"/>
                    </a:lnR>
                    <a:lnT w="12700">
                      <a:solidFill>
                        <a:srgbClr val="5E5E5E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6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13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Heap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5E5E5E"/>
                      </a:solidFill>
                      <a:prstDash val="solid"/>
                    </a:lnL>
                    <a:lnR w="12700">
                      <a:solidFill>
                        <a:srgbClr val="5E5E5E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17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9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2200" spc="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Static</a:t>
                      </a:r>
                      <a:r>
                        <a:rPr sz="2200" spc="-3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4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(Global)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201295" marB="0">
                    <a:lnL w="12700">
                      <a:solidFill>
                        <a:srgbClr val="5E5E5E"/>
                      </a:solidFill>
                      <a:prstDash val="solid"/>
                    </a:lnL>
                    <a:lnR w="12700">
                      <a:solidFill>
                        <a:srgbClr val="5E5E5E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93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37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2200" spc="15" dirty="0">
                          <a:latin typeface="Arial MT"/>
                          <a:cs typeface="Arial MT"/>
                        </a:rPr>
                        <a:t>Code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5E5E5E"/>
                      </a:solidFill>
                      <a:prstDash val="solid"/>
                    </a:lnL>
                    <a:lnR w="12700">
                      <a:solidFill>
                        <a:srgbClr val="5E5E5E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5E5E5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9118600" y="1803400"/>
            <a:ext cx="1216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25" dirty="0">
                <a:latin typeface="Arial"/>
                <a:cs typeface="Arial"/>
              </a:rPr>
              <a:t>Memory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6200" y="355600"/>
            <a:ext cx="52368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spc="-40" dirty="0"/>
              <a:t> </a:t>
            </a:r>
            <a:r>
              <a:rPr b="1" i="1" spc="90" dirty="0">
                <a:latin typeface="Arial"/>
                <a:cs typeface="Arial"/>
              </a:rPr>
              <a:t>new</a:t>
            </a:r>
            <a:r>
              <a:rPr b="1" i="1" spc="-35" dirty="0">
                <a:latin typeface="Arial"/>
                <a:cs typeface="Arial"/>
              </a:rPr>
              <a:t> </a:t>
            </a:r>
            <a:r>
              <a:rPr spc="145" dirty="0"/>
              <a:t>keyword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41500"/>
            <a:ext cx="10504170" cy="25069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895985">
              <a:lnSpc>
                <a:spcPts val="3800"/>
              </a:lnSpc>
              <a:spcBef>
                <a:spcPts val="260"/>
              </a:spcBef>
            </a:pPr>
            <a:r>
              <a:rPr sz="3200" b="1" spc="-20" dirty="0">
                <a:latin typeface="Arial"/>
                <a:cs typeface="Arial"/>
              </a:rPr>
              <a:t>new: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spc="10" dirty="0">
                <a:latin typeface="Arial MT"/>
                <a:cs typeface="Arial MT"/>
              </a:rPr>
              <a:t>used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for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b="1" spc="-5" dirty="0">
                <a:latin typeface="Arial"/>
                <a:cs typeface="Arial"/>
              </a:rPr>
              <a:t>allocating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5" dirty="0">
                <a:latin typeface="Arial"/>
                <a:cs typeface="Arial"/>
              </a:rPr>
              <a:t>memory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(dynamic </a:t>
            </a:r>
            <a:r>
              <a:rPr sz="3200" spc="20" dirty="0">
                <a:latin typeface="Arial MT"/>
                <a:cs typeface="Arial MT"/>
              </a:rPr>
              <a:t>memory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allocation)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700">
              <a:latin typeface="Arial MT"/>
              <a:cs typeface="Arial MT"/>
            </a:endParaRPr>
          </a:p>
          <a:p>
            <a:pPr marL="12700" marR="5080">
              <a:lnSpc>
                <a:spcPts val="3800"/>
              </a:lnSpc>
            </a:pPr>
            <a:r>
              <a:rPr sz="3200" spc="-60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i="1" spc="15" dirty="0">
                <a:latin typeface="Arial"/>
                <a:cs typeface="Arial"/>
              </a:rPr>
              <a:t>new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spc="25" dirty="0">
                <a:latin typeface="Arial MT"/>
                <a:cs typeface="Arial MT"/>
              </a:rPr>
              <a:t>operator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allocates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during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runtime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and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persisted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independently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of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any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particular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function.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6896100"/>
            <a:ext cx="10918190" cy="10083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35"/>
              </a:spcBef>
            </a:pPr>
            <a:r>
              <a:rPr sz="3200" spc="-30" dirty="0">
                <a:latin typeface="Arial MT"/>
                <a:cs typeface="Arial MT"/>
              </a:rPr>
              <a:t>When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we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use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i="1" spc="15" dirty="0">
                <a:latin typeface="Arial"/>
                <a:cs typeface="Arial"/>
              </a:rPr>
              <a:t>new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spc="25" dirty="0">
                <a:latin typeface="Arial MT"/>
                <a:cs typeface="Arial MT"/>
              </a:rPr>
              <a:t>keyword.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0" dirty="0">
                <a:latin typeface="Arial MT"/>
                <a:cs typeface="Arial MT"/>
              </a:rPr>
              <a:t>The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for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that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data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 </a:t>
            </a:r>
            <a:r>
              <a:rPr sz="3200" spc="-869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allocated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on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b="1" spc="10" dirty="0">
                <a:latin typeface="Arial"/>
                <a:cs typeface="Arial"/>
              </a:rPr>
              <a:t>heap.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5500" y="4699000"/>
            <a:ext cx="6210300" cy="2159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8900" y="355600"/>
            <a:ext cx="774319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Memory</a:t>
            </a:r>
            <a:r>
              <a:rPr spc="-5" dirty="0"/>
              <a:t> </a:t>
            </a:r>
            <a:r>
              <a:rPr spc="75" dirty="0"/>
              <a:t>Diagram</a:t>
            </a:r>
            <a:r>
              <a:rPr spc="-5" dirty="0"/>
              <a:t> </a:t>
            </a:r>
            <a:r>
              <a:rPr spc="55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28800"/>
            <a:ext cx="798893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Arial MT"/>
                <a:cs typeface="Arial MT"/>
              </a:rPr>
              <a:t>Draw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diagram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for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following:</a:t>
            </a:r>
            <a:endParaRPr sz="32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28750" y="2925564"/>
          <a:ext cx="6403973" cy="5159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8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5037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1.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dirty="0">
                          <a:solidFill>
                            <a:srgbClr val="006DBC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3304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*ptr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dirty="0"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b="1" spc="-5" dirty="0">
                          <a:latin typeface="Courier New"/>
                          <a:cs typeface="Courier New"/>
                        </a:rPr>
                        <a:t>nullptr</a:t>
                      </a:r>
                      <a:r>
                        <a:rPr sz="3200" spc="-5" dirty="0">
                          <a:latin typeface="Courier New"/>
                          <a:cs typeface="Courier New"/>
                        </a:rPr>
                        <a:t>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00"/>
                        </a:spcBef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2.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4064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121920" marR="114300">
                        <a:lnSpc>
                          <a:spcPts val="3700"/>
                        </a:lnSpc>
                        <a:spcBef>
                          <a:spcPts val="5"/>
                        </a:spcBef>
                      </a:pPr>
                      <a:r>
                        <a:rPr sz="3200" dirty="0">
                          <a:solidFill>
                            <a:srgbClr val="006DBC"/>
                          </a:solidFill>
                          <a:latin typeface="Courier New"/>
                          <a:cs typeface="Courier New"/>
                        </a:rPr>
                        <a:t>int  int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3770"/>
                        </a:lnSpc>
                        <a:spcBef>
                          <a:spcPts val="3200"/>
                        </a:spcBef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value</a:t>
                      </a:r>
                      <a:endParaRPr sz="3200">
                        <a:latin typeface="Courier New"/>
                        <a:cs typeface="Courier New"/>
                      </a:endParaRPr>
                    </a:p>
                    <a:p>
                      <a:pPr marL="121920">
                        <a:lnSpc>
                          <a:spcPts val="3770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*ptr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406400" marB="0"/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3770"/>
                        </a:lnSpc>
                        <a:spcBef>
                          <a:spcPts val="3200"/>
                        </a:spcBef>
                      </a:pPr>
                      <a:r>
                        <a:rPr sz="3200" dirty="0"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ts val="3770"/>
                        </a:lnSpc>
                      </a:pPr>
                      <a:r>
                        <a:rPr sz="3200" dirty="0"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406400" marB="0"/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3770"/>
                        </a:lnSpc>
                        <a:spcBef>
                          <a:spcPts val="3200"/>
                        </a:spcBef>
                      </a:pPr>
                      <a:r>
                        <a:rPr sz="3200" dirty="0">
                          <a:solidFill>
                            <a:srgbClr val="BF8F00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r>
                        <a:rPr sz="3200" dirty="0">
                          <a:latin typeface="Courier New"/>
                          <a:cs typeface="Courier New"/>
                        </a:rPr>
                        <a:t>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ts val="3770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&amp;value;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4064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97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00"/>
                        </a:spcBef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3.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4064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0"/>
                        </a:spcBef>
                      </a:pPr>
                      <a:r>
                        <a:rPr sz="3200" dirty="0">
                          <a:solidFill>
                            <a:srgbClr val="006DBC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40640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3200"/>
                        </a:spcBef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*ptr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4064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0"/>
                        </a:spcBef>
                      </a:pPr>
                      <a:r>
                        <a:rPr sz="3200" dirty="0"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4064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0"/>
                        </a:spcBef>
                        <a:tabLst>
                          <a:tab pos="975360" algn="l"/>
                        </a:tabLst>
                      </a:pPr>
                      <a:r>
                        <a:rPr sz="3200" b="1" dirty="0">
                          <a:latin typeface="Courier New"/>
                          <a:cs typeface="Courier New"/>
                        </a:rPr>
                        <a:t>new	</a:t>
                      </a:r>
                      <a:r>
                        <a:rPr sz="3200" dirty="0">
                          <a:solidFill>
                            <a:srgbClr val="006DBC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3200" dirty="0">
                          <a:latin typeface="Courier New"/>
                          <a:cs typeface="Courier New"/>
                        </a:rPr>
                        <a:t>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4064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503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00"/>
                        </a:spcBef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4.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4064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0"/>
                        </a:spcBef>
                      </a:pPr>
                      <a:r>
                        <a:rPr sz="3200" dirty="0">
                          <a:solidFill>
                            <a:srgbClr val="006DBC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40640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3200"/>
                        </a:spcBef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*ptr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4064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0"/>
                        </a:spcBef>
                      </a:pPr>
                      <a:r>
                        <a:rPr sz="3200" dirty="0"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4064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0"/>
                        </a:spcBef>
                        <a:tabLst>
                          <a:tab pos="975360" algn="l"/>
                        </a:tabLst>
                      </a:pPr>
                      <a:r>
                        <a:rPr sz="3200" b="1" dirty="0">
                          <a:latin typeface="Courier New"/>
                          <a:cs typeface="Courier New"/>
                        </a:rPr>
                        <a:t>new	</a:t>
                      </a:r>
                      <a:r>
                        <a:rPr sz="3200" spc="-5" dirty="0">
                          <a:solidFill>
                            <a:srgbClr val="006DBC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3200" spc="-5" dirty="0"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3200" spc="-5" dirty="0">
                          <a:solidFill>
                            <a:srgbClr val="BF8F00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r>
                        <a:rPr sz="3200" spc="-5" dirty="0">
                          <a:latin typeface="Courier New"/>
                          <a:cs typeface="Courier New"/>
                        </a:rPr>
                        <a:t>);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4064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000" y="355600"/>
            <a:ext cx="892873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Implement</a:t>
            </a:r>
            <a:r>
              <a:rPr spc="-5" dirty="0"/>
              <a:t> </a:t>
            </a:r>
            <a:r>
              <a:rPr spc="110" dirty="0"/>
              <a:t>Swap</a:t>
            </a:r>
            <a:r>
              <a:rPr spc="-5" dirty="0"/>
              <a:t> </a:t>
            </a:r>
            <a:r>
              <a:rPr spc="180" dirty="0"/>
              <a:t>with</a:t>
            </a:r>
            <a:r>
              <a:rPr spc="-5" dirty="0"/>
              <a:t> </a:t>
            </a:r>
            <a:r>
              <a:rPr spc="135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28800"/>
            <a:ext cx="9592310" cy="43357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60"/>
              </a:spcBef>
            </a:pPr>
            <a:r>
              <a:rPr sz="3200" spc="10" dirty="0">
                <a:latin typeface="Arial MT"/>
                <a:cs typeface="Arial MT"/>
              </a:rPr>
              <a:t>Lets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implement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swap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using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pointers.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0" dirty="0">
                <a:latin typeface="Arial MT"/>
                <a:cs typeface="Arial MT"/>
              </a:rPr>
              <a:t>Here</a:t>
            </a:r>
            <a:r>
              <a:rPr sz="3200" spc="-5" dirty="0">
                <a:latin typeface="Arial MT"/>
                <a:cs typeface="Arial MT"/>
              </a:rPr>
              <a:t> is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how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we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implement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swap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with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normal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variables: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50">
              <a:latin typeface="Arial MT"/>
              <a:cs typeface="Arial MT"/>
            </a:endParaRPr>
          </a:p>
          <a:p>
            <a:pPr marL="2189480" marR="1297940" indent="-488315">
              <a:lnSpc>
                <a:spcPts val="3700"/>
              </a:lnSpc>
              <a:tabLst>
                <a:tab pos="2921000" algn="l"/>
                <a:tab pos="3164840" algn="l"/>
                <a:tab pos="5115560" algn="l"/>
                <a:tab pos="7066915" algn="l"/>
              </a:tabLst>
            </a:pP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void	</a:t>
            </a:r>
            <a:r>
              <a:rPr sz="3200" dirty="0">
                <a:solidFill>
                  <a:srgbClr val="021994"/>
                </a:solidFill>
                <a:latin typeface="Courier New"/>
                <a:cs typeface="Courier New"/>
              </a:rPr>
              <a:t>swap</a:t>
            </a:r>
            <a:r>
              <a:rPr sz="3200" dirty="0">
                <a:latin typeface="Courier New"/>
                <a:cs typeface="Courier New"/>
              </a:rPr>
              <a:t>(</a:t>
            </a: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int	</a:t>
            </a:r>
            <a:r>
              <a:rPr sz="3200" spc="-5" dirty="0">
                <a:latin typeface="Courier New"/>
                <a:cs typeface="Courier New"/>
              </a:rPr>
              <a:t>&amp;x,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int	</a:t>
            </a:r>
            <a:r>
              <a:rPr sz="3200" spc="-5" dirty="0">
                <a:latin typeface="Courier New"/>
                <a:cs typeface="Courier New"/>
              </a:rPr>
              <a:t>&amp;y)</a:t>
            </a:r>
            <a:r>
              <a:rPr sz="3200" spc="-10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{ </a:t>
            </a:r>
            <a:r>
              <a:rPr sz="3200" spc="-1905" dirty="0"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int	</a:t>
            </a:r>
            <a:r>
              <a:rPr sz="3200" spc="-5" dirty="0">
                <a:latin typeface="Courier New"/>
                <a:cs typeface="Courier New"/>
              </a:rPr>
              <a:t>temp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x;</a:t>
            </a:r>
            <a:endParaRPr sz="3200">
              <a:latin typeface="Courier New"/>
              <a:cs typeface="Courier New"/>
            </a:endParaRPr>
          </a:p>
          <a:p>
            <a:pPr marL="2189480">
              <a:lnSpc>
                <a:spcPts val="3529"/>
              </a:lnSpc>
            </a:pPr>
            <a:r>
              <a:rPr sz="3200" dirty="0">
                <a:latin typeface="Courier New"/>
                <a:cs typeface="Courier New"/>
              </a:rPr>
              <a:t>x</a:t>
            </a:r>
            <a:r>
              <a:rPr sz="3200" spc="-4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4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y;</a:t>
            </a:r>
            <a:endParaRPr sz="3200">
              <a:latin typeface="Courier New"/>
              <a:cs typeface="Courier New"/>
            </a:endParaRPr>
          </a:p>
          <a:p>
            <a:pPr marL="2189480">
              <a:lnSpc>
                <a:spcPts val="3700"/>
              </a:lnSpc>
            </a:pPr>
            <a:r>
              <a:rPr sz="3200" dirty="0">
                <a:latin typeface="Courier New"/>
                <a:cs typeface="Courier New"/>
              </a:rPr>
              <a:t>y</a:t>
            </a:r>
            <a:r>
              <a:rPr sz="3200" spc="-4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4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temp;</a:t>
            </a:r>
            <a:endParaRPr sz="3200">
              <a:latin typeface="Courier New"/>
              <a:cs typeface="Courier New"/>
            </a:endParaRPr>
          </a:p>
          <a:p>
            <a:pPr marL="1701800">
              <a:lnSpc>
                <a:spcPts val="3770"/>
              </a:lnSpc>
            </a:pPr>
            <a:r>
              <a:rPr sz="3200" dirty="0">
                <a:latin typeface="Courier New"/>
                <a:cs typeface="Courier New"/>
              </a:rPr>
              <a:t>}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41500"/>
            <a:ext cx="9816465" cy="1694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45" dirty="0">
                <a:latin typeface="Arial"/>
                <a:cs typeface="Arial"/>
              </a:rPr>
              <a:t>Arrays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235" dirty="0">
                <a:latin typeface="Arial"/>
                <a:cs typeface="Arial"/>
              </a:rPr>
              <a:t>-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spc="35" dirty="0">
                <a:latin typeface="Arial MT"/>
                <a:cs typeface="Arial MT"/>
              </a:rPr>
              <a:t>Built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arrays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C++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are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45" dirty="0">
                <a:latin typeface="Arial MT"/>
                <a:cs typeface="Arial MT"/>
              </a:rPr>
              <a:t>built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using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pointers!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700">
              <a:latin typeface="Arial MT"/>
              <a:cs typeface="Arial MT"/>
            </a:endParaRPr>
          </a:p>
          <a:p>
            <a:pPr marL="2095500">
              <a:lnSpc>
                <a:spcPct val="100000"/>
              </a:lnSpc>
              <a:tabLst>
                <a:tab pos="3070860" algn="l"/>
                <a:tab pos="6485255" algn="l"/>
                <a:tab pos="7216775" algn="l"/>
                <a:tab pos="7948295" algn="l"/>
              </a:tabLst>
            </a:pP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int	</a:t>
            </a:r>
            <a:r>
              <a:rPr sz="3200" spc="-5" dirty="0">
                <a:latin typeface="Courier New"/>
                <a:cs typeface="Courier New"/>
              </a:rPr>
              <a:t>array[]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{</a:t>
            </a:r>
            <a:r>
              <a:rPr sz="3200" dirty="0">
                <a:solidFill>
                  <a:srgbClr val="BF8F00"/>
                </a:solidFill>
                <a:latin typeface="Courier New"/>
                <a:cs typeface="Courier New"/>
              </a:rPr>
              <a:t>1</a:t>
            </a:r>
            <a:r>
              <a:rPr sz="3200" dirty="0">
                <a:latin typeface="Courier New"/>
                <a:cs typeface="Courier New"/>
              </a:rPr>
              <a:t>,	</a:t>
            </a:r>
            <a:r>
              <a:rPr sz="3200" dirty="0">
                <a:solidFill>
                  <a:srgbClr val="BF8F00"/>
                </a:solidFill>
                <a:latin typeface="Courier New"/>
                <a:cs typeface="Courier New"/>
              </a:rPr>
              <a:t>2</a:t>
            </a:r>
            <a:r>
              <a:rPr sz="3200" dirty="0">
                <a:latin typeface="Courier New"/>
                <a:cs typeface="Courier New"/>
              </a:rPr>
              <a:t>,	</a:t>
            </a:r>
            <a:r>
              <a:rPr sz="3200" dirty="0">
                <a:solidFill>
                  <a:srgbClr val="BF8F00"/>
                </a:solidFill>
                <a:latin typeface="Courier New"/>
                <a:cs typeface="Courier New"/>
              </a:rPr>
              <a:t>3</a:t>
            </a:r>
            <a:r>
              <a:rPr sz="3200" dirty="0">
                <a:latin typeface="Courier New"/>
                <a:cs typeface="Courier New"/>
              </a:rPr>
              <a:t>,	</a:t>
            </a:r>
            <a:r>
              <a:rPr sz="3200" spc="-5" dirty="0">
                <a:solidFill>
                  <a:srgbClr val="BF8F00"/>
                </a:solidFill>
                <a:latin typeface="Courier New"/>
                <a:cs typeface="Courier New"/>
              </a:rPr>
              <a:t>4</a:t>
            </a:r>
            <a:r>
              <a:rPr sz="3200" spc="-5" dirty="0">
                <a:latin typeface="Courier New"/>
                <a:cs typeface="Courier New"/>
              </a:rPr>
              <a:t>};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4889500"/>
            <a:ext cx="10713720" cy="25069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457200">
              <a:lnSpc>
                <a:spcPts val="3800"/>
              </a:lnSpc>
              <a:spcBef>
                <a:spcPts val="260"/>
              </a:spcBef>
            </a:pPr>
            <a:r>
              <a:rPr sz="3200" spc="-60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above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actually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creates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pointer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called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array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that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we </a:t>
            </a:r>
            <a:r>
              <a:rPr sz="3200" spc="-869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can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use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access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elements</a:t>
            </a:r>
            <a:r>
              <a:rPr sz="3200" spc="5" dirty="0">
                <a:latin typeface="Arial MT"/>
                <a:cs typeface="Arial MT"/>
              </a:rPr>
              <a:t> inside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array.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700">
              <a:latin typeface="Arial MT"/>
              <a:cs typeface="Arial MT"/>
            </a:endParaRPr>
          </a:p>
          <a:p>
            <a:pPr marL="12700" marR="5080">
              <a:lnSpc>
                <a:spcPts val="3800"/>
              </a:lnSpc>
            </a:pPr>
            <a:r>
              <a:rPr sz="3200" spc="-60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compiler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45" dirty="0">
                <a:latin typeface="Arial MT"/>
                <a:cs typeface="Arial MT"/>
              </a:rPr>
              <a:t>knows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that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i="1" spc="-65" dirty="0">
                <a:latin typeface="Arial"/>
                <a:cs typeface="Arial"/>
              </a:rPr>
              <a:t>[</a:t>
            </a:r>
            <a:r>
              <a:rPr sz="3200" i="1" dirty="0">
                <a:latin typeface="Arial"/>
                <a:cs typeface="Arial"/>
              </a:rPr>
              <a:t> </a:t>
            </a:r>
            <a:r>
              <a:rPr sz="3200" i="1" spc="-65" dirty="0">
                <a:latin typeface="Arial"/>
                <a:cs typeface="Arial"/>
              </a:rPr>
              <a:t>]</a:t>
            </a:r>
            <a:r>
              <a:rPr sz="3200" i="1" dirty="0">
                <a:latin typeface="Arial"/>
                <a:cs typeface="Arial"/>
              </a:rPr>
              <a:t> </a:t>
            </a:r>
            <a:r>
              <a:rPr sz="3200" spc="15" dirty="0">
                <a:latin typeface="Arial MT"/>
                <a:cs typeface="Arial MT"/>
              </a:rPr>
              <a:t>syntax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indicates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35" dirty="0">
                <a:latin typeface="Arial MT"/>
                <a:cs typeface="Arial MT"/>
              </a:rPr>
              <a:t>an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array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of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integer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values.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28800"/>
            <a:ext cx="10344150" cy="48437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318770" algn="just">
              <a:lnSpc>
                <a:spcPts val="3800"/>
              </a:lnSpc>
              <a:spcBef>
                <a:spcPts val="260"/>
              </a:spcBef>
            </a:pPr>
            <a:r>
              <a:rPr sz="3200" spc="-40" dirty="0">
                <a:latin typeface="Arial MT"/>
                <a:cs typeface="Arial MT"/>
              </a:rPr>
              <a:t>One </a:t>
            </a:r>
            <a:r>
              <a:rPr sz="3200" spc="55" dirty="0">
                <a:latin typeface="Arial MT"/>
                <a:cs typeface="Arial MT"/>
              </a:rPr>
              <a:t>of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10" dirty="0">
                <a:latin typeface="Arial MT"/>
                <a:cs typeface="Arial MT"/>
              </a:rPr>
              <a:t>only </a:t>
            </a:r>
            <a:r>
              <a:rPr sz="3200" spc="5" dirty="0">
                <a:latin typeface="Arial MT"/>
                <a:cs typeface="Arial MT"/>
              </a:rPr>
              <a:t>differences </a:t>
            </a:r>
            <a:r>
              <a:rPr sz="3200" spc="-5" dirty="0">
                <a:latin typeface="Arial MT"/>
                <a:cs typeface="Arial MT"/>
              </a:rPr>
              <a:t>in </a:t>
            </a:r>
            <a:r>
              <a:rPr sz="3200" spc="-25" dirty="0">
                <a:latin typeface="Arial MT"/>
                <a:cs typeface="Arial MT"/>
              </a:rPr>
              <a:t>arrays </a:t>
            </a:r>
            <a:r>
              <a:rPr sz="3200" spc="10" dirty="0">
                <a:latin typeface="Arial MT"/>
                <a:cs typeface="Arial MT"/>
              </a:rPr>
              <a:t>declared </a:t>
            </a:r>
            <a:r>
              <a:rPr sz="3200" spc="55" dirty="0">
                <a:latin typeface="Arial MT"/>
                <a:cs typeface="Arial MT"/>
              </a:rPr>
              <a:t>with </a:t>
            </a:r>
            <a:r>
              <a:rPr sz="3200" spc="-65" dirty="0">
                <a:latin typeface="Arial MT"/>
                <a:cs typeface="Arial MT"/>
              </a:rPr>
              <a:t>[ ] </a:t>
            </a:r>
            <a:r>
              <a:rPr sz="3200" spc="25" dirty="0">
                <a:latin typeface="Arial MT"/>
                <a:cs typeface="Arial MT"/>
              </a:rPr>
              <a:t>or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using </a:t>
            </a:r>
            <a:r>
              <a:rPr sz="3200" spc="25" dirty="0">
                <a:latin typeface="Arial MT"/>
                <a:cs typeface="Arial MT"/>
              </a:rPr>
              <a:t>pointers </a:t>
            </a:r>
            <a:r>
              <a:rPr sz="3200" spc="-5" dirty="0">
                <a:latin typeface="Arial MT"/>
                <a:cs typeface="Arial MT"/>
              </a:rPr>
              <a:t>is </a:t>
            </a:r>
            <a:r>
              <a:rPr sz="3200" spc="40" dirty="0">
                <a:latin typeface="Arial MT"/>
                <a:cs typeface="Arial MT"/>
              </a:rPr>
              <a:t>that </a:t>
            </a:r>
            <a:r>
              <a:rPr sz="3200" spc="25" dirty="0">
                <a:latin typeface="Arial MT"/>
                <a:cs typeface="Arial MT"/>
              </a:rPr>
              <a:t>we </a:t>
            </a:r>
            <a:r>
              <a:rPr sz="3200" spc="15" dirty="0">
                <a:latin typeface="Arial MT"/>
                <a:cs typeface="Arial MT"/>
              </a:rPr>
              <a:t>can </a:t>
            </a:r>
            <a:r>
              <a:rPr sz="3200" spc="-20" dirty="0">
                <a:latin typeface="Arial MT"/>
                <a:cs typeface="Arial MT"/>
              </a:rPr>
              <a:t>reassign </a:t>
            </a:r>
            <a:r>
              <a:rPr sz="3200" spc="25" dirty="0">
                <a:latin typeface="Arial MT"/>
                <a:cs typeface="Arial MT"/>
              </a:rPr>
              <a:t>pointers </a:t>
            </a:r>
            <a:r>
              <a:rPr sz="3200" spc="15" dirty="0">
                <a:latin typeface="Arial MT"/>
                <a:cs typeface="Arial MT"/>
              </a:rPr>
              <a:t>and </a:t>
            </a:r>
            <a:r>
              <a:rPr sz="3200" spc="55" dirty="0">
                <a:latin typeface="Arial MT"/>
                <a:cs typeface="Arial MT"/>
              </a:rPr>
              <a:t>not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arrays.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3200" spc="-25" dirty="0">
                <a:latin typeface="Arial MT"/>
                <a:cs typeface="Arial MT"/>
              </a:rPr>
              <a:t>Arrays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are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always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declared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i="1" spc="45" dirty="0">
                <a:latin typeface="Arial"/>
                <a:cs typeface="Arial"/>
              </a:rPr>
              <a:t>const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spc="10" dirty="0">
                <a:latin typeface="Arial MT"/>
                <a:cs typeface="Arial MT"/>
              </a:rPr>
              <a:t>when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using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[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]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notation.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Arial MT"/>
              <a:cs typeface="Arial MT"/>
            </a:endParaRPr>
          </a:p>
          <a:p>
            <a:pPr marL="1117600">
              <a:lnSpc>
                <a:spcPts val="3770"/>
              </a:lnSpc>
              <a:tabLst>
                <a:tab pos="2092960" algn="l"/>
                <a:tab pos="5507355" algn="l"/>
                <a:tab pos="6238875" algn="l"/>
                <a:tab pos="6970395" algn="l"/>
              </a:tabLst>
            </a:pP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int	</a:t>
            </a:r>
            <a:r>
              <a:rPr sz="3200" spc="-5" dirty="0">
                <a:latin typeface="Courier New"/>
                <a:cs typeface="Courier New"/>
              </a:rPr>
              <a:t>array[]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{</a:t>
            </a:r>
            <a:r>
              <a:rPr sz="3200" dirty="0">
                <a:solidFill>
                  <a:srgbClr val="BF8F00"/>
                </a:solidFill>
                <a:latin typeface="Courier New"/>
                <a:cs typeface="Courier New"/>
              </a:rPr>
              <a:t>1</a:t>
            </a:r>
            <a:r>
              <a:rPr sz="3200" dirty="0">
                <a:latin typeface="Courier New"/>
                <a:cs typeface="Courier New"/>
              </a:rPr>
              <a:t>,	</a:t>
            </a:r>
            <a:r>
              <a:rPr sz="3200" dirty="0">
                <a:solidFill>
                  <a:srgbClr val="BF8F00"/>
                </a:solidFill>
                <a:latin typeface="Courier New"/>
                <a:cs typeface="Courier New"/>
              </a:rPr>
              <a:t>2</a:t>
            </a:r>
            <a:r>
              <a:rPr sz="3200" dirty="0">
                <a:latin typeface="Courier New"/>
                <a:cs typeface="Courier New"/>
              </a:rPr>
              <a:t>,	</a:t>
            </a:r>
            <a:r>
              <a:rPr sz="3200" dirty="0">
                <a:solidFill>
                  <a:srgbClr val="BF8F00"/>
                </a:solidFill>
                <a:latin typeface="Courier New"/>
                <a:cs typeface="Courier New"/>
              </a:rPr>
              <a:t>3</a:t>
            </a:r>
            <a:r>
              <a:rPr sz="3200" dirty="0">
                <a:latin typeface="Courier New"/>
                <a:cs typeface="Courier New"/>
              </a:rPr>
              <a:t>,	</a:t>
            </a:r>
            <a:r>
              <a:rPr sz="3200" spc="-5" dirty="0">
                <a:solidFill>
                  <a:srgbClr val="BF8F00"/>
                </a:solidFill>
                <a:latin typeface="Courier New"/>
                <a:cs typeface="Courier New"/>
              </a:rPr>
              <a:t>4</a:t>
            </a:r>
            <a:r>
              <a:rPr sz="3200" spc="-5" dirty="0">
                <a:latin typeface="Courier New"/>
                <a:cs typeface="Courier New"/>
              </a:rPr>
              <a:t>};</a:t>
            </a:r>
            <a:endParaRPr sz="3200">
              <a:latin typeface="Courier New"/>
              <a:cs typeface="Courier New"/>
            </a:endParaRPr>
          </a:p>
          <a:p>
            <a:pPr marL="1117600" marR="683260">
              <a:lnSpc>
                <a:spcPts val="3700"/>
              </a:lnSpc>
              <a:spcBef>
                <a:spcPts val="170"/>
              </a:spcBef>
              <a:tabLst>
                <a:tab pos="2092960" algn="l"/>
                <a:tab pos="6238875" algn="l"/>
                <a:tab pos="6970395" algn="l"/>
                <a:tab pos="7701915" algn="l"/>
              </a:tabLst>
            </a:pP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int	</a:t>
            </a:r>
            <a:r>
              <a:rPr sz="3200" dirty="0">
                <a:latin typeface="Courier New"/>
                <a:cs typeface="Courier New"/>
              </a:rPr>
              <a:t>*</a:t>
            </a:r>
            <a:r>
              <a:rPr sz="3200" spc="-5" dirty="0">
                <a:latin typeface="Courier New"/>
                <a:cs typeface="Courier New"/>
              </a:rPr>
              <a:t> ptrArray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{</a:t>
            </a:r>
            <a:r>
              <a:rPr sz="3200" dirty="0">
                <a:solidFill>
                  <a:srgbClr val="BF8F00"/>
                </a:solidFill>
                <a:latin typeface="Courier New"/>
                <a:cs typeface="Courier New"/>
              </a:rPr>
              <a:t>1</a:t>
            </a:r>
            <a:r>
              <a:rPr sz="3200" dirty="0">
                <a:latin typeface="Courier New"/>
                <a:cs typeface="Courier New"/>
              </a:rPr>
              <a:t>,	</a:t>
            </a:r>
            <a:r>
              <a:rPr sz="3200" dirty="0">
                <a:solidFill>
                  <a:srgbClr val="BF8F00"/>
                </a:solidFill>
                <a:latin typeface="Courier New"/>
                <a:cs typeface="Courier New"/>
              </a:rPr>
              <a:t>2</a:t>
            </a:r>
            <a:r>
              <a:rPr sz="3200" dirty="0">
                <a:latin typeface="Courier New"/>
                <a:cs typeface="Courier New"/>
              </a:rPr>
              <a:t>,	</a:t>
            </a:r>
            <a:r>
              <a:rPr sz="3200" dirty="0">
                <a:solidFill>
                  <a:srgbClr val="BF8F00"/>
                </a:solidFill>
                <a:latin typeface="Courier New"/>
                <a:cs typeface="Courier New"/>
              </a:rPr>
              <a:t>3</a:t>
            </a:r>
            <a:r>
              <a:rPr sz="3200" dirty="0">
                <a:latin typeface="Courier New"/>
                <a:cs typeface="Courier New"/>
              </a:rPr>
              <a:t>,	</a:t>
            </a:r>
            <a:r>
              <a:rPr sz="3200" spc="-5" dirty="0">
                <a:solidFill>
                  <a:srgbClr val="BF8F00"/>
                </a:solidFill>
                <a:latin typeface="Courier New"/>
                <a:cs typeface="Courier New"/>
              </a:rPr>
              <a:t>4</a:t>
            </a:r>
            <a:r>
              <a:rPr sz="3200" spc="-5" dirty="0">
                <a:latin typeface="Courier New"/>
                <a:cs typeface="Courier New"/>
              </a:rPr>
              <a:t>}; 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array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ptrArray; </a:t>
            </a:r>
            <a:r>
              <a:rPr sz="3200" i="1" spc="-5" dirty="0">
                <a:solidFill>
                  <a:srgbClr val="959395"/>
                </a:solidFill>
                <a:latin typeface="Courier New"/>
                <a:cs typeface="Courier New"/>
              </a:rPr>
              <a:t>// compiler </a:t>
            </a:r>
            <a:r>
              <a:rPr sz="3200" i="1" dirty="0">
                <a:solidFill>
                  <a:srgbClr val="959395"/>
                </a:solidFill>
                <a:latin typeface="Courier New"/>
                <a:cs typeface="Courier New"/>
              </a:rPr>
              <a:t>error </a:t>
            </a:r>
            <a:r>
              <a:rPr sz="3200" i="1" spc="-1910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ptrArray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array; </a:t>
            </a:r>
            <a:r>
              <a:rPr sz="3200" i="1" spc="-5" dirty="0">
                <a:solidFill>
                  <a:srgbClr val="959395"/>
                </a:solidFill>
                <a:latin typeface="Courier New"/>
                <a:cs typeface="Courier New"/>
              </a:rPr>
              <a:t>//</a:t>
            </a:r>
            <a:r>
              <a:rPr sz="3200" i="1" spc="-10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3200" i="1" dirty="0">
                <a:solidFill>
                  <a:srgbClr val="959395"/>
                </a:solidFill>
                <a:latin typeface="Courier New"/>
                <a:cs typeface="Courier New"/>
              </a:rPr>
              <a:t>ok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0" y="355600"/>
            <a:ext cx="857885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Dynamically</a:t>
            </a:r>
            <a:r>
              <a:rPr spc="-10" dirty="0"/>
              <a:t> </a:t>
            </a:r>
            <a:r>
              <a:rPr spc="130" dirty="0"/>
              <a:t>Allocated</a:t>
            </a:r>
            <a:r>
              <a:rPr spc="-5" dirty="0"/>
              <a:t> </a:t>
            </a:r>
            <a:r>
              <a:rPr spc="6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28800"/>
            <a:ext cx="10977245" cy="546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5" dirty="0">
                <a:latin typeface="Arial MT"/>
                <a:cs typeface="Arial MT"/>
              </a:rPr>
              <a:t>We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can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also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dynamically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allocate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arrays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00">
              <a:latin typeface="Arial MT"/>
              <a:cs typeface="Arial MT"/>
            </a:endParaRPr>
          </a:p>
          <a:p>
            <a:pPr marR="198120" algn="ctr">
              <a:lnSpc>
                <a:spcPct val="100000"/>
              </a:lnSpc>
              <a:tabLst>
                <a:tab pos="975360" algn="l"/>
                <a:tab pos="4145279" algn="l"/>
              </a:tabLst>
            </a:pP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int	</a:t>
            </a:r>
            <a:r>
              <a:rPr sz="3200" spc="-5" dirty="0">
                <a:latin typeface="Courier New"/>
                <a:cs typeface="Courier New"/>
              </a:rPr>
              <a:t>*array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b="1" dirty="0">
                <a:latin typeface="Courier New"/>
                <a:cs typeface="Courier New"/>
              </a:rPr>
              <a:t>new	</a:t>
            </a:r>
            <a:r>
              <a:rPr sz="3200" spc="-5" dirty="0">
                <a:solidFill>
                  <a:srgbClr val="006DBC"/>
                </a:solidFill>
                <a:latin typeface="Courier New"/>
                <a:cs typeface="Courier New"/>
              </a:rPr>
              <a:t>int</a:t>
            </a:r>
            <a:r>
              <a:rPr sz="3200" spc="-5" dirty="0">
                <a:latin typeface="Courier New"/>
                <a:cs typeface="Courier New"/>
              </a:rPr>
              <a:t>[</a:t>
            </a:r>
            <a:r>
              <a:rPr sz="3200" spc="-5" dirty="0">
                <a:solidFill>
                  <a:srgbClr val="BF8F00"/>
                </a:solidFill>
                <a:latin typeface="Courier New"/>
                <a:cs typeface="Courier New"/>
              </a:rPr>
              <a:t>10</a:t>
            </a:r>
            <a:r>
              <a:rPr sz="3200" spc="-5" dirty="0"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200" spc="-155" dirty="0">
                <a:latin typeface="Arial MT"/>
                <a:cs typeface="Arial MT"/>
              </a:rPr>
              <a:t>We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can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access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arrays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on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b="1" spc="10" dirty="0">
                <a:latin typeface="Arial"/>
                <a:cs typeface="Arial"/>
              </a:rPr>
              <a:t>heap</a:t>
            </a:r>
            <a:r>
              <a:rPr sz="3200" spc="10" dirty="0">
                <a:latin typeface="Arial MT"/>
                <a:cs typeface="Arial MT"/>
              </a:rPr>
              <a:t>,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same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way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35" dirty="0">
                <a:latin typeface="Arial MT"/>
                <a:cs typeface="Arial MT"/>
              </a:rPr>
              <a:t>as</a:t>
            </a:r>
            <a:r>
              <a:rPr sz="3200" spc="5" dirty="0">
                <a:latin typeface="Arial MT"/>
                <a:cs typeface="Arial MT"/>
              </a:rPr>
              <a:t> before: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00">
              <a:latin typeface="Arial MT"/>
              <a:cs typeface="Arial MT"/>
            </a:endParaRPr>
          </a:p>
          <a:p>
            <a:pPr marL="41275" algn="ctr">
              <a:lnSpc>
                <a:spcPct val="100000"/>
              </a:lnSpc>
            </a:pPr>
            <a:r>
              <a:rPr sz="3200" spc="-5" dirty="0">
                <a:latin typeface="Courier New"/>
                <a:cs typeface="Courier New"/>
              </a:rPr>
              <a:t>array[index];</a:t>
            </a:r>
            <a:endParaRPr sz="3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5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200" spc="5" dirty="0">
                <a:latin typeface="Arial MT"/>
                <a:cs typeface="Arial MT"/>
              </a:rPr>
              <a:t>However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initialization</a:t>
            </a:r>
            <a:r>
              <a:rPr sz="3200" spc="-5" dirty="0">
                <a:latin typeface="Arial MT"/>
                <a:cs typeface="Arial MT"/>
              </a:rPr>
              <a:t> is </a:t>
            </a:r>
            <a:r>
              <a:rPr sz="3200" spc="10" dirty="0">
                <a:latin typeface="Arial MT"/>
                <a:cs typeface="Arial MT"/>
              </a:rPr>
              <a:t>different:</a:t>
            </a:r>
            <a:endParaRPr sz="3200">
              <a:latin typeface="Arial MT"/>
              <a:cs typeface="Arial MT"/>
            </a:endParaRPr>
          </a:p>
          <a:p>
            <a:pPr marL="52705" algn="ctr">
              <a:lnSpc>
                <a:spcPct val="100000"/>
              </a:lnSpc>
              <a:spcBef>
                <a:spcPts val="3060"/>
              </a:spcBef>
              <a:tabLst>
                <a:tab pos="1028065" algn="l"/>
              </a:tabLst>
            </a:pP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int	</a:t>
            </a:r>
            <a:r>
              <a:rPr sz="3200" spc="-5" dirty="0">
                <a:latin typeface="Courier New"/>
                <a:cs typeface="Courier New"/>
              </a:rPr>
              <a:t>*array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{</a:t>
            </a:r>
            <a:r>
              <a:rPr sz="3200" spc="-5" dirty="0">
                <a:solidFill>
                  <a:srgbClr val="BF8F00"/>
                </a:solidFill>
                <a:latin typeface="Courier New"/>
                <a:cs typeface="Courier New"/>
              </a:rPr>
              <a:t>1</a:t>
            </a:r>
            <a:r>
              <a:rPr sz="3200" spc="-5" dirty="0">
                <a:latin typeface="Courier New"/>
                <a:cs typeface="Courier New"/>
              </a:rPr>
              <a:t>,</a:t>
            </a:r>
            <a:r>
              <a:rPr sz="3200" spc="-5" dirty="0">
                <a:solidFill>
                  <a:srgbClr val="BF8F00"/>
                </a:solidFill>
                <a:latin typeface="Courier New"/>
                <a:cs typeface="Courier New"/>
              </a:rPr>
              <a:t>2</a:t>
            </a:r>
            <a:r>
              <a:rPr sz="3200" spc="-5" dirty="0">
                <a:latin typeface="Courier New"/>
                <a:cs typeface="Courier New"/>
              </a:rPr>
              <a:t>,</a:t>
            </a:r>
            <a:r>
              <a:rPr sz="3200" spc="-5" dirty="0">
                <a:solidFill>
                  <a:srgbClr val="BF8F00"/>
                </a:solidFill>
                <a:latin typeface="Courier New"/>
                <a:cs typeface="Courier New"/>
              </a:rPr>
              <a:t>3</a:t>
            </a:r>
            <a:r>
              <a:rPr sz="3200" spc="-5" dirty="0">
                <a:latin typeface="Courier New"/>
                <a:cs typeface="Courier New"/>
              </a:rPr>
              <a:t>,</a:t>
            </a:r>
            <a:r>
              <a:rPr sz="3200" spc="-5" dirty="0">
                <a:solidFill>
                  <a:srgbClr val="BF8F00"/>
                </a:solidFill>
                <a:latin typeface="Courier New"/>
                <a:cs typeface="Courier New"/>
              </a:rPr>
              <a:t>4</a:t>
            </a:r>
            <a:r>
              <a:rPr sz="3200" spc="-5" dirty="0">
                <a:latin typeface="Courier New"/>
                <a:cs typeface="Courier New"/>
              </a:rPr>
              <a:t>};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//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error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8700" y="355600"/>
            <a:ext cx="58591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spc="-15" dirty="0"/>
              <a:t> </a:t>
            </a:r>
            <a:r>
              <a:rPr b="1" i="1" spc="55" dirty="0">
                <a:latin typeface="Arial"/>
                <a:cs typeface="Arial"/>
              </a:rPr>
              <a:t>delete</a:t>
            </a:r>
            <a:r>
              <a:rPr b="1" i="1" spc="-15" dirty="0">
                <a:latin typeface="Arial"/>
                <a:cs typeface="Arial"/>
              </a:rPr>
              <a:t> </a:t>
            </a:r>
            <a:r>
              <a:rPr spc="135" dirty="0"/>
              <a:t>operator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41500"/>
            <a:ext cx="10858500" cy="556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60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b="1" spc="25" dirty="0">
                <a:latin typeface="Arial"/>
                <a:cs typeface="Arial"/>
              </a:rPr>
              <a:t>delete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spc="25" dirty="0">
                <a:latin typeface="Arial MT"/>
                <a:cs typeface="Arial MT"/>
              </a:rPr>
              <a:t>operator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does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50" dirty="0">
                <a:latin typeface="Arial MT"/>
                <a:cs typeface="Arial MT"/>
              </a:rPr>
              <a:t>opposite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of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new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operator.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Arial MT"/>
              <a:cs typeface="Arial MT"/>
            </a:endParaRPr>
          </a:p>
          <a:p>
            <a:pPr marL="12700" marR="5080">
              <a:lnSpc>
                <a:spcPts val="3800"/>
              </a:lnSpc>
            </a:pPr>
            <a:r>
              <a:rPr sz="3200" spc="-30" dirty="0">
                <a:latin typeface="Arial MT"/>
                <a:cs typeface="Arial MT"/>
              </a:rPr>
              <a:t>This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tells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0" dirty="0">
                <a:latin typeface="Arial MT"/>
                <a:cs typeface="Arial MT"/>
              </a:rPr>
              <a:t>OS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de-allocate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or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35" dirty="0">
                <a:latin typeface="Arial MT"/>
                <a:cs typeface="Arial MT"/>
              </a:rPr>
              <a:t>free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up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70" dirty="0">
                <a:latin typeface="Arial MT"/>
                <a:cs typeface="Arial MT"/>
              </a:rPr>
              <a:t>block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that</a:t>
            </a:r>
            <a:r>
              <a:rPr sz="3200" spc="-5" dirty="0">
                <a:latin typeface="Arial MT"/>
                <a:cs typeface="Arial MT"/>
              </a:rPr>
              <a:t> is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45" dirty="0">
                <a:latin typeface="Arial MT"/>
                <a:cs typeface="Arial MT"/>
              </a:rPr>
              <a:t>pointed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by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700">
              <a:latin typeface="Arial MT"/>
              <a:cs typeface="Arial MT"/>
            </a:endParaRPr>
          </a:p>
          <a:p>
            <a:pPr marR="90170" algn="ctr">
              <a:lnSpc>
                <a:spcPct val="100000"/>
              </a:lnSpc>
              <a:spcBef>
                <a:spcPts val="2585"/>
              </a:spcBef>
              <a:tabLst>
                <a:tab pos="1706880" algn="l"/>
              </a:tabLst>
            </a:pPr>
            <a:r>
              <a:rPr sz="3200" b="1" dirty="0">
                <a:latin typeface="Courier New"/>
                <a:cs typeface="Courier New"/>
              </a:rPr>
              <a:t>delete	</a:t>
            </a:r>
            <a:r>
              <a:rPr sz="3200" spc="-5" dirty="0">
                <a:latin typeface="Courier New"/>
                <a:cs typeface="Courier New"/>
              </a:rPr>
              <a:t>ptr;</a:t>
            </a:r>
            <a:endParaRPr sz="3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3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650">
              <a:latin typeface="Courier New"/>
              <a:cs typeface="Courier New"/>
            </a:endParaRPr>
          </a:p>
          <a:p>
            <a:pPr marL="12700" marR="803910">
              <a:lnSpc>
                <a:spcPct val="101600"/>
              </a:lnSpc>
            </a:pP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general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rule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of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60" dirty="0">
                <a:latin typeface="Arial MT"/>
                <a:cs typeface="Arial MT"/>
              </a:rPr>
              <a:t>thumb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for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every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b="1" i="1" spc="55" dirty="0">
                <a:latin typeface="Arial"/>
                <a:cs typeface="Arial"/>
              </a:rPr>
              <a:t>new</a:t>
            </a:r>
            <a:r>
              <a:rPr sz="3200" b="1" i="1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operator,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there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45" dirty="0">
                <a:latin typeface="Arial MT"/>
                <a:cs typeface="Arial MT"/>
              </a:rPr>
              <a:t>must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be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b="1" i="1" spc="35" dirty="0">
                <a:latin typeface="Arial"/>
                <a:cs typeface="Arial"/>
              </a:rPr>
              <a:t>delete</a:t>
            </a:r>
            <a:r>
              <a:rPr sz="3200" b="1" i="1" dirty="0">
                <a:latin typeface="Arial"/>
                <a:cs typeface="Arial"/>
              </a:rPr>
              <a:t> </a:t>
            </a:r>
            <a:r>
              <a:rPr sz="3200" spc="20" dirty="0">
                <a:latin typeface="Arial MT"/>
                <a:cs typeface="Arial MT"/>
              </a:rPr>
              <a:t>operation.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0700" y="355600"/>
            <a:ext cx="689419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i="1" spc="55" dirty="0">
                <a:latin typeface="Arial"/>
                <a:cs typeface="Arial"/>
              </a:rPr>
              <a:t>delete</a:t>
            </a:r>
            <a:r>
              <a:rPr b="1" i="1" spc="-10" dirty="0">
                <a:latin typeface="Arial"/>
                <a:cs typeface="Arial"/>
              </a:rPr>
              <a:t> </a:t>
            </a:r>
            <a:r>
              <a:rPr spc="135" dirty="0"/>
              <a:t>operator</a:t>
            </a:r>
            <a:r>
              <a:rPr spc="-10" dirty="0"/>
              <a:t> </a:t>
            </a:r>
            <a:r>
              <a:rPr spc="70" dirty="0"/>
              <a:t>more…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41500"/>
            <a:ext cx="10841990" cy="59740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60"/>
              </a:spcBef>
            </a:pPr>
            <a:r>
              <a:rPr sz="3200" b="1" spc="35" dirty="0">
                <a:latin typeface="Arial"/>
                <a:cs typeface="Arial"/>
              </a:rPr>
              <a:t>Memory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25" dirty="0">
                <a:latin typeface="Arial"/>
                <a:cs typeface="Arial"/>
              </a:rPr>
              <a:t>Leak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235" dirty="0">
                <a:latin typeface="Arial"/>
                <a:cs typeface="Arial"/>
              </a:rPr>
              <a:t>-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leak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45" dirty="0">
                <a:latin typeface="Arial MT"/>
                <a:cs typeface="Arial MT"/>
              </a:rPr>
              <a:t>occurs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when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programmer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forgets </a:t>
            </a:r>
            <a:r>
              <a:rPr sz="3200" spc="85" dirty="0">
                <a:latin typeface="Arial MT"/>
                <a:cs typeface="Arial MT"/>
              </a:rPr>
              <a:t>to </a:t>
            </a:r>
            <a:r>
              <a:rPr sz="3200" spc="30" dirty="0">
                <a:latin typeface="Arial MT"/>
                <a:cs typeface="Arial MT"/>
              </a:rPr>
              <a:t>de-allocate </a:t>
            </a:r>
            <a:r>
              <a:rPr sz="3200" spc="20" dirty="0">
                <a:latin typeface="Arial MT"/>
                <a:cs typeface="Arial MT"/>
              </a:rPr>
              <a:t>memory </a:t>
            </a:r>
            <a:r>
              <a:rPr sz="3200" spc="40" dirty="0">
                <a:latin typeface="Arial MT"/>
                <a:cs typeface="Arial MT"/>
              </a:rPr>
              <a:t>that </a:t>
            </a:r>
            <a:r>
              <a:rPr sz="3200" spc="-5" dirty="0">
                <a:latin typeface="Arial MT"/>
                <a:cs typeface="Arial MT"/>
              </a:rPr>
              <a:t>is </a:t>
            </a:r>
            <a:r>
              <a:rPr sz="3200" spc="45" dirty="0">
                <a:latin typeface="Arial MT"/>
                <a:cs typeface="Arial MT"/>
              </a:rPr>
              <a:t>pointed </a:t>
            </a:r>
            <a:r>
              <a:rPr sz="3200" spc="85" dirty="0">
                <a:latin typeface="Arial MT"/>
                <a:cs typeface="Arial MT"/>
              </a:rPr>
              <a:t>to </a:t>
            </a:r>
            <a:r>
              <a:rPr sz="3200" spc="55" dirty="0">
                <a:latin typeface="Arial MT"/>
                <a:cs typeface="Arial MT"/>
              </a:rPr>
              <a:t>by </a:t>
            </a:r>
            <a:r>
              <a:rPr sz="3200" spc="-65" dirty="0">
                <a:latin typeface="Arial MT"/>
                <a:cs typeface="Arial MT"/>
              </a:rPr>
              <a:t>a 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pointer, </a:t>
            </a:r>
            <a:r>
              <a:rPr sz="3200" spc="10" dirty="0">
                <a:latin typeface="Arial MT"/>
                <a:cs typeface="Arial MT"/>
              </a:rPr>
              <a:t>then </a:t>
            </a:r>
            <a:r>
              <a:rPr sz="3200" spc="5" dirty="0">
                <a:latin typeface="Arial MT"/>
                <a:cs typeface="Arial MT"/>
              </a:rPr>
              <a:t>deletes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30" dirty="0">
                <a:latin typeface="Arial MT"/>
                <a:cs typeface="Arial MT"/>
              </a:rPr>
              <a:t>pointer </a:t>
            </a:r>
            <a:r>
              <a:rPr sz="3200" spc="25" dirty="0">
                <a:latin typeface="Arial MT"/>
                <a:cs typeface="Arial MT"/>
              </a:rPr>
              <a:t>or </a:t>
            </a:r>
            <a:r>
              <a:rPr sz="3200" spc="5" dirty="0">
                <a:latin typeface="Arial MT"/>
                <a:cs typeface="Arial MT"/>
              </a:rPr>
              <a:t>re-assigns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30" dirty="0">
                <a:latin typeface="Arial MT"/>
                <a:cs typeface="Arial MT"/>
              </a:rPr>
              <a:t>pointer </a:t>
            </a:r>
            <a:r>
              <a:rPr sz="3200" spc="85" dirty="0">
                <a:latin typeface="Arial MT"/>
                <a:cs typeface="Arial MT"/>
              </a:rPr>
              <a:t>to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new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value.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3200" spc="40" dirty="0">
                <a:latin typeface="Arial MT"/>
                <a:cs typeface="Arial MT"/>
              </a:rPr>
              <a:t>Common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Mistakes: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Arial MT"/>
              <a:cs typeface="Arial MT"/>
            </a:endParaRPr>
          </a:p>
          <a:p>
            <a:pPr marL="12700" marR="974725">
              <a:lnSpc>
                <a:spcPts val="3800"/>
              </a:lnSpc>
              <a:buChar char="-"/>
              <a:tabLst>
                <a:tab pos="283845" algn="l"/>
              </a:tabLst>
            </a:pPr>
            <a:r>
              <a:rPr sz="3200" spc="20" dirty="0">
                <a:latin typeface="Arial MT"/>
                <a:cs typeface="Arial MT"/>
              </a:rPr>
              <a:t>allocating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memory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loop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and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calling</a:t>
            </a:r>
            <a:r>
              <a:rPr sz="3200" spc="5" dirty="0">
                <a:latin typeface="Arial MT"/>
                <a:cs typeface="Arial MT"/>
              </a:rPr>
              <a:t> delete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on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-869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pointer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outside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of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45" dirty="0">
                <a:latin typeface="Arial MT"/>
                <a:cs typeface="Arial MT"/>
              </a:rPr>
              <a:t>loop.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-"/>
            </a:pPr>
            <a:endParaRPr sz="3600">
              <a:latin typeface="Arial MT"/>
              <a:cs typeface="Arial MT"/>
            </a:endParaRPr>
          </a:p>
          <a:p>
            <a:pPr marL="12700" marR="1027430">
              <a:lnSpc>
                <a:spcPts val="3800"/>
              </a:lnSpc>
              <a:buChar char="-"/>
              <a:tabLst>
                <a:tab pos="283845" algn="l"/>
              </a:tabLst>
            </a:pPr>
            <a:r>
              <a:rPr sz="3200" spc="55" dirty="0">
                <a:latin typeface="Arial MT"/>
                <a:cs typeface="Arial MT"/>
              </a:rPr>
              <a:t>not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deleting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data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within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35" dirty="0">
                <a:latin typeface="Arial MT"/>
                <a:cs typeface="Arial MT"/>
              </a:rPr>
              <a:t>an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object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that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dynamically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allocated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1600" y="355600"/>
            <a:ext cx="518795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i="1" spc="50" dirty="0">
                <a:latin typeface="Arial"/>
                <a:cs typeface="Arial"/>
              </a:rPr>
              <a:t>delete[</a:t>
            </a:r>
            <a:r>
              <a:rPr b="1" i="1" spc="-3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]</a:t>
            </a:r>
            <a:r>
              <a:rPr b="1" i="1" spc="-30" dirty="0">
                <a:latin typeface="Arial"/>
                <a:cs typeface="Arial"/>
              </a:rPr>
              <a:t> </a:t>
            </a:r>
            <a:r>
              <a:rPr spc="135" dirty="0"/>
              <a:t>operator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41500"/>
            <a:ext cx="10646410" cy="324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20"/>
              </a:lnSpc>
              <a:spcBef>
                <a:spcPts val="100"/>
              </a:spcBef>
            </a:pPr>
            <a:r>
              <a:rPr sz="3200" spc="-30" dirty="0">
                <a:latin typeface="Arial MT"/>
                <a:cs typeface="Arial MT"/>
              </a:rPr>
              <a:t>When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dynamically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allocating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array’s,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we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use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b="1" spc="20" dirty="0">
                <a:latin typeface="Arial"/>
                <a:cs typeface="Arial"/>
              </a:rPr>
              <a:t>delete[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]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ts val="3820"/>
              </a:lnSpc>
            </a:pPr>
            <a:r>
              <a:rPr sz="3200" spc="25" dirty="0">
                <a:latin typeface="Arial MT"/>
                <a:cs typeface="Arial MT"/>
              </a:rPr>
              <a:t>operator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indicate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that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we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are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freeing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70" dirty="0">
                <a:latin typeface="Arial MT"/>
                <a:cs typeface="Arial MT"/>
              </a:rPr>
              <a:t>block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of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memory.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700">
              <a:latin typeface="Arial MT"/>
              <a:cs typeface="Arial MT"/>
            </a:endParaRPr>
          </a:p>
          <a:p>
            <a:pPr marL="2451100">
              <a:lnSpc>
                <a:spcPct val="100000"/>
              </a:lnSpc>
              <a:spcBef>
                <a:spcPts val="2205"/>
              </a:spcBef>
              <a:tabLst>
                <a:tab pos="3426460" algn="l"/>
                <a:tab pos="6596380" algn="l"/>
              </a:tabLst>
            </a:pP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int	</a:t>
            </a:r>
            <a:r>
              <a:rPr sz="3200" spc="-5" dirty="0">
                <a:latin typeface="Courier New"/>
                <a:cs typeface="Courier New"/>
              </a:rPr>
              <a:t>*array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b="1" dirty="0">
                <a:latin typeface="Courier New"/>
                <a:cs typeface="Courier New"/>
              </a:rPr>
              <a:t>new	</a:t>
            </a:r>
            <a:r>
              <a:rPr sz="3200" spc="-5" dirty="0">
                <a:solidFill>
                  <a:srgbClr val="006DBC"/>
                </a:solidFill>
                <a:latin typeface="Courier New"/>
                <a:cs typeface="Courier New"/>
              </a:rPr>
              <a:t>int</a:t>
            </a:r>
            <a:r>
              <a:rPr sz="3200" spc="-5" dirty="0">
                <a:latin typeface="Courier New"/>
                <a:cs typeface="Courier New"/>
              </a:rPr>
              <a:t>[</a:t>
            </a:r>
            <a:r>
              <a:rPr sz="3200" spc="-5" dirty="0">
                <a:solidFill>
                  <a:srgbClr val="BF8F00"/>
                </a:solidFill>
                <a:latin typeface="Courier New"/>
                <a:cs typeface="Courier New"/>
              </a:rPr>
              <a:t>5</a:t>
            </a:r>
            <a:r>
              <a:rPr sz="3200" spc="-5" dirty="0"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00">
              <a:latin typeface="Courier New"/>
              <a:cs typeface="Courier New"/>
            </a:endParaRPr>
          </a:p>
          <a:p>
            <a:pPr marL="24511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delete</a:t>
            </a:r>
            <a:r>
              <a:rPr sz="3200" spc="-5" dirty="0">
                <a:latin typeface="Courier New"/>
                <a:cs typeface="Courier New"/>
              </a:rPr>
              <a:t>[]</a:t>
            </a:r>
            <a:r>
              <a:rPr sz="3200" spc="-5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array;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2800" y="355600"/>
            <a:ext cx="883729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Pointers</a:t>
            </a:r>
            <a:r>
              <a:rPr spc="-15" dirty="0"/>
              <a:t> </a:t>
            </a:r>
            <a:r>
              <a:rPr spc="180" dirty="0"/>
              <a:t>with</a:t>
            </a:r>
            <a:r>
              <a:rPr spc="-10" dirty="0"/>
              <a:t> </a:t>
            </a:r>
            <a:r>
              <a:rPr spc="110" dirty="0"/>
              <a:t>Objects/Classes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41500"/>
            <a:ext cx="10554970" cy="5504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20"/>
              </a:lnSpc>
              <a:spcBef>
                <a:spcPts val="100"/>
              </a:spcBef>
            </a:pPr>
            <a:r>
              <a:rPr sz="3200" spc="25" dirty="0">
                <a:latin typeface="Arial MT"/>
                <a:cs typeface="Arial MT"/>
              </a:rPr>
              <a:t>It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very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60" dirty="0">
                <a:latin typeface="Arial MT"/>
                <a:cs typeface="Arial MT"/>
              </a:rPr>
              <a:t>common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that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we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use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pointers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and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i="1" spc="15" dirty="0">
                <a:latin typeface="Arial"/>
                <a:cs typeface="Arial"/>
              </a:rPr>
              <a:t>new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ts val="3820"/>
              </a:lnSpc>
            </a:pPr>
            <a:r>
              <a:rPr sz="3200" spc="30" dirty="0">
                <a:latin typeface="Arial MT"/>
                <a:cs typeface="Arial MT"/>
              </a:rPr>
              <a:t>keyword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spc="-5" dirty="0">
                <a:latin typeface="Arial MT"/>
                <a:cs typeface="Arial MT"/>
              </a:rPr>
              <a:t> create </a:t>
            </a:r>
            <a:r>
              <a:rPr sz="3200" spc="40" dirty="0">
                <a:latin typeface="Arial MT"/>
                <a:cs typeface="Arial MT"/>
              </a:rPr>
              <a:t>objects.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50">
              <a:latin typeface="Arial MT"/>
              <a:cs typeface="Arial MT"/>
            </a:endParaRPr>
          </a:p>
          <a:p>
            <a:pPr marL="37465" algn="ctr">
              <a:lnSpc>
                <a:spcPct val="100000"/>
              </a:lnSpc>
              <a:tabLst>
                <a:tab pos="4183379" algn="l"/>
              </a:tabLst>
            </a:pPr>
            <a:r>
              <a:rPr sz="3200" spc="-5" dirty="0">
                <a:latin typeface="Courier New"/>
                <a:cs typeface="Courier New"/>
              </a:rPr>
              <a:t>Student *a</a:t>
            </a:r>
            <a:r>
              <a:rPr sz="3200" dirty="0">
                <a:latin typeface="Courier New"/>
                <a:cs typeface="Courier New"/>
              </a:rPr>
              <a:t> = </a:t>
            </a:r>
            <a:r>
              <a:rPr sz="3200" b="1" dirty="0">
                <a:latin typeface="Courier New"/>
                <a:cs typeface="Courier New"/>
              </a:rPr>
              <a:t>new	</a:t>
            </a:r>
            <a:r>
              <a:rPr sz="3200" spc="-5" dirty="0">
                <a:latin typeface="Courier New"/>
                <a:cs typeface="Courier New"/>
              </a:rPr>
              <a:t>Student;</a:t>
            </a:r>
            <a:endParaRPr sz="3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100">
              <a:latin typeface="Courier New"/>
              <a:cs typeface="Courier New"/>
            </a:endParaRPr>
          </a:p>
          <a:p>
            <a:pPr marL="12700" marR="146685">
              <a:lnSpc>
                <a:spcPct val="100299"/>
              </a:lnSpc>
            </a:pPr>
            <a:r>
              <a:rPr sz="3200" spc="-30" dirty="0">
                <a:latin typeface="Arial MT"/>
                <a:cs typeface="Arial MT"/>
              </a:rPr>
              <a:t>When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program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executes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this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line,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we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first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allocate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space </a:t>
            </a:r>
            <a:r>
              <a:rPr sz="3200" spc="35" dirty="0">
                <a:latin typeface="Arial MT"/>
                <a:cs typeface="Arial MT"/>
              </a:rPr>
              <a:t>for </a:t>
            </a:r>
            <a:r>
              <a:rPr sz="3200" i="1" spc="30" dirty="0">
                <a:latin typeface="Arial"/>
                <a:cs typeface="Arial"/>
              </a:rPr>
              <a:t>Student </a:t>
            </a:r>
            <a:r>
              <a:rPr sz="3200" spc="25" dirty="0">
                <a:latin typeface="Arial MT"/>
                <a:cs typeface="Arial MT"/>
              </a:rPr>
              <a:t>on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b="1" spc="10" dirty="0">
                <a:latin typeface="Arial"/>
                <a:cs typeface="Arial"/>
              </a:rPr>
              <a:t>heap, </a:t>
            </a:r>
            <a:r>
              <a:rPr sz="3200" spc="10" dirty="0">
                <a:latin typeface="Arial MT"/>
                <a:cs typeface="Arial MT"/>
              </a:rPr>
              <a:t>then </a:t>
            </a:r>
            <a:r>
              <a:rPr sz="3200" spc="25" dirty="0">
                <a:latin typeface="Arial MT"/>
                <a:cs typeface="Arial MT"/>
              </a:rPr>
              <a:t>we </a:t>
            </a:r>
            <a:r>
              <a:rPr sz="3200" spc="10" dirty="0">
                <a:latin typeface="Arial MT"/>
                <a:cs typeface="Arial MT"/>
              </a:rPr>
              <a:t>call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i="1" spc="30" dirty="0">
                <a:latin typeface="Arial"/>
                <a:cs typeface="Arial"/>
              </a:rPr>
              <a:t>Student </a:t>
            </a:r>
            <a:r>
              <a:rPr sz="3200" i="1" spc="35" dirty="0">
                <a:latin typeface="Arial"/>
                <a:cs typeface="Arial"/>
              </a:rPr>
              <a:t> </a:t>
            </a:r>
            <a:r>
              <a:rPr sz="3200" spc="20" dirty="0">
                <a:latin typeface="Arial MT"/>
                <a:cs typeface="Arial MT"/>
              </a:rPr>
              <a:t>default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constructor.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00">
              <a:latin typeface="Arial MT"/>
              <a:cs typeface="Arial MT"/>
            </a:endParaRPr>
          </a:p>
          <a:p>
            <a:pPr marL="12700" marR="5080">
              <a:lnSpc>
                <a:spcPts val="3800"/>
              </a:lnSpc>
            </a:pPr>
            <a:r>
              <a:rPr sz="3200" spc="-155" dirty="0">
                <a:latin typeface="Arial MT"/>
                <a:cs typeface="Arial MT"/>
              </a:rPr>
              <a:t>We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can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also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use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other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overloaded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constructers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for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class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during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initialization:</a:t>
            </a:r>
            <a:endParaRPr sz="32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17750" y="7611864"/>
          <a:ext cx="8110219" cy="9302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551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137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Student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*a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dirty="0"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ts val="3304"/>
                        </a:lnSpc>
                      </a:pPr>
                      <a:r>
                        <a:rPr sz="3200" b="1" dirty="0">
                          <a:latin typeface="Courier New"/>
                          <a:cs typeface="Courier New"/>
                        </a:rPr>
                        <a:t>new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3304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Student;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37">
                <a:tc>
                  <a:txBody>
                    <a:bodyPr/>
                    <a:lstStyle/>
                    <a:p>
                      <a:pPr marL="31750">
                        <a:lnSpc>
                          <a:spcPts val="3340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Student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40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*a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40"/>
                        </a:lnSpc>
                      </a:pPr>
                      <a:r>
                        <a:rPr sz="3200" dirty="0"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ts val="3340"/>
                        </a:lnSpc>
                      </a:pPr>
                      <a:r>
                        <a:rPr sz="3200" b="1" dirty="0">
                          <a:latin typeface="Courier New"/>
                          <a:cs typeface="Courier New"/>
                        </a:rPr>
                        <a:t>new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3340"/>
                        </a:lnSpc>
                      </a:pPr>
                      <a:r>
                        <a:rPr sz="3200" spc="-5" dirty="0">
                          <a:solidFill>
                            <a:srgbClr val="021994"/>
                          </a:solidFill>
                          <a:latin typeface="Courier New"/>
                          <a:cs typeface="Courier New"/>
                        </a:rPr>
                        <a:t>Student</a:t>
                      </a:r>
                      <a:r>
                        <a:rPr sz="3200" spc="-5" dirty="0"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3200" spc="-5" dirty="0">
                          <a:solidFill>
                            <a:srgbClr val="CD1D00"/>
                          </a:solidFill>
                          <a:latin typeface="Courier New"/>
                          <a:cs typeface="Courier New"/>
                        </a:rPr>
                        <a:t>"Erik"</a:t>
                      </a:r>
                      <a:r>
                        <a:rPr sz="3200" spc="-5" dirty="0">
                          <a:latin typeface="Courier New"/>
                          <a:cs typeface="Courier New"/>
                        </a:rPr>
                        <a:t>);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7800" y="355600"/>
            <a:ext cx="7566659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Member</a:t>
            </a:r>
            <a:r>
              <a:rPr spc="-10" dirty="0"/>
              <a:t> </a:t>
            </a:r>
            <a:r>
              <a:rPr spc="120" dirty="0"/>
              <a:t>Access</a:t>
            </a:r>
            <a:r>
              <a:rPr spc="-5" dirty="0"/>
              <a:t> </a:t>
            </a:r>
            <a:r>
              <a:rPr spc="100" dirty="0"/>
              <a:t>Operator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28800"/>
            <a:ext cx="11601450" cy="748347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1334770">
              <a:lnSpc>
                <a:spcPts val="3800"/>
              </a:lnSpc>
              <a:spcBef>
                <a:spcPts val="260"/>
              </a:spcBef>
            </a:pPr>
            <a:r>
              <a:rPr sz="3200" spc="15" dirty="0">
                <a:latin typeface="Arial MT"/>
                <a:cs typeface="Arial MT"/>
              </a:rPr>
              <a:t>Accessing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data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members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of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class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can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be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done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like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following:</a:t>
            </a:r>
            <a:endParaRPr sz="3200" dirty="0">
              <a:latin typeface="Arial MT"/>
              <a:cs typeface="Arial MT"/>
            </a:endParaRPr>
          </a:p>
          <a:p>
            <a:pPr marL="2336800" marR="3159760">
              <a:lnSpc>
                <a:spcPts val="3700"/>
              </a:lnSpc>
              <a:spcBef>
                <a:spcPts val="2080"/>
              </a:spcBef>
              <a:tabLst>
                <a:tab pos="6482080" algn="l"/>
              </a:tabLst>
            </a:pPr>
            <a:r>
              <a:rPr sz="3200" spc="-5" dirty="0">
                <a:latin typeface="Courier New"/>
                <a:cs typeface="Courier New"/>
              </a:rPr>
              <a:t>Studen</a:t>
            </a:r>
            <a:r>
              <a:rPr sz="3200" dirty="0">
                <a:latin typeface="Courier New"/>
                <a:cs typeface="Courier New"/>
              </a:rPr>
              <a:t>t</a:t>
            </a:r>
            <a:r>
              <a:rPr sz="3200" spc="-5" dirty="0">
                <a:latin typeface="Courier New"/>
                <a:cs typeface="Courier New"/>
              </a:rPr>
              <a:t> *</a:t>
            </a:r>
            <a:r>
              <a:rPr sz="3200" dirty="0">
                <a:latin typeface="Courier New"/>
                <a:cs typeface="Courier New"/>
              </a:rPr>
              <a:t>a</a:t>
            </a:r>
            <a:r>
              <a:rPr sz="3200" spc="-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b="1" dirty="0">
                <a:latin typeface="Courier New"/>
                <a:cs typeface="Courier New"/>
              </a:rPr>
              <a:t>new	</a:t>
            </a:r>
            <a:r>
              <a:rPr sz="3200" spc="-5" dirty="0">
                <a:latin typeface="Courier New"/>
                <a:cs typeface="Courier New"/>
              </a:rPr>
              <a:t>Student;  (*a).data_member; 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(*a).</a:t>
            </a:r>
            <a:r>
              <a:rPr sz="3200" spc="-5" dirty="0">
                <a:solidFill>
                  <a:srgbClr val="021994"/>
                </a:solidFill>
                <a:latin typeface="Courier New"/>
                <a:cs typeface="Courier New"/>
              </a:rPr>
              <a:t>function</a:t>
            </a:r>
            <a:r>
              <a:rPr sz="3200" spc="-5" dirty="0">
                <a:latin typeface="Courier New"/>
                <a:cs typeface="Courier New"/>
              </a:rPr>
              <a:t>();</a:t>
            </a:r>
            <a:endParaRPr sz="3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3600" dirty="0">
              <a:latin typeface="Courier New"/>
              <a:cs typeface="Courier New"/>
            </a:endParaRPr>
          </a:p>
          <a:p>
            <a:pPr marL="12700" marR="1064260" algn="just">
              <a:lnSpc>
                <a:spcPct val="100299"/>
              </a:lnSpc>
              <a:spcBef>
                <a:spcPts val="2870"/>
              </a:spcBef>
            </a:pPr>
            <a:r>
              <a:rPr sz="3200" spc="-35" dirty="0">
                <a:latin typeface="Arial MT"/>
                <a:cs typeface="Arial MT"/>
              </a:rPr>
              <a:t>However, </a:t>
            </a:r>
            <a:r>
              <a:rPr sz="3200" spc="55" dirty="0">
                <a:latin typeface="Arial MT"/>
                <a:cs typeface="Arial MT"/>
              </a:rPr>
              <a:t>with </a:t>
            </a:r>
            <a:r>
              <a:rPr sz="3200" spc="30" dirty="0">
                <a:latin typeface="Arial MT"/>
                <a:cs typeface="Arial MT"/>
              </a:rPr>
              <a:t>C++ </a:t>
            </a:r>
            <a:r>
              <a:rPr sz="3200" spc="15" dirty="0">
                <a:latin typeface="Arial MT"/>
                <a:cs typeface="Arial MT"/>
              </a:rPr>
              <a:t>and </a:t>
            </a:r>
            <a:r>
              <a:rPr sz="3200" spc="-5" dirty="0">
                <a:latin typeface="Arial MT"/>
                <a:cs typeface="Arial MT"/>
              </a:rPr>
              <a:t>classes, </a:t>
            </a:r>
            <a:r>
              <a:rPr sz="3200" spc="25" dirty="0">
                <a:latin typeface="Arial MT"/>
                <a:cs typeface="Arial MT"/>
              </a:rPr>
              <a:t>we </a:t>
            </a:r>
            <a:r>
              <a:rPr sz="3200" spc="15" dirty="0">
                <a:latin typeface="Arial MT"/>
                <a:cs typeface="Arial MT"/>
              </a:rPr>
              <a:t>can </a:t>
            </a:r>
            <a:r>
              <a:rPr sz="3200" spc="-25" dirty="0">
                <a:latin typeface="Arial MT"/>
                <a:cs typeface="Arial MT"/>
              </a:rPr>
              <a:t>use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b="1" spc="35" dirty="0">
                <a:latin typeface="Arial"/>
                <a:cs typeface="Arial"/>
              </a:rPr>
              <a:t>member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15" dirty="0">
                <a:latin typeface="Arial"/>
                <a:cs typeface="Arial"/>
              </a:rPr>
              <a:t>access </a:t>
            </a:r>
            <a:r>
              <a:rPr sz="3200" b="1" spc="20" dirty="0">
                <a:latin typeface="Arial"/>
                <a:cs typeface="Arial"/>
              </a:rPr>
              <a:t>operator </a:t>
            </a:r>
            <a:r>
              <a:rPr sz="3200" b="1" spc="10" dirty="0">
                <a:latin typeface="Arial"/>
                <a:cs typeface="Arial"/>
              </a:rPr>
              <a:t>(-&gt;) </a:t>
            </a:r>
            <a:r>
              <a:rPr sz="3200" spc="-35" dirty="0">
                <a:latin typeface="Arial MT"/>
                <a:cs typeface="Arial MT"/>
              </a:rPr>
              <a:t>as an </a:t>
            </a:r>
            <a:r>
              <a:rPr sz="3200" dirty="0">
                <a:latin typeface="Arial MT"/>
                <a:cs typeface="Arial MT"/>
              </a:rPr>
              <a:t>alternative </a:t>
            </a:r>
            <a:r>
              <a:rPr sz="3200" spc="-50" dirty="0">
                <a:latin typeface="Arial MT"/>
                <a:cs typeface="Arial MT"/>
              </a:rPr>
              <a:t>(and </a:t>
            </a:r>
            <a:r>
              <a:rPr sz="3200" spc="-65" dirty="0">
                <a:latin typeface="Arial MT"/>
                <a:cs typeface="Arial MT"/>
              </a:rPr>
              <a:t>easier) </a:t>
            </a:r>
            <a:r>
              <a:rPr sz="3200" spc="15" dirty="0">
                <a:latin typeface="Arial MT"/>
                <a:cs typeface="Arial MT"/>
              </a:rPr>
              <a:t>way </a:t>
            </a:r>
            <a:r>
              <a:rPr sz="3200" spc="55" dirty="0">
                <a:latin typeface="Arial MT"/>
                <a:cs typeface="Arial MT"/>
              </a:rPr>
              <a:t>of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accessing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data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members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or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functions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of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class.</a:t>
            </a: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00" dirty="0">
              <a:latin typeface="Arial MT"/>
              <a:cs typeface="Arial MT"/>
            </a:endParaRPr>
          </a:p>
          <a:p>
            <a:pPr marL="2463800" marR="5471795">
              <a:lnSpc>
                <a:spcPts val="3700"/>
              </a:lnSpc>
            </a:pPr>
            <a:r>
              <a:rPr sz="3200" spc="-5" dirty="0">
                <a:latin typeface="Courier New"/>
                <a:cs typeface="Courier New"/>
              </a:rPr>
              <a:t>a-&gt;data_member;  a-&gt;</a:t>
            </a:r>
            <a:r>
              <a:rPr sz="3200" spc="-5" dirty="0">
                <a:solidFill>
                  <a:srgbClr val="021994"/>
                </a:solidFill>
                <a:latin typeface="Courier New"/>
                <a:cs typeface="Courier New"/>
              </a:rPr>
              <a:t>function</a:t>
            </a:r>
            <a:r>
              <a:rPr sz="3200" spc="-5" dirty="0">
                <a:latin typeface="Courier New"/>
                <a:cs typeface="Courier New"/>
              </a:rPr>
              <a:t>();</a:t>
            </a:r>
            <a:endParaRPr sz="3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415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5200" y="355600"/>
            <a:ext cx="346011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Destructors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47595"/>
            <a:ext cx="11601450" cy="7464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67435">
              <a:lnSpc>
                <a:spcPct val="100000"/>
              </a:lnSpc>
              <a:spcBef>
                <a:spcPts val="100"/>
              </a:spcBef>
            </a:pPr>
            <a:r>
              <a:rPr sz="2750" spc="-55" dirty="0">
                <a:latin typeface="Arial MT"/>
                <a:cs typeface="Arial MT"/>
              </a:rPr>
              <a:t>A</a:t>
            </a:r>
            <a:r>
              <a:rPr sz="2750" dirty="0">
                <a:latin typeface="Arial MT"/>
                <a:cs typeface="Arial MT"/>
              </a:rPr>
              <a:t> </a:t>
            </a:r>
            <a:r>
              <a:rPr sz="2750" b="1" spc="10" dirty="0">
                <a:latin typeface="Arial"/>
                <a:cs typeface="Arial"/>
              </a:rPr>
              <a:t>destructor</a:t>
            </a:r>
            <a:r>
              <a:rPr sz="2750" b="1" dirty="0">
                <a:latin typeface="Arial"/>
                <a:cs typeface="Arial"/>
              </a:rPr>
              <a:t> </a:t>
            </a:r>
            <a:r>
              <a:rPr sz="2750" dirty="0">
                <a:latin typeface="Arial MT"/>
                <a:cs typeface="Arial MT"/>
              </a:rPr>
              <a:t>is </a:t>
            </a:r>
            <a:r>
              <a:rPr sz="2750" spc="-55" dirty="0">
                <a:latin typeface="Arial MT"/>
                <a:cs typeface="Arial MT"/>
              </a:rPr>
              <a:t>a</a:t>
            </a:r>
            <a:r>
              <a:rPr sz="2750" dirty="0">
                <a:latin typeface="Arial MT"/>
                <a:cs typeface="Arial MT"/>
              </a:rPr>
              <a:t> </a:t>
            </a:r>
            <a:r>
              <a:rPr sz="2750" spc="15" dirty="0">
                <a:latin typeface="Arial MT"/>
                <a:cs typeface="Arial MT"/>
              </a:rPr>
              <a:t>member</a:t>
            </a:r>
            <a:r>
              <a:rPr sz="2750" dirty="0">
                <a:latin typeface="Arial MT"/>
                <a:cs typeface="Arial MT"/>
              </a:rPr>
              <a:t> </a:t>
            </a:r>
            <a:r>
              <a:rPr sz="2750" spc="35" dirty="0">
                <a:latin typeface="Arial MT"/>
                <a:cs typeface="Arial MT"/>
              </a:rPr>
              <a:t>function</a:t>
            </a:r>
            <a:r>
              <a:rPr sz="2750" dirty="0">
                <a:latin typeface="Arial MT"/>
                <a:cs typeface="Arial MT"/>
              </a:rPr>
              <a:t> </a:t>
            </a:r>
            <a:r>
              <a:rPr sz="2750" spc="35" dirty="0">
                <a:latin typeface="Arial MT"/>
                <a:cs typeface="Arial MT"/>
              </a:rPr>
              <a:t>that</a:t>
            </a:r>
            <a:r>
              <a:rPr sz="2750" dirty="0">
                <a:latin typeface="Arial MT"/>
                <a:cs typeface="Arial MT"/>
              </a:rPr>
              <a:t> is</a:t>
            </a:r>
            <a:r>
              <a:rPr sz="2750" spc="5" dirty="0">
                <a:latin typeface="Arial MT"/>
                <a:cs typeface="Arial MT"/>
              </a:rPr>
              <a:t> </a:t>
            </a:r>
            <a:r>
              <a:rPr sz="2750" spc="15" dirty="0">
                <a:latin typeface="Arial MT"/>
                <a:cs typeface="Arial MT"/>
              </a:rPr>
              <a:t>called</a:t>
            </a:r>
            <a:r>
              <a:rPr sz="2750" dirty="0">
                <a:latin typeface="Arial MT"/>
                <a:cs typeface="Arial MT"/>
              </a:rPr>
              <a:t> </a:t>
            </a:r>
            <a:r>
              <a:rPr sz="2750" spc="40" dirty="0">
                <a:latin typeface="Arial MT"/>
                <a:cs typeface="Arial MT"/>
              </a:rPr>
              <a:t>which</a:t>
            </a:r>
            <a:r>
              <a:rPr sz="2750" dirty="0">
                <a:latin typeface="Arial MT"/>
                <a:cs typeface="Arial MT"/>
              </a:rPr>
              <a:t> </a:t>
            </a:r>
            <a:r>
              <a:rPr sz="2750" spc="40" dirty="0">
                <a:latin typeface="Arial MT"/>
                <a:cs typeface="Arial MT"/>
              </a:rPr>
              <a:t>destructs</a:t>
            </a:r>
            <a:r>
              <a:rPr sz="2750" dirty="0">
                <a:latin typeface="Arial MT"/>
                <a:cs typeface="Arial MT"/>
              </a:rPr>
              <a:t> </a:t>
            </a:r>
            <a:r>
              <a:rPr sz="2750" spc="25" dirty="0">
                <a:latin typeface="Arial MT"/>
                <a:cs typeface="Arial MT"/>
              </a:rPr>
              <a:t>or </a:t>
            </a:r>
            <a:r>
              <a:rPr sz="2750" spc="-750" dirty="0">
                <a:latin typeface="Arial MT"/>
                <a:cs typeface="Arial MT"/>
              </a:rPr>
              <a:t> </a:t>
            </a:r>
            <a:r>
              <a:rPr sz="2750" spc="5" dirty="0">
                <a:latin typeface="Arial MT"/>
                <a:cs typeface="Arial MT"/>
              </a:rPr>
              <a:t>deletes</a:t>
            </a:r>
            <a:r>
              <a:rPr sz="2750" spc="-5" dirty="0">
                <a:latin typeface="Arial MT"/>
                <a:cs typeface="Arial MT"/>
              </a:rPr>
              <a:t> </a:t>
            </a:r>
            <a:r>
              <a:rPr sz="2750" spc="-30" dirty="0">
                <a:latin typeface="Arial MT"/>
                <a:cs typeface="Arial MT"/>
              </a:rPr>
              <a:t>an</a:t>
            </a:r>
            <a:r>
              <a:rPr sz="2750" dirty="0">
                <a:latin typeface="Arial MT"/>
                <a:cs typeface="Arial MT"/>
              </a:rPr>
              <a:t> </a:t>
            </a:r>
            <a:r>
              <a:rPr sz="2750" spc="40" dirty="0">
                <a:latin typeface="Arial MT"/>
                <a:cs typeface="Arial MT"/>
              </a:rPr>
              <a:t>object.</a:t>
            </a:r>
            <a:endParaRPr sz="27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 dirty="0">
              <a:latin typeface="Arial MT"/>
              <a:cs typeface="Arial MT"/>
            </a:endParaRPr>
          </a:p>
          <a:p>
            <a:pPr marL="3213100">
              <a:lnSpc>
                <a:spcPts val="2950"/>
              </a:lnSpc>
            </a:pPr>
            <a:r>
              <a:rPr sz="2500" b="1" spc="-5" dirty="0">
                <a:latin typeface="Courier New"/>
                <a:cs typeface="Courier New"/>
              </a:rPr>
              <a:t>Employee</a:t>
            </a:r>
            <a:r>
              <a:rPr sz="2500" spc="-5" dirty="0">
                <a:latin typeface="Courier New"/>
                <a:cs typeface="Courier New"/>
              </a:rPr>
              <a:t>::~</a:t>
            </a:r>
            <a:r>
              <a:rPr sz="2500" spc="-5" dirty="0">
                <a:solidFill>
                  <a:srgbClr val="021994"/>
                </a:solidFill>
                <a:latin typeface="Courier New"/>
                <a:cs typeface="Courier New"/>
              </a:rPr>
              <a:t>Employee</a:t>
            </a:r>
            <a:r>
              <a:rPr sz="2500" spc="-5" dirty="0">
                <a:latin typeface="Courier New"/>
                <a:cs typeface="Courier New"/>
              </a:rPr>
              <a:t>()</a:t>
            </a:r>
            <a:endParaRPr sz="2500" dirty="0">
              <a:latin typeface="Courier New"/>
              <a:cs typeface="Courier New"/>
            </a:endParaRPr>
          </a:p>
          <a:p>
            <a:pPr marL="3213100">
              <a:lnSpc>
                <a:spcPts val="2900"/>
              </a:lnSpc>
            </a:pPr>
            <a:r>
              <a:rPr sz="2500" dirty="0">
                <a:latin typeface="Courier New"/>
                <a:cs typeface="Courier New"/>
              </a:rPr>
              <a:t>{</a:t>
            </a:r>
          </a:p>
          <a:p>
            <a:pPr marL="3975100">
              <a:lnSpc>
                <a:spcPts val="2900"/>
              </a:lnSpc>
            </a:pPr>
            <a:r>
              <a:rPr sz="2500" i="1" spc="-5" dirty="0">
                <a:solidFill>
                  <a:srgbClr val="959395"/>
                </a:solidFill>
                <a:latin typeface="Courier New"/>
                <a:cs typeface="Courier New"/>
              </a:rPr>
              <a:t>/*</a:t>
            </a:r>
            <a:r>
              <a:rPr sz="2500" i="1" spc="-25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2500" i="1" spc="-5" dirty="0">
                <a:solidFill>
                  <a:srgbClr val="959395"/>
                </a:solidFill>
                <a:latin typeface="Courier New"/>
                <a:cs typeface="Courier New"/>
              </a:rPr>
              <a:t>Clean</a:t>
            </a:r>
            <a:r>
              <a:rPr sz="2500" i="1" spc="-25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2500" i="1" spc="-5" dirty="0">
                <a:solidFill>
                  <a:srgbClr val="959395"/>
                </a:solidFill>
                <a:latin typeface="Courier New"/>
                <a:cs typeface="Courier New"/>
              </a:rPr>
              <a:t>up</a:t>
            </a:r>
            <a:r>
              <a:rPr sz="2500" i="1" spc="-20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2500" i="1" spc="-5" dirty="0">
                <a:solidFill>
                  <a:srgbClr val="959395"/>
                </a:solidFill>
                <a:latin typeface="Courier New"/>
                <a:cs typeface="Courier New"/>
              </a:rPr>
              <a:t>data</a:t>
            </a:r>
            <a:r>
              <a:rPr sz="2500" i="1" spc="-25" dirty="0">
                <a:solidFill>
                  <a:srgbClr val="959395"/>
                </a:solidFill>
                <a:latin typeface="Courier New"/>
                <a:cs typeface="Courier New"/>
              </a:rPr>
              <a:t> </a:t>
            </a:r>
            <a:r>
              <a:rPr sz="2500" i="1" dirty="0">
                <a:solidFill>
                  <a:srgbClr val="959395"/>
                </a:solidFill>
                <a:latin typeface="Courier New"/>
                <a:cs typeface="Courier New"/>
              </a:rPr>
              <a:t>*/</a:t>
            </a:r>
            <a:endParaRPr sz="2500" dirty="0">
              <a:latin typeface="Courier New"/>
              <a:cs typeface="Courier New"/>
            </a:endParaRPr>
          </a:p>
          <a:p>
            <a:pPr marL="3213100">
              <a:lnSpc>
                <a:spcPts val="2950"/>
              </a:lnSpc>
            </a:pPr>
            <a:r>
              <a:rPr sz="2500" dirty="0">
                <a:latin typeface="Courier New"/>
                <a:cs typeface="Courier New"/>
              </a:rPr>
              <a:t>}</a:t>
            </a:r>
          </a:p>
          <a:p>
            <a:pPr>
              <a:lnSpc>
                <a:spcPct val="100000"/>
              </a:lnSpc>
            </a:pPr>
            <a:endParaRPr sz="22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750" spc="20" dirty="0">
                <a:latin typeface="Arial MT"/>
                <a:cs typeface="Arial MT"/>
              </a:rPr>
              <a:t>Destructors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-55" dirty="0">
                <a:latin typeface="Arial MT"/>
                <a:cs typeface="Arial MT"/>
              </a:rPr>
              <a:t>are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15" dirty="0">
                <a:latin typeface="Arial MT"/>
                <a:cs typeface="Arial MT"/>
              </a:rPr>
              <a:t>called</a:t>
            </a:r>
            <a:r>
              <a:rPr sz="2750" spc="-5" dirty="0">
                <a:latin typeface="Arial MT"/>
                <a:cs typeface="Arial MT"/>
              </a:rPr>
              <a:t> </a:t>
            </a:r>
            <a:r>
              <a:rPr sz="2750" spc="10" dirty="0">
                <a:latin typeface="Arial MT"/>
                <a:cs typeface="Arial MT"/>
              </a:rPr>
              <a:t>when:</a:t>
            </a:r>
            <a:endParaRPr sz="2750" dirty="0">
              <a:latin typeface="Arial MT"/>
              <a:cs typeface="Arial MT"/>
            </a:endParaRPr>
          </a:p>
          <a:p>
            <a:pPr marL="655955" indent="-389890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656590" algn="l"/>
              </a:tabLst>
            </a:pPr>
            <a:r>
              <a:rPr sz="2750" spc="-55" dirty="0">
                <a:latin typeface="Arial MT"/>
                <a:cs typeface="Arial MT"/>
              </a:rPr>
              <a:t>A</a:t>
            </a:r>
            <a:r>
              <a:rPr sz="2750" spc="-20" dirty="0">
                <a:latin typeface="Arial MT"/>
                <a:cs typeface="Arial MT"/>
              </a:rPr>
              <a:t> </a:t>
            </a:r>
            <a:r>
              <a:rPr sz="2750" spc="35" dirty="0">
                <a:latin typeface="Arial MT"/>
                <a:cs typeface="Arial MT"/>
              </a:rPr>
              <a:t>function</a:t>
            </a:r>
            <a:r>
              <a:rPr sz="2750" spc="-15" dirty="0">
                <a:latin typeface="Arial MT"/>
                <a:cs typeface="Arial MT"/>
              </a:rPr>
              <a:t> </a:t>
            </a:r>
            <a:r>
              <a:rPr sz="2750" spc="10" dirty="0">
                <a:latin typeface="Arial MT"/>
                <a:cs typeface="Arial MT"/>
              </a:rPr>
              <a:t>ends</a:t>
            </a:r>
            <a:endParaRPr sz="2750" dirty="0">
              <a:latin typeface="Arial MT"/>
              <a:cs typeface="Arial MT"/>
            </a:endParaRPr>
          </a:p>
          <a:p>
            <a:pPr marL="655955" indent="-389890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656590" algn="l"/>
              </a:tabLst>
            </a:pPr>
            <a:r>
              <a:rPr sz="2750" spc="-55" dirty="0">
                <a:latin typeface="Arial MT"/>
                <a:cs typeface="Arial MT"/>
              </a:rPr>
              <a:t>The</a:t>
            </a:r>
            <a:r>
              <a:rPr sz="2750" spc="-20" dirty="0">
                <a:latin typeface="Arial MT"/>
                <a:cs typeface="Arial MT"/>
              </a:rPr>
              <a:t> </a:t>
            </a:r>
            <a:r>
              <a:rPr sz="2750" spc="20" dirty="0">
                <a:latin typeface="Arial MT"/>
                <a:cs typeface="Arial MT"/>
              </a:rPr>
              <a:t>program</a:t>
            </a:r>
            <a:r>
              <a:rPr sz="2750" spc="-15" dirty="0">
                <a:latin typeface="Arial MT"/>
                <a:cs typeface="Arial MT"/>
              </a:rPr>
              <a:t> </a:t>
            </a:r>
            <a:r>
              <a:rPr sz="2750" spc="10" dirty="0">
                <a:latin typeface="Arial MT"/>
                <a:cs typeface="Arial MT"/>
              </a:rPr>
              <a:t>ends</a:t>
            </a:r>
            <a:endParaRPr sz="2750" dirty="0">
              <a:latin typeface="Arial MT"/>
              <a:cs typeface="Arial MT"/>
            </a:endParaRPr>
          </a:p>
          <a:p>
            <a:pPr marL="655955" indent="-38989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656590" algn="l"/>
              </a:tabLst>
            </a:pPr>
            <a:r>
              <a:rPr sz="2750" spc="-55" dirty="0">
                <a:latin typeface="Arial MT"/>
                <a:cs typeface="Arial MT"/>
              </a:rPr>
              <a:t>A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60" dirty="0">
                <a:latin typeface="Arial MT"/>
                <a:cs typeface="Arial MT"/>
              </a:rPr>
              <a:t>block</a:t>
            </a:r>
            <a:r>
              <a:rPr sz="2750" spc="-5" dirty="0">
                <a:latin typeface="Arial MT"/>
                <a:cs typeface="Arial MT"/>
              </a:rPr>
              <a:t> </a:t>
            </a:r>
            <a:r>
              <a:rPr sz="2750" spc="25" dirty="0">
                <a:latin typeface="Arial MT"/>
                <a:cs typeface="Arial MT"/>
              </a:rPr>
              <a:t>containing</a:t>
            </a:r>
            <a:r>
              <a:rPr sz="2750" spc="-5" dirty="0">
                <a:latin typeface="Arial MT"/>
                <a:cs typeface="Arial MT"/>
              </a:rPr>
              <a:t> </a:t>
            </a:r>
            <a:r>
              <a:rPr sz="2750" spc="20" dirty="0">
                <a:latin typeface="Arial MT"/>
                <a:cs typeface="Arial MT"/>
              </a:rPr>
              <a:t>local</a:t>
            </a:r>
            <a:r>
              <a:rPr sz="2750" spc="-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variables</a:t>
            </a:r>
            <a:r>
              <a:rPr sz="2750" spc="-5" dirty="0">
                <a:latin typeface="Arial MT"/>
                <a:cs typeface="Arial MT"/>
              </a:rPr>
              <a:t> </a:t>
            </a:r>
            <a:r>
              <a:rPr sz="2750" spc="15" dirty="0">
                <a:latin typeface="Arial MT"/>
                <a:cs typeface="Arial MT"/>
              </a:rPr>
              <a:t>end</a:t>
            </a:r>
            <a:endParaRPr sz="2750" dirty="0">
              <a:latin typeface="Arial MT"/>
              <a:cs typeface="Arial MT"/>
            </a:endParaRPr>
          </a:p>
          <a:p>
            <a:pPr marL="655955" indent="-389890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656590" algn="l"/>
              </a:tabLst>
            </a:pPr>
            <a:r>
              <a:rPr sz="2750" spc="-55" dirty="0">
                <a:latin typeface="Arial MT"/>
                <a:cs typeface="Arial MT"/>
              </a:rPr>
              <a:t>A</a:t>
            </a:r>
            <a:r>
              <a:rPr sz="2750" spc="-15" dirty="0">
                <a:latin typeface="Arial MT"/>
                <a:cs typeface="Arial MT"/>
              </a:rPr>
              <a:t> </a:t>
            </a:r>
            <a:r>
              <a:rPr sz="2750" spc="5" dirty="0">
                <a:latin typeface="Arial MT"/>
                <a:cs typeface="Arial MT"/>
              </a:rPr>
              <a:t>delete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25" dirty="0">
                <a:latin typeface="Arial MT"/>
                <a:cs typeface="Arial MT"/>
              </a:rPr>
              <a:t>operator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is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15" dirty="0">
                <a:latin typeface="Arial MT"/>
                <a:cs typeface="Arial MT"/>
              </a:rPr>
              <a:t>called</a:t>
            </a:r>
            <a:endParaRPr sz="27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3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750" spc="-55" dirty="0">
                <a:latin typeface="Arial MT"/>
                <a:cs typeface="Arial MT"/>
              </a:rPr>
              <a:t>A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10" dirty="0">
                <a:latin typeface="Arial MT"/>
                <a:cs typeface="Arial MT"/>
              </a:rPr>
              <a:t>class</a:t>
            </a:r>
            <a:r>
              <a:rPr sz="2750" spc="-5" dirty="0">
                <a:latin typeface="Arial MT"/>
                <a:cs typeface="Arial MT"/>
              </a:rPr>
              <a:t> </a:t>
            </a:r>
            <a:r>
              <a:rPr sz="2750" spc="10" dirty="0">
                <a:latin typeface="Arial MT"/>
                <a:cs typeface="Arial MT"/>
              </a:rPr>
              <a:t>only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has</a:t>
            </a:r>
            <a:r>
              <a:rPr sz="2750" spc="-5" dirty="0">
                <a:latin typeface="Arial MT"/>
                <a:cs typeface="Arial MT"/>
              </a:rPr>
              <a:t> one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40" dirty="0">
                <a:latin typeface="Arial MT"/>
                <a:cs typeface="Arial MT"/>
              </a:rPr>
              <a:t>destructor</a:t>
            </a:r>
            <a:endParaRPr sz="27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9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3500" y="355600"/>
            <a:ext cx="524764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Copy</a:t>
            </a:r>
            <a:r>
              <a:rPr spc="-70" dirty="0"/>
              <a:t> </a:t>
            </a:r>
            <a:r>
              <a:rPr spc="150" dirty="0"/>
              <a:t>Constructor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45055"/>
            <a:ext cx="10894060" cy="578993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286385">
              <a:lnSpc>
                <a:spcPct val="101099"/>
              </a:lnSpc>
              <a:spcBef>
                <a:spcPts val="80"/>
              </a:spcBef>
            </a:pPr>
            <a:r>
              <a:rPr sz="3050" spc="-45" dirty="0">
                <a:latin typeface="Arial MT"/>
                <a:cs typeface="Arial MT"/>
              </a:rPr>
              <a:t>A</a:t>
            </a:r>
            <a:r>
              <a:rPr sz="3050" dirty="0">
                <a:latin typeface="Arial MT"/>
                <a:cs typeface="Arial MT"/>
              </a:rPr>
              <a:t> </a:t>
            </a:r>
            <a:r>
              <a:rPr sz="3050" b="1" spc="-5" dirty="0">
                <a:latin typeface="Arial"/>
                <a:cs typeface="Arial"/>
              </a:rPr>
              <a:t>copy</a:t>
            </a:r>
            <a:r>
              <a:rPr sz="3050" b="1" spc="5" dirty="0">
                <a:latin typeface="Arial"/>
                <a:cs typeface="Arial"/>
              </a:rPr>
              <a:t> </a:t>
            </a:r>
            <a:r>
              <a:rPr sz="3050" b="1" spc="15" dirty="0">
                <a:latin typeface="Arial"/>
                <a:cs typeface="Arial"/>
              </a:rPr>
              <a:t>constructor</a:t>
            </a:r>
            <a:r>
              <a:rPr sz="3050" b="1" spc="5" dirty="0">
                <a:latin typeface="Arial"/>
                <a:cs typeface="Arial"/>
              </a:rPr>
              <a:t> </a:t>
            </a:r>
            <a:r>
              <a:rPr sz="3050" spc="5" dirty="0">
                <a:latin typeface="Arial MT"/>
                <a:cs typeface="Arial MT"/>
              </a:rPr>
              <a:t>is </a:t>
            </a:r>
            <a:r>
              <a:rPr sz="3050" spc="25" dirty="0">
                <a:latin typeface="Arial MT"/>
                <a:cs typeface="Arial MT"/>
              </a:rPr>
              <a:t>used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45" dirty="0">
                <a:latin typeface="Arial MT"/>
                <a:cs typeface="Arial MT"/>
              </a:rPr>
              <a:t>for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-50" dirty="0">
                <a:latin typeface="Arial MT"/>
                <a:cs typeface="Arial MT"/>
              </a:rPr>
              <a:t>a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20" dirty="0">
                <a:latin typeface="Arial MT"/>
                <a:cs typeface="Arial MT"/>
              </a:rPr>
              <a:t>class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90" dirty="0">
                <a:latin typeface="Arial MT"/>
                <a:cs typeface="Arial MT"/>
              </a:rPr>
              <a:t>to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10" dirty="0">
                <a:latin typeface="Arial MT"/>
                <a:cs typeface="Arial MT"/>
              </a:rPr>
              <a:t>make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-50" dirty="0">
                <a:latin typeface="Arial MT"/>
                <a:cs typeface="Arial MT"/>
              </a:rPr>
              <a:t>a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80" dirty="0">
                <a:latin typeface="Arial MT"/>
                <a:cs typeface="Arial MT"/>
              </a:rPr>
              <a:t>copy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60" dirty="0">
                <a:latin typeface="Arial MT"/>
                <a:cs typeface="Arial MT"/>
              </a:rPr>
              <a:t>of</a:t>
            </a:r>
            <a:r>
              <a:rPr sz="3050" dirty="0">
                <a:latin typeface="Arial MT"/>
                <a:cs typeface="Arial MT"/>
              </a:rPr>
              <a:t> </a:t>
            </a:r>
            <a:r>
              <a:rPr sz="3050" spc="-20" dirty="0">
                <a:latin typeface="Arial MT"/>
                <a:cs typeface="Arial MT"/>
              </a:rPr>
              <a:t>an </a:t>
            </a:r>
            <a:r>
              <a:rPr sz="3050" spc="-830" dirty="0">
                <a:latin typeface="Arial MT"/>
                <a:cs typeface="Arial MT"/>
              </a:rPr>
              <a:t> </a:t>
            </a:r>
            <a:r>
              <a:rPr sz="3050" spc="25" dirty="0">
                <a:latin typeface="Arial MT"/>
                <a:cs typeface="Arial MT"/>
              </a:rPr>
              <a:t>existing</a:t>
            </a:r>
            <a:r>
              <a:rPr sz="3050" dirty="0">
                <a:latin typeface="Arial MT"/>
                <a:cs typeface="Arial MT"/>
              </a:rPr>
              <a:t> </a:t>
            </a:r>
            <a:r>
              <a:rPr sz="3050" spc="20" dirty="0">
                <a:latin typeface="Arial MT"/>
                <a:cs typeface="Arial MT"/>
              </a:rPr>
              <a:t>instance.</a:t>
            </a:r>
            <a:endParaRPr sz="3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>
              <a:latin typeface="Arial MT"/>
              <a:cs typeface="Arial MT"/>
            </a:endParaRPr>
          </a:p>
          <a:p>
            <a:pPr marL="12700" marR="1076325">
              <a:lnSpc>
                <a:spcPct val="101099"/>
              </a:lnSpc>
              <a:spcBef>
                <a:spcPts val="5"/>
              </a:spcBef>
            </a:pPr>
            <a:r>
              <a:rPr sz="3050" spc="-135" dirty="0">
                <a:latin typeface="Arial MT"/>
                <a:cs typeface="Arial MT"/>
              </a:rPr>
              <a:t>We</a:t>
            </a:r>
            <a:r>
              <a:rPr sz="3050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use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45" dirty="0">
                <a:latin typeface="Arial MT"/>
                <a:cs typeface="Arial MT"/>
              </a:rPr>
              <a:t>constants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25" dirty="0">
                <a:latin typeface="Arial MT"/>
                <a:cs typeface="Arial MT"/>
              </a:rPr>
              <a:t>when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35" dirty="0">
                <a:latin typeface="Arial MT"/>
                <a:cs typeface="Arial MT"/>
              </a:rPr>
              <a:t>we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50" dirty="0">
                <a:latin typeface="Arial MT"/>
                <a:cs typeface="Arial MT"/>
              </a:rPr>
              <a:t>want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90" dirty="0">
                <a:latin typeface="Arial MT"/>
                <a:cs typeface="Arial MT"/>
              </a:rPr>
              <a:t>to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35" dirty="0">
                <a:latin typeface="Arial MT"/>
                <a:cs typeface="Arial MT"/>
              </a:rPr>
              <a:t>customize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35" dirty="0">
                <a:latin typeface="Arial MT"/>
                <a:cs typeface="Arial MT"/>
              </a:rPr>
              <a:t>or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20" dirty="0">
                <a:latin typeface="Arial MT"/>
                <a:cs typeface="Arial MT"/>
              </a:rPr>
              <a:t>tell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25" dirty="0">
                <a:latin typeface="Arial MT"/>
                <a:cs typeface="Arial MT"/>
              </a:rPr>
              <a:t>the </a:t>
            </a:r>
            <a:r>
              <a:rPr sz="3050" spc="-835" dirty="0">
                <a:latin typeface="Arial MT"/>
                <a:cs typeface="Arial MT"/>
              </a:rPr>
              <a:t> </a:t>
            </a:r>
            <a:r>
              <a:rPr sz="3050" spc="35" dirty="0">
                <a:latin typeface="Arial MT"/>
                <a:cs typeface="Arial MT"/>
              </a:rPr>
              <a:t>program</a:t>
            </a:r>
            <a:r>
              <a:rPr sz="3050" dirty="0">
                <a:latin typeface="Arial MT"/>
                <a:cs typeface="Arial MT"/>
              </a:rPr>
              <a:t> </a:t>
            </a:r>
            <a:r>
              <a:rPr sz="3050" spc="65" dirty="0">
                <a:latin typeface="Arial MT"/>
                <a:cs typeface="Arial MT"/>
              </a:rPr>
              <a:t>how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90" dirty="0">
                <a:latin typeface="Arial MT"/>
                <a:cs typeface="Arial MT"/>
              </a:rPr>
              <a:t>to</a:t>
            </a:r>
            <a:r>
              <a:rPr sz="3050" dirty="0">
                <a:latin typeface="Arial MT"/>
                <a:cs typeface="Arial MT"/>
              </a:rPr>
              <a:t> </a:t>
            </a:r>
            <a:r>
              <a:rPr sz="3050" spc="80" dirty="0">
                <a:latin typeface="Arial MT"/>
                <a:cs typeface="Arial MT"/>
              </a:rPr>
              <a:t>copy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-20" dirty="0">
                <a:latin typeface="Arial MT"/>
                <a:cs typeface="Arial MT"/>
              </a:rPr>
              <a:t>an</a:t>
            </a:r>
            <a:r>
              <a:rPr sz="3050" dirty="0">
                <a:latin typeface="Arial MT"/>
                <a:cs typeface="Arial MT"/>
              </a:rPr>
              <a:t> </a:t>
            </a:r>
            <a:r>
              <a:rPr sz="3050" spc="65" dirty="0">
                <a:latin typeface="Arial MT"/>
                <a:cs typeface="Arial MT"/>
              </a:rPr>
              <a:t>object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25" dirty="0">
                <a:latin typeface="Arial MT"/>
                <a:cs typeface="Arial MT"/>
              </a:rPr>
              <a:t>when</a:t>
            </a:r>
            <a:r>
              <a:rPr sz="3050" dirty="0">
                <a:latin typeface="Arial MT"/>
                <a:cs typeface="Arial MT"/>
              </a:rPr>
              <a:t> </a:t>
            </a:r>
            <a:r>
              <a:rPr sz="3050" spc="35" dirty="0">
                <a:latin typeface="Arial MT"/>
                <a:cs typeface="Arial MT"/>
              </a:rPr>
              <a:t>we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i="1" spc="-20" dirty="0">
                <a:latin typeface="Arial"/>
                <a:cs typeface="Arial"/>
              </a:rPr>
              <a:t>pass</a:t>
            </a:r>
            <a:r>
              <a:rPr sz="3050" i="1" dirty="0">
                <a:latin typeface="Arial"/>
                <a:cs typeface="Arial"/>
              </a:rPr>
              <a:t> </a:t>
            </a:r>
            <a:r>
              <a:rPr sz="3050" i="1" spc="35" dirty="0">
                <a:latin typeface="Arial"/>
                <a:cs typeface="Arial"/>
              </a:rPr>
              <a:t>by</a:t>
            </a:r>
            <a:r>
              <a:rPr sz="3050" i="1" spc="5" dirty="0">
                <a:latin typeface="Arial"/>
                <a:cs typeface="Arial"/>
              </a:rPr>
              <a:t> </a:t>
            </a:r>
            <a:r>
              <a:rPr sz="3050" i="1" spc="-30" dirty="0">
                <a:latin typeface="Arial"/>
                <a:cs typeface="Arial"/>
              </a:rPr>
              <a:t>value.</a:t>
            </a:r>
            <a:endParaRPr sz="3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50">
              <a:latin typeface="Arial"/>
              <a:cs typeface="Arial"/>
            </a:endParaRPr>
          </a:p>
          <a:p>
            <a:pPr marL="12700" marR="798830">
              <a:lnSpc>
                <a:spcPct val="101099"/>
              </a:lnSpc>
            </a:pPr>
            <a:r>
              <a:rPr sz="3050" spc="-5" dirty="0">
                <a:latin typeface="Arial MT"/>
                <a:cs typeface="Arial MT"/>
              </a:rPr>
              <a:t>*Remember: </a:t>
            </a:r>
            <a:r>
              <a:rPr sz="3050" i="1" spc="-65" dirty="0">
                <a:latin typeface="Arial"/>
                <a:cs typeface="Arial"/>
              </a:rPr>
              <a:t>Pass </a:t>
            </a:r>
            <a:r>
              <a:rPr sz="3050" i="1" spc="35" dirty="0">
                <a:latin typeface="Arial"/>
                <a:cs typeface="Arial"/>
              </a:rPr>
              <a:t>by </a:t>
            </a:r>
            <a:r>
              <a:rPr sz="3050" i="1" spc="-40" dirty="0">
                <a:latin typeface="Arial"/>
                <a:cs typeface="Arial"/>
              </a:rPr>
              <a:t>value </a:t>
            </a:r>
            <a:r>
              <a:rPr sz="3050" spc="5" dirty="0">
                <a:latin typeface="Arial MT"/>
                <a:cs typeface="Arial MT"/>
              </a:rPr>
              <a:t>creates </a:t>
            </a:r>
            <a:r>
              <a:rPr sz="3050" spc="-50" dirty="0">
                <a:latin typeface="Arial MT"/>
                <a:cs typeface="Arial MT"/>
              </a:rPr>
              <a:t>a </a:t>
            </a:r>
            <a:r>
              <a:rPr sz="3050" spc="80" dirty="0">
                <a:latin typeface="Arial MT"/>
                <a:cs typeface="Arial MT"/>
              </a:rPr>
              <a:t>copy </a:t>
            </a:r>
            <a:r>
              <a:rPr sz="3050" spc="60" dirty="0">
                <a:latin typeface="Arial MT"/>
                <a:cs typeface="Arial MT"/>
              </a:rPr>
              <a:t>of </a:t>
            </a:r>
            <a:r>
              <a:rPr sz="3050" spc="25" dirty="0">
                <a:latin typeface="Arial MT"/>
                <a:cs typeface="Arial MT"/>
              </a:rPr>
              <a:t>the </a:t>
            </a:r>
            <a:r>
              <a:rPr sz="3050" spc="35" dirty="0">
                <a:latin typeface="Arial MT"/>
                <a:cs typeface="Arial MT"/>
              </a:rPr>
              <a:t>data </a:t>
            </a:r>
            <a:r>
              <a:rPr sz="3050" spc="30" dirty="0">
                <a:latin typeface="Arial MT"/>
                <a:cs typeface="Arial MT"/>
              </a:rPr>
              <a:t>and </a:t>
            </a:r>
            <a:r>
              <a:rPr sz="3050" spc="-835" dirty="0">
                <a:latin typeface="Arial MT"/>
                <a:cs typeface="Arial MT"/>
              </a:rPr>
              <a:t> </a:t>
            </a:r>
            <a:r>
              <a:rPr sz="3050" spc="35" dirty="0">
                <a:latin typeface="Arial MT"/>
                <a:cs typeface="Arial MT"/>
              </a:rPr>
              <a:t>performs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any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30" dirty="0">
                <a:latin typeface="Arial MT"/>
                <a:cs typeface="Arial MT"/>
              </a:rPr>
              <a:t>operations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35" dirty="0">
                <a:latin typeface="Arial MT"/>
                <a:cs typeface="Arial MT"/>
              </a:rPr>
              <a:t>on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50" dirty="0">
                <a:latin typeface="Arial MT"/>
                <a:cs typeface="Arial MT"/>
              </a:rPr>
              <a:t>that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80" dirty="0">
                <a:latin typeface="Arial MT"/>
                <a:cs typeface="Arial MT"/>
              </a:rPr>
              <a:t>copy</a:t>
            </a:r>
            <a:r>
              <a:rPr sz="3050" spc="10" dirty="0">
                <a:latin typeface="Arial MT"/>
                <a:cs typeface="Arial MT"/>
              </a:rPr>
              <a:t> </a:t>
            </a:r>
            <a:r>
              <a:rPr sz="3050" spc="5" dirty="0">
                <a:latin typeface="Arial MT"/>
                <a:cs typeface="Arial MT"/>
              </a:rPr>
              <a:t>in </a:t>
            </a:r>
            <a:r>
              <a:rPr sz="3050" spc="25" dirty="0">
                <a:latin typeface="Arial MT"/>
                <a:cs typeface="Arial MT"/>
              </a:rPr>
              <a:t>the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45" dirty="0">
                <a:latin typeface="Arial MT"/>
                <a:cs typeface="Arial MT"/>
              </a:rPr>
              <a:t>function.</a:t>
            </a:r>
            <a:endParaRPr sz="3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50">
              <a:latin typeface="Arial MT"/>
              <a:cs typeface="Arial MT"/>
            </a:endParaRPr>
          </a:p>
          <a:p>
            <a:pPr marL="12700" marR="5080">
              <a:lnSpc>
                <a:spcPct val="101099"/>
              </a:lnSpc>
              <a:spcBef>
                <a:spcPts val="5"/>
              </a:spcBef>
            </a:pPr>
            <a:r>
              <a:rPr sz="3050" spc="50" dirty="0">
                <a:latin typeface="Arial MT"/>
                <a:cs typeface="Arial MT"/>
              </a:rPr>
              <a:t>Copy</a:t>
            </a:r>
            <a:r>
              <a:rPr sz="3050" spc="10" dirty="0">
                <a:latin typeface="Arial MT"/>
                <a:cs typeface="Arial MT"/>
              </a:rPr>
              <a:t> </a:t>
            </a:r>
            <a:r>
              <a:rPr sz="3050" spc="45" dirty="0">
                <a:latin typeface="Arial MT"/>
                <a:cs typeface="Arial MT"/>
              </a:rPr>
              <a:t>Constructors</a:t>
            </a:r>
            <a:r>
              <a:rPr sz="3050" spc="10" dirty="0">
                <a:latin typeface="Arial MT"/>
                <a:cs typeface="Arial MT"/>
              </a:rPr>
              <a:t> </a:t>
            </a:r>
            <a:r>
              <a:rPr sz="3050" spc="-50" dirty="0">
                <a:latin typeface="Arial MT"/>
                <a:cs typeface="Arial MT"/>
              </a:rPr>
              <a:t>are</a:t>
            </a:r>
            <a:r>
              <a:rPr sz="3050" spc="15" dirty="0">
                <a:latin typeface="Arial MT"/>
                <a:cs typeface="Arial MT"/>
              </a:rPr>
              <a:t> </a:t>
            </a:r>
            <a:r>
              <a:rPr sz="3050" spc="45" dirty="0">
                <a:latin typeface="Arial MT"/>
                <a:cs typeface="Arial MT"/>
              </a:rPr>
              <a:t>implicitly</a:t>
            </a:r>
            <a:r>
              <a:rPr sz="3050" spc="10" dirty="0">
                <a:latin typeface="Arial MT"/>
                <a:cs typeface="Arial MT"/>
              </a:rPr>
              <a:t> </a:t>
            </a:r>
            <a:r>
              <a:rPr sz="3050" spc="30" dirty="0">
                <a:latin typeface="Arial MT"/>
                <a:cs typeface="Arial MT"/>
              </a:rPr>
              <a:t>defined</a:t>
            </a:r>
            <a:r>
              <a:rPr sz="3050" spc="10" dirty="0">
                <a:latin typeface="Arial MT"/>
                <a:cs typeface="Arial MT"/>
              </a:rPr>
              <a:t> </a:t>
            </a:r>
            <a:r>
              <a:rPr sz="3050" spc="65" dirty="0">
                <a:latin typeface="Arial MT"/>
                <a:cs typeface="Arial MT"/>
              </a:rPr>
              <a:t>by</a:t>
            </a:r>
            <a:r>
              <a:rPr sz="3050" spc="15" dirty="0">
                <a:latin typeface="Arial MT"/>
                <a:cs typeface="Arial MT"/>
              </a:rPr>
              <a:t> </a:t>
            </a:r>
            <a:r>
              <a:rPr sz="3050" spc="25" dirty="0">
                <a:latin typeface="Arial MT"/>
                <a:cs typeface="Arial MT"/>
              </a:rPr>
              <a:t>the</a:t>
            </a:r>
            <a:r>
              <a:rPr sz="3050" spc="10" dirty="0">
                <a:latin typeface="Arial MT"/>
                <a:cs typeface="Arial MT"/>
              </a:rPr>
              <a:t> </a:t>
            </a:r>
            <a:r>
              <a:rPr sz="3050" spc="45" dirty="0">
                <a:latin typeface="Arial MT"/>
                <a:cs typeface="Arial MT"/>
              </a:rPr>
              <a:t>compiler</a:t>
            </a:r>
            <a:r>
              <a:rPr sz="3050" spc="10" dirty="0">
                <a:latin typeface="Arial MT"/>
                <a:cs typeface="Arial MT"/>
              </a:rPr>
              <a:t> </a:t>
            </a:r>
            <a:r>
              <a:rPr sz="3050" spc="30" dirty="0">
                <a:latin typeface="Arial MT"/>
                <a:cs typeface="Arial MT"/>
              </a:rPr>
              <a:t>if</a:t>
            </a:r>
            <a:r>
              <a:rPr sz="3050" spc="15" dirty="0">
                <a:latin typeface="Arial MT"/>
                <a:cs typeface="Arial MT"/>
              </a:rPr>
              <a:t> </a:t>
            </a:r>
            <a:r>
              <a:rPr sz="3050" spc="25" dirty="0">
                <a:latin typeface="Arial MT"/>
                <a:cs typeface="Arial MT"/>
              </a:rPr>
              <a:t>you </a:t>
            </a:r>
            <a:r>
              <a:rPr sz="3050" spc="-835" dirty="0">
                <a:latin typeface="Arial MT"/>
                <a:cs typeface="Arial MT"/>
              </a:rPr>
              <a:t> </a:t>
            </a:r>
            <a:r>
              <a:rPr sz="3050" spc="95" dirty="0">
                <a:latin typeface="Arial MT"/>
                <a:cs typeface="Arial MT"/>
              </a:rPr>
              <a:t>do </a:t>
            </a:r>
            <a:r>
              <a:rPr sz="3050" spc="65" dirty="0">
                <a:latin typeface="Arial MT"/>
                <a:cs typeface="Arial MT"/>
              </a:rPr>
              <a:t>not </a:t>
            </a:r>
            <a:r>
              <a:rPr sz="3050" spc="15" dirty="0">
                <a:latin typeface="Arial MT"/>
                <a:cs typeface="Arial MT"/>
              </a:rPr>
              <a:t>define </a:t>
            </a:r>
            <a:r>
              <a:rPr sz="3050" spc="10" dirty="0">
                <a:latin typeface="Arial MT"/>
                <a:cs typeface="Arial MT"/>
              </a:rPr>
              <a:t>one </a:t>
            </a:r>
            <a:r>
              <a:rPr sz="3050" spc="30" dirty="0">
                <a:latin typeface="Arial MT"/>
                <a:cs typeface="Arial MT"/>
              </a:rPr>
              <a:t>and </a:t>
            </a:r>
            <a:r>
              <a:rPr sz="3050" spc="35" dirty="0">
                <a:latin typeface="Arial MT"/>
                <a:cs typeface="Arial MT"/>
              </a:rPr>
              <a:t>performs </a:t>
            </a:r>
            <a:r>
              <a:rPr sz="3050" spc="-50" dirty="0">
                <a:latin typeface="Arial MT"/>
                <a:cs typeface="Arial MT"/>
              </a:rPr>
              <a:t>a </a:t>
            </a:r>
            <a:r>
              <a:rPr sz="3050" spc="25" dirty="0">
                <a:latin typeface="Arial MT"/>
                <a:cs typeface="Arial MT"/>
              </a:rPr>
              <a:t>member-wise </a:t>
            </a:r>
            <a:r>
              <a:rPr sz="3050" spc="80" dirty="0">
                <a:latin typeface="Arial MT"/>
                <a:cs typeface="Arial MT"/>
              </a:rPr>
              <a:t>copy </a:t>
            </a:r>
            <a:r>
              <a:rPr sz="3050" spc="60" dirty="0">
                <a:latin typeface="Arial MT"/>
                <a:cs typeface="Arial MT"/>
              </a:rPr>
              <a:t>of </a:t>
            </a:r>
            <a:r>
              <a:rPr sz="3050" spc="25" dirty="0">
                <a:latin typeface="Arial MT"/>
                <a:cs typeface="Arial MT"/>
              </a:rPr>
              <a:t>the </a:t>
            </a:r>
            <a:r>
              <a:rPr sz="3050" spc="30" dirty="0">
                <a:latin typeface="Arial MT"/>
                <a:cs typeface="Arial MT"/>
              </a:rPr>
              <a:t> </a:t>
            </a:r>
            <a:r>
              <a:rPr sz="3050" spc="15" dirty="0">
                <a:latin typeface="Arial MT"/>
                <a:cs typeface="Arial MT"/>
              </a:rPr>
              <a:t>source</a:t>
            </a:r>
            <a:r>
              <a:rPr sz="3050" dirty="0">
                <a:latin typeface="Arial MT"/>
                <a:cs typeface="Arial MT"/>
              </a:rPr>
              <a:t> </a:t>
            </a:r>
            <a:r>
              <a:rPr sz="3050" spc="55" dirty="0">
                <a:latin typeface="Arial MT"/>
                <a:cs typeface="Arial MT"/>
              </a:rPr>
              <a:t>object.</a:t>
            </a:r>
            <a:endParaRPr sz="3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3500" y="355600"/>
            <a:ext cx="524764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Copy</a:t>
            </a:r>
            <a:r>
              <a:rPr spc="-70" dirty="0"/>
              <a:t> </a:t>
            </a:r>
            <a:r>
              <a:rPr spc="150" dirty="0"/>
              <a:t>Constructor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28800"/>
            <a:ext cx="9517380" cy="10083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35"/>
              </a:spcBef>
            </a:pPr>
            <a:r>
              <a:rPr sz="3200" spc="25" dirty="0">
                <a:latin typeface="Arial MT"/>
                <a:cs typeface="Arial MT"/>
              </a:rPr>
              <a:t>It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45" dirty="0">
                <a:latin typeface="Arial MT"/>
                <a:cs typeface="Arial MT"/>
              </a:rPr>
              <a:t>important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that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we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declare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70" dirty="0">
                <a:latin typeface="Arial MT"/>
                <a:cs typeface="Arial MT"/>
              </a:rPr>
              <a:t>copy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50" dirty="0">
                <a:latin typeface="Arial MT"/>
                <a:cs typeface="Arial MT"/>
              </a:rPr>
              <a:t>constructor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by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passing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class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we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want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70" dirty="0">
                <a:latin typeface="Arial MT"/>
                <a:cs typeface="Arial MT"/>
              </a:rPr>
              <a:t>copy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35" dirty="0">
                <a:latin typeface="Arial MT"/>
                <a:cs typeface="Arial MT"/>
              </a:rPr>
              <a:t>as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i="1" spc="35" dirty="0">
                <a:latin typeface="Arial"/>
                <a:cs typeface="Arial"/>
              </a:rPr>
              <a:t>const.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4241800"/>
            <a:ext cx="10894695" cy="3675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770"/>
              </a:lnSpc>
              <a:spcBef>
                <a:spcPts val="100"/>
              </a:spcBef>
              <a:tabLst>
                <a:tab pos="5621655" algn="l"/>
              </a:tabLst>
            </a:pPr>
            <a:r>
              <a:rPr sz="3200" b="1" dirty="0">
                <a:latin typeface="Courier New"/>
                <a:cs typeface="Courier New"/>
              </a:rPr>
              <a:t>MyClass</a:t>
            </a:r>
            <a:r>
              <a:rPr sz="3200" dirty="0">
                <a:latin typeface="Courier New"/>
                <a:cs typeface="Courier New"/>
              </a:rPr>
              <a:t>::</a:t>
            </a:r>
            <a:r>
              <a:rPr sz="3200" dirty="0">
                <a:solidFill>
                  <a:srgbClr val="021994"/>
                </a:solidFill>
                <a:latin typeface="Courier New"/>
                <a:cs typeface="Courier New"/>
              </a:rPr>
              <a:t>MyClass</a:t>
            </a:r>
            <a:r>
              <a:rPr sz="3200" dirty="0">
                <a:latin typeface="Courier New"/>
                <a:cs typeface="Courier New"/>
              </a:rPr>
              <a:t>(</a:t>
            </a:r>
            <a:r>
              <a:rPr sz="3200" dirty="0">
                <a:solidFill>
                  <a:srgbClr val="006DBC"/>
                </a:solidFill>
                <a:latin typeface="Courier New"/>
                <a:cs typeface="Courier New"/>
              </a:rPr>
              <a:t>const	</a:t>
            </a:r>
            <a:r>
              <a:rPr sz="3200" spc="-5" dirty="0">
                <a:latin typeface="Courier New"/>
                <a:cs typeface="Courier New"/>
              </a:rPr>
              <a:t>MyClass</a:t>
            </a:r>
            <a:r>
              <a:rPr sz="3200" spc="-4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&amp;copyClass)</a:t>
            </a:r>
            <a:r>
              <a:rPr sz="3200" spc="-4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{</a:t>
            </a:r>
            <a:endParaRPr sz="3200">
              <a:latin typeface="Courier New"/>
              <a:cs typeface="Courier New"/>
            </a:endParaRPr>
          </a:p>
          <a:p>
            <a:pPr marL="500380">
              <a:lnSpc>
                <a:spcPts val="3700"/>
              </a:lnSpc>
            </a:pPr>
            <a:r>
              <a:rPr sz="3200" spc="-5" dirty="0">
                <a:latin typeface="Courier New"/>
                <a:cs typeface="Courier New"/>
              </a:rPr>
              <a:t>...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ts val="3770"/>
              </a:lnSpc>
            </a:pPr>
            <a:r>
              <a:rPr sz="3200" dirty="0">
                <a:latin typeface="Courier New"/>
                <a:cs typeface="Courier New"/>
              </a:rPr>
              <a:t>}</a:t>
            </a:r>
            <a:endParaRPr sz="3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5250">
              <a:latin typeface="Courier New"/>
              <a:cs typeface="Courier New"/>
            </a:endParaRPr>
          </a:p>
          <a:p>
            <a:pPr marL="12700" marR="5080" algn="just">
              <a:lnSpc>
                <a:spcPct val="100299"/>
              </a:lnSpc>
            </a:pPr>
            <a:r>
              <a:rPr sz="3200" spc="-60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60" dirty="0">
                <a:latin typeface="Arial MT"/>
                <a:cs typeface="Arial MT"/>
              </a:rPr>
              <a:t>most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60" dirty="0">
                <a:latin typeface="Arial MT"/>
                <a:cs typeface="Arial MT"/>
              </a:rPr>
              <a:t>common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use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for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70" dirty="0">
                <a:latin typeface="Arial MT"/>
                <a:cs typeface="Arial MT"/>
              </a:rPr>
              <a:t>copy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0" dirty="0">
                <a:latin typeface="Arial MT"/>
                <a:cs typeface="Arial MT"/>
              </a:rPr>
              <a:t>constructor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when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-880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class </a:t>
            </a:r>
            <a:r>
              <a:rPr sz="3200" spc="-25" dirty="0">
                <a:latin typeface="Arial MT"/>
                <a:cs typeface="Arial MT"/>
              </a:rPr>
              <a:t>has </a:t>
            </a:r>
            <a:r>
              <a:rPr sz="3200" spc="15" dirty="0">
                <a:latin typeface="Arial MT"/>
                <a:cs typeface="Arial MT"/>
              </a:rPr>
              <a:t>raw </a:t>
            </a:r>
            <a:r>
              <a:rPr sz="3200" spc="25" dirty="0">
                <a:latin typeface="Arial MT"/>
                <a:cs typeface="Arial MT"/>
              </a:rPr>
              <a:t>pointers </a:t>
            </a:r>
            <a:r>
              <a:rPr sz="3200" spc="-35" dirty="0">
                <a:latin typeface="Arial MT"/>
                <a:cs typeface="Arial MT"/>
              </a:rPr>
              <a:t>as </a:t>
            </a:r>
            <a:r>
              <a:rPr sz="3200" spc="20" dirty="0">
                <a:latin typeface="Arial MT"/>
                <a:cs typeface="Arial MT"/>
              </a:rPr>
              <a:t>member </a:t>
            </a:r>
            <a:r>
              <a:rPr sz="3200" spc="-10" dirty="0">
                <a:latin typeface="Arial MT"/>
                <a:cs typeface="Arial MT"/>
              </a:rPr>
              <a:t>variables </a:t>
            </a:r>
            <a:r>
              <a:rPr sz="3200" spc="15" dirty="0">
                <a:latin typeface="Arial MT"/>
                <a:cs typeface="Arial MT"/>
              </a:rPr>
              <a:t>and </a:t>
            </a:r>
            <a:r>
              <a:rPr sz="3200" spc="25" dirty="0">
                <a:latin typeface="Arial MT"/>
                <a:cs typeface="Arial MT"/>
              </a:rPr>
              <a:t>we </a:t>
            </a:r>
            <a:r>
              <a:rPr sz="3200" spc="-5" dirty="0">
                <a:latin typeface="Arial MT"/>
                <a:cs typeface="Arial MT"/>
              </a:rPr>
              <a:t>need </a:t>
            </a:r>
            <a:r>
              <a:rPr sz="3200" spc="85" dirty="0">
                <a:latin typeface="Arial MT"/>
                <a:cs typeface="Arial MT"/>
              </a:rPr>
              <a:t>to </a:t>
            </a:r>
            <a:r>
              <a:rPr sz="3200" spc="-8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make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b="1" spc="25" dirty="0">
                <a:latin typeface="Arial"/>
                <a:cs typeface="Arial"/>
              </a:rPr>
              <a:t>deep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spc="70" dirty="0">
                <a:latin typeface="Arial MT"/>
                <a:cs typeface="Arial MT"/>
              </a:rPr>
              <a:t>copy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of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data.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8500" y="355600"/>
            <a:ext cx="65195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Deep</a:t>
            </a:r>
            <a:r>
              <a:rPr spc="-20" dirty="0"/>
              <a:t> </a:t>
            </a:r>
            <a:r>
              <a:rPr spc="95" dirty="0"/>
              <a:t>vs</a:t>
            </a:r>
            <a:r>
              <a:rPr spc="-20" dirty="0"/>
              <a:t> </a:t>
            </a:r>
            <a:r>
              <a:rPr spc="90" dirty="0"/>
              <a:t>Shallow</a:t>
            </a:r>
            <a:r>
              <a:rPr spc="-20" dirty="0"/>
              <a:t> </a:t>
            </a:r>
            <a:r>
              <a:rPr spc="204" dirty="0"/>
              <a:t>copy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41500"/>
            <a:ext cx="10744835" cy="29895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60"/>
              </a:spcBef>
            </a:pPr>
            <a:r>
              <a:rPr sz="3200" b="1" spc="40" dirty="0">
                <a:latin typeface="Arial"/>
                <a:cs typeface="Arial"/>
              </a:rPr>
              <a:t>Deep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5" dirty="0">
                <a:latin typeface="Arial"/>
                <a:cs typeface="Arial"/>
              </a:rPr>
              <a:t>Copy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235" dirty="0">
                <a:latin typeface="Arial"/>
                <a:cs typeface="Arial"/>
              </a:rPr>
              <a:t>-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complete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full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70" dirty="0">
                <a:latin typeface="Arial MT"/>
                <a:cs typeface="Arial MT"/>
              </a:rPr>
              <a:t>copy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of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all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data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members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of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5" dirty="0">
                <a:latin typeface="Arial MT"/>
                <a:cs typeface="Arial MT"/>
              </a:rPr>
              <a:t>class,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including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dynamically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allocated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memory.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700">
              <a:latin typeface="Arial MT"/>
              <a:cs typeface="Arial MT"/>
            </a:endParaRPr>
          </a:p>
          <a:p>
            <a:pPr marL="12700" marR="157480">
              <a:lnSpc>
                <a:spcPts val="3800"/>
              </a:lnSpc>
            </a:pPr>
            <a:r>
              <a:rPr sz="3200" b="1" spc="-10" dirty="0">
                <a:latin typeface="Arial"/>
                <a:cs typeface="Arial"/>
              </a:rPr>
              <a:t>Shallow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5" dirty="0">
                <a:latin typeface="Arial"/>
                <a:cs typeface="Arial"/>
              </a:rPr>
              <a:t>Copy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235" dirty="0">
                <a:latin typeface="Arial"/>
                <a:cs typeface="Arial"/>
              </a:rPr>
              <a:t>-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member-wise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70" dirty="0">
                <a:latin typeface="Arial MT"/>
                <a:cs typeface="Arial MT"/>
              </a:rPr>
              <a:t>copy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where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we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only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70" dirty="0">
                <a:latin typeface="Arial MT"/>
                <a:cs typeface="Arial MT"/>
              </a:rPr>
              <a:t>copy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 </a:t>
            </a:r>
            <a:r>
              <a:rPr sz="3200" spc="25" dirty="0">
                <a:latin typeface="Arial MT"/>
                <a:cs typeface="Arial MT"/>
              </a:rPr>
              <a:t>data </a:t>
            </a:r>
            <a:r>
              <a:rPr sz="3200" spc="15" dirty="0">
                <a:latin typeface="Arial MT"/>
                <a:cs typeface="Arial MT"/>
              </a:rPr>
              <a:t>members and </a:t>
            </a:r>
            <a:r>
              <a:rPr sz="3200" spc="-60" dirty="0">
                <a:latin typeface="Arial MT"/>
                <a:cs typeface="Arial MT"/>
              </a:rPr>
              <a:t>NOT </a:t>
            </a:r>
            <a:r>
              <a:rPr sz="3200" spc="-25" dirty="0">
                <a:latin typeface="Arial MT"/>
                <a:cs typeface="Arial MT"/>
              </a:rPr>
              <a:t>any </a:t>
            </a:r>
            <a:r>
              <a:rPr sz="3200" spc="15" dirty="0">
                <a:latin typeface="Arial MT"/>
                <a:cs typeface="Arial MT"/>
              </a:rPr>
              <a:t>dynamically </a:t>
            </a:r>
            <a:r>
              <a:rPr sz="3200" spc="25" dirty="0">
                <a:latin typeface="Arial MT"/>
                <a:cs typeface="Arial MT"/>
              </a:rPr>
              <a:t>allocated </a:t>
            </a:r>
            <a:r>
              <a:rPr sz="3200" spc="3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memory.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6350000"/>
            <a:ext cx="10074275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sz="3200" spc="-95" dirty="0">
                <a:latin typeface="Arial MT"/>
                <a:cs typeface="Arial MT"/>
              </a:rPr>
              <a:t>Your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0" dirty="0">
                <a:latin typeface="Arial MT"/>
                <a:cs typeface="Arial MT"/>
              </a:rPr>
              <a:t>computer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performs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shallow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70" dirty="0">
                <a:latin typeface="Arial MT"/>
                <a:cs typeface="Arial MT"/>
              </a:rPr>
              <a:t>copy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by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default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if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no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70" dirty="0">
                <a:latin typeface="Arial MT"/>
                <a:cs typeface="Arial MT"/>
              </a:rPr>
              <a:t>copy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50" dirty="0">
                <a:latin typeface="Arial MT"/>
                <a:cs typeface="Arial MT"/>
              </a:rPr>
              <a:t>constructor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provided.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1900" y="355600"/>
            <a:ext cx="80010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Copy</a:t>
            </a:r>
            <a:r>
              <a:rPr spc="-25" dirty="0"/>
              <a:t> </a:t>
            </a:r>
            <a:r>
              <a:rPr spc="110" dirty="0"/>
              <a:t>Assignment</a:t>
            </a:r>
            <a:r>
              <a:rPr spc="-25" dirty="0"/>
              <a:t> </a:t>
            </a:r>
            <a:r>
              <a:rPr spc="100" dirty="0"/>
              <a:t>Operator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60"/>
              </a:spcBef>
            </a:pPr>
            <a:r>
              <a:rPr spc="10" dirty="0"/>
              <a:t>Often</a:t>
            </a:r>
            <a:r>
              <a:rPr dirty="0"/>
              <a:t> </a:t>
            </a:r>
            <a:r>
              <a:rPr spc="20" dirty="0"/>
              <a:t>times</a:t>
            </a:r>
            <a:r>
              <a:rPr spc="5" dirty="0"/>
              <a:t> </a:t>
            </a:r>
            <a:r>
              <a:rPr spc="25" dirty="0"/>
              <a:t>we</a:t>
            </a:r>
            <a:r>
              <a:rPr dirty="0"/>
              <a:t> </a:t>
            </a:r>
            <a:r>
              <a:rPr spc="40" dirty="0"/>
              <a:t>want</a:t>
            </a:r>
            <a:r>
              <a:rPr spc="5" dirty="0"/>
              <a:t> </a:t>
            </a:r>
            <a:r>
              <a:rPr spc="85" dirty="0"/>
              <a:t>to</a:t>
            </a:r>
            <a:r>
              <a:rPr spc="5" dirty="0"/>
              <a:t> </a:t>
            </a:r>
            <a:r>
              <a:rPr spc="70" dirty="0"/>
              <a:t>copy</a:t>
            </a:r>
            <a:r>
              <a:rPr dirty="0"/>
              <a:t> </a:t>
            </a:r>
            <a:r>
              <a:rPr spc="-5" dirty="0"/>
              <a:t>one</a:t>
            </a:r>
            <a:r>
              <a:rPr spc="5" dirty="0"/>
              <a:t> </a:t>
            </a:r>
            <a:r>
              <a:rPr spc="55" dirty="0"/>
              <a:t>object</a:t>
            </a:r>
            <a:r>
              <a:rPr spc="5" dirty="0"/>
              <a:t> </a:t>
            </a:r>
            <a:r>
              <a:rPr spc="85" dirty="0"/>
              <a:t>to</a:t>
            </a:r>
            <a:r>
              <a:rPr dirty="0"/>
              <a:t> </a:t>
            </a:r>
            <a:r>
              <a:rPr spc="5" dirty="0"/>
              <a:t>another </a:t>
            </a:r>
            <a:r>
              <a:rPr spc="10" dirty="0"/>
              <a:t>using</a:t>
            </a:r>
            <a:r>
              <a:rPr spc="5" dirty="0"/>
              <a:t> </a:t>
            </a:r>
            <a:r>
              <a:rPr spc="15" dirty="0"/>
              <a:t>the </a:t>
            </a:r>
            <a:r>
              <a:rPr spc="-875" dirty="0"/>
              <a:t> </a:t>
            </a:r>
            <a:r>
              <a:rPr spc="10" dirty="0"/>
              <a:t>assignment</a:t>
            </a:r>
            <a:r>
              <a:rPr spc="-5" dirty="0"/>
              <a:t> </a:t>
            </a:r>
            <a:r>
              <a:rPr spc="-10" dirty="0"/>
              <a:t>operator.</a:t>
            </a:r>
          </a:p>
          <a:p>
            <a:pPr>
              <a:lnSpc>
                <a:spcPct val="100000"/>
              </a:lnSpc>
            </a:pPr>
            <a:endParaRPr sz="3650"/>
          </a:p>
          <a:p>
            <a:pPr marL="12700" marR="1495425">
              <a:lnSpc>
                <a:spcPts val="3800"/>
              </a:lnSpc>
            </a:pPr>
            <a:r>
              <a:rPr spc="-60" dirty="0"/>
              <a:t>The</a:t>
            </a:r>
            <a:r>
              <a:rPr spc="-5" dirty="0"/>
              <a:t> </a:t>
            </a:r>
            <a:r>
              <a:rPr spc="25" dirty="0"/>
              <a:t>program</a:t>
            </a:r>
            <a:r>
              <a:rPr dirty="0"/>
              <a:t> </a:t>
            </a:r>
            <a:r>
              <a:rPr spc="25" dirty="0"/>
              <a:t>will</a:t>
            </a:r>
            <a:r>
              <a:rPr spc="-5" dirty="0"/>
              <a:t> </a:t>
            </a:r>
            <a:r>
              <a:rPr spc="40" dirty="0"/>
              <a:t>implicitly</a:t>
            </a:r>
            <a:r>
              <a:rPr dirty="0"/>
              <a:t> </a:t>
            </a:r>
            <a:r>
              <a:rPr spc="-5" dirty="0"/>
              <a:t>create</a:t>
            </a:r>
            <a:r>
              <a:rPr dirty="0"/>
              <a:t> </a:t>
            </a:r>
            <a:r>
              <a:rPr spc="-65" dirty="0"/>
              <a:t>a</a:t>
            </a:r>
            <a:r>
              <a:rPr spc="-5" dirty="0"/>
              <a:t> </a:t>
            </a:r>
            <a:r>
              <a:rPr spc="70" dirty="0"/>
              <a:t>copy</a:t>
            </a:r>
            <a:r>
              <a:rPr dirty="0"/>
              <a:t> </a:t>
            </a:r>
            <a:r>
              <a:rPr spc="10" dirty="0"/>
              <a:t>assignment </a:t>
            </a:r>
            <a:r>
              <a:rPr spc="-875" dirty="0"/>
              <a:t> </a:t>
            </a:r>
            <a:r>
              <a:rPr spc="25" dirty="0"/>
              <a:t>operator</a:t>
            </a:r>
            <a:r>
              <a:rPr spc="-5" dirty="0"/>
              <a:t> </a:t>
            </a:r>
            <a:r>
              <a:rPr spc="35" dirty="0"/>
              <a:t>for</a:t>
            </a:r>
            <a:r>
              <a:rPr dirty="0"/>
              <a:t> </a:t>
            </a:r>
            <a:r>
              <a:rPr spc="15" dirty="0"/>
              <a:t>you</a:t>
            </a:r>
            <a:r>
              <a:rPr dirty="0"/>
              <a:t> </a:t>
            </a:r>
            <a:r>
              <a:rPr spc="15" dirty="0"/>
              <a:t>and</a:t>
            </a:r>
            <a:r>
              <a:rPr dirty="0"/>
              <a:t> </a:t>
            </a:r>
            <a:r>
              <a:rPr spc="85" dirty="0"/>
              <a:t>do</a:t>
            </a:r>
            <a:r>
              <a:rPr dirty="0"/>
              <a:t> </a:t>
            </a:r>
            <a:r>
              <a:rPr spc="-65" dirty="0"/>
              <a:t>a</a:t>
            </a:r>
            <a:r>
              <a:rPr spc="-5" dirty="0"/>
              <a:t> </a:t>
            </a:r>
            <a:r>
              <a:rPr spc="15" dirty="0"/>
              <a:t>member-wise</a:t>
            </a:r>
            <a:r>
              <a:rPr dirty="0"/>
              <a:t> </a:t>
            </a:r>
            <a:r>
              <a:rPr spc="10" dirty="0"/>
              <a:t>copy.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00"/>
          </a:p>
          <a:p>
            <a:pPr marL="12700" marR="1248410">
              <a:lnSpc>
                <a:spcPts val="3800"/>
              </a:lnSpc>
            </a:pPr>
            <a:r>
              <a:rPr spc="55" dirty="0"/>
              <a:t>But</a:t>
            </a:r>
            <a:r>
              <a:rPr dirty="0"/>
              <a:t> </a:t>
            </a:r>
            <a:r>
              <a:rPr spc="-15" dirty="0"/>
              <a:t>again</a:t>
            </a:r>
            <a:r>
              <a:rPr dirty="0"/>
              <a:t> </a:t>
            </a:r>
            <a:r>
              <a:rPr spc="25" dirty="0"/>
              <a:t>we</a:t>
            </a:r>
            <a:r>
              <a:rPr dirty="0"/>
              <a:t> </a:t>
            </a:r>
            <a:r>
              <a:rPr spc="40" dirty="0"/>
              <a:t>want</a:t>
            </a:r>
            <a:r>
              <a:rPr dirty="0"/>
              <a:t> </a:t>
            </a:r>
            <a:r>
              <a:rPr spc="85" dirty="0"/>
              <a:t>to</a:t>
            </a:r>
            <a:r>
              <a:rPr dirty="0"/>
              <a:t> </a:t>
            </a:r>
            <a:r>
              <a:rPr spc="85" dirty="0"/>
              <a:t>do</a:t>
            </a:r>
            <a:r>
              <a:rPr dirty="0"/>
              <a:t> </a:t>
            </a:r>
            <a:r>
              <a:rPr spc="-65" dirty="0"/>
              <a:t>a</a:t>
            </a:r>
            <a:r>
              <a:rPr dirty="0"/>
              <a:t> </a:t>
            </a:r>
            <a:r>
              <a:rPr b="1" spc="25" dirty="0">
                <a:latin typeface="Arial"/>
                <a:cs typeface="Arial"/>
              </a:rPr>
              <a:t>deep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copy</a:t>
            </a:r>
            <a:r>
              <a:rPr b="1" dirty="0">
                <a:latin typeface="Arial"/>
                <a:cs typeface="Arial"/>
              </a:rPr>
              <a:t> </a:t>
            </a:r>
            <a:r>
              <a:rPr spc="55" dirty="0"/>
              <a:t>with</a:t>
            </a:r>
            <a:r>
              <a:rPr dirty="0"/>
              <a:t> </a:t>
            </a:r>
            <a:r>
              <a:rPr spc="-35" dirty="0"/>
              <a:t>an</a:t>
            </a:r>
            <a:r>
              <a:rPr spc="5" dirty="0"/>
              <a:t> </a:t>
            </a:r>
            <a:r>
              <a:rPr spc="50" dirty="0"/>
              <a:t>objects </a:t>
            </a:r>
            <a:r>
              <a:rPr spc="-875" dirty="0"/>
              <a:t> </a:t>
            </a:r>
            <a:r>
              <a:rPr spc="15" dirty="0"/>
              <a:t>dynamically</a:t>
            </a:r>
            <a:r>
              <a:rPr spc="-5" dirty="0"/>
              <a:t> </a:t>
            </a:r>
            <a:r>
              <a:rPr spc="25" dirty="0"/>
              <a:t>allocated</a:t>
            </a:r>
            <a:r>
              <a:rPr dirty="0"/>
              <a:t> </a:t>
            </a:r>
            <a:r>
              <a:rPr spc="20" dirty="0"/>
              <a:t>data.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550"/>
          </a:p>
          <a:p>
            <a:pPr marL="647700">
              <a:lnSpc>
                <a:spcPct val="100000"/>
              </a:lnSpc>
              <a:tabLst>
                <a:tab pos="7125334" algn="l"/>
              </a:tabLst>
            </a:pPr>
            <a:r>
              <a:rPr sz="2500" spc="-5" dirty="0">
                <a:latin typeface="Courier New"/>
                <a:cs typeface="Courier New"/>
              </a:rPr>
              <a:t>MyClass&amp;</a:t>
            </a:r>
            <a:r>
              <a:rPr sz="2500" dirty="0">
                <a:latin typeface="Courier New"/>
                <a:cs typeface="Courier New"/>
              </a:rPr>
              <a:t> </a:t>
            </a:r>
            <a:r>
              <a:rPr sz="2500" b="1" dirty="0">
                <a:latin typeface="Courier New"/>
                <a:cs typeface="Courier New"/>
              </a:rPr>
              <a:t>Myclass</a:t>
            </a:r>
            <a:r>
              <a:rPr sz="2500" dirty="0">
                <a:latin typeface="Courier New"/>
                <a:cs typeface="Courier New"/>
              </a:rPr>
              <a:t>::</a:t>
            </a:r>
            <a:r>
              <a:rPr sz="2500" b="1" dirty="0">
                <a:latin typeface="Courier New"/>
                <a:cs typeface="Courier New"/>
              </a:rPr>
              <a:t>operator</a:t>
            </a:r>
            <a:r>
              <a:rPr sz="2500" dirty="0">
                <a:latin typeface="Courier New"/>
                <a:cs typeface="Courier New"/>
              </a:rPr>
              <a:t>=(</a:t>
            </a:r>
            <a:r>
              <a:rPr sz="2500" dirty="0">
                <a:solidFill>
                  <a:srgbClr val="006DBC"/>
                </a:solidFill>
                <a:latin typeface="Courier New"/>
                <a:cs typeface="Courier New"/>
              </a:rPr>
              <a:t>const	</a:t>
            </a:r>
            <a:r>
              <a:rPr sz="2500" spc="-5" dirty="0">
                <a:latin typeface="Courier New"/>
                <a:cs typeface="Courier New"/>
              </a:rPr>
              <a:t>MyClass&amp;</a:t>
            </a:r>
            <a:r>
              <a:rPr sz="2500" spc="-40" dirty="0">
                <a:latin typeface="Courier New"/>
                <a:cs typeface="Courier New"/>
              </a:rPr>
              <a:t> </a:t>
            </a:r>
            <a:r>
              <a:rPr sz="2500" spc="-5" dirty="0">
                <a:latin typeface="Courier New"/>
                <a:cs typeface="Courier New"/>
              </a:rPr>
              <a:t>copy)</a:t>
            </a:r>
            <a:r>
              <a:rPr sz="2500" spc="-40" dirty="0"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50">
              <a:latin typeface="Courier New"/>
              <a:cs typeface="Courier New"/>
            </a:endParaRPr>
          </a:p>
          <a:p>
            <a:pPr marL="647700">
              <a:lnSpc>
                <a:spcPct val="100000"/>
              </a:lnSpc>
            </a:pPr>
            <a:r>
              <a:rPr sz="2500" dirty="0">
                <a:latin typeface="Courier New"/>
                <a:cs typeface="Courier New"/>
              </a:rPr>
              <a:t>}</a:t>
            </a:r>
            <a:endParaRPr sz="2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3900" y="355600"/>
            <a:ext cx="393192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Rule</a:t>
            </a:r>
            <a:r>
              <a:rPr spc="-45" dirty="0"/>
              <a:t> </a:t>
            </a:r>
            <a:r>
              <a:rPr spc="185" dirty="0"/>
              <a:t>of</a:t>
            </a:r>
            <a:r>
              <a:rPr spc="-40" dirty="0"/>
              <a:t> </a:t>
            </a:r>
            <a:r>
              <a:rPr dirty="0"/>
              <a:t>Three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28800"/>
            <a:ext cx="10676890" cy="50977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60"/>
              </a:spcBef>
            </a:pPr>
            <a:r>
              <a:rPr sz="3200" spc="-5" dirty="0">
                <a:latin typeface="Arial MT"/>
                <a:cs typeface="Arial MT"/>
              </a:rPr>
              <a:t>If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you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35" dirty="0">
                <a:latin typeface="Arial MT"/>
                <a:cs typeface="Arial MT"/>
              </a:rPr>
              <a:t>have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spc="5" dirty="0">
                <a:latin typeface="Arial MT"/>
                <a:cs typeface="Arial MT"/>
              </a:rPr>
              <a:t> define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one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of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following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-35" dirty="0">
                <a:latin typeface="Arial MT"/>
                <a:cs typeface="Arial MT"/>
              </a:rPr>
              <a:t>as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programmer,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then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it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70" dirty="0">
                <a:latin typeface="Arial MT"/>
                <a:cs typeface="Arial MT"/>
              </a:rPr>
              <a:t>good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40" dirty="0">
                <a:latin typeface="Arial MT"/>
                <a:cs typeface="Arial MT"/>
              </a:rPr>
              <a:t>practice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85" dirty="0">
                <a:latin typeface="Arial MT"/>
                <a:cs typeface="Arial MT"/>
              </a:rPr>
              <a:t>to</a:t>
            </a:r>
            <a:r>
              <a:rPr sz="3200" spc="5" dirty="0">
                <a:latin typeface="Arial MT"/>
                <a:cs typeface="Arial MT"/>
              </a:rPr>
              <a:t> define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all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of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20" dirty="0">
                <a:latin typeface="Arial MT"/>
                <a:cs typeface="Arial MT"/>
              </a:rPr>
              <a:t>them.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3200" spc="175" dirty="0">
                <a:latin typeface="Arial MT"/>
                <a:cs typeface="Arial MT"/>
              </a:rPr>
              <a:t>-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b="1" spc="15" dirty="0">
                <a:latin typeface="Arial"/>
                <a:cs typeface="Arial"/>
              </a:rPr>
              <a:t>Destructor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00">
              <a:latin typeface="Arial"/>
              <a:cs typeface="Arial"/>
            </a:endParaRPr>
          </a:p>
          <a:p>
            <a:pPr marL="290830" indent="-278765">
              <a:lnSpc>
                <a:spcPct val="100000"/>
              </a:lnSpc>
              <a:buChar char="-"/>
              <a:tabLst>
                <a:tab pos="291465" algn="l"/>
              </a:tabLst>
            </a:pPr>
            <a:r>
              <a:rPr sz="3200" b="1" spc="-15" dirty="0">
                <a:latin typeface="Arial"/>
                <a:cs typeface="Arial"/>
              </a:rPr>
              <a:t>Copy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spc="5" dirty="0">
                <a:latin typeface="Arial"/>
                <a:cs typeface="Arial"/>
              </a:rPr>
              <a:t>Constructor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-"/>
            </a:pPr>
            <a:endParaRPr sz="3700">
              <a:latin typeface="Arial"/>
              <a:cs typeface="Arial"/>
            </a:endParaRPr>
          </a:p>
          <a:p>
            <a:pPr marL="290830" indent="-278765">
              <a:lnSpc>
                <a:spcPct val="100000"/>
              </a:lnSpc>
              <a:buChar char="-"/>
              <a:tabLst>
                <a:tab pos="291465" algn="l"/>
              </a:tabLst>
            </a:pPr>
            <a:r>
              <a:rPr sz="3200" b="1" spc="-15" dirty="0">
                <a:latin typeface="Arial"/>
                <a:cs typeface="Arial"/>
              </a:rPr>
              <a:t>Copy</a:t>
            </a:r>
            <a:r>
              <a:rPr sz="3200" b="1" spc="-25" dirty="0">
                <a:latin typeface="Arial"/>
                <a:cs typeface="Arial"/>
              </a:rPr>
              <a:t> Assignment </a:t>
            </a:r>
            <a:r>
              <a:rPr sz="3200" b="1" spc="20" dirty="0">
                <a:latin typeface="Arial"/>
                <a:cs typeface="Arial"/>
              </a:rPr>
              <a:t>Operator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200" spc="-50" dirty="0">
                <a:latin typeface="Arial MT"/>
                <a:cs typeface="Arial MT"/>
              </a:rPr>
              <a:t>These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are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0" dirty="0">
                <a:latin typeface="Arial MT"/>
                <a:cs typeface="Arial MT"/>
              </a:rPr>
              <a:t>often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45" dirty="0">
                <a:latin typeface="Arial MT"/>
                <a:cs typeface="Arial MT"/>
              </a:rPr>
              <a:t>known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35" dirty="0">
                <a:latin typeface="Arial MT"/>
                <a:cs typeface="Arial MT"/>
              </a:rPr>
              <a:t>as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5" dirty="0">
                <a:latin typeface="Arial MT"/>
                <a:cs typeface="Arial MT"/>
              </a:rPr>
              <a:t>the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114" dirty="0">
                <a:latin typeface="Arial MT"/>
                <a:cs typeface="Arial MT"/>
              </a:rPr>
              <a:t>“big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35" dirty="0">
                <a:latin typeface="Arial MT"/>
                <a:cs typeface="Arial MT"/>
              </a:rPr>
              <a:t>three”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1595</Words>
  <Application>Microsoft Office PowerPoint</Application>
  <PresentationFormat>Custom</PresentationFormat>
  <Paragraphs>274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Arial MT</vt:lpstr>
      <vt:lpstr>Calibri</vt:lpstr>
      <vt:lpstr>Courier New</vt:lpstr>
      <vt:lpstr>Times New Roman</vt:lpstr>
      <vt:lpstr>Office Theme</vt:lpstr>
      <vt:lpstr>Pointers, Dynamic Memory Allocation, and Built-in  Arrays</vt:lpstr>
      <vt:lpstr>Intended Learning Outcomes:</vt:lpstr>
      <vt:lpstr>“Normal” Variable declarations</vt:lpstr>
      <vt:lpstr>Reference Operator (&amp;)</vt:lpstr>
      <vt:lpstr>Dereference Operator (*)</vt:lpstr>
      <vt:lpstr>Pointers</vt:lpstr>
      <vt:lpstr>Pointer Declaration</vt:lpstr>
      <vt:lpstr>Pointer Assignment</vt:lpstr>
      <vt:lpstr>nullptr</vt:lpstr>
      <vt:lpstr>Dynamic Memory</vt:lpstr>
      <vt:lpstr>C++ Memory</vt:lpstr>
      <vt:lpstr>The new keyword</vt:lpstr>
      <vt:lpstr>Memory Diagram Exercise</vt:lpstr>
      <vt:lpstr>Implement Swap with pointers</vt:lpstr>
      <vt:lpstr>Arrays</vt:lpstr>
      <vt:lpstr>Arrays</vt:lpstr>
      <vt:lpstr>Dynamically Allocated Arrays</vt:lpstr>
      <vt:lpstr>The delete operator</vt:lpstr>
      <vt:lpstr>delete operator more…</vt:lpstr>
      <vt:lpstr>delete[ ] operator</vt:lpstr>
      <vt:lpstr>Pointers with Objects/Classes</vt:lpstr>
      <vt:lpstr>Member Access Operator</vt:lpstr>
      <vt:lpstr>Destructors</vt:lpstr>
      <vt:lpstr>Copy Constructor</vt:lpstr>
      <vt:lpstr>Copy Constructor</vt:lpstr>
      <vt:lpstr>Deep vs Shallow copy</vt:lpstr>
      <vt:lpstr>Copy Assignment Operator</vt:lpstr>
      <vt:lpstr>Rule of Three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Chapter11</dc:title>
  <cp:lastModifiedBy>Roman Richard</cp:lastModifiedBy>
  <cp:revision>2</cp:revision>
  <dcterms:created xsi:type="dcterms:W3CDTF">2022-08-14T08:17:37Z</dcterms:created>
  <dcterms:modified xsi:type="dcterms:W3CDTF">2022-08-20T07:54:32Z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2019-10-19T00:00:00Z</vt:filetime>
  </property>
  <property fmtid="{D5CDD505-2E9C-101B-9397-08002B2CF9AE}" pid="3" name="Creator">
    <vt:lpwstr>Keynote</vt:lpwstr>
  </property>
  <property fmtid="{D5CDD505-2E9C-101B-9397-08002B2CF9AE}" pid="4" name="LastSaved">
    <vt:filetime>2022-08-14T00:00:00Z</vt:filetime>
  </property>
</Properties>
</file>