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9222" y="498158"/>
            <a:ext cx="422555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39" y="1932939"/>
            <a:ext cx="6950709" cy="3269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2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2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2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2.png"/><Relationship Id="rId4" Type="http://schemas.openxmlformats.org/officeDocument/2006/relationships/image" Target="../media/image18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2.png"/><Relationship Id="rId4" Type="http://schemas.openxmlformats.org/officeDocument/2006/relationships/image" Target="../media/image18.png"/><Relationship Id="rId9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2.png"/><Relationship Id="rId5" Type="http://schemas.openxmlformats.org/officeDocument/2006/relationships/image" Target="../media/image19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1672" y="2517457"/>
            <a:ext cx="71462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PH" spc="-5" dirty="0">
                <a:latin typeface="Calibri"/>
                <a:cs typeface="Calibri"/>
              </a:rPr>
              <a:t>Queue ADT</a:t>
            </a:r>
            <a:endParaRPr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6547" y="421958"/>
            <a:ext cx="21958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" dirty="0">
                <a:latin typeface="Calibri"/>
                <a:cs typeface="Calibri"/>
              </a:rPr>
              <a:t>Queue</a:t>
            </a:r>
            <a:r>
              <a:rPr sz="5400" b="1" dirty="0">
                <a:latin typeface="Calibri"/>
                <a:cs typeface="Calibri"/>
              </a:rPr>
              <a:t>s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39" y="2273300"/>
            <a:ext cx="7197090" cy="3550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55600" algn="l"/>
              </a:tabLst>
            </a:pPr>
            <a:r>
              <a:rPr sz="4000" spc="-10" dirty="0">
                <a:latin typeface="Calibri"/>
                <a:cs typeface="Calibri"/>
              </a:rPr>
              <a:t>Definition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of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Queue</a:t>
            </a:r>
            <a:endParaRPr sz="4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55600" algn="l"/>
              </a:tabLst>
            </a:pPr>
            <a:r>
              <a:rPr sz="4000" spc="-5" dirty="0">
                <a:latin typeface="Calibri"/>
                <a:cs typeface="Calibri"/>
              </a:rPr>
              <a:t>Examples</a:t>
            </a:r>
            <a:r>
              <a:rPr sz="4000" spc="-2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of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Queues</a:t>
            </a:r>
            <a:endParaRPr sz="4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5600" algn="l"/>
              </a:tabLst>
            </a:pPr>
            <a:r>
              <a:rPr sz="4000" spc="-5" dirty="0">
                <a:latin typeface="Calibri"/>
                <a:cs typeface="Calibri"/>
              </a:rPr>
              <a:t>Design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of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Queue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Class</a:t>
            </a:r>
            <a:endParaRPr sz="4000">
              <a:latin typeface="Calibri"/>
              <a:cs typeface="Calibri"/>
            </a:endParaRPr>
          </a:p>
          <a:p>
            <a:pPr marL="355600" marR="5080" indent="-342900">
              <a:lnSpc>
                <a:spcPts val="4740"/>
              </a:lnSpc>
              <a:spcBef>
                <a:spcPts val="1160"/>
              </a:spcBef>
              <a:buFont typeface="Arial MT"/>
              <a:buChar char="•"/>
              <a:tabLst>
                <a:tab pos="355600" algn="l"/>
              </a:tabLst>
            </a:pPr>
            <a:r>
              <a:rPr sz="4000" spc="-5" dirty="0">
                <a:latin typeface="Calibri"/>
                <a:cs typeface="Calibri"/>
              </a:rPr>
              <a:t>Diﬀerent Implementations of </a:t>
            </a:r>
            <a:r>
              <a:rPr sz="4000" dirty="0">
                <a:latin typeface="Calibri"/>
                <a:cs typeface="Calibri"/>
              </a:rPr>
              <a:t>the </a:t>
            </a:r>
            <a:r>
              <a:rPr sz="4000" spc="-8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Queue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Class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6857" y="498158"/>
            <a:ext cx="57353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5" dirty="0"/>
              <a:t>Queues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541259" cy="395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queue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waiting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line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3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Tahoma"/>
                <a:cs typeface="Tahoma"/>
              </a:rPr>
              <a:t>It’s </a:t>
            </a:r>
            <a:r>
              <a:rPr sz="2800" dirty="0">
                <a:latin typeface="Tahoma"/>
                <a:cs typeface="Tahoma"/>
              </a:rPr>
              <a:t>in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daily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life:</a:t>
            </a:r>
            <a:endParaRPr sz="2800">
              <a:latin typeface="Tahoma"/>
              <a:cs typeface="Tahoma"/>
            </a:endParaRPr>
          </a:p>
          <a:p>
            <a:pPr marL="749300" marR="1104265" lvl="1" indent="-279400">
              <a:lnSpc>
                <a:spcPts val="2820"/>
              </a:lnSpc>
              <a:spcBef>
                <a:spcPts val="78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Tahoma"/>
                <a:cs typeface="Tahoma"/>
              </a:rPr>
              <a:t>A line of </a:t>
            </a:r>
            <a:r>
              <a:rPr sz="2400" spc="-5" dirty="0">
                <a:latin typeface="Tahoma"/>
                <a:cs typeface="Tahoma"/>
              </a:rPr>
              <a:t>persons waiting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check out </a:t>
            </a:r>
            <a:r>
              <a:rPr sz="2400" dirty="0">
                <a:latin typeface="Tahoma"/>
                <a:cs typeface="Tahoma"/>
              </a:rPr>
              <a:t>at a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supermarket</a:t>
            </a:r>
            <a:endParaRPr sz="2400">
              <a:latin typeface="Tahoma"/>
              <a:cs typeface="Tahoma"/>
            </a:endParaRPr>
          </a:p>
          <a:p>
            <a:pPr marL="749300" marR="5080" lvl="1" indent="-279400">
              <a:lnSpc>
                <a:spcPct val="101499"/>
              </a:lnSpc>
              <a:spcBef>
                <a:spcPts val="47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Tahoma"/>
                <a:cs typeface="Tahoma"/>
              </a:rPr>
              <a:t>A line of </a:t>
            </a:r>
            <a:r>
              <a:rPr sz="2400" spc="-5" dirty="0">
                <a:latin typeface="Tahoma"/>
                <a:cs typeface="Tahoma"/>
              </a:rPr>
              <a:t>persons waiting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purchase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ticket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film</a:t>
            </a:r>
            <a:endParaRPr sz="24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line of </a:t>
            </a:r>
            <a:r>
              <a:rPr sz="2400" spc="-5" dirty="0">
                <a:latin typeface="Tahoma"/>
                <a:cs typeface="Tahoma"/>
              </a:rPr>
              <a:t>planes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waiting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take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off</a:t>
            </a:r>
            <a:r>
              <a:rPr sz="2400" dirty="0">
                <a:latin typeface="Tahoma"/>
                <a:cs typeface="Tahoma"/>
              </a:rPr>
              <a:t> at an </a:t>
            </a:r>
            <a:r>
              <a:rPr sz="2400" spc="-5" dirty="0">
                <a:latin typeface="Tahoma"/>
                <a:cs typeface="Tahoma"/>
              </a:rPr>
              <a:t>airport</a:t>
            </a:r>
            <a:endParaRPr sz="24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vehicles </a:t>
            </a:r>
            <a:r>
              <a:rPr sz="2400" dirty="0">
                <a:latin typeface="Tahoma"/>
                <a:cs typeface="Tahoma"/>
              </a:rPr>
              <a:t>at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toll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booth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5683" y="528638"/>
            <a:ext cx="45580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latin typeface="Calibri"/>
                <a:cs typeface="Calibri"/>
              </a:rPr>
              <a:t>Deﬁnition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Queue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1597659"/>
            <a:ext cx="8018145" cy="33096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5080" indent="-342900" algn="just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 queue is a data </a:t>
            </a:r>
            <a:r>
              <a:rPr sz="2800" spc="-5" dirty="0">
                <a:latin typeface="Calibri"/>
                <a:cs typeface="Calibri"/>
              </a:rPr>
              <a:t>structure </a:t>
            </a:r>
            <a:r>
              <a:rPr sz="280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models/enforces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b="1" spc="-160" dirty="0">
                <a:latin typeface="Calibri"/>
                <a:cs typeface="Calibri"/>
              </a:rPr>
              <a:t>ﬁrst-­‐come </a:t>
            </a:r>
            <a:r>
              <a:rPr sz="2800" b="1" spc="-145" dirty="0">
                <a:latin typeface="Calibri"/>
                <a:cs typeface="Calibri"/>
              </a:rPr>
              <a:t>ﬁrst-­‐serve </a:t>
            </a:r>
            <a:r>
              <a:rPr sz="2800" spc="-5" dirty="0">
                <a:latin typeface="Calibri"/>
                <a:cs typeface="Calibri"/>
              </a:rPr>
              <a:t>order, or </a:t>
            </a:r>
            <a:r>
              <a:rPr sz="2800" dirty="0">
                <a:latin typeface="Calibri"/>
                <a:cs typeface="Calibri"/>
              </a:rPr>
              <a:t>equivalently the </a:t>
            </a:r>
            <a:r>
              <a:rPr sz="2800" b="1" spc="-250" dirty="0">
                <a:latin typeface="Calibri"/>
                <a:cs typeface="Calibri"/>
              </a:rPr>
              <a:t>ﬁrst-­‐ </a:t>
            </a:r>
            <a:r>
              <a:rPr sz="2800" b="1" spc="-2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 ﬁr</a:t>
            </a:r>
            <a:r>
              <a:rPr sz="2800" b="1" spc="-355" dirty="0">
                <a:latin typeface="Calibri"/>
                <a:cs typeface="Calibri"/>
              </a:rPr>
              <a:t>st-­</a:t>
            </a:r>
            <a:r>
              <a:rPr sz="2800" b="1" spc="-320" dirty="0">
                <a:latin typeface="Calibri"/>
                <a:cs typeface="Calibri"/>
              </a:rPr>
              <a:t>‐</a:t>
            </a:r>
            <a:r>
              <a:rPr sz="2800" b="1" dirty="0">
                <a:latin typeface="Calibri"/>
                <a:cs typeface="Calibri"/>
              </a:rPr>
              <a:t>out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dirty="0">
                <a:latin typeface="Calibri"/>
                <a:cs typeface="Calibri"/>
              </a:rPr>
              <a:t>FIFO)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55600" marR="66040" indent="-342900">
              <a:lnSpc>
                <a:spcPct val="897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That is, the </a:t>
            </a:r>
            <a:r>
              <a:rPr sz="2800" spc="-5" dirty="0">
                <a:latin typeface="Calibri"/>
                <a:cs typeface="Calibri"/>
              </a:rPr>
              <a:t>element </a:t>
            </a:r>
            <a:r>
              <a:rPr sz="2800" dirty="0">
                <a:latin typeface="Calibri"/>
                <a:cs typeface="Calibri"/>
              </a:rPr>
              <a:t>that is </a:t>
            </a:r>
            <a:r>
              <a:rPr sz="2800" spc="-5" dirty="0">
                <a:latin typeface="Calibri"/>
                <a:cs typeface="Calibri"/>
              </a:rPr>
              <a:t>inserted first </a:t>
            </a:r>
            <a:r>
              <a:rPr sz="2800" dirty="0">
                <a:latin typeface="Calibri"/>
                <a:cs typeface="Calibri"/>
              </a:rPr>
              <a:t>into the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queue </a:t>
            </a:r>
            <a:r>
              <a:rPr sz="2800" spc="-5" dirty="0">
                <a:latin typeface="Calibri"/>
                <a:cs typeface="Calibri"/>
              </a:rPr>
              <a:t>will</a:t>
            </a:r>
            <a:r>
              <a:rPr sz="2800" dirty="0">
                <a:latin typeface="Calibri"/>
                <a:cs typeface="Calibri"/>
              </a:rPr>
              <a:t> be the </a:t>
            </a:r>
            <a:r>
              <a:rPr sz="2800" spc="-5" dirty="0">
                <a:latin typeface="Calibri"/>
                <a:cs typeface="Calibri"/>
              </a:rPr>
              <a:t>element</a:t>
            </a:r>
            <a:r>
              <a:rPr sz="2800" dirty="0">
                <a:latin typeface="Calibri"/>
                <a:cs typeface="Calibri"/>
              </a:rPr>
              <a:t> that </a:t>
            </a:r>
            <a:r>
              <a:rPr sz="2800" spc="-5" dirty="0">
                <a:latin typeface="Calibri"/>
                <a:cs typeface="Calibri"/>
              </a:rPr>
              <a:t>will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deleted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first,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element</a:t>
            </a:r>
            <a:r>
              <a:rPr sz="2800" dirty="0">
                <a:latin typeface="Calibri"/>
                <a:cs typeface="Calibri"/>
              </a:rPr>
              <a:t> that is </a:t>
            </a:r>
            <a:r>
              <a:rPr sz="2800" spc="-5" dirty="0">
                <a:latin typeface="Calibri"/>
                <a:cs typeface="Calibri"/>
              </a:rPr>
              <a:t>inserted</a:t>
            </a:r>
            <a:r>
              <a:rPr sz="2800" dirty="0">
                <a:latin typeface="Calibri"/>
                <a:cs typeface="Calibri"/>
              </a:rPr>
              <a:t> last is </a:t>
            </a:r>
            <a:r>
              <a:rPr sz="2800" spc="-5" dirty="0">
                <a:latin typeface="Calibri"/>
                <a:cs typeface="Calibri"/>
              </a:rPr>
              <a:t>deleted</a:t>
            </a:r>
            <a:r>
              <a:rPr sz="2800" dirty="0">
                <a:latin typeface="Calibri"/>
                <a:cs typeface="Calibri"/>
              </a:rPr>
              <a:t> last.</a:t>
            </a:r>
            <a:endParaRPr sz="2800">
              <a:latin typeface="Calibri"/>
              <a:cs typeface="Calibri"/>
            </a:endParaRPr>
          </a:p>
          <a:p>
            <a:pPr marL="355600" marR="127000" indent="-342900">
              <a:lnSpc>
                <a:spcPts val="303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w</a:t>
            </a:r>
            <a:r>
              <a:rPr sz="2800" dirty="0">
                <a:latin typeface="Calibri"/>
                <a:cs typeface="Calibri"/>
              </a:rPr>
              <a:t>ai</a:t>
            </a:r>
            <a:r>
              <a:rPr sz="2800" spc="-15" dirty="0">
                <a:latin typeface="Calibri"/>
                <a:cs typeface="Calibri"/>
              </a:rPr>
              <a:t>ti</a:t>
            </a:r>
            <a:r>
              <a:rPr sz="2800" dirty="0">
                <a:latin typeface="Calibri"/>
                <a:cs typeface="Calibri"/>
              </a:rPr>
              <a:t>ng line is a g</a:t>
            </a:r>
            <a:r>
              <a:rPr sz="2800" spc="-5" dirty="0">
                <a:latin typeface="Calibri"/>
                <a:cs typeface="Calibri"/>
              </a:rPr>
              <a:t>oo</a:t>
            </a:r>
            <a:r>
              <a:rPr sz="2800" dirty="0">
                <a:latin typeface="Calibri"/>
                <a:cs typeface="Calibri"/>
              </a:rPr>
              <a:t>d 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eal</a:t>
            </a:r>
            <a:r>
              <a:rPr sz="2800" spc="-575" dirty="0">
                <a:latin typeface="Calibri"/>
                <a:cs typeface="Calibri"/>
              </a:rPr>
              <a:t>-­‐</a:t>
            </a:r>
            <a:r>
              <a:rPr sz="2800" dirty="0">
                <a:latin typeface="Calibri"/>
                <a:cs typeface="Calibri"/>
              </a:rPr>
              <a:t>life exa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dirty="0">
                <a:latin typeface="Calibri"/>
                <a:cs typeface="Calibri"/>
              </a:rPr>
              <a:t>ple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 a queue.  </a:t>
            </a:r>
            <a:r>
              <a:rPr sz="2800" spc="-5" dirty="0">
                <a:latin typeface="Calibri"/>
                <a:cs typeface="Calibri"/>
              </a:rPr>
              <a:t>(In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fact,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British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word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for </a:t>
            </a:r>
            <a:r>
              <a:rPr sz="2800" spc="-5" dirty="0">
                <a:latin typeface="MS PGothic"/>
                <a:cs typeface="MS PGothic"/>
              </a:rPr>
              <a:t>“</a:t>
            </a:r>
            <a:r>
              <a:rPr sz="2800" spc="-5" dirty="0">
                <a:latin typeface="Calibri"/>
                <a:cs typeface="Calibri"/>
              </a:rPr>
              <a:t>line</a:t>
            </a:r>
            <a:r>
              <a:rPr sz="2800" spc="-5" dirty="0">
                <a:latin typeface="MS PGothic"/>
                <a:cs typeface="MS PGothic"/>
              </a:rPr>
              <a:t>”</a:t>
            </a:r>
            <a:r>
              <a:rPr sz="2800" spc="-215" dirty="0">
                <a:latin typeface="MS PGothic"/>
                <a:cs typeface="MS PGothic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MS PGothic"/>
                <a:cs typeface="MS PGothic"/>
              </a:rPr>
              <a:t>“</a:t>
            </a:r>
            <a:r>
              <a:rPr sz="2800" spc="-5" dirty="0">
                <a:latin typeface="Calibri"/>
                <a:cs typeface="Calibri"/>
              </a:rPr>
              <a:t>queue</a:t>
            </a:r>
            <a:r>
              <a:rPr sz="2800" spc="-5" dirty="0">
                <a:latin typeface="MS PGothic"/>
                <a:cs typeface="MS PGothic"/>
              </a:rPr>
              <a:t>”</a:t>
            </a:r>
            <a:r>
              <a:rPr sz="2800" spc="-5" dirty="0">
                <a:latin typeface="Calibri"/>
                <a:cs typeface="Calibri"/>
              </a:rPr>
              <a:t>.)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3735" y="498158"/>
            <a:ext cx="18827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</a:t>
            </a:r>
            <a:r>
              <a:rPr dirty="0"/>
              <a:t>e</a:t>
            </a:r>
            <a:r>
              <a:rPr spc="-5" dirty="0"/>
              <a:t>u</a:t>
            </a:r>
            <a:r>
              <a:rPr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943850" cy="37795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31115" indent="-342900">
              <a:lnSpc>
                <a:spcPts val="33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Unlike stacks</a:t>
            </a:r>
            <a:r>
              <a:rPr sz="2800" dirty="0">
                <a:latin typeface="Tahoma"/>
                <a:cs typeface="Tahoma"/>
              </a:rPr>
              <a:t> in </a:t>
            </a:r>
            <a:r>
              <a:rPr sz="2800" spc="-5" dirty="0">
                <a:latin typeface="Tahoma"/>
                <a:cs typeface="Tahoma"/>
              </a:rPr>
              <a:t>which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elements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are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popped </a:t>
            </a:r>
            <a:r>
              <a:rPr sz="2800" dirty="0">
                <a:latin typeface="Tahoma"/>
                <a:cs typeface="Tahoma"/>
              </a:rPr>
              <a:t>and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pushed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only </a:t>
            </a:r>
            <a:r>
              <a:rPr sz="2800" dirty="0">
                <a:latin typeface="Tahoma"/>
                <a:cs typeface="Tahoma"/>
              </a:rPr>
              <a:t>at the</a:t>
            </a:r>
            <a:r>
              <a:rPr sz="2800" spc="-5" dirty="0">
                <a:latin typeface="Tahoma"/>
                <a:cs typeface="Tahoma"/>
              </a:rPr>
              <a:t> ends</a:t>
            </a:r>
            <a:r>
              <a:rPr sz="2800" dirty="0">
                <a:latin typeface="Tahoma"/>
                <a:cs typeface="Tahoma"/>
              </a:rPr>
              <a:t> of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 list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3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latin typeface="Tahoma"/>
                <a:cs typeface="Tahoma"/>
              </a:rPr>
              <a:t>Collection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of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data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elements:</a:t>
            </a:r>
            <a:endParaRPr sz="2800">
              <a:latin typeface="Tahoma"/>
              <a:cs typeface="Tahoma"/>
            </a:endParaRPr>
          </a:p>
          <a:p>
            <a:pPr marL="355600" marR="526415" indent="-342900">
              <a:lnSpc>
                <a:spcPct val="102000"/>
              </a:lnSpc>
              <a:spcBef>
                <a:spcPts val="5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items </a:t>
            </a:r>
            <a:r>
              <a:rPr sz="2800" spc="-5" dirty="0">
                <a:latin typeface="Tahoma"/>
                <a:cs typeface="Tahoma"/>
              </a:rPr>
              <a:t>are </a:t>
            </a:r>
            <a:r>
              <a:rPr sz="2800" spc="-10" dirty="0">
                <a:latin typeface="Tahoma"/>
                <a:cs typeface="Tahoma"/>
              </a:rPr>
              <a:t>removed from </a:t>
            </a:r>
            <a:r>
              <a:rPr sz="2800" dirty="0">
                <a:latin typeface="Tahoma"/>
                <a:cs typeface="Tahoma"/>
              </a:rPr>
              <a:t>a </a:t>
            </a:r>
            <a:r>
              <a:rPr sz="2800" spc="-5" dirty="0">
                <a:latin typeface="Tahoma"/>
                <a:cs typeface="Tahoma"/>
              </a:rPr>
              <a:t>queue </a:t>
            </a:r>
            <a:r>
              <a:rPr sz="2800" dirty="0">
                <a:latin typeface="Tahoma"/>
                <a:cs typeface="Tahoma"/>
              </a:rPr>
              <a:t>at </a:t>
            </a:r>
            <a:r>
              <a:rPr sz="2800" spc="-5" dirty="0">
                <a:latin typeface="Tahoma"/>
                <a:cs typeface="Tahoma"/>
              </a:rPr>
              <a:t>one end,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called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FRONT</a:t>
            </a:r>
            <a:r>
              <a:rPr sz="2800" b="1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 </a:t>
            </a:r>
            <a:r>
              <a:rPr sz="2800" spc="-5" dirty="0">
                <a:latin typeface="Tahoma"/>
                <a:cs typeface="Tahoma"/>
              </a:rPr>
              <a:t>queue;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2000"/>
              </a:lnSpc>
              <a:spcBef>
                <a:spcPts val="5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and </a:t>
            </a:r>
            <a:r>
              <a:rPr sz="2800" spc="-5" dirty="0">
                <a:latin typeface="Tahoma"/>
                <a:cs typeface="Tahoma"/>
              </a:rPr>
              <a:t>elements are added </a:t>
            </a:r>
            <a:r>
              <a:rPr sz="2800" dirty="0">
                <a:latin typeface="Tahoma"/>
                <a:cs typeface="Tahoma"/>
              </a:rPr>
              <a:t>at the other </a:t>
            </a:r>
            <a:r>
              <a:rPr sz="2800" spc="-5" dirty="0">
                <a:latin typeface="Tahoma"/>
                <a:cs typeface="Tahoma"/>
              </a:rPr>
              <a:t>end, </a:t>
            </a:r>
            <a:r>
              <a:rPr sz="2800" dirty="0">
                <a:latin typeface="Tahoma"/>
                <a:cs typeface="Tahoma"/>
              </a:rPr>
              <a:t>called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b="1" spc="-5" dirty="0">
                <a:latin typeface="Tahoma"/>
                <a:cs typeface="Tahoma"/>
              </a:rPr>
              <a:t>BACK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6857" y="498158"/>
            <a:ext cx="57353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5" dirty="0"/>
              <a:t>Queues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7682865" cy="263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Tahoma"/>
                <a:cs typeface="Tahoma"/>
              </a:rPr>
              <a:t>Difference </a:t>
            </a:r>
            <a:r>
              <a:rPr sz="3200" spc="-5" dirty="0">
                <a:latin typeface="Tahoma"/>
                <a:cs typeface="Tahoma"/>
              </a:rPr>
              <a:t>between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b="1" spc="-5" dirty="0">
                <a:latin typeface="Tahoma"/>
                <a:cs typeface="Tahoma"/>
              </a:rPr>
              <a:t>Stack </a:t>
            </a:r>
            <a:r>
              <a:rPr sz="3200" dirty="0">
                <a:latin typeface="Tahoma"/>
                <a:cs typeface="Tahoma"/>
              </a:rPr>
              <a:t>and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b="1" spc="-5" dirty="0">
                <a:latin typeface="Tahoma"/>
                <a:cs typeface="Tahoma"/>
              </a:rPr>
              <a:t>Queues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3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Stack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exhibits </a:t>
            </a:r>
            <a:r>
              <a:rPr sz="2800" spc="-10" dirty="0">
                <a:latin typeface="Tahoma"/>
                <a:cs typeface="Tahoma"/>
              </a:rPr>
              <a:t>last-in-first-out</a:t>
            </a:r>
            <a:r>
              <a:rPr sz="2800" spc="-5" dirty="0">
                <a:latin typeface="Tahoma"/>
                <a:cs typeface="Tahoma"/>
              </a:rPr>
              <a:t> (LIFO)</a:t>
            </a:r>
            <a:endParaRPr sz="2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 MT"/>
              <a:buChar char="–"/>
            </a:pPr>
            <a:endParaRPr sz="39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Queue</a:t>
            </a:r>
            <a:r>
              <a:rPr sz="2800" dirty="0">
                <a:latin typeface="Tahoma"/>
                <a:cs typeface="Tahoma"/>
              </a:rPr>
              <a:t> exhibits </a:t>
            </a:r>
            <a:r>
              <a:rPr sz="2800" spc="-10" dirty="0">
                <a:latin typeface="Tahoma"/>
                <a:cs typeface="Tahoma"/>
              </a:rPr>
              <a:t>first-in-first-out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(FIFO)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642" y="552450"/>
            <a:ext cx="50838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Queue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3631565" cy="16586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marR="5080" indent="-342900">
              <a:lnSpc>
                <a:spcPct val="94200"/>
              </a:lnSpc>
              <a:spcBef>
                <a:spcPts val="295"/>
              </a:spcBef>
              <a:buFont typeface="MS UI Gothic"/>
              <a:buChar char="❒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queue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people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waiting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bank </a:t>
            </a:r>
            <a:r>
              <a:rPr sz="2800" spc="-5" dirty="0">
                <a:latin typeface="Calibri"/>
                <a:cs typeface="Calibri"/>
              </a:rPr>
              <a:t>teller. </a:t>
            </a:r>
            <a:r>
              <a:rPr sz="2800" dirty="0">
                <a:latin typeface="Calibri"/>
                <a:cs typeface="Calibri"/>
              </a:rPr>
              <a:t>The queue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8000"/>
                </a:solidFill>
                <a:uFill>
                  <a:solidFill>
                    <a:srgbClr val="FF9300"/>
                  </a:solidFill>
                </a:uFill>
                <a:latin typeface="Calibri"/>
                <a:cs typeface="Calibri"/>
              </a:rPr>
              <a:t>front</a:t>
            </a:r>
            <a:r>
              <a:rPr sz="2800" b="1" spc="-15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8000"/>
                </a:solidFill>
                <a:uFill>
                  <a:solidFill>
                    <a:srgbClr val="FF9300"/>
                  </a:solidFill>
                </a:uFill>
                <a:latin typeface="Calibri"/>
                <a:cs typeface="Calibri"/>
              </a:rPr>
              <a:t>rear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82582" y="3957637"/>
            <a:ext cx="410845" cy="1300480"/>
            <a:chOff x="2982582" y="3957637"/>
            <a:chExt cx="410845" cy="1300480"/>
          </a:xfrm>
        </p:grpSpPr>
        <p:sp>
          <p:nvSpPr>
            <p:cNvPr id="5" name="object 5"/>
            <p:cNvSpPr/>
            <p:nvPr/>
          </p:nvSpPr>
          <p:spPr>
            <a:xfrm>
              <a:off x="29873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73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397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9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495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495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71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8" y="371577"/>
                  </a:lnTo>
                  <a:lnTo>
                    <a:pt x="361636" y="329132"/>
                  </a:lnTo>
                  <a:lnTo>
                    <a:pt x="375967" y="281015"/>
                  </a:lnTo>
                  <a:lnTo>
                    <a:pt x="380998" y="228600"/>
                  </a:lnTo>
                  <a:lnTo>
                    <a:pt x="375967" y="176184"/>
                  </a:lnTo>
                  <a:lnTo>
                    <a:pt x="361636" y="128067"/>
                  </a:lnTo>
                  <a:lnTo>
                    <a:pt x="339148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971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6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6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873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873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97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39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642982" y="3957637"/>
            <a:ext cx="410845" cy="1300480"/>
            <a:chOff x="3642982" y="3957637"/>
            <a:chExt cx="410845" cy="1300480"/>
          </a:xfrm>
        </p:grpSpPr>
        <p:sp>
          <p:nvSpPr>
            <p:cNvPr id="18" name="object 18"/>
            <p:cNvSpPr/>
            <p:nvPr/>
          </p:nvSpPr>
          <p:spPr>
            <a:xfrm>
              <a:off x="36477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7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01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01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99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99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75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75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500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8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8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500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477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7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001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001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303382" y="3957637"/>
            <a:ext cx="410845" cy="1300480"/>
            <a:chOff x="4303382" y="3957637"/>
            <a:chExt cx="410845" cy="1300480"/>
          </a:xfrm>
        </p:grpSpPr>
        <p:sp>
          <p:nvSpPr>
            <p:cNvPr id="31" name="object 31"/>
            <p:cNvSpPr/>
            <p:nvPr/>
          </p:nvSpPr>
          <p:spPr>
            <a:xfrm>
              <a:off x="43081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081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605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605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03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03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180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179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081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081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605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605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4963782" y="3957637"/>
            <a:ext cx="410845" cy="1300480"/>
            <a:chOff x="4963782" y="3957637"/>
            <a:chExt cx="410845" cy="1300480"/>
          </a:xfrm>
        </p:grpSpPr>
        <p:sp>
          <p:nvSpPr>
            <p:cNvPr id="44" name="object 44"/>
            <p:cNvSpPr/>
            <p:nvPr/>
          </p:nvSpPr>
          <p:spPr>
            <a:xfrm>
              <a:off x="49685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685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1209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09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307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307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784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783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685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685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209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209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8176883" y="3652837"/>
            <a:ext cx="410845" cy="1300480"/>
            <a:chOff x="8176883" y="3652837"/>
            <a:chExt cx="410845" cy="1300480"/>
          </a:xfrm>
        </p:grpSpPr>
        <p:sp>
          <p:nvSpPr>
            <p:cNvPr id="57" name="object 57"/>
            <p:cNvSpPr/>
            <p:nvPr/>
          </p:nvSpPr>
          <p:spPr>
            <a:xfrm>
              <a:off x="8181646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181645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0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34045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7" y="335106"/>
                  </a:lnTo>
                  <a:lnTo>
                    <a:pt x="67021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334044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343898" y="4038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43899" y="4038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191498" y="36576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80" y="451162"/>
                  </a:lnTo>
                  <a:lnTo>
                    <a:pt x="274277" y="433964"/>
                  </a:lnTo>
                  <a:lnTo>
                    <a:pt x="309648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8" y="50220"/>
                  </a:lnTo>
                  <a:lnTo>
                    <a:pt x="274277" y="23235"/>
                  </a:lnTo>
                  <a:lnTo>
                    <a:pt x="234180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91498" y="36575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19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6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6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19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181646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81645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0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334045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7" y="335106"/>
                  </a:lnTo>
                  <a:lnTo>
                    <a:pt x="67021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334044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231059" y="3681559"/>
            <a:ext cx="248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libri"/>
                <a:cs typeface="Calibri"/>
              </a:rPr>
              <a:t>$</a:t>
            </a:r>
            <a:r>
              <a:rPr sz="1200" b="1" i="1" spc="18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$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869306" y="5043446"/>
            <a:ext cx="806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F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ro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440306" y="5500646"/>
            <a:ext cx="689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ar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899" y="4033837"/>
            <a:ext cx="2557780" cy="1990725"/>
            <a:chOff x="342899" y="4033837"/>
            <a:chExt cx="2557780" cy="1990725"/>
          </a:xfrm>
        </p:grpSpPr>
        <p:sp>
          <p:nvSpPr>
            <p:cNvPr id="3" name="object 3"/>
            <p:cNvSpPr/>
            <p:nvPr/>
          </p:nvSpPr>
          <p:spPr>
            <a:xfrm>
              <a:off x="1828799" y="4038600"/>
              <a:ext cx="1066800" cy="1981200"/>
            </a:xfrm>
            <a:custGeom>
              <a:avLst/>
              <a:gdLst/>
              <a:ahLst/>
              <a:cxnLst/>
              <a:rect l="l" t="t" r="r" b="b"/>
              <a:pathLst>
                <a:path w="1066800" h="1981200">
                  <a:moveTo>
                    <a:pt x="533400" y="0"/>
                  </a:moveTo>
                  <a:lnTo>
                    <a:pt x="466491" y="7718"/>
                  </a:lnTo>
                  <a:lnTo>
                    <a:pt x="402062" y="30253"/>
                  </a:lnTo>
                  <a:lnTo>
                    <a:pt x="340614" y="66678"/>
                  </a:lnTo>
                  <a:lnTo>
                    <a:pt x="282645" y="116064"/>
                  </a:lnTo>
                  <a:lnTo>
                    <a:pt x="255122" y="145327"/>
                  </a:lnTo>
                  <a:lnTo>
                    <a:pt x="228656" y="177482"/>
                  </a:lnTo>
                  <a:lnTo>
                    <a:pt x="203311" y="212413"/>
                  </a:lnTo>
                  <a:lnTo>
                    <a:pt x="179147" y="250004"/>
                  </a:lnTo>
                  <a:lnTo>
                    <a:pt x="156229" y="290140"/>
                  </a:lnTo>
                  <a:lnTo>
                    <a:pt x="134617" y="332703"/>
                  </a:lnTo>
                  <a:lnTo>
                    <a:pt x="114376" y="377578"/>
                  </a:lnTo>
                  <a:lnTo>
                    <a:pt x="95567" y="424648"/>
                  </a:lnTo>
                  <a:lnTo>
                    <a:pt x="78253" y="473799"/>
                  </a:lnTo>
                  <a:lnTo>
                    <a:pt x="62496" y="524914"/>
                  </a:lnTo>
                  <a:lnTo>
                    <a:pt x="48358" y="577876"/>
                  </a:lnTo>
                  <a:lnTo>
                    <a:pt x="35903" y="632569"/>
                  </a:lnTo>
                  <a:lnTo>
                    <a:pt x="25193" y="688879"/>
                  </a:lnTo>
                  <a:lnTo>
                    <a:pt x="16290" y="746688"/>
                  </a:lnTo>
                  <a:lnTo>
                    <a:pt x="9257" y="805881"/>
                  </a:lnTo>
                  <a:lnTo>
                    <a:pt x="4155" y="866341"/>
                  </a:lnTo>
                  <a:lnTo>
                    <a:pt x="1049" y="927952"/>
                  </a:lnTo>
                  <a:lnTo>
                    <a:pt x="0" y="990600"/>
                  </a:lnTo>
                  <a:lnTo>
                    <a:pt x="1049" y="1053247"/>
                  </a:lnTo>
                  <a:lnTo>
                    <a:pt x="4155" y="1114858"/>
                  </a:lnTo>
                  <a:lnTo>
                    <a:pt x="9257" y="1175318"/>
                  </a:lnTo>
                  <a:lnTo>
                    <a:pt x="16290" y="1234511"/>
                  </a:lnTo>
                  <a:lnTo>
                    <a:pt x="25193" y="1292320"/>
                  </a:lnTo>
                  <a:lnTo>
                    <a:pt x="35903" y="1348630"/>
                  </a:lnTo>
                  <a:lnTo>
                    <a:pt x="48358" y="1403323"/>
                  </a:lnTo>
                  <a:lnTo>
                    <a:pt x="62496" y="1456286"/>
                  </a:lnTo>
                  <a:lnTo>
                    <a:pt x="78253" y="1507400"/>
                  </a:lnTo>
                  <a:lnTo>
                    <a:pt x="95567" y="1556551"/>
                  </a:lnTo>
                  <a:lnTo>
                    <a:pt x="114376" y="1603621"/>
                  </a:lnTo>
                  <a:lnTo>
                    <a:pt x="134617" y="1648496"/>
                  </a:lnTo>
                  <a:lnTo>
                    <a:pt x="156229" y="1691059"/>
                  </a:lnTo>
                  <a:lnTo>
                    <a:pt x="179147" y="1731195"/>
                  </a:lnTo>
                  <a:lnTo>
                    <a:pt x="203311" y="1768786"/>
                  </a:lnTo>
                  <a:lnTo>
                    <a:pt x="228656" y="1803717"/>
                  </a:lnTo>
                  <a:lnTo>
                    <a:pt x="255122" y="1835872"/>
                  </a:lnTo>
                  <a:lnTo>
                    <a:pt x="282645" y="1865135"/>
                  </a:lnTo>
                  <a:lnTo>
                    <a:pt x="311163" y="1891390"/>
                  </a:lnTo>
                  <a:lnTo>
                    <a:pt x="370934" y="1934411"/>
                  </a:lnTo>
                  <a:lnTo>
                    <a:pt x="433935" y="1964008"/>
                  </a:lnTo>
                  <a:lnTo>
                    <a:pt x="499666" y="1979251"/>
                  </a:lnTo>
                  <a:lnTo>
                    <a:pt x="533400" y="1981200"/>
                  </a:lnTo>
                  <a:lnTo>
                    <a:pt x="567132" y="1979251"/>
                  </a:lnTo>
                  <a:lnTo>
                    <a:pt x="632863" y="1964008"/>
                  </a:lnTo>
                  <a:lnTo>
                    <a:pt x="695864" y="1934411"/>
                  </a:lnTo>
                  <a:lnTo>
                    <a:pt x="755635" y="1891390"/>
                  </a:lnTo>
                  <a:lnTo>
                    <a:pt x="784153" y="1865135"/>
                  </a:lnTo>
                  <a:lnTo>
                    <a:pt x="811676" y="1835872"/>
                  </a:lnTo>
                  <a:lnTo>
                    <a:pt x="838142" y="1803717"/>
                  </a:lnTo>
                  <a:lnTo>
                    <a:pt x="863488" y="1768786"/>
                  </a:lnTo>
                  <a:lnTo>
                    <a:pt x="887651" y="1731195"/>
                  </a:lnTo>
                  <a:lnTo>
                    <a:pt x="910570" y="1691059"/>
                  </a:lnTo>
                  <a:lnTo>
                    <a:pt x="932181" y="1648496"/>
                  </a:lnTo>
                  <a:lnTo>
                    <a:pt x="952423" y="1603621"/>
                  </a:lnTo>
                  <a:lnTo>
                    <a:pt x="971232" y="1556551"/>
                  </a:lnTo>
                  <a:lnTo>
                    <a:pt x="988546" y="1507400"/>
                  </a:lnTo>
                  <a:lnTo>
                    <a:pt x="1004303" y="1456286"/>
                  </a:lnTo>
                  <a:lnTo>
                    <a:pt x="1018440" y="1403323"/>
                  </a:lnTo>
                  <a:lnTo>
                    <a:pt x="1030896" y="1348630"/>
                  </a:lnTo>
                  <a:lnTo>
                    <a:pt x="1041606" y="1292320"/>
                  </a:lnTo>
                  <a:lnTo>
                    <a:pt x="1050509" y="1234511"/>
                  </a:lnTo>
                  <a:lnTo>
                    <a:pt x="1057542" y="1175318"/>
                  </a:lnTo>
                  <a:lnTo>
                    <a:pt x="1062644" y="1114858"/>
                  </a:lnTo>
                  <a:lnTo>
                    <a:pt x="1065750" y="1053247"/>
                  </a:lnTo>
                  <a:lnTo>
                    <a:pt x="1066800" y="990600"/>
                  </a:lnTo>
                  <a:lnTo>
                    <a:pt x="1065750" y="927952"/>
                  </a:lnTo>
                  <a:lnTo>
                    <a:pt x="1062644" y="866341"/>
                  </a:lnTo>
                  <a:lnTo>
                    <a:pt x="1057542" y="805881"/>
                  </a:lnTo>
                  <a:lnTo>
                    <a:pt x="1050509" y="746688"/>
                  </a:lnTo>
                  <a:lnTo>
                    <a:pt x="1041606" y="688879"/>
                  </a:lnTo>
                  <a:lnTo>
                    <a:pt x="1030896" y="632569"/>
                  </a:lnTo>
                  <a:lnTo>
                    <a:pt x="1018440" y="577876"/>
                  </a:lnTo>
                  <a:lnTo>
                    <a:pt x="1004303" y="524914"/>
                  </a:lnTo>
                  <a:lnTo>
                    <a:pt x="988546" y="473799"/>
                  </a:lnTo>
                  <a:lnTo>
                    <a:pt x="971232" y="424648"/>
                  </a:lnTo>
                  <a:lnTo>
                    <a:pt x="952423" y="377578"/>
                  </a:lnTo>
                  <a:lnTo>
                    <a:pt x="932181" y="332703"/>
                  </a:lnTo>
                  <a:lnTo>
                    <a:pt x="910570" y="290140"/>
                  </a:lnTo>
                  <a:lnTo>
                    <a:pt x="887651" y="250004"/>
                  </a:lnTo>
                  <a:lnTo>
                    <a:pt x="863488" y="212413"/>
                  </a:lnTo>
                  <a:lnTo>
                    <a:pt x="838142" y="177482"/>
                  </a:lnTo>
                  <a:lnTo>
                    <a:pt x="811676" y="145327"/>
                  </a:lnTo>
                  <a:lnTo>
                    <a:pt x="784153" y="116064"/>
                  </a:lnTo>
                  <a:lnTo>
                    <a:pt x="755635" y="89809"/>
                  </a:lnTo>
                  <a:lnTo>
                    <a:pt x="695864" y="46788"/>
                  </a:lnTo>
                  <a:lnTo>
                    <a:pt x="632863" y="17191"/>
                  </a:lnTo>
                  <a:lnTo>
                    <a:pt x="567132" y="1948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28799" y="4038599"/>
              <a:ext cx="1066800" cy="1981200"/>
            </a:xfrm>
            <a:custGeom>
              <a:avLst/>
              <a:gdLst/>
              <a:ahLst/>
              <a:cxnLst/>
              <a:rect l="l" t="t" r="r" b="b"/>
              <a:pathLst>
                <a:path w="1066800" h="1981200">
                  <a:moveTo>
                    <a:pt x="0" y="990599"/>
                  </a:moveTo>
                  <a:lnTo>
                    <a:pt x="1049" y="927952"/>
                  </a:lnTo>
                  <a:lnTo>
                    <a:pt x="4155" y="866340"/>
                  </a:lnTo>
                  <a:lnTo>
                    <a:pt x="9257" y="805880"/>
                  </a:lnTo>
                  <a:lnTo>
                    <a:pt x="16290" y="746688"/>
                  </a:lnTo>
                  <a:lnTo>
                    <a:pt x="25193" y="688879"/>
                  </a:lnTo>
                  <a:lnTo>
                    <a:pt x="35903" y="632569"/>
                  </a:lnTo>
                  <a:lnTo>
                    <a:pt x="48358" y="577875"/>
                  </a:lnTo>
                  <a:lnTo>
                    <a:pt x="62496" y="524913"/>
                  </a:lnTo>
                  <a:lnTo>
                    <a:pt x="78253" y="473799"/>
                  </a:lnTo>
                  <a:lnTo>
                    <a:pt x="95567" y="424648"/>
                  </a:lnTo>
                  <a:lnTo>
                    <a:pt x="114376" y="377577"/>
                  </a:lnTo>
                  <a:lnTo>
                    <a:pt x="134617" y="332703"/>
                  </a:lnTo>
                  <a:lnTo>
                    <a:pt x="156229" y="290139"/>
                  </a:lnTo>
                  <a:lnTo>
                    <a:pt x="179147" y="250004"/>
                  </a:lnTo>
                  <a:lnTo>
                    <a:pt x="203311" y="212413"/>
                  </a:lnTo>
                  <a:lnTo>
                    <a:pt x="228657" y="177482"/>
                  </a:lnTo>
                  <a:lnTo>
                    <a:pt x="255122" y="145327"/>
                  </a:lnTo>
                  <a:lnTo>
                    <a:pt x="282645" y="116064"/>
                  </a:lnTo>
                  <a:lnTo>
                    <a:pt x="311163" y="89809"/>
                  </a:lnTo>
                  <a:lnTo>
                    <a:pt x="370934" y="46788"/>
                  </a:lnTo>
                  <a:lnTo>
                    <a:pt x="433935" y="17191"/>
                  </a:lnTo>
                  <a:lnTo>
                    <a:pt x="499666" y="1948"/>
                  </a:lnTo>
                  <a:lnTo>
                    <a:pt x="533399" y="0"/>
                  </a:lnTo>
                  <a:lnTo>
                    <a:pt x="567133" y="1948"/>
                  </a:lnTo>
                  <a:lnTo>
                    <a:pt x="632863" y="17191"/>
                  </a:lnTo>
                  <a:lnTo>
                    <a:pt x="695864" y="46788"/>
                  </a:lnTo>
                  <a:lnTo>
                    <a:pt x="755635" y="89809"/>
                  </a:lnTo>
                  <a:lnTo>
                    <a:pt x="784153" y="116064"/>
                  </a:lnTo>
                  <a:lnTo>
                    <a:pt x="811677" y="145327"/>
                  </a:lnTo>
                  <a:lnTo>
                    <a:pt x="838142" y="177482"/>
                  </a:lnTo>
                  <a:lnTo>
                    <a:pt x="863488" y="212413"/>
                  </a:lnTo>
                  <a:lnTo>
                    <a:pt x="887651" y="250004"/>
                  </a:lnTo>
                  <a:lnTo>
                    <a:pt x="910570" y="290139"/>
                  </a:lnTo>
                  <a:lnTo>
                    <a:pt x="932181" y="332703"/>
                  </a:lnTo>
                  <a:lnTo>
                    <a:pt x="952423" y="377577"/>
                  </a:lnTo>
                  <a:lnTo>
                    <a:pt x="971232" y="424648"/>
                  </a:lnTo>
                  <a:lnTo>
                    <a:pt x="988546" y="473799"/>
                  </a:lnTo>
                  <a:lnTo>
                    <a:pt x="1004303" y="524913"/>
                  </a:lnTo>
                  <a:lnTo>
                    <a:pt x="1018440" y="577875"/>
                  </a:lnTo>
                  <a:lnTo>
                    <a:pt x="1030895" y="632569"/>
                  </a:lnTo>
                  <a:lnTo>
                    <a:pt x="1041606" y="688879"/>
                  </a:lnTo>
                  <a:lnTo>
                    <a:pt x="1050509" y="746688"/>
                  </a:lnTo>
                  <a:lnTo>
                    <a:pt x="1057542" y="805880"/>
                  </a:lnTo>
                  <a:lnTo>
                    <a:pt x="1062643" y="866340"/>
                  </a:lnTo>
                  <a:lnTo>
                    <a:pt x="1065750" y="927952"/>
                  </a:lnTo>
                  <a:lnTo>
                    <a:pt x="1066799" y="990599"/>
                  </a:lnTo>
                  <a:lnTo>
                    <a:pt x="1065750" y="1053246"/>
                  </a:lnTo>
                  <a:lnTo>
                    <a:pt x="1062643" y="1114858"/>
                  </a:lnTo>
                  <a:lnTo>
                    <a:pt x="1057542" y="1175318"/>
                  </a:lnTo>
                  <a:lnTo>
                    <a:pt x="1050509" y="1234511"/>
                  </a:lnTo>
                  <a:lnTo>
                    <a:pt x="1041606" y="1292320"/>
                  </a:lnTo>
                  <a:lnTo>
                    <a:pt x="1030895" y="1348629"/>
                  </a:lnTo>
                  <a:lnTo>
                    <a:pt x="1018440" y="1403323"/>
                  </a:lnTo>
                  <a:lnTo>
                    <a:pt x="1004303" y="1456285"/>
                  </a:lnTo>
                  <a:lnTo>
                    <a:pt x="988546" y="1507399"/>
                  </a:lnTo>
                  <a:lnTo>
                    <a:pt x="971232" y="1556550"/>
                  </a:lnTo>
                  <a:lnTo>
                    <a:pt x="952423" y="1603621"/>
                  </a:lnTo>
                  <a:lnTo>
                    <a:pt x="932181" y="1648496"/>
                  </a:lnTo>
                  <a:lnTo>
                    <a:pt x="910570" y="1691059"/>
                  </a:lnTo>
                  <a:lnTo>
                    <a:pt x="887651" y="1731194"/>
                  </a:lnTo>
                  <a:lnTo>
                    <a:pt x="863488" y="1768785"/>
                  </a:lnTo>
                  <a:lnTo>
                    <a:pt x="838142" y="1803716"/>
                  </a:lnTo>
                  <a:lnTo>
                    <a:pt x="811677" y="1835872"/>
                  </a:lnTo>
                  <a:lnTo>
                    <a:pt x="784153" y="1865135"/>
                  </a:lnTo>
                  <a:lnTo>
                    <a:pt x="755635" y="1891390"/>
                  </a:lnTo>
                  <a:lnTo>
                    <a:pt x="695864" y="1934411"/>
                  </a:lnTo>
                  <a:lnTo>
                    <a:pt x="632863" y="1964007"/>
                  </a:lnTo>
                  <a:lnTo>
                    <a:pt x="567133" y="1979250"/>
                  </a:lnTo>
                  <a:lnTo>
                    <a:pt x="533399" y="1981199"/>
                  </a:lnTo>
                  <a:lnTo>
                    <a:pt x="499666" y="1979250"/>
                  </a:lnTo>
                  <a:lnTo>
                    <a:pt x="433935" y="1964007"/>
                  </a:lnTo>
                  <a:lnTo>
                    <a:pt x="370934" y="1934411"/>
                  </a:lnTo>
                  <a:lnTo>
                    <a:pt x="311163" y="1891390"/>
                  </a:lnTo>
                  <a:lnTo>
                    <a:pt x="282645" y="1865135"/>
                  </a:lnTo>
                  <a:lnTo>
                    <a:pt x="255122" y="1835872"/>
                  </a:lnTo>
                  <a:lnTo>
                    <a:pt x="228657" y="1803716"/>
                  </a:lnTo>
                  <a:lnTo>
                    <a:pt x="203311" y="1768785"/>
                  </a:lnTo>
                  <a:lnTo>
                    <a:pt x="179147" y="1731194"/>
                  </a:lnTo>
                  <a:lnTo>
                    <a:pt x="156229" y="1691059"/>
                  </a:lnTo>
                  <a:lnTo>
                    <a:pt x="134617" y="1648496"/>
                  </a:lnTo>
                  <a:lnTo>
                    <a:pt x="114376" y="1603621"/>
                  </a:lnTo>
                  <a:lnTo>
                    <a:pt x="95567" y="1556550"/>
                  </a:lnTo>
                  <a:lnTo>
                    <a:pt x="78253" y="1507399"/>
                  </a:lnTo>
                  <a:lnTo>
                    <a:pt x="62496" y="1456285"/>
                  </a:lnTo>
                  <a:lnTo>
                    <a:pt x="48358" y="1403323"/>
                  </a:lnTo>
                  <a:lnTo>
                    <a:pt x="35903" y="1348629"/>
                  </a:lnTo>
                  <a:lnTo>
                    <a:pt x="25193" y="1292320"/>
                  </a:lnTo>
                  <a:lnTo>
                    <a:pt x="16290" y="1234511"/>
                  </a:lnTo>
                  <a:lnTo>
                    <a:pt x="9257" y="1175318"/>
                  </a:lnTo>
                  <a:lnTo>
                    <a:pt x="4155" y="1114858"/>
                  </a:lnTo>
                  <a:lnTo>
                    <a:pt x="1049" y="1053246"/>
                  </a:lnTo>
                  <a:lnTo>
                    <a:pt x="0" y="990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61846" y="4729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61845" y="4729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14246" y="4729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14245" y="4729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24100" y="45720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24099" y="45720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71700" y="41910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71699" y="41910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600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500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600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500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61846" y="5110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61845" y="5110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6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14246" y="5110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14245" y="51102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999" y="5203495"/>
              <a:ext cx="1451610" cy="435609"/>
            </a:xfrm>
            <a:custGeom>
              <a:avLst/>
              <a:gdLst/>
              <a:ahLst/>
              <a:cxnLst/>
              <a:rect l="l" t="t" r="r" b="b"/>
              <a:pathLst>
                <a:path w="1451610" h="435610">
                  <a:moveTo>
                    <a:pt x="0" y="435303"/>
                  </a:moveTo>
                  <a:lnTo>
                    <a:pt x="145101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53197" y="5137807"/>
              <a:ext cx="252095" cy="219075"/>
            </a:xfrm>
            <a:custGeom>
              <a:avLst/>
              <a:gdLst/>
              <a:ahLst/>
              <a:cxnLst/>
              <a:rect l="l" t="t" r="r" b="b"/>
              <a:pathLst>
                <a:path w="252094" h="219075">
                  <a:moveTo>
                    <a:pt x="0" y="0"/>
                  </a:moveTo>
                  <a:lnTo>
                    <a:pt x="65686" y="218959"/>
                  </a:lnTo>
                  <a:lnTo>
                    <a:pt x="251802" y="4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651642" y="552450"/>
            <a:ext cx="50838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Queue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Operations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64539" y="1996439"/>
            <a:ext cx="5708015" cy="1252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marR="5080" indent="-342900">
              <a:lnSpc>
                <a:spcPct val="93700"/>
              </a:lnSpc>
              <a:spcBef>
                <a:spcPts val="310"/>
              </a:spcBef>
              <a:buFont typeface="MS UI Gothic"/>
              <a:buChar char="❒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New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people must enter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queue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rear. </a:t>
            </a:r>
            <a:r>
              <a:rPr sz="2800" dirty="0">
                <a:latin typeface="Calibri"/>
                <a:cs typeface="Calibri"/>
              </a:rPr>
              <a:t>This is called an</a:t>
            </a:r>
            <a:r>
              <a:rPr sz="2800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8000"/>
                </a:solidFill>
                <a:uFill>
                  <a:solidFill>
                    <a:srgbClr val="FF9300"/>
                  </a:solidFill>
                </a:uFill>
                <a:latin typeface="Calibri"/>
                <a:cs typeface="Calibri"/>
              </a:rPr>
              <a:t>enqueue </a:t>
            </a:r>
            <a:r>
              <a:rPr sz="2800" b="1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operation.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82582" y="3957637"/>
            <a:ext cx="410845" cy="1300480"/>
            <a:chOff x="2982582" y="3957637"/>
            <a:chExt cx="410845" cy="1300480"/>
          </a:xfrm>
        </p:grpSpPr>
        <p:sp>
          <p:nvSpPr>
            <p:cNvPr id="22" name="object 22"/>
            <p:cNvSpPr/>
            <p:nvPr/>
          </p:nvSpPr>
          <p:spPr>
            <a:xfrm>
              <a:off x="29873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873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397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39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495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495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971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8" y="371577"/>
                  </a:lnTo>
                  <a:lnTo>
                    <a:pt x="361636" y="329132"/>
                  </a:lnTo>
                  <a:lnTo>
                    <a:pt x="375967" y="281015"/>
                  </a:lnTo>
                  <a:lnTo>
                    <a:pt x="380998" y="228600"/>
                  </a:lnTo>
                  <a:lnTo>
                    <a:pt x="375967" y="176184"/>
                  </a:lnTo>
                  <a:lnTo>
                    <a:pt x="361636" y="128067"/>
                  </a:lnTo>
                  <a:lnTo>
                    <a:pt x="339148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971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6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6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873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873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397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39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642982" y="3957637"/>
            <a:ext cx="410845" cy="1300480"/>
            <a:chOff x="3642982" y="3957637"/>
            <a:chExt cx="410845" cy="1300480"/>
          </a:xfrm>
        </p:grpSpPr>
        <p:sp>
          <p:nvSpPr>
            <p:cNvPr id="35" name="object 35"/>
            <p:cNvSpPr/>
            <p:nvPr/>
          </p:nvSpPr>
          <p:spPr>
            <a:xfrm>
              <a:off x="36477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47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001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001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099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099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575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575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500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8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8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500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477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47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001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001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4303382" y="3957637"/>
            <a:ext cx="410845" cy="1300480"/>
            <a:chOff x="4303382" y="3957637"/>
            <a:chExt cx="410845" cy="1300480"/>
          </a:xfrm>
        </p:grpSpPr>
        <p:sp>
          <p:nvSpPr>
            <p:cNvPr id="48" name="object 48"/>
            <p:cNvSpPr/>
            <p:nvPr/>
          </p:nvSpPr>
          <p:spPr>
            <a:xfrm>
              <a:off x="43081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081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605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605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4703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703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180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179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3081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3081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605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605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963782" y="3957637"/>
            <a:ext cx="410845" cy="1300480"/>
            <a:chOff x="4963782" y="3957637"/>
            <a:chExt cx="410845" cy="1300480"/>
          </a:xfrm>
        </p:grpSpPr>
        <p:sp>
          <p:nvSpPr>
            <p:cNvPr id="61" name="object 61"/>
            <p:cNvSpPr/>
            <p:nvPr/>
          </p:nvSpPr>
          <p:spPr>
            <a:xfrm>
              <a:off x="49685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685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209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09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307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1307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9784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9783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685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685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209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1209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8176883" y="3652837"/>
            <a:ext cx="410845" cy="1300480"/>
            <a:chOff x="8176883" y="3652837"/>
            <a:chExt cx="410845" cy="1300480"/>
          </a:xfrm>
        </p:grpSpPr>
        <p:sp>
          <p:nvSpPr>
            <p:cNvPr id="74" name="object 74"/>
            <p:cNvSpPr/>
            <p:nvPr/>
          </p:nvSpPr>
          <p:spPr>
            <a:xfrm>
              <a:off x="8181646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181645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0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334045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7" y="335106"/>
                  </a:lnTo>
                  <a:lnTo>
                    <a:pt x="67021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334044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343898" y="4038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343899" y="4038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191498" y="36576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80" y="451162"/>
                  </a:lnTo>
                  <a:lnTo>
                    <a:pt x="274277" y="433964"/>
                  </a:lnTo>
                  <a:lnTo>
                    <a:pt x="309648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8" y="50220"/>
                  </a:lnTo>
                  <a:lnTo>
                    <a:pt x="274277" y="23235"/>
                  </a:lnTo>
                  <a:lnTo>
                    <a:pt x="234180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191498" y="36575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19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6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6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19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181646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181645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0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334045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7" y="335106"/>
                  </a:lnTo>
                  <a:lnTo>
                    <a:pt x="67021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334044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8231059" y="3681559"/>
            <a:ext cx="248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libri"/>
                <a:cs typeface="Calibri"/>
              </a:rPr>
              <a:t>$</a:t>
            </a:r>
            <a:r>
              <a:rPr sz="1200" b="1" i="1" spc="18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$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954906" y="5348246"/>
            <a:ext cx="806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F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ro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525906" y="5805447"/>
            <a:ext cx="689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ar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03382" y="3652837"/>
            <a:ext cx="1492885" cy="1990725"/>
            <a:chOff x="4303382" y="3652837"/>
            <a:chExt cx="1492885" cy="1990725"/>
          </a:xfrm>
        </p:grpSpPr>
        <p:sp>
          <p:nvSpPr>
            <p:cNvPr id="3" name="object 3"/>
            <p:cNvSpPr/>
            <p:nvPr/>
          </p:nvSpPr>
          <p:spPr>
            <a:xfrm>
              <a:off x="4724398" y="3657600"/>
              <a:ext cx="1066800" cy="1981200"/>
            </a:xfrm>
            <a:custGeom>
              <a:avLst/>
              <a:gdLst/>
              <a:ahLst/>
              <a:cxnLst/>
              <a:rect l="l" t="t" r="r" b="b"/>
              <a:pathLst>
                <a:path w="1066800" h="1981200">
                  <a:moveTo>
                    <a:pt x="533400" y="0"/>
                  </a:moveTo>
                  <a:lnTo>
                    <a:pt x="466491" y="7718"/>
                  </a:lnTo>
                  <a:lnTo>
                    <a:pt x="402063" y="30253"/>
                  </a:lnTo>
                  <a:lnTo>
                    <a:pt x="340614" y="66678"/>
                  </a:lnTo>
                  <a:lnTo>
                    <a:pt x="282646" y="116064"/>
                  </a:lnTo>
                  <a:lnTo>
                    <a:pt x="255123" y="145327"/>
                  </a:lnTo>
                  <a:lnTo>
                    <a:pt x="228657" y="177482"/>
                  </a:lnTo>
                  <a:lnTo>
                    <a:pt x="203311" y="212413"/>
                  </a:lnTo>
                  <a:lnTo>
                    <a:pt x="179148" y="250004"/>
                  </a:lnTo>
                  <a:lnTo>
                    <a:pt x="156229" y="290140"/>
                  </a:lnTo>
                  <a:lnTo>
                    <a:pt x="134618" y="332703"/>
                  </a:lnTo>
                  <a:lnTo>
                    <a:pt x="114376" y="377578"/>
                  </a:lnTo>
                  <a:lnTo>
                    <a:pt x="95567" y="424648"/>
                  </a:lnTo>
                  <a:lnTo>
                    <a:pt x="78253" y="473799"/>
                  </a:lnTo>
                  <a:lnTo>
                    <a:pt x="62496" y="524914"/>
                  </a:lnTo>
                  <a:lnTo>
                    <a:pt x="48359" y="577876"/>
                  </a:lnTo>
                  <a:lnTo>
                    <a:pt x="35903" y="632569"/>
                  </a:lnTo>
                  <a:lnTo>
                    <a:pt x="25193" y="688879"/>
                  </a:lnTo>
                  <a:lnTo>
                    <a:pt x="16290" y="746688"/>
                  </a:lnTo>
                  <a:lnTo>
                    <a:pt x="9257" y="805881"/>
                  </a:lnTo>
                  <a:lnTo>
                    <a:pt x="4155" y="866341"/>
                  </a:lnTo>
                  <a:lnTo>
                    <a:pt x="1049" y="927952"/>
                  </a:lnTo>
                  <a:lnTo>
                    <a:pt x="0" y="990600"/>
                  </a:lnTo>
                  <a:lnTo>
                    <a:pt x="1049" y="1053247"/>
                  </a:lnTo>
                  <a:lnTo>
                    <a:pt x="4155" y="1114858"/>
                  </a:lnTo>
                  <a:lnTo>
                    <a:pt x="9257" y="1175318"/>
                  </a:lnTo>
                  <a:lnTo>
                    <a:pt x="16290" y="1234511"/>
                  </a:lnTo>
                  <a:lnTo>
                    <a:pt x="25193" y="1292320"/>
                  </a:lnTo>
                  <a:lnTo>
                    <a:pt x="35903" y="1348630"/>
                  </a:lnTo>
                  <a:lnTo>
                    <a:pt x="48359" y="1403323"/>
                  </a:lnTo>
                  <a:lnTo>
                    <a:pt x="62496" y="1456285"/>
                  </a:lnTo>
                  <a:lnTo>
                    <a:pt x="78253" y="1507400"/>
                  </a:lnTo>
                  <a:lnTo>
                    <a:pt x="95567" y="1556550"/>
                  </a:lnTo>
                  <a:lnTo>
                    <a:pt x="114376" y="1603621"/>
                  </a:lnTo>
                  <a:lnTo>
                    <a:pt x="134618" y="1648496"/>
                  </a:lnTo>
                  <a:lnTo>
                    <a:pt x="156229" y="1691059"/>
                  </a:lnTo>
                  <a:lnTo>
                    <a:pt x="179148" y="1731195"/>
                  </a:lnTo>
                  <a:lnTo>
                    <a:pt x="203311" y="1768786"/>
                  </a:lnTo>
                  <a:lnTo>
                    <a:pt x="228657" y="1803717"/>
                  </a:lnTo>
                  <a:lnTo>
                    <a:pt x="255123" y="1835872"/>
                  </a:lnTo>
                  <a:lnTo>
                    <a:pt x="282646" y="1865135"/>
                  </a:lnTo>
                  <a:lnTo>
                    <a:pt x="311164" y="1891390"/>
                  </a:lnTo>
                  <a:lnTo>
                    <a:pt x="370935" y="1934411"/>
                  </a:lnTo>
                  <a:lnTo>
                    <a:pt x="433936" y="1964008"/>
                  </a:lnTo>
                  <a:lnTo>
                    <a:pt x="499667" y="1979250"/>
                  </a:lnTo>
                  <a:lnTo>
                    <a:pt x="533400" y="1981199"/>
                  </a:lnTo>
                  <a:lnTo>
                    <a:pt x="567133" y="1979250"/>
                  </a:lnTo>
                  <a:lnTo>
                    <a:pt x="632864" y="1964008"/>
                  </a:lnTo>
                  <a:lnTo>
                    <a:pt x="695865" y="1934411"/>
                  </a:lnTo>
                  <a:lnTo>
                    <a:pt x="755636" y="1891390"/>
                  </a:lnTo>
                  <a:lnTo>
                    <a:pt x="784154" y="1865135"/>
                  </a:lnTo>
                  <a:lnTo>
                    <a:pt x="811677" y="1835872"/>
                  </a:lnTo>
                  <a:lnTo>
                    <a:pt x="838143" y="1803717"/>
                  </a:lnTo>
                  <a:lnTo>
                    <a:pt x="863488" y="1768786"/>
                  </a:lnTo>
                  <a:lnTo>
                    <a:pt x="887652" y="1731195"/>
                  </a:lnTo>
                  <a:lnTo>
                    <a:pt x="910570" y="1691059"/>
                  </a:lnTo>
                  <a:lnTo>
                    <a:pt x="932182" y="1648496"/>
                  </a:lnTo>
                  <a:lnTo>
                    <a:pt x="952423" y="1603621"/>
                  </a:lnTo>
                  <a:lnTo>
                    <a:pt x="971232" y="1556550"/>
                  </a:lnTo>
                  <a:lnTo>
                    <a:pt x="988546" y="1507400"/>
                  </a:lnTo>
                  <a:lnTo>
                    <a:pt x="1004303" y="1456285"/>
                  </a:lnTo>
                  <a:lnTo>
                    <a:pt x="1018441" y="1403323"/>
                  </a:lnTo>
                  <a:lnTo>
                    <a:pt x="1030896" y="1348630"/>
                  </a:lnTo>
                  <a:lnTo>
                    <a:pt x="1041606" y="1292320"/>
                  </a:lnTo>
                  <a:lnTo>
                    <a:pt x="1050509" y="1234511"/>
                  </a:lnTo>
                  <a:lnTo>
                    <a:pt x="1057542" y="1175318"/>
                  </a:lnTo>
                  <a:lnTo>
                    <a:pt x="1062644" y="1114858"/>
                  </a:lnTo>
                  <a:lnTo>
                    <a:pt x="1065750" y="1053247"/>
                  </a:lnTo>
                  <a:lnTo>
                    <a:pt x="1066800" y="990600"/>
                  </a:lnTo>
                  <a:lnTo>
                    <a:pt x="1065750" y="927952"/>
                  </a:lnTo>
                  <a:lnTo>
                    <a:pt x="1062644" y="866341"/>
                  </a:lnTo>
                  <a:lnTo>
                    <a:pt x="1057542" y="805881"/>
                  </a:lnTo>
                  <a:lnTo>
                    <a:pt x="1050509" y="746688"/>
                  </a:lnTo>
                  <a:lnTo>
                    <a:pt x="1041606" y="688879"/>
                  </a:lnTo>
                  <a:lnTo>
                    <a:pt x="1030896" y="632569"/>
                  </a:lnTo>
                  <a:lnTo>
                    <a:pt x="1018441" y="577876"/>
                  </a:lnTo>
                  <a:lnTo>
                    <a:pt x="1004303" y="524914"/>
                  </a:lnTo>
                  <a:lnTo>
                    <a:pt x="988546" y="473799"/>
                  </a:lnTo>
                  <a:lnTo>
                    <a:pt x="971232" y="424648"/>
                  </a:lnTo>
                  <a:lnTo>
                    <a:pt x="952423" y="377578"/>
                  </a:lnTo>
                  <a:lnTo>
                    <a:pt x="932182" y="332703"/>
                  </a:lnTo>
                  <a:lnTo>
                    <a:pt x="910570" y="290140"/>
                  </a:lnTo>
                  <a:lnTo>
                    <a:pt x="887652" y="250004"/>
                  </a:lnTo>
                  <a:lnTo>
                    <a:pt x="863488" y="212413"/>
                  </a:lnTo>
                  <a:lnTo>
                    <a:pt x="838143" y="177482"/>
                  </a:lnTo>
                  <a:lnTo>
                    <a:pt x="811677" y="145327"/>
                  </a:lnTo>
                  <a:lnTo>
                    <a:pt x="784154" y="116064"/>
                  </a:lnTo>
                  <a:lnTo>
                    <a:pt x="755636" y="89809"/>
                  </a:lnTo>
                  <a:lnTo>
                    <a:pt x="695865" y="46788"/>
                  </a:lnTo>
                  <a:lnTo>
                    <a:pt x="632864" y="17191"/>
                  </a:lnTo>
                  <a:lnTo>
                    <a:pt x="567133" y="1948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24398" y="3657600"/>
              <a:ext cx="1066800" cy="1981200"/>
            </a:xfrm>
            <a:custGeom>
              <a:avLst/>
              <a:gdLst/>
              <a:ahLst/>
              <a:cxnLst/>
              <a:rect l="l" t="t" r="r" b="b"/>
              <a:pathLst>
                <a:path w="1066800" h="1981200">
                  <a:moveTo>
                    <a:pt x="0" y="990599"/>
                  </a:moveTo>
                  <a:lnTo>
                    <a:pt x="1049" y="927952"/>
                  </a:lnTo>
                  <a:lnTo>
                    <a:pt x="4155" y="866340"/>
                  </a:lnTo>
                  <a:lnTo>
                    <a:pt x="9257" y="805880"/>
                  </a:lnTo>
                  <a:lnTo>
                    <a:pt x="16290" y="746688"/>
                  </a:lnTo>
                  <a:lnTo>
                    <a:pt x="25193" y="688879"/>
                  </a:lnTo>
                  <a:lnTo>
                    <a:pt x="35903" y="632569"/>
                  </a:lnTo>
                  <a:lnTo>
                    <a:pt x="48358" y="577875"/>
                  </a:lnTo>
                  <a:lnTo>
                    <a:pt x="62496" y="524913"/>
                  </a:lnTo>
                  <a:lnTo>
                    <a:pt x="78253" y="473799"/>
                  </a:lnTo>
                  <a:lnTo>
                    <a:pt x="95567" y="424648"/>
                  </a:lnTo>
                  <a:lnTo>
                    <a:pt x="114376" y="377577"/>
                  </a:lnTo>
                  <a:lnTo>
                    <a:pt x="134618" y="332703"/>
                  </a:lnTo>
                  <a:lnTo>
                    <a:pt x="156229" y="290139"/>
                  </a:lnTo>
                  <a:lnTo>
                    <a:pt x="179147" y="250004"/>
                  </a:lnTo>
                  <a:lnTo>
                    <a:pt x="203311" y="212413"/>
                  </a:lnTo>
                  <a:lnTo>
                    <a:pt x="228657" y="177482"/>
                  </a:lnTo>
                  <a:lnTo>
                    <a:pt x="255122" y="145327"/>
                  </a:lnTo>
                  <a:lnTo>
                    <a:pt x="282646" y="116064"/>
                  </a:lnTo>
                  <a:lnTo>
                    <a:pt x="311164" y="89809"/>
                  </a:lnTo>
                  <a:lnTo>
                    <a:pt x="370935" y="46788"/>
                  </a:lnTo>
                  <a:lnTo>
                    <a:pt x="433935" y="17191"/>
                  </a:lnTo>
                  <a:lnTo>
                    <a:pt x="499666" y="1948"/>
                  </a:lnTo>
                  <a:lnTo>
                    <a:pt x="533400" y="0"/>
                  </a:lnTo>
                  <a:lnTo>
                    <a:pt x="567133" y="1948"/>
                  </a:lnTo>
                  <a:lnTo>
                    <a:pt x="632863" y="17191"/>
                  </a:lnTo>
                  <a:lnTo>
                    <a:pt x="695864" y="46788"/>
                  </a:lnTo>
                  <a:lnTo>
                    <a:pt x="755635" y="89809"/>
                  </a:lnTo>
                  <a:lnTo>
                    <a:pt x="784153" y="116064"/>
                  </a:lnTo>
                  <a:lnTo>
                    <a:pt x="811677" y="145327"/>
                  </a:lnTo>
                  <a:lnTo>
                    <a:pt x="838142" y="177482"/>
                  </a:lnTo>
                  <a:lnTo>
                    <a:pt x="863488" y="212413"/>
                  </a:lnTo>
                  <a:lnTo>
                    <a:pt x="887652" y="250004"/>
                  </a:lnTo>
                  <a:lnTo>
                    <a:pt x="910570" y="290139"/>
                  </a:lnTo>
                  <a:lnTo>
                    <a:pt x="932181" y="332703"/>
                  </a:lnTo>
                  <a:lnTo>
                    <a:pt x="952423" y="377577"/>
                  </a:lnTo>
                  <a:lnTo>
                    <a:pt x="971232" y="424648"/>
                  </a:lnTo>
                  <a:lnTo>
                    <a:pt x="988546" y="473799"/>
                  </a:lnTo>
                  <a:lnTo>
                    <a:pt x="1004303" y="524913"/>
                  </a:lnTo>
                  <a:lnTo>
                    <a:pt x="1018440" y="577875"/>
                  </a:lnTo>
                  <a:lnTo>
                    <a:pt x="1030895" y="632569"/>
                  </a:lnTo>
                  <a:lnTo>
                    <a:pt x="1041606" y="688879"/>
                  </a:lnTo>
                  <a:lnTo>
                    <a:pt x="1050509" y="746688"/>
                  </a:lnTo>
                  <a:lnTo>
                    <a:pt x="1057542" y="805880"/>
                  </a:lnTo>
                  <a:lnTo>
                    <a:pt x="1062643" y="866340"/>
                  </a:lnTo>
                  <a:lnTo>
                    <a:pt x="1065750" y="927952"/>
                  </a:lnTo>
                  <a:lnTo>
                    <a:pt x="1066799" y="990599"/>
                  </a:lnTo>
                  <a:lnTo>
                    <a:pt x="1065750" y="1053246"/>
                  </a:lnTo>
                  <a:lnTo>
                    <a:pt x="1062643" y="1114858"/>
                  </a:lnTo>
                  <a:lnTo>
                    <a:pt x="1057542" y="1175318"/>
                  </a:lnTo>
                  <a:lnTo>
                    <a:pt x="1050509" y="1234511"/>
                  </a:lnTo>
                  <a:lnTo>
                    <a:pt x="1041606" y="1292320"/>
                  </a:lnTo>
                  <a:lnTo>
                    <a:pt x="1030895" y="1348629"/>
                  </a:lnTo>
                  <a:lnTo>
                    <a:pt x="1018440" y="1403323"/>
                  </a:lnTo>
                  <a:lnTo>
                    <a:pt x="1004303" y="1456285"/>
                  </a:lnTo>
                  <a:lnTo>
                    <a:pt x="988546" y="1507399"/>
                  </a:lnTo>
                  <a:lnTo>
                    <a:pt x="971232" y="1556550"/>
                  </a:lnTo>
                  <a:lnTo>
                    <a:pt x="952423" y="1603621"/>
                  </a:lnTo>
                  <a:lnTo>
                    <a:pt x="932181" y="1648496"/>
                  </a:lnTo>
                  <a:lnTo>
                    <a:pt x="910570" y="1691059"/>
                  </a:lnTo>
                  <a:lnTo>
                    <a:pt x="887652" y="1731194"/>
                  </a:lnTo>
                  <a:lnTo>
                    <a:pt x="863488" y="1768785"/>
                  </a:lnTo>
                  <a:lnTo>
                    <a:pt x="838142" y="1803717"/>
                  </a:lnTo>
                  <a:lnTo>
                    <a:pt x="811677" y="1835872"/>
                  </a:lnTo>
                  <a:lnTo>
                    <a:pt x="784153" y="1865135"/>
                  </a:lnTo>
                  <a:lnTo>
                    <a:pt x="755635" y="1891390"/>
                  </a:lnTo>
                  <a:lnTo>
                    <a:pt x="695864" y="1934411"/>
                  </a:lnTo>
                  <a:lnTo>
                    <a:pt x="632863" y="1964007"/>
                  </a:lnTo>
                  <a:lnTo>
                    <a:pt x="567133" y="1979250"/>
                  </a:lnTo>
                  <a:lnTo>
                    <a:pt x="533400" y="1981199"/>
                  </a:lnTo>
                  <a:lnTo>
                    <a:pt x="499666" y="1979250"/>
                  </a:lnTo>
                  <a:lnTo>
                    <a:pt x="433935" y="1964007"/>
                  </a:lnTo>
                  <a:lnTo>
                    <a:pt x="370935" y="1934411"/>
                  </a:lnTo>
                  <a:lnTo>
                    <a:pt x="311164" y="1891390"/>
                  </a:lnTo>
                  <a:lnTo>
                    <a:pt x="282646" y="1865135"/>
                  </a:lnTo>
                  <a:lnTo>
                    <a:pt x="255122" y="1835872"/>
                  </a:lnTo>
                  <a:lnTo>
                    <a:pt x="228657" y="1803717"/>
                  </a:lnTo>
                  <a:lnTo>
                    <a:pt x="203311" y="1768785"/>
                  </a:lnTo>
                  <a:lnTo>
                    <a:pt x="179147" y="1731194"/>
                  </a:lnTo>
                  <a:lnTo>
                    <a:pt x="156229" y="1691059"/>
                  </a:lnTo>
                  <a:lnTo>
                    <a:pt x="134618" y="1648496"/>
                  </a:lnTo>
                  <a:lnTo>
                    <a:pt x="114376" y="1603621"/>
                  </a:lnTo>
                  <a:lnTo>
                    <a:pt x="95567" y="1556550"/>
                  </a:lnTo>
                  <a:lnTo>
                    <a:pt x="78253" y="1507399"/>
                  </a:lnTo>
                  <a:lnTo>
                    <a:pt x="62496" y="1456285"/>
                  </a:lnTo>
                  <a:lnTo>
                    <a:pt x="48358" y="1403323"/>
                  </a:lnTo>
                  <a:lnTo>
                    <a:pt x="35903" y="1348629"/>
                  </a:lnTo>
                  <a:lnTo>
                    <a:pt x="25193" y="1292320"/>
                  </a:lnTo>
                  <a:lnTo>
                    <a:pt x="16290" y="1234511"/>
                  </a:lnTo>
                  <a:lnTo>
                    <a:pt x="9257" y="1175318"/>
                  </a:lnTo>
                  <a:lnTo>
                    <a:pt x="4155" y="1114858"/>
                  </a:lnTo>
                  <a:lnTo>
                    <a:pt x="1049" y="1053246"/>
                  </a:lnTo>
                  <a:lnTo>
                    <a:pt x="0" y="990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81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081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605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605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703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03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180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179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81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081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605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605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85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685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7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209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209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307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30798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84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783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685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85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209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209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651642" y="552450"/>
            <a:ext cx="50838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Queue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Operations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64539" y="1996439"/>
            <a:ext cx="5972175" cy="1252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marR="5080" indent="-342900">
              <a:lnSpc>
                <a:spcPct val="93700"/>
              </a:lnSpc>
              <a:spcBef>
                <a:spcPts val="310"/>
              </a:spcBef>
              <a:buFont typeface="MS UI Gothic"/>
              <a:buChar char="❒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item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taken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from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queue, it </a:t>
            </a:r>
            <a:r>
              <a:rPr sz="2800" spc="-5" dirty="0">
                <a:latin typeface="Calibri"/>
                <a:cs typeface="Calibri"/>
              </a:rPr>
              <a:t>always comes from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front.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8000"/>
                </a:solidFill>
                <a:uFill>
                  <a:solidFill>
                    <a:srgbClr val="FF9300"/>
                  </a:solidFill>
                </a:uFill>
                <a:latin typeface="Calibri"/>
                <a:cs typeface="Calibri"/>
              </a:rPr>
              <a:t>dequeue</a:t>
            </a:r>
            <a:r>
              <a:rPr sz="2800" b="1" spc="-15" dirty="0">
                <a:solidFill>
                  <a:srgbClr val="FF8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operation.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982582" y="3957637"/>
            <a:ext cx="410845" cy="1300480"/>
            <a:chOff x="2982582" y="3957637"/>
            <a:chExt cx="410845" cy="1300480"/>
          </a:xfrm>
        </p:grpSpPr>
        <p:sp>
          <p:nvSpPr>
            <p:cNvPr id="32" name="object 32"/>
            <p:cNvSpPr/>
            <p:nvPr/>
          </p:nvSpPr>
          <p:spPr>
            <a:xfrm>
              <a:off x="29873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873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397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39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495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495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971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8" y="371577"/>
                  </a:lnTo>
                  <a:lnTo>
                    <a:pt x="361636" y="329132"/>
                  </a:lnTo>
                  <a:lnTo>
                    <a:pt x="375967" y="281015"/>
                  </a:lnTo>
                  <a:lnTo>
                    <a:pt x="380998" y="228600"/>
                  </a:lnTo>
                  <a:lnTo>
                    <a:pt x="375967" y="176184"/>
                  </a:lnTo>
                  <a:lnTo>
                    <a:pt x="361636" y="128067"/>
                  </a:lnTo>
                  <a:lnTo>
                    <a:pt x="339148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971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6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6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873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873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397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39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642982" y="3957637"/>
            <a:ext cx="410845" cy="1300480"/>
            <a:chOff x="3642982" y="3957637"/>
            <a:chExt cx="410845" cy="1300480"/>
          </a:xfrm>
        </p:grpSpPr>
        <p:sp>
          <p:nvSpPr>
            <p:cNvPr id="45" name="object 45"/>
            <p:cNvSpPr/>
            <p:nvPr/>
          </p:nvSpPr>
          <p:spPr>
            <a:xfrm>
              <a:off x="3647744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47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001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001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099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09999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57599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575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500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8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8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500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47744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7" y="0"/>
                  </a:moveTo>
                  <a:lnTo>
                    <a:pt x="0" y="335106"/>
                  </a:lnTo>
                  <a:lnTo>
                    <a:pt x="67021" y="371363"/>
                  </a:lnTo>
                  <a:lnTo>
                    <a:pt x="248307" y="36257"/>
                  </a:lnTo>
                  <a:lnTo>
                    <a:pt x="181287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47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001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8001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8176883" y="3652837"/>
            <a:ext cx="410845" cy="1300480"/>
            <a:chOff x="8176883" y="3652837"/>
            <a:chExt cx="410845" cy="1300480"/>
          </a:xfrm>
        </p:grpSpPr>
        <p:sp>
          <p:nvSpPr>
            <p:cNvPr id="58" name="object 58"/>
            <p:cNvSpPr/>
            <p:nvPr/>
          </p:nvSpPr>
          <p:spPr>
            <a:xfrm>
              <a:off x="8181646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81645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0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334045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7" y="335106"/>
                  </a:lnTo>
                  <a:lnTo>
                    <a:pt x="67021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334044" y="4195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43898" y="4038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343899" y="40386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91498" y="36576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80" y="451162"/>
                  </a:lnTo>
                  <a:lnTo>
                    <a:pt x="274277" y="433964"/>
                  </a:lnTo>
                  <a:lnTo>
                    <a:pt x="309648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8" y="50220"/>
                  </a:lnTo>
                  <a:lnTo>
                    <a:pt x="274277" y="23235"/>
                  </a:lnTo>
                  <a:lnTo>
                    <a:pt x="234180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191498" y="36575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19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6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6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19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81646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181645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181286" y="0"/>
                  </a:moveTo>
                  <a:lnTo>
                    <a:pt x="248308" y="36257"/>
                  </a:lnTo>
                  <a:lnTo>
                    <a:pt x="67020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334045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7" y="335106"/>
                  </a:lnTo>
                  <a:lnTo>
                    <a:pt x="67021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334044" y="45768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20" h="371475">
                  <a:moveTo>
                    <a:pt x="67021" y="0"/>
                  </a:moveTo>
                  <a:lnTo>
                    <a:pt x="0" y="36257"/>
                  </a:lnTo>
                  <a:lnTo>
                    <a:pt x="181287" y="371363"/>
                  </a:lnTo>
                  <a:lnTo>
                    <a:pt x="248308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231059" y="3681559"/>
            <a:ext cx="248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libri"/>
                <a:cs typeface="Calibri"/>
              </a:rPr>
              <a:t>$</a:t>
            </a:r>
            <a:r>
              <a:rPr sz="1200" b="1" i="1" spc="18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$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347582" y="3957637"/>
            <a:ext cx="410845" cy="1300480"/>
            <a:chOff x="2347582" y="3957637"/>
            <a:chExt cx="410845" cy="1300480"/>
          </a:xfrm>
        </p:grpSpPr>
        <p:sp>
          <p:nvSpPr>
            <p:cNvPr id="72" name="object 72"/>
            <p:cNvSpPr/>
            <p:nvPr/>
          </p:nvSpPr>
          <p:spPr>
            <a:xfrm>
              <a:off x="23523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3523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04746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04745" y="4500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14600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762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" y="609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14600" y="4343400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0"/>
                  </a:moveTo>
                  <a:lnTo>
                    <a:pt x="76199" y="0"/>
                  </a:lnTo>
                  <a:lnTo>
                    <a:pt x="76199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62200" y="39624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46819" y="6037"/>
                  </a:lnTo>
                  <a:lnTo>
                    <a:pt x="106722" y="23235"/>
                  </a:lnTo>
                  <a:lnTo>
                    <a:pt x="71351" y="50220"/>
                  </a:lnTo>
                  <a:lnTo>
                    <a:pt x="41850" y="85622"/>
                  </a:lnTo>
                  <a:lnTo>
                    <a:pt x="19362" y="128067"/>
                  </a:lnTo>
                  <a:lnTo>
                    <a:pt x="5031" y="176184"/>
                  </a:lnTo>
                  <a:lnTo>
                    <a:pt x="0" y="228600"/>
                  </a:lnTo>
                  <a:lnTo>
                    <a:pt x="5031" y="281015"/>
                  </a:lnTo>
                  <a:lnTo>
                    <a:pt x="19362" y="329132"/>
                  </a:lnTo>
                  <a:lnTo>
                    <a:pt x="41850" y="371577"/>
                  </a:lnTo>
                  <a:lnTo>
                    <a:pt x="71351" y="406979"/>
                  </a:lnTo>
                  <a:lnTo>
                    <a:pt x="106722" y="433964"/>
                  </a:lnTo>
                  <a:lnTo>
                    <a:pt x="146819" y="451162"/>
                  </a:lnTo>
                  <a:lnTo>
                    <a:pt x="190500" y="457200"/>
                  </a:lnTo>
                  <a:lnTo>
                    <a:pt x="234179" y="451162"/>
                  </a:lnTo>
                  <a:lnTo>
                    <a:pt x="274276" y="433964"/>
                  </a:lnTo>
                  <a:lnTo>
                    <a:pt x="309647" y="406979"/>
                  </a:lnTo>
                  <a:lnTo>
                    <a:pt x="339149" y="371577"/>
                  </a:lnTo>
                  <a:lnTo>
                    <a:pt x="361637" y="329132"/>
                  </a:lnTo>
                  <a:lnTo>
                    <a:pt x="375968" y="281015"/>
                  </a:lnTo>
                  <a:lnTo>
                    <a:pt x="381000" y="228600"/>
                  </a:lnTo>
                  <a:lnTo>
                    <a:pt x="375968" y="176184"/>
                  </a:lnTo>
                  <a:lnTo>
                    <a:pt x="361637" y="128067"/>
                  </a:lnTo>
                  <a:lnTo>
                    <a:pt x="339149" y="85622"/>
                  </a:lnTo>
                  <a:lnTo>
                    <a:pt x="309647" y="50220"/>
                  </a:lnTo>
                  <a:lnTo>
                    <a:pt x="274276" y="23235"/>
                  </a:lnTo>
                  <a:lnTo>
                    <a:pt x="234179" y="603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362199" y="396239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228599"/>
                  </a:moveTo>
                  <a:lnTo>
                    <a:pt x="5031" y="176184"/>
                  </a:lnTo>
                  <a:lnTo>
                    <a:pt x="19362" y="128067"/>
                  </a:lnTo>
                  <a:lnTo>
                    <a:pt x="41850" y="85622"/>
                  </a:lnTo>
                  <a:lnTo>
                    <a:pt x="71351" y="50220"/>
                  </a:lnTo>
                  <a:lnTo>
                    <a:pt x="106722" y="23235"/>
                  </a:lnTo>
                  <a:lnTo>
                    <a:pt x="146820" y="6037"/>
                  </a:lnTo>
                  <a:lnTo>
                    <a:pt x="190499" y="0"/>
                  </a:lnTo>
                  <a:lnTo>
                    <a:pt x="234179" y="6037"/>
                  </a:lnTo>
                  <a:lnTo>
                    <a:pt x="274277" y="23235"/>
                  </a:lnTo>
                  <a:lnTo>
                    <a:pt x="309647" y="50220"/>
                  </a:lnTo>
                  <a:lnTo>
                    <a:pt x="339149" y="85622"/>
                  </a:lnTo>
                  <a:lnTo>
                    <a:pt x="361637" y="128067"/>
                  </a:lnTo>
                  <a:lnTo>
                    <a:pt x="375968" y="176184"/>
                  </a:lnTo>
                  <a:lnTo>
                    <a:pt x="380999" y="228599"/>
                  </a:lnTo>
                  <a:lnTo>
                    <a:pt x="375968" y="281015"/>
                  </a:lnTo>
                  <a:lnTo>
                    <a:pt x="361637" y="329132"/>
                  </a:lnTo>
                  <a:lnTo>
                    <a:pt x="339149" y="371577"/>
                  </a:lnTo>
                  <a:lnTo>
                    <a:pt x="309647" y="406979"/>
                  </a:lnTo>
                  <a:lnTo>
                    <a:pt x="274277" y="433964"/>
                  </a:lnTo>
                  <a:lnTo>
                    <a:pt x="234179" y="451162"/>
                  </a:lnTo>
                  <a:lnTo>
                    <a:pt x="190499" y="457199"/>
                  </a:lnTo>
                  <a:lnTo>
                    <a:pt x="146820" y="451162"/>
                  </a:lnTo>
                  <a:lnTo>
                    <a:pt x="106722" y="433964"/>
                  </a:lnTo>
                  <a:lnTo>
                    <a:pt x="71351" y="406979"/>
                  </a:lnTo>
                  <a:lnTo>
                    <a:pt x="41850" y="371577"/>
                  </a:lnTo>
                  <a:lnTo>
                    <a:pt x="19362" y="329132"/>
                  </a:lnTo>
                  <a:lnTo>
                    <a:pt x="5031" y="281015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3523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0" y="335106"/>
                  </a:lnTo>
                  <a:lnTo>
                    <a:pt x="67020" y="371363"/>
                  </a:lnTo>
                  <a:lnTo>
                    <a:pt x="248307" y="36257"/>
                  </a:lnTo>
                  <a:lnTo>
                    <a:pt x="181286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3523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181286" y="0"/>
                  </a:moveTo>
                  <a:lnTo>
                    <a:pt x="248307" y="36257"/>
                  </a:lnTo>
                  <a:lnTo>
                    <a:pt x="67021" y="371363"/>
                  </a:lnTo>
                  <a:lnTo>
                    <a:pt x="0" y="335105"/>
                  </a:lnTo>
                  <a:lnTo>
                    <a:pt x="18128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504746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0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6"/>
                  </a:lnTo>
                  <a:lnTo>
                    <a:pt x="67020" y="0"/>
                  </a:lnTo>
                  <a:close/>
                </a:path>
              </a:pathLst>
            </a:custGeom>
            <a:solidFill>
              <a:srgbClr val="00C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504745" y="4881618"/>
              <a:ext cx="248920" cy="371475"/>
            </a:xfrm>
            <a:custGeom>
              <a:avLst/>
              <a:gdLst/>
              <a:ahLst/>
              <a:cxnLst/>
              <a:rect l="l" t="t" r="r" b="b"/>
              <a:pathLst>
                <a:path w="248919" h="371475">
                  <a:moveTo>
                    <a:pt x="67021" y="0"/>
                  </a:moveTo>
                  <a:lnTo>
                    <a:pt x="0" y="36257"/>
                  </a:lnTo>
                  <a:lnTo>
                    <a:pt x="181286" y="371363"/>
                  </a:lnTo>
                  <a:lnTo>
                    <a:pt x="248307" y="335105"/>
                  </a:lnTo>
                  <a:lnTo>
                    <a:pt x="67021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716906" y="4891046"/>
            <a:ext cx="806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F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ro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87906" y="5348246"/>
            <a:ext cx="689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ar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5524500" y="3918609"/>
            <a:ext cx="1562100" cy="539115"/>
            <a:chOff x="5524500" y="3918609"/>
            <a:chExt cx="1562100" cy="539115"/>
          </a:xfrm>
        </p:grpSpPr>
        <p:sp>
          <p:nvSpPr>
            <p:cNvPr id="87" name="object 87"/>
            <p:cNvSpPr/>
            <p:nvPr/>
          </p:nvSpPr>
          <p:spPr>
            <a:xfrm>
              <a:off x="5562599" y="3984296"/>
              <a:ext cx="1451610" cy="435609"/>
            </a:xfrm>
            <a:custGeom>
              <a:avLst/>
              <a:gdLst/>
              <a:ahLst/>
              <a:cxnLst/>
              <a:rect l="l" t="t" r="r" b="b"/>
              <a:pathLst>
                <a:path w="1451609" h="435610">
                  <a:moveTo>
                    <a:pt x="0" y="435303"/>
                  </a:moveTo>
                  <a:lnTo>
                    <a:pt x="145101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834797" y="3918609"/>
              <a:ext cx="252095" cy="219075"/>
            </a:xfrm>
            <a:custGeom>
              <a:avLst/>
              <a:gdLst/>
              <a:ahLst/>
              <a:cxnLst/>
              <a:rect l="l" t="t" r="r" b="b"/>
              <a:pathLst>
                <a:path w="252095" h="219075">
                  <a:moveTo>
                    <a:pt x="0" y="0"/>
                  </a:moveTo>
                  <a:lnTo>
                    <a:pt x="65686" y="218958"/>
                  </a:lnTo>
                  <a:lnTo>
                    <a:pt x="251801" y="437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7280" y="498158"/>
            <a:ext cx="64744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8275" algn="l"/>
                <a:tab pos="5305425" algn="l"/>
              </a:tabLst>
            </a:pPr>
            <a:r>
              <a:rPr spc="-5" dirty="0"/>
              <a:t>Qu</a:t>
            </a:r>
            <a:r>
              <a:rPr dirty="0"/>
              <a:t>e</a:t>
            </a:r>
            <a:r>
              <a:rPr spc="-5" dirty="0"/>
              <a:t>u</a:t>
            </a:r>
            <a:r>
              <a:rPr dirty="0"/>
              <a:t>e A</a:t>
            </a:r>
            <a:r>
              <a:rPr spc="-5" dirty="0"/>
              <a:t>b</a:t>
            </a:r>
            <a:r>
              <a:rPr dirty="0"/>
              <a:t>st</a:t>
            </a:r>
            <a:r>
              <a:rPr spc="-75" dirty="0"/>
              <a:t>r</a:t>
            </a:r>
            <a:r>
              <a:rPr dirty="0"/>
              <a:t>a</a:t>
            </a:r>
            <a:r>
              <a:rPr spc="-5" dirty="0"/>
              <a:t>c</a:t>
            </a:r>
            <a:r>
              <a:rPr dirty="0"/>
              <a:t>t	</a:t>
            </a:r>
            <a:r>
              <a:rPr spc="-5" dirty="0"/>
              <a:t>D</a:t>
            </a:r>
            <a:r>
              <a:rPr dirty="0"/>
              <a:t>ata	</a:t>
            </a:r>
            <a:r>
              <a:rPr spc="-409" dirty="0"/>
              <a:t>T</a:t>
            </a:r>
            <a:r>
              <a:rPr spc="-5" dirty="0"/>
              <a:t>yp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41489"/>
            <a:ext cx="7586980" cy="31565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Basic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operations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Construct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queue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Check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if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empty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Enqueue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(add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element </a:t>
            </a:r>
            <a:r>
              <a:rPr sz="2800" dirty="0">
                <a:latin typeface="Tahoma"/>
                <a:cs typeface="Tahoma"/>
              </a:rPr>
              <a:t>to</a:t>
            </a:r>
            <a:r>
              <a:rPr sz="2800" spc="-5" dirty="0">
                <a:latin typeface="Tahoma"/>
                <a:cs typeface="Tahoma"/>
              </a:rPr>
              <a:t> back)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Front (retrieve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value</a:t>
            </a:r>
            <a:r>
              <a:rPr sz="2800" dirty="0">
                <a:latin typeface="Tahoma"/>
                <a:cs typeface="Tahoma"/>
              </a:rPr>
              <a:t> of </a:t>
            </a:r>
            <a:r>
              <a:rPr sz="2800" spc="-5" dirty="0">
                <a:latin typeface="Tahoma"/>
                <a:cs typeface="Tahoma"/>
              </a:rPr>
              <a:t>element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from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front)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Dequeue </a:t>
            </a:r>
            <a:r>
              <a:rPr sz="2800" spc="-10" dirty="0">
                <a:latin typeface="Tahoma"/>
                <a:cs typeface="Tahoma"/>
              </a:rPr>
              <a:t>(remove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element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from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front)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3023" y="498158"/>
            <a:ext cx="66027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A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Graphic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Model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Queue</a:t>
            </a:r>
          </a:p>
        </p:txBody>
      </p:sp>
      <p:sp>
        <p:nvSpPr>
          <p:cNvPr id="3" name="object 3"/>
          <p:cNvSpPr/>
          <p:nvPr/>
        </p:nvSpPr>
        <p:spPr>
          <a:xfrm>
            <a:off x="1219199" y="2514600"/>
            <a:ext cx="6248400" cy="0"/>
          </a:xfrm>
          <a:custGeom>
            <a:avLst/>
            <a:gdLst/>
            <a:ahLst/>
            <a:cxnLst/>
            <a:rect l="l" t="t" r="r" b="b"/>
            <a:pathLst>
              <a:path w="6248400">
                <a:moveTo>
                  <a:pt x="0" y="0"/>
                </a:moveTo>
                <a:lnTo>
                  <a:pt x="6248398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77879" y="2781547"/>
            <a:ext cx="7722234" cy="1273810"/>
            <a:chOff x="977879" y="2781547"/>
            <a:chExt cx="7722234" cy="1273810"/>
          </a:xfrm>
        </p:grpSpPr>
        <p:sp>
          <p:nvSpPr>
            <p:cNvPr id="5" name="object 5"/>
            <p:cNvSpPr/>
            <p:nvPr/>
          </p:nvSpPr>
          <p:spPr>
            <a:xfrm>
              <a:off x="1219199" y="3429000"/>
              <a:ext cx="6248400" cy="0"/>
            </a:xfrm>
            <a:custGeom>
              <a:avLst/>
              <a:gdLst/>
              <a:ahLst/>
              <a:cxnLst/>
              <a:rect l="l" t="t" r="r" b="b"/>
              <a:pathLst>
                <a:path w="6248400">
                  <a:moveTo>
                    <a:pt x="0" y="0"/>
                  </a:moveTo>
                  <a:lnTo>
                    <a:pt x="6248398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79" y="2781547"/>
              <a:ext cx="1841520" cy="12697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57998" y="2819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8" y="2819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0999" y="0"/>
                  </a:lnTo>
                  <a:lnTo>
                    <a:pt x="3809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8" y="3009900"/>
              <a:ext cx="1447800" cy="1022350"/>
            </a:xfrm>
            <a:custGeom>
              <a:avLst/>
              <a:gdLst/>
              <a:ahLst/>
              <a:cxnLst/>
              <a:rect l="l" t="t" r="r" b="b"/>
              <a:pathLst>
                <a:path w="1447800" h="1022350">
                  <a:moveTo>
                    <a:pt x="0" y="0"/>
                  </a:moveTo>
                  <a:lnTo>
                    <a:pt x="135731" y="3174"/>
                  </a:lnTo>
                  <a:lnTo>
                    <a:pt x="269874" y="11906"/>
                  </a:lnTo>
                  <a:lnTo>
                    <a:pt x="402431" y="25399"/>
                  </a:lnTo>
                  <a:lnTo>
                    <a:pt x="531812" y="44449"/>
                  </a:lnTo>
                  <a:lnTo>
                    <a:pt x="656431" y="67468"/>
                  </a:lnTo>
                  <a:lnTo>
                    <a:pt x="776287" y="95249"/>
                  </a:lnTo>
                  <a:lnTo>
                    <a:pt x="889793" y="126206"/>
                  </a:lnTo>
                  <a:lnTo>
                    <a:pt x="995362" y="161131"/>
                  </a:lnTo>
                  <a:lnTo>
                    <a:pt x="1092993" y="198437"/>
                  </a:lnTo>
                  <a:lnTo>
                    <a:pt x="1180305" y="238918"/>
                  </a:lnTo>
                  <a:lnTo>
                    <a:pt x="1258093" y="280987"/>
                  </a:lnTo>
                  <a:lnTo>
                    <a:pt x="1323180" y="325437"/>
                  </a:lnTo>
                  <a:lnTo>
                    <a:pt x="1376361" y="371474"/>
                  </a:lnTo>
                  <a:lnTo>
                    <a:pt x="1415255" y="418306"/>
                  </a:lnTo>
                  <a:lnTo>
                    <a:pt x="1439861" y="465931"/>
                  </a:lnTo>
                  <a:lnTo>
                    <a:pt x="1447799" y="514349"/>
                  </a:lnTo>
                  <a:lnTo>
                    <a:pt x="1443037" y="610393"/>
                  </a:lnTo>
                  <a:lnTo>
                    <a:pt x="1427955" y="703262"/>
                  </a:lnTo>
                  <a:lnTo>
                    <a:pt x="1405730" y="789781"/>
                  </a:lnTo>
                  <a:lnTo>
                    <a:pt x="1376361" y="868362"/>
                  </a:lnTo>
                  <a:lnTo>
                    <a:pt x="1341437" y="933449"/>
                  </a:lnTo>
                  <a:lnTo>
                    <a:pt x="1303337" y="984249"/>
                  </a:lnTo>
                  <a:lnTo>
                    <a:pt x="1262061" y="1016793"/>
                  </a:lnTo>
                  <a:lnTo>
                    <a:pt x="1243673" y="102190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8198" y="3981495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63223" y="0"/>
                  </a:moveTo>
                  <a:lnTo>
                    <a:pt x="0" y="57104"/>
                  </a:lnTo>
                  <a:lnTo>
                    <a:pt x="83618" y="73419"/>
                  </a:lnTo>
                  <a:lnTo>
                    <a:pt x="632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167435" y="2814637"/>
            <a:ext cx="390525" cy="390525"/>
            <a:chOff x="6167435" y="2814637"/>
            <a:chExt cx="390525" cy="390525"/>
          </a:xfrm>
        </p:grpSpPr>
        <p:sp>
          <p:nvSpPr>
            <p:cNvPr id="12" name="object 12"/>
            <p:cNvSpPr/>
            <p:nvPr/>
          </p:nvSpPr>
          <p:spPr>
            <a:xfrm>
              <a:off x="6172198" y="2819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2198" y="2819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0999" y="0"/>
                  </a:lnTo>
                  <a:lnTo>
                    <a:pt x="3809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481636" y="2814637"/>
            <a:ext cx="390525" cy="390525"/>
            <a:chOff x="5481636" y="2814637"/>
            <a:chExt cx="390525" cy="390525"/>
          </a:xfrm>
        </p:grpSpPr>
        <p:sp>
          <p:nvSpPr>
            <p:cNvPr id="15" name="object 15"/>
            <p:cNvSpPr/>
            <p:nvPr/>
          </p:nvSpPr>
          <p:spPr>
            <a:xfrm>
              <a:off x="5486398" y="2819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6398" y="2819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0999" y="0"/>
                  </a:lnTo>
                  <a:lnTo>
                    <a:pt x="3809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114798" y="2971800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1142999" y="0"/>
                </a:moveTo>
                <a:lnTo>
                  <a:pt x="0" y="1"/>
                </a:lnTo>
              </a:path>
            </a:pathLst>
          </a:custGeom>
          <a:ln w="34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3348037" y="2814637"/>
            <a:ext cx="390525" cy="390525"/>
            <a:chOff x="3348037" y="2814637"/>
            <a:chExt cx="390525" cy="390525"/>
          </a:xfrm>
        </p:grpSpPr>
        <p:sp>
          <p:nvSpPr>
            <p:cNvPr id="19" name="object 19"/>
            <p:cNvSpPr/>
            <p:nvPr/>
          </p:nvSpPr>
          <p:spPr>
            <a:xfrm>
              <a:off x="3352800" y="2819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52799" y="2819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0999" y="0"/>
                  </a:lnTo>
                  <a:lnTo>
                    <a:pt x="3809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45539" y="4239259"/>
            <a:ext cx="1278255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Tail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Calibri"/>
                <a:cs typeface="Calibri"/>
              </a:rPr>
              <a:t>All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items</a:t>
            </a:r>
            <a:endParaRPr sz="1800">
              <a:latin typeface="Calibri"/>
              <a:cs typeface="Calibri"/>
            </a:endParaRPr>
          </a:p>
          <a:p>
            <a:pPr marL="12700" marR="26670">
              <a:lnSpc>
                <a:spcPts val="2100"/>
              </a:lnSpc>
              <a:spcBef>
                <a:spcPts val="160"/>
              </a:spcBef>
            </a:pPr>
            <a:r>
              <a:rPr sz="1800" spc="-5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50938" y="4086859"/>
            <a:ext cx="1297305" cy="1112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715010">
              <a:lnSpc>
                <a:spcPct val="98800"/>
              </a:lnSpc>
              <a:spcBef>
                <a:spcPts val="125"/>
              </a:spcBef>
            </a:pPr>
            <a:r>
              <a:rPr sz="1800" b="1" dirty="0">
                <a:latin typeface="Calibri"/>
                <a:cs typeface="Calibri"/>
              </a:rPr>
              <a:t>Hea</a:t>
            </a:r>
            <a:r>
              <a:rPr sz="1800" b="1" spc="-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:  All </a:t>
            </a:r>
            <a:r>
              <a:rPr sz="1800" spc="-5" dirty="0">
                <a:latin typeface="Calibri"/>
                <a:cs typeface="Calibri"/>
              </a:rPr>
              <a:t>items are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deleted from </a:t>
            </a:r>
            <a:r>
              <a:rPr sz="1800" dirty="0">
                <a:latin typeface="Calibri"/>
                <a:cs typeface="Calibri"/>
              </a:rPr>
              <a:t> 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9108" y="498158"/>
            <a:ext cx="52311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Operations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on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Queues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82420"/>
            <a:ext cx="8021955" cy="371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38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libri"/>
                <a:cs typeface="Calibri"/>
              </a:rPr>
              <a:t>Insert(</a:t>
            </a:r>
            <a:r>
              <a:rPr sz="2000" spc="-5" dirty="0">
                <a:latin typeface="Calibri"/>
                <a:cs typeface="Calibri"/>
              </a:rPr>
              <a:t>item</a:t>
            </a:r>
            <a:r>
              <a:rPr sz="2000" b="1" spc="-5" dirty="0">
                <a:latin typeface="Calibri"/>
                <a:cs typeface="Calibri"/>
              </a:rPr>
              <a:t>)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(also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enqueue)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ts val="2120"/>
              </a:lnSpc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" dirty="0">
                <a:latin typeface="Calibri"/>
                <a:cs typeface="Calibri"/>
              </a:rPr>
              <a:t> item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tail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queue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37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libri"/>
                <a:cs typeface="Calibri"/>
              </a:rPr>
              <a:t>Remove(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)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(also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delete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 </a:t>
            </a:r>
            <a:r>
              <a:rPr sz="2000" dirty="0">
                <a:latin typeface="Calibri"/>
                <a:cs typeface="Calibri"/>
              </a:rPr>
              <a:t>dequeue)</a:t>
            </a:r>
            <a:endParaRPr sz="2000">
              <a:latin typeface="Calibri"/>
              <a:cs typeface="Calibri"/>
            </a:endParaRPr>
          </a:p>
          <a:p>
            <a:pPr marL="749300" marR="5080" lvl="1" indent="-279400">
              <a:lnSpc>
                <a:spcPts val="1770"/>
              </a:lnSpc>
              <a:spcBef>
                <a:spcPts val="380"/>
              </a:spcBef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deletes</a:t>
            </a:r>
            <a:r>
              <a:rPr sz="1800" dirty="0">
                <a:latin typeface="Calibri"/>
                <a:cs typeface="Calibri"/>
              </a:rPr>
              <a:t> the head </a:t>
            </a:r>
            <a:r>
              <a:rPr sz="1800" spc="-5" dirty="0">
                <a:latin typeface="Calibri"/>
                <a:cs typeface="Calibri"/>
              </a:rPr>
              <a:t>item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 queue, and </a:t>
            </a:r>
            <a:r>
              <a:rPr sz="1800" spc="-5" dirty="0">
                <a:latin typeface="Calibri"/>
                <a:cs typeface="Calibri"/>
              </a:rPr>
              <a:t>returns</a:t>
            </a:r>
            <a:r>
              <a:rPr sz="1800" dirty="0">
                <a:latin typeface="Calibri"/>
                <a:cs typeface="Calibri"/>
              </a:rPr>
              <a:t> to the </a:t>
            </a:r>
            <a:r>
              <a:rPr sz="1800" spc="-5" dirty="0">
                <a:latin typeface="Calibri"/>
                <a:cs typeface="Calibri"/>
              </a:rPr>
              <a:t>caller.</a:t>
            </a:r>
            <a:r>
              <a:rPr sz="1800" dirty="0">
                <a:latin typeface="Calibri"/>
                <a:cs typeface="Calibri"/>
              </a:rPr>
              <a:t> If the queue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already empty,</a:t>
            </a:r>
            <a:r>
              <a:rPr sz="1800" dirty="0">
                <a:latin typeface="Calibri"/>
                <a:cs typeface="Calibri"/>
              </a:rPr>
              <a:t> this </a:t>
            </a:r>
            <a:r>
              <a:rPr sz="1800" spc="-5" dirty="0">
                <a:latin typeface="Calibri"/>
                <a:cs typeface="Calibri"/>
              </a:rPr>
              <a:t>operation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returns</a:t>
            </a:r>
            <a:r>
              <a:rPr sz="1800" dirty="0">
                <a:latin typeface="Calibri"/>
                <a:cs typeface="Calibri"/>
              </a:rPr>
              <a:t> NULL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38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libri"/>
                <a:cs typeface="Calibri"/>
              </a:rPr>
              <a:t>getHead(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):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ts val="2155"/>
              </a:lnSpc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Returns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head</a:t>
            </a:r>
            <a:r>
              <a:rPr sz="1800" spc="-5" dirty="0">
                <a:latin typeface="Calibri"/>
                <a:cs typeface="Calibri"/>
              </a:rPr>
              <a:t> element of </a:t>
            </a:r>
            <a:r>
              <a:rPr sz="1800" dirty="0">
                <a:latin typeface="Calibri"/>
                <a:cs typeface="Calibri"/>
              </a:rPr>
              <a:t>the queue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395"/>
              </a:lnSpc>
              <a:spcBef>
                <a:spcPts val="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libri"/>
                <a:cs typeface="Calibri"/>
              </a:rPr>
              <a:t>getTail(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):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ts val="2130"/>
              </a:lnSpc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Returns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tail</a:t>
            </a:r>
            <a:r>
              <a:rPr sz="1800" spc="-5" dirty="0">
                <a:latin typeface="Calibri"/>
                <a:cs typeface="Calibri"/>
              </a:rPr>
              <a:t> element of </a:t>
            </a:r>
            <a:r>
              <a:rPr sz="1800" dirty="0">
                <a:latin typeface="Calibri"/>
                <a:cs typeface="Calibri"/>
              </a:rPr>
              <a:t>the queue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37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isEmpty(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ts val="2155"/>
              </a:lnSpc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Returns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504D"/>
                </a:solidFill>
                <a:latin typeface="Calibri"/>
                <a:cs typeface="Calibri"/>
              </a:rPr>
              <a:t>true</a:t>
            </a:r>
            <a:r>
              <a:rPr sz="1800" b="1" spc="-1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" dirty="0">
                <a:latin typeface="Calibri"/>
                <a:cs typeface="Calibri"/>
              </a:rPr>
              <a:t> items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395"/>
              </a:lnSpc>
              <a:spcBef>
                <a:spcPts val="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alibri"/>
                <a:cs typeface="Calibri"/>
              </a:rPr>
              <a:t>size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ts val="2155"/>
              </a:lnSpc>
              <a:buFont typeface="Arial MT"/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Returns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number 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items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queue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4825" y="498158"/>
            <a:ext cx="38798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Queue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8067040" cy="35356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Much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stacks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linked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lists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were </a:t>
            </a:r>
            <a:r>
              <a:rPr sz="3200" dirty="0">
                <a:latin typeface="Calibri"/>
                <a:cs typeface="Calibri"/>
              </a:rPr>
              <a:t> designed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implemented</a:t>
            </a:r>
            <a:r>
              <a:rPr sz="3200" spc="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classes,</a:t>
            </a:r>
            <a:r>
              <a:rPr sz="3200" spc="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queue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 be</a:t>
            </a:r>
            <a:r>
              <a:rPr sz="3200" spc="-5" dirty="0">
                <a:latin typeface="Calibri"/>
                <a:cs typeface="Calibri"/>
              </a:rPr>
              <a:t> conveniently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packaged </a:t>
            </a:r>
            <a:r>
              <a:rPr sz="3200" dirty="0">
                <a:latin typeface="Calibri"/>
                <a:cs typeface="Calibri"/>
              </a:rPr>
              <a:t>as a class</a:t>
            </a:r>
            <a:endParaRPr sz="3200">
              <a:latin typeface="Calibri"/>
              <a:cs typeface="Calibri"/>
            </a:endParaRPr>
          </a:p>
          <a:p>
            <a:pPr marL="355600" marR="179070" indent="-342900">
              <a:lnSpc>
                <a:spcPct val="100099"/>
              </a:lnSpc>
              <a:spcBef>
                <a:spcPts val="7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5" dirty="0">
                <a:latin typeface="Calibri"/>
                <a:cs typeface="Calibri"/>
              </a:rPr>
              <a:t> seems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natural</a:t>
            </a:r>
            <a:r>
              <a:rPr sz="3200" dirty="0">
                <a:latin typeface="Calibri"/>
                <a:cs typeface="Calibri"/>
              </a:rPr>
              <a:t> 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think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queue as </a:t>
            </a:r>
            <a:r>
              <a:rPr sz="3200" spc="-5" dirty="0">
                <a:latin typeface="Calibri"/>
                <a:cs typeface="Calibri"/>
              </a:rPr>
              <a:t>similar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 a linked list, but </a:t>
            </a:r>
            <a:r>
              <a:rPr sz="3200" spc="-5" dirty="0">
                <a:latin typeface="Calibri"/>
                <a:cs typeface="Calibri"/>
              </a:rPr>
              <a:t>with more </a:t>
            </a:r>
            <a:r>
              <a:rPr sz="3200" dirty="0">
                <a:latin typeface="Calibri"/>
                <a:cs typeface="Calibri"/>
              </a:rPr>
              <a:t>basic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operations, </a:t>
            </a:r>
            <a:r>
              <a:rPr sz="3200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enforce </a:t>
            </a:r>
            <a:r>
              <a:rPr sz="3200" dirty="0">
                <a:latin typeface="Calibri"/>
                <a:cs typeface="Calibri"/>
              </a:rPr>
              <a:t>the FIFO</a:t>
            </a:r>
            <a:r>
              <a:rPr sz="3200" spc="-5" dirty="0">
                <a:latin typeface="Calibri"/>
                <a:cs typeface="Calibri"/>
              </a:rPr>
              <a:t> order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insertion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deletion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979" y="284798"/>
            <a:ext cx="7644765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611120" marR="5080" indent="-2599055">
              <a:lnSpc>
                <a:spcPts val="4300"/>
              </a:lnSpc>
              <a:spcBef>
                <a:spcPts val="220"/>
              </a:spcBef>
            </a:pPr>
            <a:r>
              <a:rPr sz="3600" spc="-5" dirty="0"/>
              <a:t>Designing and Building </a:t>
            </a:r>
            <a:r>
              <a:rPr sz="3600" dirty="0"/>
              <a:t>a </a:t>
            </a:r>
            <a:r>
              <a:rPr sz="3600" spc="-5" dirty="0"/>
              <a:t>Queue Class </a:t>
            </a:r>
            <a:r>
              <a:rPr sz="3600" spc="-1110" dirty="0"/>
              <a:t> </a:t>
            </a:r>
            <a:r>
              <a:rPr sz="3600" spc="-15" dirty="0"/>
              <a:t>Array-Based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39" y="1592579"/>
            <a:ext cx="6981190" cy="9448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marR="5080" indent="-342900">
              <a:lnSpc>
                <a:spcPts val="34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Consider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array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 which </a:t>
            </a:r>
            <a:r>
              <a:rPr sz="3200" dirty="0">
                <a:latin typeface="Tahoma"/>
                <a:cs typeface="Tahoma"/>
              </a:rPr>
              <a:t>to</a:t>
            </a:r>
            <a:r>
              <a:rPr sz="3200" spc="-5" dirty="0">
                <a:latin typeface="Tahoma"/>
                <a:cs typeface="Tahoma"/>
              </a:rPr>
              <a:t> store</a:t>
            </a:r>
            <a:r>
              <a:rPr sz="3200" dirty="0">
                <a:latin typeface="Tahoma"/>
                <a:cs typeface="Tahoma"/>
              </a:rPr>
              <a:t> a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queue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4107978"/>
            <a:ext cx="6221095" cy="190436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ahoma"/>
                <a:cs typeface="Tahoma"/>
              </a:rPr>
              <a:t>Note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additional</a:t>
            </a:r>
            <a:r>
              <a:rPr sz="3200" spc="-10" dirty="0">
                <a:latin typeface="Tahoma"/>
                <a:cs typeface="Tahoma"/>
              </a:rPr>
              <a:t> variables </a:t>
            </a:r>
            <a:r>
              <a:rPr sz="3200" spc="-5" dirty="0">
                <a:latin typeface="Tahoma"/>
                <a:cs typeface="Tahoma"/>
              </a:rPr>
              <a:t>needed</a:t>
            </a:r>
            <a:endParaRPr sz="3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</a:pPr>
            <a:r>
              <a:rPr sz="2800" dirty="0">
                <a:solidFill>
                  <a:srgbClr val="6666FF"/>
                </a:solidFill>
                <a:latin typeface="Arial MT"/>
                <a:cs typeface="Arial MT"/>
              </a:rPr>
              <a:t>–</a:t>
            </a:r>
            <a:r>
              <a:rPr sz="2800" spc="-110" dirty="0">
                <a:solidFill>
                  <a:srgbClr val="6666FF"/>
                </a:solidFill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7A81FF"/>
                </a:solidFill>
                <a:latin typeface="Courier New"/>
                <a:cs typeface="Courier New"/>
              </a:rPr>
              <a:t>myFront,</a:t>
            </a:r>
            <a:r>
              <a:rPr sz="2800" b="1" spc="-55" dirty="0">
                <a:solidFill>
                  <a:srgbClr val="7A81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7A81FF"/>
                </a:solidFill>
                <a:latin typeface="Courier New"/>
                <a:cs typeface="Courier New"/>
              </a:rPr>
              <a:t>myBack</a:t>
            </a:r>
            <a:endParaRPr sz="2800">
              <a:latin typeface="Courier New"/>
              <a:cs typeface="Courier New"/>
            </a:endParaRPr>
          </a:p>
          <a:p>
            <a:pPr marL="355600" marR="3410585" indent="-342900">
              <a:lnSpc>
                <a:spcPts val="303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Picture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queue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object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this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44850" y="2701926"/>
            <a:ext cx="3509645" cy="2498725"/>
            <a:chOff x="3244850" y="2701926"/>
            <a:chExt cx="3509645" cy="24987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3526" y="2975956"/>
              <a:ext cx="3470563" cy="13383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2971799"/>
              <a:ext cx="3330573" cy="11953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25912" y="2706688"/>
              <a:ext cx="280670" cy="637540"/>
            </a:xfrm>
            <a:custGeom>
              <a:avLst/>
              <a:gdLst/>
              <a:ahLst/>
              <a:cxnLst/>
              <a:rect l="l" t="t" r="r" b="b"/>
              <a:pathLst>
                <a:path w="280670" h="637539">
                  <a:moveTo>
                    <a:pt x="0" y="0"/>
                  </a:moveTo>
                  <a:lnTo>
                    <a:pt x="280284" y="63715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50867" y="3281997"/>
              <a:ext cx="69850" cy="85090"/>
            </a:xfrm>
            <a:custGeom>
              <a:avLst/>
              <a:gdLst/>
              <a:ahLst/>
              <a:cxnLst/>
              <a:rect l="l" t="t" r="r" b="b"/>
              <a:pathLst>
                <a:path w="69850" h="85089">
                  <a:moveTo>
                    <a:pt x="69748" y="0"/>
                  </a:moveTo>
                  <a:lnTo>
                    <a:pt x="0" y="30683"/>
                  </a:lnTo>
                  <a:lnTo>
                    <a:pt x="65557" y="85091"/>
                  </a:lnTo>
                  <a:lnTo>
                    <a:pt x="69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0850" y="3503613"/>
              <a:ext cx="1284605" cy="584200"/>
            </a:xfrm>
            <a:custGeom>
              <a:avLst/>
              <a:gdLst/>
              <a:ahLst/>
              <a:cxnLst/>
              <a:rect l="l" t="t" r="r" b="b"/>
              <a:pathLst>
                <a:path w="1284604" h="584200">
                  <a:moveTo>
                    <a:pt x="0" y="292100"/>
                  </a:moveTo>
                  <a:lnTo>
                    <a:pt x="13046" y="233231"/>
                  </a:lnTo>
                  <a:lnTo>
                    <a:pt x="50462" y="178401"/>
                  </a:lnTo>
                  <a:lnTo>
                    <a:pt x="109668" y="128784"/>
                  </a:lnTo>
                  <a:lnTo>
                    <a:pt x="146634" y="106297"/>
                  </a:lnTo>
                  <a:lnTo>
                    <a:pt x="188079" y="85554"/>
                  </a:lnTo>
                  <a:lnTo>
                    <a:pt x="233680" y="66701"/>
                  </a:lnTo>
                  <a:lnTo>
                    <a:pt x="283115" y="49886"/>
                  </a:lnTo>
                  <a:lnTo>
                    <a:pt x="336059" y="35254"/>
                  </a:lnTo>
                  <a:lnTo>
                    <a:pt x="392192" y="22954"/>
                  </a:lnTo>
                  <a:lnTo>
                    <a:pt x="451189" y="13132"/>
                  </a:lnTo>
                  <a:lnTo>
                    <a:pt x="512729" y="5934"/>
                  </a:lnTo>
                  <a:lnTo>
                    <a:pt x="576488" y="1508"/>
                  </a:lnTo>
                  <a:lnTo>
                    <a:pt x="642143" y="0"/>
                  </a:lnTo>
                  <a:lnTo>
                    <a:pt x="707799" y="1508"/>
                  </a:lnTo>
                  <a:lnTo>
                    <a:pt x="771558" y="5934"/>
                  </a:lnTo>
                  <a:lnTo>
                    <a:pt x="833097" y="13132"/>
                  </a:lnTo>
                  <a:lnTo>
                    <a:pt x="892095" y="22954"/>
                  </a:lnTo>
                  <a:lnTo>
                    <a:pt x="948227" y="35254"/>
                  </a:lnTo>
                  <a:lnTo>
                    <a:pt x="1001172" y="49886"/>
                  </a:lnTo>
                  <a:lnTo>
                    <a:pt x="1050606" y="66701"/>
                  </a:lnTo>
                  <a:lnTo>
                    <a:pt x="1096208" y="85554"/>
                  </a:lnTo>
                  <a:lnTo>
                    <a:pt x="1137653" y="106297"/>
                  </a:lnTo>
                  <a:lnTo>
                    <a:pt x="1174619" y="128784"/>
                  </a:lnTo>
                  <a:lnTo>
                    <a:pt x="1206784" y="152867"/>
                  </a:lnTo>
                  <a:lnTo>
                    <a:pt x="1255418" y="205238"/>
                  </a:lnTo>
                  <a:lnTo>
                    <a:pt x="1280972" y="262234"/>
                  </a:lnTo>
                  <a:lnTo>
                    <a:pt x="1284287" y="292100"/>
                  </a:lnTo>
                  <a:lnTo>
                    <a:pt x="1280972" y="321965"/>
                  </a:lnTo>
                  <a:lnTo>
                    <a:pt x="1255418" y="378961"/>
                  </a:lnTo>
                  <a:lnTo>
                    <a:pt x="1206784" y="431332"/>
                  </a:lnTo>
                  <a:lnTo>
                    <a:pt x="1174619" y="455415"/>
                  </a:lnTo>
                  <a:lnTo>
                    <a:pt x="1137653" y="477902"/>
                  </a:lnTo>
                  <a:lnTo>
                    <a:pt x="1096208" y="498645"/>
                  </a:lnTo>
                  <a:lnTo>
                    <a:pt x="1050606" y="517498"/>
                  </a:lnTo>
                  <a:lnTo>
                    <a:pt x="1001172" y="534313"/>
                  </a:lnTo>
                  <a:lnTo>
                    <a:pt x="948227" y="548944"/>
                  </a:lnTo>
                  <a:lnTo>
                    <a:pt x="892095" y="561245"/>
                  </a:lnTo>
                  <a:lnTo>
                    <a:pt x="833097" y="571067"/>
                  </a:lnTo>
                  <a:lnTo>
                    <a:pt x="771558" y="578265"/>
                  </a:lnTo>
                  <a:lnTo>
                    <a:pt x="707799" y="582691"/>
                  </a:lnTo>
                  <a:lnTo>
                    <a:pt x="642143" y="584199"/>
                  </a:lnTo>
                  <a:lnTo>
                    <a:pt x="576488" y="582691"/>
                  </a:lnTo>
                  <a:lnTo>
                    <a:pt x="512729" y="578265"/>
                  </a:lnTo>
                  <a:lnTo>
                    <a:pt x="451189" y="571067"/>
                  </a:lnTo>
                  <a:lnTo>
                    <a:pt x="392192" y="561245"/>
                  </a:lnTo>
                  <a:lnTo>
                    <a:pt x="336059" y="548944"/>
                  </a:lnTo>
                  <a:lnTo>
                    <a:pt x="283115" y="534313"/>
                  </a:lnTo>
                  <a:lnTo>
                    <a:pt x="233680" y="517498"/>
                  </a:lnTo>
                  <a:lnTo>
                    <a:pt x="188079" y="498645"/>
                  </a:lnTo>
                  <a:lnTo>
                    <a:pt x="146634" y="477902"/>
                  </a:lnTo>
                  <a:lnTo>
                    <a:pt x="109668" y="455415"/>
                  </a:lnTo>
                  <a:lnTo>
                    <a:pt x="77503" y="431332"/>
                  </a:lnTo>
                  <a:lnTo>
                    <a:pt x="28869" y="378961"/>
                  </a:lnTo>
                  <a:lnTo>
                    <a:pt x="3315" y="321965"/>
                  </a:lnTo>
                  <a:lnTo>
                    <a:pt x="0" y="29210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49612" y="4084836"/>
              <a:ext cx="1148715" cy="1111250"/>
            </a:xfrm>
            <a:custGeom>
              <a:avLst/>
              <a:gdLst/>
              <a:ahLst/>
              <a:cxnLst/>
              <a:rect l="l" t="t" r="r" b="b"/>
              <a:pathLst>
                <a:path w="1148714" h="1111250">
                  <a:moveTo>
                    <a:pt x="0" y="1111052"/>
                  </a:moveTo>
                  <a:lnTo>
                    <a:pt x="1148555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5166" y="4067176"/>
              <a:ext cx="81280" cy="80645"/>
            </a:xfrm>
            <a:custGeom>
              <a:avLst/>
              <a:gdLst/>
              <a:ahLst/>
              <a:cxnLst/>
              <a:rect l="l" t="t" r="r" b="b"/>
              <a:pathLst>
                <a:path w="81279" h="80645">
                  <a:moveTo>
                    <a:pt x="81258" y="0"/>
                  </a:moveTo>
                  <a:lnTo>
                    <a:pt x="0" y="25595"/>
                  </a:lnTo>
                  <a:lnTo>
                    <a:pt x="52979" y="80364"/>
                  </a:lnTo>
                  <a:lnTo>
                    <a:pt x="812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715000" y="5351462"/>
            <a:ext cx="3080385" cy="1506855"/>
            <a:chOff x="5715000" y="5351462"/>
            <a:chExt cx="3080385" cy="150685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9155" y="5357552"/>
              <a:ext cx="3075708" cy="15004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5000" y="5351462"/>
              <a:ext cx="2932111" cy="150653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186235" y="6145271"/>
            <a:ext cx="1481455" cy="243204"/>
            <a:chOff x="4186235" y="6145271"/>
            <a:chExt cx="1481455" cy="243204"/>
          </a:xfrm>
        </p:grpSpPr>
        <p:sp>
          <p:nvSpPr>
            <p:cNvPr id="17" name="object 17"/>
            <p:cNvSpPr/>
            <p:nvPr/>
          </p:nvSpPr>
          <p:spPr>
            <a:xfrm>
              <a:off x="4190998" y="6175796"/>
              <a:ext cx="1451610" cy="207645"/>
            </a:xfrm>
            <a:custGeom>
              <a:avLst/>
              <a:gdLst/>
              <a:ahLst/>
              <a:cxnLst/>
              <a:rect l="l" t="t" r="r" b="b"/>
              <a:pathLst>
                <a:path w="1451610" h="207645">
                  <a:moveTo>
                    <a:pt x="0" y="207541"/>
                  </a:moveTo>
                  <a:lnTo>
                    <a:pt x="145123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86548" y="6145271"/>
              <a:ext cx="81280" cy="75565"/>
            </a:xfrm>
            <a:custGeom>
              <a:avLst/>
              <a:gdLst/>
              <a:ahLst/>
              <a:cxnLst/>
              <a:rect l="l" t="t" r="r" b="b"/>
              <a:pathLst>
                <a:path w="81279" h="75564">
                  <a:moveTo>
                    <a:pt x="0" y="0"/>
                  </a:moveTo>
                  <a:lnTo>
                    <a:pt x="10787" y="75432"/>
                  </a:lnTo>
                  <a:lnTo>
                    <a:pt x="80825" y="269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Queue</a:t>
            </a:r>
            <a:r>
              <a:rPr spc="-8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2489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ahoma"/>
                <a:cs typeface="Tahoma"/>
              </a:rPr>
              <a:t>Empty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Queue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4703064"/>
            <a:ext cx="20510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Enqueue(70)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9225" y="1981200"/>
            <a:ext cx="3657598" cy="2286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4438650"/>
            <a:ext cx="3638548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2084" y="611664"/>
            <a:ext cx="42202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Queue</a:t>
            </a:r>
            <a:r>
              <a:rPr spc="-8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26835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Enqueue(80)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4550155"/>
            <a:ext cx="26835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Enqueue(50)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700" y="1885950"/>
            <a:ext cx="3638548" cy="2257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6375" y="4343400"/>
            <a:ext cx="3638548" cy="2266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Queue</a:t>
            </a:r>
            <a:r>
              <a:rPr spc="-8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22733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Dequeue()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4550155"/>
            <a:ext cx="22733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Dequeue()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1933575"/>
            <a:ext cx="3638548" cy="22955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700" y="4486275"/>
            <a:ext cx="3638548" cy="2285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Queue</a:t>
            </a:r>
            <a:r>
              <a:rPr spc="-8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26835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Enqueue(90)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4550155"/>
            <a:ext cx="26835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Enqueue(60)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0" y="1962150"/>
            <a:ext cx="3638548" cy="22764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700" y="4495800"/>
            <a:ext cx="3714748" cy="22669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9475" y="528638"/>
            <a:ext cx="33318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Circular</a:t>
            </a:r>
            <a:r>
              <a:rPr sz="4000" spc="-75" dirty="0"/>
              <a:t> </a:t>
            </a:r>
            <a:r>
              <a:rPr sz="4000" spc="-5" dirty="0"/>
              <a:t>Queue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97939" y="1937434"/>
            <a:ext cx="6863080" cy="390715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Tahoma"/>
                <a:cs typeface="Tahoma"/>
              </a:rPr>
              <a:t>Problems</a:t>
            </a:r>
            <a:endParaRPr sz="3000">
              <a:latin typeface="Tahoma"/>
              <a:cs typeface="Tahoma"/>
            </a:endParaRPr>
          </a:p>
          <a:p>
            <a:pPr marL="755650" lvl="1" indent="-286385">
              <a:lnSpc>
                <a:spcPct val="100000"/>
              </a:lnSpc>
              <a:spcBef>
                <a:spcPts val="260"/>
              </a:spcBef>
              <a:buFont typeface="Arial MT"/>
              <a:buChar char="–"/>
              <a:tabLst>
                <a:tab pos="755650" algn="l"/>
              </a:tabLst>
            </a:pPr>
            <a:r>
              <a:rPr sz="2600" spc="-50" dirty="0">
                <a:latin typeface="Tahoma"/>
                <a:cs typeface="Tahoma"/>
              </a:rPr>
              <a:t>We</a:t>
            </a:r>
            <a:r>
              <a:rPr sz="2600" spc="-10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quickly</a:t>
            </a:r>
            <a:r>
              <a:rPr sz="2600" spc="-10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"walk</a:t>
            </a:r>
            <a:r>
              <a:rPr sz="2600" spc="-10" dirty="0">
                <a:latin typeface="Tahoma"/>
                <a:cs typeface="Tahoma"/>
              </a:rPr>
              <a:t> off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the</a:t>
            </a:r>
            <a:r>
              <a:rPr sz="2600" spc="-10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end" </a:t>
            </a:r>
            <a:r>
              <a:rPr sz="2600" dirty="0">
                <a:latin typeface="Tahoma"/>
                <a:cs typeface="Tahoma"/>
              </a:rPr>
              <a:t>of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the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spc="-15" dirty="0">
                <a:latin typeface="Tahoma"/>
                <a:cs typeface="Tahoma"/>
              </a:rPr>
              <a:t>array</a:t>
            </a:r>
            <a:endParaRPr sz="26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Tahoma"/>
                <a:cs typeface="Tahoma"/>
              </a:rPr>
              <a:t>Possible</a:t>
            </a:r>
            <a:r>
              <a:rPr sz="3000" spc="-35" dirty="0">
                <a:latin typeface="Tahoma"/>
                <a:cs typeface="Tahoma"/>
              </a:rPr>
              <a:t> </a:t>
            </a:r>
            <a:r>
              <a:rPr sz="3000" spc="-5" dirty="0">
                <a:latin typeface="Tahoma"/>
                <a:cs typeface="Tahoma"/>
              </a:rPr>
              <a:t>solutions</a:t>
            </a:r>
            <a:endParaRPr sz="3000">
              <a:latin typeface="Tahoma"/>
              <a:cs typeface="Tahoma"/>
            </a:endParaRPr>
          </a:p>
          <a:p>
            <a:pPr marL="755650" lvl="1" indent="-286385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5650" algn="l"/>
              </a:tabLst>
            </a:pPr>
            <a:r>
              <a:rPr sz="2600" dirty="0">
                <a:latin typeface="Tahoma"/>
                <a:cs typeface="Tahoma"/>
              </a:rPr>
              <a:t>Shift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spc="-15" dirty="0">
                <a:latin typeface="Tahoma"/>
                <a:cs typeface="Tahoma"/>
              </a:rPr>
              <a:t>array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elements</a:t>
            </a:r>
            <a:endParaRPr sz="2600">
              <a:latin typeface="Tahoma"/>
              <a:cs typeface="Tahoma"/>
            </a:endParaRPr>
          </a:p>
          <a:p>
            <a:pPr marL="755650" lvl="1" indent="-286385">
              <a:lnSpc>
                <a:spcPct val="100000"/>
              </a:lnSpc>
              <a:spcBef>
                <a:spcPts val="280"/>
              </a:spcBef>
              <a:buFont typeface="Arial MT"/>
              <a:buChar char="–"/>
              <a:tabLst>
                <a:tab pos="755650" algn="l"/>
              </a:tabLst>
            </a:pPr>
            <a:r>
              <a:rPr sz="2600" dirty="0">
                <a:latin typeface="Tahoma"/>
                <a:cs typeface="Tahoma"/>
              </a:rPr>
              <a:t>Use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</a:t>
            </a:r>
            <a:r>
              <a:rPr sz="2600" spc="-15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circular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queue</a:t>
            </a:r>
            <a:endParaRPr sz="26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 MT"/>
              <a:buChar char="–"/>
            </a:pPr>
            <a:endParaRPr sz="3400">
              <a:latin typeface="Tahoma"/>
              <a:cs typeface="Tahoma"/>
            </a:endParaRPr>
          </a:p>
          <a:p>
            <a:pPr marL="748665" marR="2965450" lvl="1" indent="-279400">
              <a:lnSpc>
                <a:spcPts val="2780"/>
              </a:lnSpc>
              <a:buFont typeface="Arial MT"/>
              <a:buChar char="–"/>
              <a:tabLst>
                <a:tab pos="755650" algn="l"/>
              </a:tabLst>
            </a:pPr>
            <a:r>
              <a:rPr sz="2600" dirty="0">
                <a:latin typeface="Tahoma"/>
                <a:cs typeface="Tahoma"/>
              </a:rPr>
              <a:t>Note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that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both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empty </a:t>
            </a:r>
            <a:r>
              <a:rPr sz="2600" spc="-80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and</a:t>
            </a:r>
            <a:r>
              <a:rPr sz="2600" spc="-10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full</a:t>
            </a:r>
            <a:r>
              <a:rPr sz="2600" spc="-1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queue</a:t>
            </a:r>
            <a:endParaRPr sz="2600">
              <a:latin typeface="Tahoma"/>
              <a:cs typeface="Tahoma"/>
            </a:endParaRPr>
          </a:p>
          <a:p>
            <a:pPr marL="748665">
              <a:lnSpc>
                <a:spcPts val="2760"/>
              </a:lnSpc>
            </a:pPr>
            <a:r>
              <a:rPr sz="2600" spc="-10" dirty="0">
                <a:latin typeface="Tahoma"/>
                <a:cs typeface="Tahoma"/>
              </a:rPr>
              <a:t>gives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b="1" spc="-5" dirty="0">
                <a:solidFill>
                  <a:srgbClr val="6666FF"/>
                </a:solidFill>
                <a:latin typeface="Courier New"/>
                <a:cs typeface="Courier New"/>
              </a:rPr>
              <a:t>myBack</a:t>
            </a:r>
            <a:r>
              <a:rPr sz="2600" b="1" spc="-30" dirty="0">
                <a:solidFill>
                  <a:srgbClr val="6666FF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6666FF"/>
                </a:solidFill>
                <a:latin typeface="Courier New"/>
                <a:cs typeface="Courier New"/>
              </a:rPr>
              <a:t>==</a:t>
            </a:r>
            <a:r>
              <a:rPr sz="2600" b="1" spc="-30" dirty="0">
                <a:solidFill>
                  <a:srgbClr val="6666FF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6666FF"/>
                </a:solidFill>
                <a:latin typeface="Courier New"/>
                <a:cs typeface="Courier New"/>
              </a:rPr>
              <a:t>myFront</a:t>
            </a:r>
            <a:endParaRPr sz="26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26100" y="3028858"/>
            <a:ext cx="3514090" cy="2192020"/>
            <a:chOff x="5626100" y="3028858"/>
            <a:chExt cx="3514090" cy="2192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1872" y="3034145"/>
              <a:ext cx="3507971" cy="21862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6100" y="3028858"/>
              <a:ext cx="3365498" cy="20446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387" y="552450"/>
            <a:ext cx="5006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4785" algn="l"/>
              </a:tabLst>
            </a:pPr>
            <a:r>
              <a:rPr spc="-5" dirty="0">
                <a:latin typeface="Times New Roman"/>
                <a:cs typeface="Times New Roman"/>
              </a:rPr>
              <a:t>Array	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7478395" cy="1252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marR="5080" indent="-342900">
              <a:lnSpc>
                <a:spcPct val="93700"/>
              </a:lnSpc>
              <a:spcBef>
                <a:spcPts val="310"/>
              </a:spcBef>
              <a:buFont typeface="Arial MT"/>
              <a:buChar char="•"/>
              <a:tabLst>
                <a:tab pos="354965" algn="l"/>
                <a:tab pos="355600" algn="l"/>
                <a:tab pos="2251075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queue 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implemented with an </a:t>
            </a:r>
            <a:r>
              <a:rPr sz="2800" spc="-35" dirty="0">
                <a:latin typeface="Times New Roman"/>
                <a:cs typeface="Times New Roman"/>
              </a:rPr>
              <a:t>array,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 shown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here.	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example, this queue contains 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integers</a:t>
            </a:r>
            <a:r>
              <a:rPr sz="2800" dirty="0">
                <a:latin typeface="Times New Roman"/>
                <a:cs typeface="Times New Roman"/>
              </a:rPr>
              <a:t> 4 </a:t>
            </a:r>
            <a:r>
              <a:rPr sz="2800" spc="-5" dirty="0">
                <a:latin typeface="Times New Roman"/>
                <a:cs typeface="Times New Roman"/>
              </a:rPr>
              <a:t>(at the front),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6 </a:t>
            </a:r>
            <a:r>
              <a:rPr sz="2800" spc="-5" dirty="0">
                <a:latin typeface="Times New Roman"/>
                <a:cs typeface="Times New Roman"/>
              </a:rPr>
              <a:t>(at 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rear).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1849" y="4222865"/>
            <a:ext cx="6075045" cy="1240155"/>
            <a:chOff x="1701849" y="4222865"/>
            <a:chExt cx="6075045" cy="1240155"/>
          </a:xfrm>
        </p:grpSpPr>
        <p:sp>
          <p:nvSpPr>
            <p:cNvPr id="5" name="object 5"/>
            <p:cNvSpPr/>
            <p:nvPr/>
          </p:nvSpPr>
          <p:spPr>
            <a:xfrm>
              <a:off x="1708149" y="4670424"/>
              <a:ext cx="6047105" cy="786130"/>
            </a:xfrm>
            <a:custGeom>
              <a:avLst/>
              <a:gdLst/>
              <a:ahLst/>
              <a:cxnLst/>
              <a:rect l="l" t="t" r="r" b="b"/>
              <a:pathLst>
                <a:path w="6047105" h="786129">
                  <a:moveTo>
                    <a:pt x="0" y="1564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6045222" y="0"/>
                  </a:lnTo>
                  <a:lnTo>
                    <a:pt x="6046086" y="0"/>
                  </a:lnTo>
                  <a:lnTo>
                    <a:pt x="6046786" y="700"/>
                  </a:lnTo>
                  <a:lnTo>
                    <a:pt x="6046786" y="1564"/>
                  </a:lnTo>
                  <a:lnTo>
                    <a:pt x="6046786" y="784248"/>
                  </a:lnTo>
                  <a:lnTo>
                    <a:pt x="6046786" y="785112"/>
                  </a:lnTo>
                  <a:lnTo>
                    <a:pt x="6046086" y="785812"/>
                  </a:lnTo>
                  <a:lnTo>
                    <a:pt x="6045222" y="785812"/>
                  </a:lnTo>
                  <a:lnTo>
                    <a:pt x="1564" y="785812"/>
                  </a:lnTo>
                  <a:lnTo>
                    <a:pt x="700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2832" y="4222865"/>
              <a:ext cx="577734" cy="465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7108" y="4222865"/>
              <a:ext cx="436418" cy="465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2537" y="4222865"/>
              <a:ext cx="581890" cy="465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3686" y="4222865"/>
              <a:ext cx="581890" cy="465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8086" y="4222865"/>
              <a:ext cx="581890" cy="465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0675" y="4222865"/>
              <a:ext cx="577734" cy="465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6104" y="4222865"/>
              <a:ext cx="490450" cy="46551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906898" y="4228670"/>
            <a:ext cx="581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815464" algn="l"/>
                <a:tab pos="2696845" algn="l"/>
                <a:tab pos="3611245" algn="l"/>
                <a:tab pos="4582795" algn="l"/>
                <a:tab pos="5417820" algn="l"/>
              </a:tabLst>
            </a:pPr>
            <a:r>
              <a:rPr sz="2400" dirty="0">
                <a:latin typeface="Calibri"/>
                <a:cs typeface="Calibri"/>
              </a:rPr>
              <a:t>[ 0 ]	[1]	[ 2 ]	[ 3 ]	[ 4 ]	[ 5 ]	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708150" y="4671695"/>
          <a:ext cx="6046466" cy="784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4225"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5420" marB="0"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542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542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solidFill>
                      <a:srgbClr val="939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1151312" y="5573683"/>
            <a:ext cx="2548255" cy="1134745"/>
            <a:chOff x="1151312" y="5573683"/>
            <a:chExt cx="2548255" cy="113474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1312" y="5573683"/>
              <a:ext cx="2547851" cy="4655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1312" y="5902036"/>
              <a:ext cx="1999211" cy="4655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1312" y="6247014"/>
              <a:ext cx="2277686" cy="46135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75751" y="5577147"/>
            <a:ext cx="2469515" cy="10642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330"/>
              </a:spcBef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array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integers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implement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integers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86324" y="5537249"/>
            <a:ext cx="3635375" cy="1188085"/>
            <a:chOff x="4486324" y="5537249"/>
            <a:chExt cx="3635375" cy="1188085"/>
          </a:xfrm>
        </p:grpSpPr>
        <p:sp>
          <p:nvSpPr>
            <p:cNvPr id="21" name="object 21"/>
            <p:cNvSpPr/>
            <p:nvPr/>
          </p:nvSpPr>
          <p:spPr>
            <a:xfrm>
              <a:off x="4492625" y="5543549"/>
              <a:ext cx="3622675" cy="422275"/>
            </a:xfrm>
            <a:custGeom>
              <a:avLst/>
              <a:gdLst/>
              <a:ahLst/>
              <a:cxnLst/>
              <a:rect l="l" t="t" r="r" b="b"/>
              <a:pathLst>
                <a:path w="3622675" h="422275">
                  <a:moveTo>
                    <a:pt x="3622314" y="0"/>
                  </a:moveTo>
                  <a:lnTo>
                    <a:pt x="3605035" y="42802"/>
                  </a:lnTo>
                  <a:lnTo>
                    <a:pt x="3578039" y="88843"/>
                  </a:lnTo>
                  <a:lnTo>
                    <a:pt x="3538082" y="128409"/>
                  </a:lnTo>
                  <a:lnTo>
                    <a:pt x="3490567" y="156824"/>
                  </a:lnTo>
                  <a:lnTo>
                    <a:pt x="3462130" y="171211"/>
                  </a:lnTo>
                  <a:lnTo>
                    <a:pt x="3430093" y="180563"/>
                  </a:lnTo>
                  <a:lnTo>
                    <a:pt x="3400216" y="188836"/>
                  </a:lnTo>
                  <a:lnTo>
                    <a:pt x="3369979" y="193512"/>
                  </a:lnTo>
                  <a:lnTo>
                    <a:pt x="3336503" y="194951"/>
                  </a:lnTo>
                  <a:lnTo>
                    <a:pt x="3309505" y="194951"/>
                  </a:lnTo>
                  <a:lnTo>
                    <a:pt x="1864970" y="133084"/>
                  </a:lnTo>
                  <a:lnTo>
                    <a:pt x="1809536" y="239552"/>
                  </a:lnTo>
                  <a:lnTo>
                    <a:pt x="1756982" y="133084"/>
                  </a:lnTo>
                  <a:lnTo>
                    <a:pt x="312447" y="194951"/>
                  </a:lnTo>
                  <a:lnTo>
                    <a:pt x="279331" y="194951"/>
                  </a:lnTo>
                  <a:lnTo>
                    <a:pt x="252333" y="193512"/>
                  </a:lnTo>
                  <a:lnTo>
                    <a:pt x="217417" y="188836"/>
                  </a:lnTo>
                  <a:lnTo>
                    <a:pt x="160183" y="171211"/>
                  </a:lnTo>
                  <a:lnTo>
                    <a:pt x="131745" y="156824"/>
                  </a:lnTo>
                  <a:lnTo>
                    <a:pt x="107628" y="147472"/>
                  </a:lnTo>
                  <a:lnTo>
                    <a:pt x="61553" y="109345"/>
                  </a:lnTo>
                  <a:lnTo>
                    <a:pt x="28436" y="66542"/>
                  </a:lnTo>
                  <a:lnTo>
                    <a:pt x="6118" y="18703"/>
                  </a:lnTo>
                  <a:lnTo>
                    <a:pt x="0" y="0"/>
                  </a:lnTo>
                  <a:lnTo>
                    <a:pt x="2879" y="26976"/>
                  </a:lnTo>
                  <a:lnTo>
                    <a:pt x="6118" y="48917"/>
                  </a:lnTo>
                  <a:lnTo>
                    <a:pt x="15838" y="74455"/>
                  </a:lnTo>
                  <a:lnTo>
                    <a:pt x="28436" y="98195"/>
                  </a:lnTo>
                  <a:lnTo>
                    <a:pt x="39596" y="120495"/>
                  </a:lnTo>
                  <a:lnTo>
                    <a:pt x="56874" y="142796"/>
                  </a:lnTo>
                  <a:lnTo>
                    <a:pt x="79192" y="161860"/>
                  </a:lnTo>
                  <a:lnTo>
                    <a:pt x="104749" y="179125"/>
                  </a:lnTo>
                  <a:lnTo>
                    <a:pt x="126706" y="194951"/>
                  </a:lnTo>
                  <a:lnTo>
                    <a:pt x="153704" y="210777"/>
                  </a:lnTo>
                  <a:lnTo>
                    <a:pt x="183941" y="218690"/>
                  </a:lnTo>
                  <a:lnTo>
                    <a:pt x="214177" y="228402"/>
                  </a:lnTo>
                  <a:lnTo>
                    <a:pt x="245854" y="234517"/>
                  </a:lnTo>
                  <a:lnTo>
                    <a:pt x="279331" y="239552"/>
                  </a:lnTo>
                  <a:lnTo>
                    <a:pt x="1756982" y="239552"/>
                  </a:lnTo>
                  <a:lnTo>
                    <a:pt x="1809536" y="421915"/>
                  </a:lnTo>
                  <a:lnTo>
                    <a:pt x="1864970" y="239552"/>
                  </a:lnTo>
                  <a:lnTo>
                    <a:pt x="3342981" y="239552"/>
                  </a:lnTo>
                  <a:lnTo>
                    <a:pt x="3373219" y="234517"/>
                  </a:lnTo>
                  <a:lnTo>
                    <a:pt x="3406336" y="228402"/>
                  </a:lnTo>
                  <a:lnTo>
                    <a:pt x="3436573" y="218690"/>
                  </a:lnTo>
                  <a:lnTo>
                    <a:pt x="3468249" y="210777"/>
                  </a:lnTo>
                  <a:lnTo>
                    <a:pt x="3492007" y="194951"/>
                  </a:lnTo>
                  <a:lnTo>
                    <a:pt x="3520804" y="179125"/>
                  </a:lnTo>
                  <a:lnTo>
                    <a:pt x="3544562" y="161860"/>
                  </a:lnTo>
                  <a:lnTo>
                    <a:pt x="3578039" y="120495"/>
                  </a:lnTo>
                  <a:lnTo>
                    <a:pt x="3605035" y="74455"/>
                  </a:lnTo>
                  <a:lnTo>
                    <a:pt x="3622314" y="26976"/>
                  </a:lnTo>
                  <a:lnTo>
                    <a:pt x="36223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92624" y="5543549"/>
              <a:ext cx="3622675" cy="422275"/>
            </a:xfrm>
            <a:custGeom>
              <a:avLst/>
              <a:gdLst/>
              <a:ahLst/>
              <a:cxnLst/>
              <a:rect l="l" t="t" r="r" b="b"/>
              <a:pathLst>
                <a:path w="3622675" h="422275">
                  <a:moveTo>
                    <a:pt x="1809537" y="421915"/>
                  </a:moveTo>
                  <a:lnTo>
                    <a:pt x="1864971" y="239552"/>
                  </a:lnTo>
                  <a:lnTo>
                    <a:pt x="3311305" y="239552"/>
                  </a:lnTo>
                  <a:lnTo>
                    <a:pt x="3342982" y="239552"/>
                  </a:lnTo>
                  <a:lnTo>
                    <a:pt x="3373219" y="234517"/>
                  </a:lnTo>
                  <a:lnTo>
                    <a:pt x="3406336" y="228402"/>
                  </a:lnTo>
                  <a:lnTo>
                    <a:pt x="3436572" y="218690"/>
                  </a:lnTo>
                  <a:lnTo>
                    <a:pt x="3468249" y="210777"/>
                  </a:lnTo>
                  <a:lnTo>
                    <a:pt x="3492007" y="194951"/>
                  </a:lnTo>
                  <a:lnTo>
                    <a:pt x="3520804" y="179125"/>
                  </a:lnTo>
                  <a:lnTo>
                    <a:pt x="3544562" y="161860"/>
                  </a:lnTo>
                  <a:lnTo>
                    <a:pt x="3578039" y="120495"/>
                  </a:lnTo>
                  <a:lnTo>
                    <a:pt x="3605035" y="74455"/>
                  </a:lnTo>
                  <a:lnTo>
                    <a:pt x="3622314" y="26976"/>
                  </a:lnTo>
                  <a:lnTo>
                    <a:pt x="3622314" y="0"/>
                  </a:lnTo>
                  <a:lnTo>
                    <a:pt x="3615835" y="18703"/>
                  </a:lnTo>
                  <a:lnTo>
                    <a:pt x="3605035" y="42803"/>
                  </a:lnTo>
                  <a:lnTo>
                    <a:pt x="3593877" y="66542"/>
                  </a:lnTo>
                  <a:lnTo>
                    <a:pt x="3578039" y="88843"/>
                  </a:lnTo>
                  <a:lnTo>
                    <a:pt x="3557160" y="109345"/>
                  </a:lnTo>
                  <a:lnTo>
                    <a:pt x="3538082" y="128409"/>
                  </a:lnTo>
                  <a:lnTo>
                    <a:pt x="3514325" y="147472"/>
                  </a:lnTo>
                  <a:lnTo>
                    <a:pt x="3490567" y="156824"/>
                  </a:lnTo>
                  <a:lnTo>
                    <a:pt x="3462130" y="171211"/>
                  </a:lnTo>
                  <a:lnTo>
                    <a:pt x="3430093" y="180563"/>
                  </a:lnTo>
                  <a:lnTo>
                    <a:pt x="3400216" y="188836"/>
                  </a:lnTo>
                  <a:lnTo>
                    <a:pt x="3369979" y="193512"/>
                  </a:lnTo>
                  <a:lnTo>
                    <a:pt x="3336503" y="194951"/>
                  </a:lnTo>
                  <a:lnTo>
                    <a:pt x="3309505" y="194951"/>
                  </a:lnTo>
                  <a:lnTo>
                    <a:pt x="1864971" y="133084"/>
                  </a:lnTo>
                  <a:lnTo>
                    <a:pt x="1809537" y="239552"/>
                  </a:lnTo>
                  <a:lnTo>
                    <a:pt x="1756982" y="133084"/>
                  </a:lnTo>
                  <a:lnTo>
                    <a:pt x="312448" y="194951"/>
                  </a:lnTo>
                  <a:lnTo>
                    <a:pt x="279331" y="194951"/>
                  </a:lnTo>
                  <a:lnTo>
                    <a:pt x="217418" y="188836"/>
                  </a:lnTo>
                  <a:lnTo>
                    <a:pt x="160183" y="171211"/>
                  </a:lnTo>
                  <a:lnTo>
                    <a:pt x="131746" y="156824"/>
                  </a:lnTo>
                  <a:lnTo>
                    <a:pt x="107629" y="147472"/>
                  </a:lnTo>
                  <a:lnTo>
                    <a:pt x="61553" y="109345"/>
                  </a:lnTo>
                  <a:lnTo>
                    <a:pt x="28437" y="66542"/>
                  </a:lnTo>
                  <a:lnTo>
                    <a:pt x="6119" y="18703"/>
                  </a:lnTo>
                  <a:lnTo>
                    <a:pt x="0" y="0"/>
                  </a:lnTo>
                  <a:lnTo>
                    <a:pt x="2879" y="26976"/>
                  </a:lnTo>
                  <a:lnTo>
                    <a:pt x="6119" y="48917"/>
                  </a:lnTo>
                  <a:lnTo>
                    <a:pt x="15838" y="74455"/>
                  </a:lnTo>
                  <a:lnTo>
                    <a:pt x="28437" y="98195"/>
                  </a:lnTo>
                  <a:lnTo>
                    <a:pt x="39596" y="120495"/>
                  </a:lnTo>
                  <a:lnTo>
                    <a:pt x="56874" y="142796"/>
                  </a:lnTo>
                  <a:lnTo>
                    <a:pt x="79192" y="161860"/>
                  </a:lnTo>
                  <a:lnTo>
                    <a:pt x="104749" y="179125"/>
                  </a:lnTo>
                  <a:lnTo>
                    <a:pt x="126707" y="194951"/>
                  </a:lnTo>
                  <a:lnTo>
                    <a:pt x="153704" y="210777"/>
                  </a:lnTo>
                  <a:lnTo>
                    <a:pt x="183941" y="218690"/>
                  </a:lnTo>
                  <a:lnTo>
                    <a:pt x="214178" y="228402"/>
                  </a:lnTo>
                  <a:lnTo>
                    <a:pt x="245855" y="234517"/>
                  </a:lnTo>
                  <a:lnTo>
                    <a:pt x="279331" y="239552"/>
                  </a:lnTo>
                  <a:lnTo>
                    <a:pt x="309208" y="239552"/>
                  </a:lnTo>
                  <a:lnTo>
                    <a:pt x="1756982" y="239552"/>
                  </a:lnTo>
                  <a:lnTo>
                    <a:pt x="1809537" y="421915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79817" y="5902036"/>
              <a:ext cx="3029988" cy="4655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3603" y="6234545"/>
              <a:ext cx="2722417" cy="4904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805677" y="5908249"/>
            <a:ext cx="2949575" cy="74295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65100" marR="5080" indent="-152400">
              <a:lnSpc>
                <a:spcPts val="2770"/>
              </a:lnSpc>
              <a:spcBef>
                <a:spcPts val="284"/>
              </a:spcBef>
            </a:pPr>
            <a:r>
              <a:rPr sz="2400" spc="-5" dirty="0">
                <a:latin typeface="Calibri"/>
                <a:cs typeface="Calibri"/>
              </a:rPr>
              <a:t>We don't care what's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part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387" y="552450"/>
            <a:ext cx="5006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4785" algn="l"/>
              </a:tabLst>
            </a:pPr>
            <a:r>
              <a:rPr spc="-5" dirty="0">
                <a:latin typeface="Times New Roman"/>
                <a:cs typeface="Times New Roman"/>
              </a:rPr>
              <a:t>Array	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5838825" cy="206502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355600" marR="5080" indent="-342900">
              <a:lnSpc>
                <a:spcPct val="94500"/>
              </a:lnSpc>
              <a:spcBef>
                <a:spcPts val="2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easiest implementation also keeps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track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the number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items in the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queue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index</a:t>
            </a:r>
            <a:r>
              <a:rPr sz="2800" dirty="0">
                <a:latin typeface="Times New Roman"/>
                <a:cs typeface="Times New Roman"/>
              </a:rPr>
              <a:t> of </a:t>
            </a:r>
            <a:r>
              <a:rPr sz="2800" spc="-5" dirty="0">
                <a:latin typeface="Times New Roman"/>
                <a:cs typeface="Times New Roman"/>
              </a:rPr>
              <a:t>the first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 (at the </a:t>
            </a:r>
            <a:r>
              <a:rPr sz="2800" dirty="0">
                <a:latin typeface="Times New Roman"/>
                <a:cs typeface="Times New Roman"/>
              </a:rPr>
              <a:t>front of </a:t>
            </a:r>
            <a:r>
              <a:rPr sz="2800" spc="-5" dirty="0">
                <a:latin typeface="Times New Roman"/>
                <a:cs typeface="Times New Roman"/>
              </a:rPr>
              <a:t>the queue), 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 (at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rear).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97087" y="4804756"/>
            <a:ext cx="6075680" cy="1240790"/>
            <a:chOff x="1697087" y="4804756"/>
            <a:chExt cx="6075680" cy="1240790"/>
          </a:xfrm>
        </p:grpSpPr>
        <p:sp>
          <p:nvSpPr>
            <p:cNvPr id="5" name="object 5"/>
            <p:cNvSpPr/>
            <p:nvPr/>
          </p:nvSpPr>
          <p:spPr>
            <a:xfrm>
              <a:off x="1703387" y="5253037"/>
              <a:ext cx="6047105" cy="786130"/>
            </a:xfrm>
            <a:custGeom>
              <a:avLst/>
              <a:gdLst/>
              <a:ahLst/>
              <a:cxnLst/>
              <a:rect l="l" t="t" r="r" b="b"/>
              <a:pathLst>
                <a:path w="6047105" h="786129">
                  <a:moveTo>
                    <a:pt x="0" y="1563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6045221" y="0"/>
                  </a:lnTo>
                  <a:lnTo>
                    <a:pt x="6046084" y="0"/>
                  </a:lnTo>
                  <a:lnTo>
                    <a:pt x="6046784" y="700"/>
                  </a:lnTo>
                  <a:lnTo>
                    <a:pt x="6046784" y="1563"/>
                  </a:lnTo>
                  <a:lnTo>
                    <a:pt x="6046784" y="784247"/>
                  </a:lnTo>
                  <a:lnTo>
                    <a:pt x="6046784" y="785111"/>
                  </a:lnTo>
                  <a:lnTo>
                    <a:pt x="6046084" y="785811"/>
                  </a:lnTo>
                  <a:lnTo>
                    <a:pt x="6045221" y="785811"/>
                  </a:lnTo>
                  <a:lnTo>
                    <a:pt x="1564" y="785811"/>
                  </a:lnTo>
                  <a:lnTo>
                    <a:pt x="700" y="785811"/>
                  </a:lnTo>
                  <a:lnTo>
                    <a:pt x="0" y="785111"/>
                  </a:lnTo>
                  <a:lnTo>
                    <a:pt x="0" y="784247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4804756"/>
              <a:ext cx="581890" cy="465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952" y="4804756"/>
              <a:ext cx="436418" cy="465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382" y="4804756"/>
              <a:ext cx="581890" cy="465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531" y="4804756"/>
              <a:ext cx="581890" cy="465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3930" y="4804756"/>
              <a:ext cx="581890" cy="465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20" y="4804756"/>
              <a:ext cx="577734" cy="465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1948" y="4804756"/>
              <a:ext cx="490450" cy="46551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902137" y="4811283"/>
            <a:ext cx="581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815464" algn="l"/>
                <a:tab pos="2696845" algn="l"/>
                <a:tab pos="3611245" algn="l"/>
                <a:tab pos="4582795" algn="l"/>
                <a:tab pos="5417820" algn="l"/>
              </a:tabLst>
            </a:pPr>
            <a:r>
              <a:rPr sz="2400" dirty="0">
                <a:latin typeface="Calibri"/>
                <a:cs typeface="Calibri"/>
              </a:rPr>
              <a:t>[ 0 ]	[1]	[ 2 ]	[ 3 ]	[ 4 ]	[ 5 ]	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703387" y="5252720"/>
          <a:ext cx="6046466" cy="786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6130"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solidFill>
                      <a:srgbClr val="939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6759" y="2015836"/>
            <a:ext cx="565265" cy="4655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91636" y="2020260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85098" y="1898700"/>
            <a:ext cx="922655" cy="798830"/>
            <a:chOff x="7385098" y="1898700"/>
            <a:chExt cx="922655" cy="798830"/>
          </a:xfrm>
        </p:grpSpPr>
        <p:sp>
          <p:nvSpPr>
            <p:cNvPr id="18" name="object 18"/>
            <p:cNvSpPr/>
            <p:nvPr/>
          </p:nvSpPr>
          <p:spPr>
            <a:xfrm>
              <a:off x="7391398" y="19062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91398" y="1905000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30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91398" y="19050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66759" y="2930236"/>
            <a:ext cx="590203" cy="46551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391636" y="2934658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85098" y="2813099"/>
            <a:ext cx="922655" cy="798830"/>
            <a:chOff x="7385098" y="2813099"/>
            <a:chExt cx="922655" cy="798830"/>
          </a:xfrm>
        </p:grpSpPr>
        <p:sp>
          <p:nvSpPr>
            <p:cNvPr id="24" name="object 24"/>
            <p:cNvSpPr/>
            <p:nvPr/>
          </p:nvSpPr>
          <p:spPr>
            <a:xfrm>
              <a:off x="7391398" y="2820669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90"/>
                  </a:moveTo>
                  <a:lnTo>
                    <a:pt x="909637" y="783590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9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91398" y="28193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91398" y="28194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66759" y="3844636"/>
            <a:ext cx="540327" cy="46551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391636" y="3849058"/>
            <a:ext cx="462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385098" y="3727499"/>
            <a:ext cx="922655" cy="798830"/>
            <a:chOff x="7385098" y="3727499"/>
            <a:chExt cx="922655" cy="798830"/>
          </a:xfrm>
        </p:grpSpPr>
        <p:sp>
          <p:nvSpPr>
            <p:cNvPr id="30" name="object 30"/>
            <p:cNvSpPr/>
            <p:nvPr/>
          </p:nvSpPr>
          <p:spPr>
            <a:xfrm>
              <a:off x="7391398" y="37350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91398" y="37337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4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4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391398" y="37338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4685" y="552450"/>
            <a:ext cx="4897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A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Dequeue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5828665" cy="1252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marR="5080" indent="-342900">
              <a:lnSpc>
                <a:spcPct val="93700"/>
              </a:lnSpc>
              <a:spcBef>
                <a:spcPts val="3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 an element leaves the queue,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decremented,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first changes,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too.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97087" y="4804756"/>
            <a:ext cx="6075680" cy="1240790"/>
            <a:chOff x="1697087" y="4804756"/>
            <a:chExt cx="6075680" cy="1240790"/>
          </a:xfrm>
        </p:grpSpPr>
        <p:sp>
          <p:nvSpPr>
            <p:cNvPr id="5" name="object 5"/>
            <p:cNvSpPr/>
            <p:nvPr/>
          </p:nvSpPr>
          <p:spPr>
            <a:xfrm>
              <a:off x="1703387" y="5253037"/>
              <a:ext cx="6047105" cy="786130"/>
            </a:xfrm>
            <a:custGeom>
              <a:avLst/>
              <a:gdLst/>
              <a:ahLst/>
              <a:cxnLst/>
              <a:rect l="l" t="t" r="r" b="b"/>
              <a:pathLst>
                <a:path w="6047105" h="786129">
                  <a:moveTo>
                    <a:pt x="0" y="1563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6045221" y="0"/>
                  </a:lnTo>
                  <a:lnTo>
                    <a:pt x="6046084" y="0"/>
                  </a:lnTo>
                  <a:lnTo>
                    <a:pt x="6046784" y="700"/>
                  </a:lnTo>
                  <a:lnTo>
                    <a:pt x="6046784" y="1563"/>
                  </a:lnTo>
                  <a:lnTo>
                    <a:pt x="6046784" y="784247"/>
                  </a:lnTo>
                  <a:lnTo>
                    <a:pt x="6046784" y="785111"/>
                  </a:lnTo>
                  <a:lnTo>
                    <a:pt x="6046084" y="785811"/>
                  </a:lnTo>
                  <a:lnTo>
                    <a:pt x="6045221" y="785811"/>
                  </a:lnTo>
                  <a:lnTo>
                    <a:pt x="1564" y="785811"/>
                  </a:lnTo>
                  <a:lnTo>
                    <a:pt x="700" y="785811"/>
                  </a:lnTo>
                  <a:lnTo>
                    <a:pt x="0" y="785111"/>
                  </a:lnTo>
                  <a:lnTo>
                    <a:pt x="0" y="784247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4804756"/>
              <a:ext cx="581890" cy="465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952" y="4804756"/>
              <a:ext cx="436418" cy="465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382" y="4804756"/>
              <a:ext cx="581890" cy="465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531" y="4804756"/>
              <a:ext cx="581890" cy="465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3930" y="4804756"/>
              <a:ext cx="581890" cy="465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20" y="4804756"/>
              <a:ext cx="577734" cy="465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1948" y="4804756"/>
              <a:ext cx="490450" cy="46551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902137" y="4811283"/>
            <a:ext cx="581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815464" algn="l"/>
                <a:tab pos="2696845" algn="l"/>
                <a:tab pos="3611245" algn="l"/>
                <a:tab pos="4582795" algn="l"/>
                <a:tab pos="5417820" algn="l"/>
              </a:tabLst>
            </a:pPr>
            <a:r>
              <a:rPr sz="2400" dirty="0">
                <a:latin typeface="Calibri"/>
                <a:cs typeface="Calibri"/>
              </a:rPr>
              <a:t>[ 0 ]	[1]	[ 2 ]	[ 3 ]	[ 4 ]	[ 5 ]	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703387" y="5252720"/>
          <a:ext cx="6046466" cy="786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6130"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solidFill>
                      <a:srgbClr val="939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6759" y="2015836"/>
            <a:ext cx="565265" cy="4655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91636" y="2020260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85098" y="1898700"/>
            <a:ext cx="922655" cy="798830"/>
            <a:chOff x="7385098" y="1898700"/>
            <a:chExt cx="922655" cy="798830"/>
          </a:xfrm>
        </p:grpSpPr>
        <p:sp>
          <p:nvSpPr>
            <p:cNvPr id="18" name="object 18"/>
            <p:cNvSpPr/>
            <p:nvPr/>
          </p:nvSpPr>
          <p:spPr>
            <a:xfrm>
              <a:off x="7391398" y="19062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91398" y="1905000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30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91398" y="19050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66759" y="2930236"/>
            <a:ext cx="590203" cy="46551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391636" y="2934658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85098" y="2813099"/>
            <a:ext cx="922655" cy="798830"/>
            <a:chOff x="7385098" y="2813099"/>
            <a:chExt cx="922655" cy="798830"/>
          </a:xfrm>
        </p:grpSpPr>
        <p:sp>
          <p:nvSpPr>
            <p:cNvPr id="24" name="object 24"/>
            <p:cNvSpPr/>
            <p:nvPr/>
          </p:nvSpPr>
          <p:spPr>
            <a:xfrm>
              <a:off x="7391398" y="2820669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90"/>
                  </a:moveTo>
                  <a:lnTo>
                    <a:pt x="909637" y="783590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9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91398" y="28193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91398" y="28194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66759" y="3844636"/>
            <a:ext cx="540327" cy="46551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391636" y="3849058"/>
            <a:ext cx="462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385098" y="3727499"/>
            <a:ext cx="922655" cy="798830"/>
            <a:chOff x="7385098" y="3727499"/>
            <a:chExt cx="922655" cy="798830"/>
          </a:xfrm>
        </p:grpSpPr>
        <p:sp>
          <p:nvSpPr>
            <p:cNvPr id="30" name="object 30"/>
            <p:cNvSpPr/>
            <p:nvPr/>
          </p:nvSpPr>
          <p:spPr>
            <a:xfrm>
              <a:off x="7391398" y="37350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91398" y="37337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4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4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391398" y="37338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21489" y="5266517"/>
            <a:ext cx="701040" cy="821055"/>
            <a:chOff x="1821489" y="5266517"/>
            <a:chExt cx="701040" cy="821055"/>
          </a:xfrm>
        </p:grpSpPr>
        <p:sp>
          <p:nvSpPr>
            <p:cNvPr id="34" name="object 34"/>
            <p:cNvSpPr/>
            <p:nvPr/>
          </p:nvSpPr>
          <p:spPr>
            <a:xfrm>
              <a:off x="1826252" y="5271279"/>
              <a:ext cx="691515" cy="811530"/>
            </a:xfrm>
            <a:custGeom>
              <a:avLst/>
              <a:gdLst/>
              <a:ahLst/>
              <a:cxnLst/>
              <a:rect l="l" t="t" r="r" b="b"/>
              <a:pathLst>
                <a:path w="691514" h="811529">
                  <a:moveTo>
                    <a:pt x="632233" y="0"/>
                  </a:moveTo>
                  <a:lnTo>
                    <a:pt x="0" y="762606"/>
                  </a:lnTo>
                  <a:lnTo>
                    <a:pt x="58661" y="811240"/>
                  </a:lnTo>
                  <a:lnTo>
                    <a:pt x="690895" y="48633"/>
                  </a:lnTo>
                  <a:lnTo>
                    <a:pt x="6322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26252" y="5271279"/>
              <a:ext cx="691515" cy="811530"/>
            </a:xfrm>
            <a:custGeom>
              <a:avLst/>
              <a:gdLst/>
              <a:ahLst/>
              <a:cxnLst/>
              <a:rect l="l" t="t" r="r" b="b"/>
              <a:pathLst>
                <a:path w="691514" h="811529">
                  <a:moveTo>
                    <a:pt x="632233" y="0"/>
                  </a:moveTo>
                  <a:lnTo>
                    <a:pt x="690896" y="48633"/>
                  </a:lnTo>
                  <a:lnTo>
                    <a:pt x="58661" y="811239"/>
                  </a:lnTo>
                  <a:lnTo>
                    <a:pt x="0" y="762606"/>
                  </a:lnTo>
                  <a:lnTo>
                    <a:pt x="632233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26251" y="5271279"/>
              <a:ext cx="691515" cy="811530"/>
            </a:xfrm>
            <a:custGeom>
              <a:avLst/>
              <a:gdLst/>
              <a:ahLst/>
              <a:cxnLst/>
              <a:rect l="l" t="t" r="r" b="b"/>
              <a:pathLst>
                <a:path w="691514" h="811529">
                  <a:moveTo>
                    <a:pt x="58662" y="0"/>
                  </a:moveTo>
                  <a:lnTo>
                    <a:pt x="0" y="48633"/>
                  </a:lnTo>
                  <a:lnTo>
                    <a:pt x="632233" y="811240"/>
                  </a:lnTo>
                  <a:lnTo>
                    <a:pt x="690896" y="762606"/>
                  </a:lnTo>
                  <a:lnTo>
                    <a:pt x="58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26251" y="5271279"/>
              <a:ext cx="691515" cy="811530"/>
            </a:xfrm>
            <a:custGeom>
              <a:avLst/>
              <a:gdLst/>
              <a:ahLst/>
              <a:cxnLst/>
              <a:rect l="l" t="t" r="r" b="b"/>
              <a:pathLst>
                <a:path w="691514" h="811529">
                  <a:moveTo>
                    <a:pt x="58662" y="0"/>
                  </a:moveTo>
                  <a:lnTo>
                    <a:pt x="0" y="48633"/>
                  </a:lnTo>
                  <a:lnTo>
                    <a:pt x="632234" y="811239"/>
                  </a:lnTo>
                  <a:lnTo>
                    <a:pt x="690896" y="762606"/>
                  </a:lnTo>
                  <a:lnTo>
                    <a:pt x="58662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4984" y="552450"/>
            <a:ext cx="51771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025" algn="l"/>
              </a:tabLst>
            </a:pPr>
            <a:r>
              <a:rPr dirty="0">
                <a:latin typeface="Times New Roman"/>
                <a:cs typeface="Times New Roman"/>
              </a:rPr>
              <a:t>An	</a:t>
            </a:r>
            <a:r>
              <a:rPr spc="-5" dirty="0">
                <a:latin typeface="Times New Roman"/>
                <a:cs typeface="Times New Roman"/>
              </a:rPr>
              <a:t>Enqueue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5690235" cy="1252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marR="5080" indent="-342900">
              <a:lnSpc>
                <a:spcPct val="93700"/>
              </a:lnSpc>
              <a:spcBef>
                <a:spcPts val="3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 an element enters the queue,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incremented,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last changes,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too.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97037" y="4804756"/>
            <a:ext cx="6075680" cy="1243965"/>
            <a:chOff x="1697037" y="4804756"/>
            <a:chExt cx="6075680" cy="1243965"/>
          </a:xfrm>
        </p:grpSpPr>
        <p:sp>
          <p:nvSpPr>
            <p:cNvPr id="5" name="object 5"/>
            <p:cNvSpPr/>
            <p:nvPr/>
          </p:nvSpPr>
          <p:spPr>
            <a:xfrm>
              <a:off x="1703387" y="5252720"/>
              <a:ext cx="6047105" cy="786130"/>
            </a:xfrm>
            <a:custGeom>
              <a:avLst/>
              <a:gdLst/>
              <a:ahLst/>
              <a:cxnLst/>
              <a:rect l="l" t="t" r="r" b="b"/>
              <a:pathLst>
                <a:path w="6047105" h="786129">
                  <a:moveTo>
                    <a:pt x="6046775" y="1270"/>
                  </a:moveTo>
                  <a:lnTo>
                    <a:pt x="6046394" y="1270"/>
                  </a:lnTo>
                  <a:lnTo>
                    <a:pt x="6046394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784860"/>
                  </a:lnTo>
                  <a:lnTo>
                    <a:pt x="63" y="786130"/>
                  </a:lnTo>
                  <a:lnTo>
                    <a:pt x="6046711" y="786130"/>
                  </a:lnTo>
                  <a:lnTo>
                    <a:pt x="6046711" y="784860"/>
                  </a:lnTo>
                  <a:lnTo>
                    <a:pt x="604677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3387" y="5253037"/>
              <a:ext cx="6047105" cy="786130"/>
            </a:xfrm>
            <a:custGeom>
              <a:avLst/>
              <a:gdLst/>
              <a:ahLst/>
              <a:cxnLst/>
              <a:rect l="l" t="t" r="r" b="b"/>
              <a:pathLst>
                <a:path w="6047105" h="786129">
                  <a:moveTo>
                    <a:pt x="0" y="1563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6045221" y="0"/>
                  </a:lnTo>
                  <a:lnTo>
                    <a:pt x="6046084" y="0"/>
                  </a:lnTo>
                  <a:lnTo>
                    <a:pt x="6046784" y="700"/>
                  </a:lnTo>
                  <a:lnTo>
                    <a:pt x="6046784" y="1563"/>
                  </a:lnTo>
                  <a:lnTo>
                    <a:pt x="6046784" y="784247"/>
                  </a:lnTo>
                  <a:lnTo>
                    <a:pt x="6046784" y="785111"/>
                  </a:lnTo>
                  <a:lnTo>
                    <a:pt x="6046084" y="785811"/>
                  </a:lnTo>
                  <a:lnTo>
                    <a:pt x="6045221" y="785811"/>
                  </a:lnTo>
                  <a:lnTo>
                    <a:pt x="1564" y="785811"/>
                  </a:lnTo>
                  <a:lnTo>
                    <a:pt x="700" y="785811"/>
                  </a:lnTo>
                  <a:lnTo>
                    <a:pt x="0" y="785111"/>
                  </a:lnTo>
                  <a:lnTo>
                    <a:pt x="0" y="784247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6200" y="5249863"/>
              <a:ext cx="1905" cy="792480"/>
            </a:xfrm>
            <a:custGeom>
              <a:avLst/>
              <a:gdLst/>
              <a:ahLst/>
              <a:cxnLst/>
              <a:rect l="l" t="t" r="r" b="b"/>
              <a:pathLst>
                <a:path w="1905" h="792479">
                  <a:moveTo>
                    <a:pt x="0" y="0"/>
                  </a:moveTo>
                  <a:lnTo>
                    <a:pt x="1588" y="792161"/>
                  </a:lnTo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30600" y="5249863"/>
              <a:ext cx="1905" cy="792480"/>
            </a:xfrm>
            <a:custGeom>
              <a:avLst/>
              <a:gdLst/>
              <a:ahLst/>
              <a:cxnLst/>
              <a:rect l="l" t="t" r="r" b="b"/>
              <a:pathLst>
                <a:path w="1904" h="792479">
                  <a:moveTo>
                    <a:pt x="0" y="0"/>
                  </a:moveTo>
                  <a:lnTo>
                    <a:pt x="1587" y="792161"/>
                  </a:lnTo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43412" y="5249863"/>
              <a:ext cx="1905" cy="792480"/>
            </a:xfrm>
            <a:custGeom>
              <a:avLst/>
              <a:gdLst/>
              <a:ahLst/>
              <a:cxnLst/>
              <a:rect l="l" t="t" r="r" b="b"/>
              <a:pathLst>
                <a:path w="1904" h="792479">
                  <a:moveTo>
                    <a:pt x="0" y="0"/>
                  </a:moveTo>
                  <a:lnTo>
                    <a:pt x="1587" y="792161"/>
                  </a:lnTo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59398" y="5253037"/>
              <a:ext cx="1905" cy="784225"/>
            </a:xfrm>
            <a:custGeom>
              <a:avLst/>
              <a:gdLst/>
              <a:ahLst/>
              <a:cxnLst/>
              <a:rect l="l" t="t" r="r" b="b"/>
              <a:pathLst>
                <a:path w="1904" h="784225">
                  <a:moveTo>
                    <a:pt x="0" y="0"/>
                  </a:moveTo>
                  <a:lnTo>
                    <a:pt x="1587" y="784224"/>
                  </a:lnTo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73798" y="5253037"/>
              <a:ext cx="1905" cy="784225"/>
            </a:xfrm>
            <a:custGeom>
              <a:avLst/>
              <a:gdLst/>
              <a:ahLst/>
              <a:cxnLst/>
              <a:rect l="l" t="t" r="r" b="b"/>
              <a:pathLst>
                <a:path w="1904" h="784225">
                  <a:moveTo>
                    <a:pt x="0" y="0"/>
                  </a:moveTo>
                  <a:lnTo>
                    <a:pt x="1587" y="784224"/>
                  </a:lnTo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88198" y="5248275"/>
              <a:ext cx="1905" cy="793750"/>
            </a:xfrm>
            <a:custGeom>
              <a:avLst/>
              <a:gdLst/>
              <a:ahLst/>
              <a:cxnLst/>
              <a:rect l="l" t="t" r="r" b="b"/>
              <a:pathLst>
                <a:path w="1904" h="793750">
                  <a:moveTo>
                    <a:pt x="0" y="0"/>
                  </a:moveTo>
                  <a:lnTo>
                    <a:pt x="1588" y="793749"/>
                  </a:lnTo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4804756"/>
              <a:ext cx="581890" cy="4655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952" y="4804756"/>
              <a:ext cx="436418" cy="4655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382" y="4804756"/>
              <a:ext cx="581890" cy="4655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531" y="4804756"/>
              <a:ext cx="581890" cy="4655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3930" y="4804756"/>
              <a:ext cx="581890" cy="4655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20" y="4804756"/>
              <a:ext cx="577734" cy="4655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1948" y="4804756"/>
              <a:ext cx="490450" cy="46551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902137" y="4811283"/>
            <a:ext cx="581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815464" algn="l"/>
                <a:tab pos="2696845" algn="l"/>
                <a:tab pos="3611245" algn="l"/>
                <a:tab pos="4582795" algn="l"/>
                <a:tab pos="5417820" algn="l"/>
              </a:tabLst>
            </a:pPr>
            <a:r>
              <a:rPr sz="2400" dirty="0">
                <a:latin typeface="Calibri"/>
                <a:cs typeface="Calibri"/>
              </a:rPr>
              <a:t>[ 0 ]	[1]	[ 2 ]	[ 3 ]	[ 4 ]	[ 5 ]	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51299" y="5420886"/>
            <a:ext cx="902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4088" y="5427236"/>
            <a:ext cx="900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034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38487" y="5427236"/>
            <a:ext cx="89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6759" y="2015836"/>
            <a:ext cx="565265" cy="46551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8391636" y="2020260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85098" y="1898700"/>
            <a:ext cx="922655" cy="798830"/>
            <a:chOff x="7385098" y="1898700"/>
            <a:chExt cx="922655" cy="798830"/>
          </a:xfrm>
        </p:grpSpPr>
        <p:sp>
          <p:nvSpPr>
            <p:cNvPr id="27" name="object 27"/>
            <p:cNvSpPr/>
            <p:nvPr/>
          </p:nvSpPr>
          <p:spPr>
            <a:xfrm>
              <a:off x="7391398" y="19062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91398" y="1905000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30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91398" y="19050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66759" y="2930236"/>
            <a:ext cx="590203" cy="46551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8391636" y="2934658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385098" y="2813099"/>
            <a:ext cx="922655" cy="798830"/>
            <a:chOff x="7385098" y="2813099"/>
            <a:chExt cx="922655" cy="798830"/>
          </a:xfrm>
        </p:grpSpPr>
        <p:sp>
          <p:nvSpPr>
            <p:cNvPr id="33" name="object 33"/>
            <p:cNvSpPr/>
            <p:nvPr/>
          </p:nvSpPr>
          <p:spPr>
            <a:xfrm>
              <a:off x="7391398" y="2820669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90"/>
                  </a:moveTo>
                  <a:lnTo>
                    <a:pt x="909637" y="783590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9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91398" y="28193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391398" y="28194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66759" y="3844636"/>
            <a:ext cx="540327" cy="465512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391636" y="3849058"/>
            <a:ext cx="462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85098" y="3727499"/>
            <a:ext cx="922655" cy="798830"/>
            <a:chOff x="7385098" y="3727499"/>
            <a:chExt cx="922655" cy="798830"/>
          </a:xfrm>
        </p:grpSpPr>
        <p:sp>
          <p:nvSpPr>
            <p:cNvPr id="39" name="object 39"/>
            <p:cNvSpPr/>
            <p:nvPr/>
          </p:nvSpPr>
          <p:spPr>
            <a:xfrm>
              <a:off x="7391398" y="37350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91398" y="37337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4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4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391398" y="37338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62299" y="5899808"/>
            <a:ext cx="1562100" cy="539115"/>
            <a:chOff x="3162299" y="5899808"/>
            <a:chExt cx="1562100" cy="539115"/>
          </a:xfrm>
        </p:grpSpPr>
        <p:sp>
          <p:nvSpPr>
            <p:cNvPr id="43" name="object 43"/>
            <p:cNvSpPr/>
            <p:nvPr/>
          </p:nvSpPr>
          <p:spPr>
            <a:xfrm>
              <a:off x="3200399" y="5965495"/>
              <a:ext cx="1451610" cy="435609"/>
            </a:xfrm>
            <a:custGeom>
              <a:avLst/>
              <a:gdLst/>
              <a:ahLst/>
              <a:cxnLst/>
              <a:rect l="l" t="t" r="r" b="b"/>
              <a:pathLst>
                <a:path w="1451610" h="435610">
                  <a:moveTo>
                    <a:pt x="0" y="435304"/>
                  </a:moveTo>
                  <a:lnTo>
                    <a:pt x="145101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72597" y="5899808"/>
              <a:ext cx="252095" cy="219075"/>
            </a:xfrm>
            <a:custGeom>
              <a:avLst/>
              <a:gdLst/>
              <a:ahLst/>
              <a:cxnLst/>
              <a:rect l="l" t="t" r="r" b="b"/>
              <a:pathLst>
                <a:path w="252095" h="219075">
                  <a:moveTo>
                    <a:pt x="0" y="0"/>
                  </a:moveTo>
                  <a:lnTo>
                    <a:pt x="65686" y="218959"/>
                  </a:lnTo>
                  <a:lnTo>
                    <a:pt x="251802" y="43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0550" y="552450"/>
            <a:ext cx="52857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3020" algn="l"/>
                <a:tab pos="3178175" algn="l"/>
              </a:tabLst>
            </a:pPr>
            <a:r>
              <a:rPr dirty="0">
                <a:latin typeface="Times New Roman"/>
                <a:cs typeface="Times New Roman"/>
              </a:rPr>
              <a:t>At</a:t>
            </a:r>
            <a:r>
              <a:rPr spc="-5" dirty="0">
                <a:latin typeface="Times New Roman"/>
                <a:cs typeface="Times New Roman"/>
              </a:rPr>
              <a:t> t</a:t>
            </a:r>
            <a:r>
              <a:rPr dirty="0">
                <a:latin typeface="Times New Roman"/>
                <a:cs typeface="Times New Roman"/>
              </a:rPr>
              <a:t>he</a:t>
            </a:r>
            <a:r>
              <a:rPr spc="-5" dirty="0">
                <a:latin typeface="Times New Roman"/>
                <a:cs typeface="Times New Roman"/>
              </a:rPr>
              <a:t> E</a:t>
            </a:r>
            <a:r>
              <a:rPr dirty="0">
                <a:latin typeface="Times New Roman"/>
                <a:cs typeface="Times New Roman"/>
              </a:rPr>
              <a:t>nd	of	</a:t>
            </a:r>
            <a:r>
              <a:rPr spc="-5" dirty="0">
                <a:latin typeface="Times New Roman"/>
                <a:cs typeface="Times New Roman"/>
              </a:rPr>
              <a:t>t</a:t>
            </a:r>
            <a:r>
              <a:rPr dirty="0">
                <a:latin typeface="Times New Roman"/>
                <a:cs typeface="Times New Roman"/>
              </a:rPr>
              <a:t>he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Arr</a:t>
            </a:r>
            <a:r>
              <a:rPr spc="-5" dirty="0">
                <a:latin typeface="Times New Roman"/>
                <a:cs typeface="Times New Roman"/>
              </a:rPr>
              <a:t>a</a:t>
            </a:r>
            <a:r>
              <a:rPr dirty="0"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5788660" cy="16586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marR="5080" indent="-342900">
              <a:lnSpc>
                <a:spcPct val="94200"/>
              </a:lnSpc>
              <a:spcBef>
                <a:spcPts val="2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behavior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end</a:t>
            </a:r>
            <a:r>
              <a:rPr sz="2800" dirty="0">
                <a:latin typeface="Times New Roman"/>
                <a:cs typeface="Times New Roman"/>
              </a:rPr>
              <a:t> 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array.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example,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suppose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want to add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new element to this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queue, where the last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index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[5]: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97087" y="4804756"/>
            <a:ext cx="5472430" cy="1240790"/>
            <a:chOff x="1697087" y="4804756"/>
            <a:chExt cx="5472430" cy="1240790"/>
          </a:xfrm>
        </p:grpSpPr>
        <p:sp>
          <p:nvSpPr>
            <p:cNvPr id="5" name="object 5"/>
            <p:cNvSpPr/>
            <p:nvPr/>
          </p:nvSpPr>
          <p:spPr>
            <a:xfrm>
              <a:off x="1703387" y="5253037"/>
              <a:ext cx="5459730" cy="786130"/>
            </a:xfrm>
            <a:custGeom>
              <a:avLst/>
              <a:gdLst/>
              <a:ahLst/>
              <a:cxnLst/>
              <a:rect l="l" t="t" r="r" b="b"/>
              <a:pathLst>
                <a:path w="5459730" h="786129">
                  <a:moveTo>
                    <a:pt x="0" y="1563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5457846" y="0"/>
                  </a:lnTo>
                  <a:lnTo>
                    <a:pt x="5458710" y="0"/>
                  </a:lnTo>
                  <a:lnTo>
                    <a:pt x="5459410" y="700"/>
                  </a:lnTo>
                  <a:lnTo>
                    <a:pt x="5459410" y="1563"/>
                  </a:lnTo>
                  <a:lnTo>
                    <a:pt x="5459410" y="784247"/>
                  </a:lnTo>
                  <a:lnTo>
                    <a:pt x="5459410" y="785111"/>
                  </a:lnTo>
                  <a:lnTo>
                    <a:pt x="5458710" y="785811"/>
                  </a:lnTo>
                  <a:lnTo>
                    <a:pt x="5457846" y="785811"/>
                  </a:lnTo>
                  <a:lnTo>
                    <a:pt x="1564" y="785811"/>
                  </a:lnTo>
                  <a:lnTo>
                    <a:pt x="700" y="785811"/>
                  </a:lnTo>
                  <a:lnTo>
                    <a:pt x="0" y="785111"/>
                  </a:lnTo>
                  <a:lnTo>
                    <a:pt x="0" y="784247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4804756"/>
              <a:ext cx="581890" cy="465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952" y="4804756"/>
              <a:ext cx="436418" cy="465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382" y="4804756"/>
              <a:ext cx="581890" cy="465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531" y="4804756"/>
              <a:ext cx="581890" cy="465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3930" y="4804756"/>
              <a:ext cx="581890" cy="465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20" y="4804756"/>
              <a:ext cx="577734" cy="4655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902137" y="4811283"/>
            <a:ext cx="5075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815464" algn="l"/>
                <a:tab pos="2696845" algn="l"/>
                <a:tab pos="3611245" algn="l"/>
                <a:tab pos="4582795" algn="l"/>
              </a:tabLst>
            </a:pPr>
            <a:r>
              <a:rPr sz="2400" dirty="0">
                <a:latin typeface="Calibri"/>
                <a:cs typeface="Calibri"/>
              </a:rPr>
              <a:t>[ 0 ]	[1]	[ 2 ]	[ 3 ]	[ 4 ]	[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03387" y="5252720"/>
          <a:ext cx="5459091" cy="786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6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9050">
                      <a:solidFill>
                        <a:srgbClr val="0433FF"/>
                      </a:solidFill>
                      <a:prstDash val="solid"/>
                    </a:lnL>
                    <a:solidFill>
                      <a:srgbClr val="939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66759" y="2015836"/>
            <a:ext cx="565265" cy="4655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91636" y="2020260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85098" y="1898700"/>
            <a:ext cx="922655" cy="798830"/>
            <a:chOff x="7385098" y="1898700"/>
            <a:chExt cx="922655" cy="798830"/>
          </a:xfrm>
        </p:grpSpPr>
        <p:sp>
          <p:nvSpPr>
            <p:cNvPr id="17" name="object 17"/>
            <p:cNvSpPr/>
            <p:nvPr/>
          </p:nvSpPr>
          <p:spPr>
            <a:xfrm>
              <a:off x="7391398" y="19062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91398" y="1905000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30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91398" y="19050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6759" y="2930236"/>
            <a:ext cx="590203" cy="46551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391636" y="2934658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85098" y="2813099"/>
            <a:ext cx="922655" cy="798830"/>
            <a:chOff x="7385098" y="2813099"/>
            <a:chExt cx="922655" cy="798830"/>
          </a:xfrm>
        </p:grpSpPr>
        <p:sp>
          <p:nvSpPr>
            <p:cNvPr id="23" name="object 23"/>
            <p:cNvSpPr/>
            <p:nvPr/>
          </p:nvSpPr>
          <p:spPr>
            <a:xfrm>
              <a:off x="7391398" y="2820669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90"/>
                  </a:moveTo>
                  <a:lnTo>
                    <a:pt x="909637" y="783590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9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1398" y="28193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91398" y="28194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66759" y="3844636"/>
            <a:ext cx="540327" cy="46551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391636" y="3849058"/>
            <a:ext cx="462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85098" y="3727499"/>
            <a:ext cx="922655" cy="798830"/>
            <a:chOff x="7385098" y="3727499"/>
            <a:chExt cx="922655" cy="798830"/>
          </a:xfrm>
        </p:grpSpPr>
        <p:sp>
          <p:nvSpPr>
            <p:cNvPr id="29" name="object 29"/>
            <p:cNvSpPr/>
            <p:nvPr/>
          </p:nvSpPr>
          <p:spPr>
            <a:xfrm>
              <a:off x="7391398" y="37350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1398" y="37337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4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4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91398" y="37338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0550" y="552450"/>
            <a:ext cx="52857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3020" algn="l"/>
                <a:tab pos="3178175" algn="l"/>
              </a:tabLst>
            </a:pPr>
            <a:r>
              <a:rPr dirty="0">
                <a:latin typeface="Times New Roman"/>
                <a:cs typeface="Times New Roman"/>
              </a:rPr>
              <a:t>At</a:t>
            </a:r>
            <a:r>
              <a:rPr spc="-5" dirty="0">
                <a:latin typeface="Times New Roman"/>
                <a:cs typeface="Times New Roman"/>
              </a:rPr>
              <a:t> t</a:t>
            </a:r>
            <a:r>
              <a:rPr dirty="0">
                <a:latin typeface="Times New Roman"/>
                <a:cs typeface="Times New Roman"/>
              </a:rPr>
              <a:t>he</a:t>
            </a:r>
            <a:r>
              <a:rPr spc="-5" dirty="0">
                <a:latin typeface="Times New Roman"/>
                <a:cs typeface="Times New Roman"/>
              </a:rPr>
              <a:t> E</a:t>
            </a:r>
            <a:r>
              <a:rPr dirty="0">
                <a:latin typeface="Times New Roman"/>
                <a:cs typeface="Times New Roman"/>
              </a:rPr>
              <a:t>nd	of	</a:t>
            </a:r>
            <a:r>
              <a:rPr spc="-5" dirty="0">
                <a:latin typeface="Times New Roman"/>
                <a:cs typeface="Times New Roman"/>
              </a:rPr>
              <a:t>t</a:t>
            </a:r>
            <a:r>
              <a:rPr dirty="0">
                <a:latin typeface="Times New Roman"/>
                <a:cs typeface="Times New Roman"/>
              </a:rPr>
              <a:t>he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Arr</a:t>
            </a:r>
            <a:r>
              <a:rPr spc="-5" dirty="0">
                <a:latin typeface="Times New Roman"/>
                <a:cs typeface="Times New Roman"/>
              </a:rPr>
              <a:t>a</a:t>
            </a:r>
            <a:r>
              <a:rPr dirty="0"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996439"/>
            <a:ext cx="5591175" cy="12522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marR="5080" indent="-342900">
              <a:lnSpc>
                <a:spcPct val="93700"/>
              </a:lnSpc>
              <a:spcBef>
                <a:spcPts val="3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new element goes at the </a:t>
            </a:r>
            <a:r>
              <a:rPr sz="2800" dirty="0">
                <a:latin typeface="Times New Roman"/>
                <a:cs typeface="Times New Roman"/>
              </a:rPr>
              <a:t>front 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array (if that </a:t>
            </a:r>
            <a:r>
              <a:rPr sz="2800" dirty="0">
                <a:latin typeface="Times New Roman"/>
                <a:cs typeface="Times New Roman"/>
              </a:rPr>
              <a:t>spot </a:t>
            </a:r>
            <a:r>
              <a:rPr sz="2800" spc="-5" dirty="0">
                <a:latin typeface="Times New Roman"/>
                <a:cs typeface="Times New Roman"/>
              </a:rPr>
              <a:t>isn</a:t>
            </a:r>
            <a:r>
              <a:rPr sz="2800" spc="-5" dirty="0">
                <a:latin typeface="MS PGothic"/>
                <a:cs typeface="MS PGothic"/>
              </a:rPr>
              <a:t>’</a:t>
            </a:r>
            <a:r>
              <a:rPr sz="2800" spc="-5" dirty="0">
                <a:latin typeface="Times New Roman"/>
                <a:cs typeface="Times New Roman"/>
              </a:rPr>
              <a:t>t already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used):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97087" y="4804756"/>
            <a:ext cx="5472430" cy="1240790"/>
            <a:chOff x="1697087" y="4804756"/>
            <a:chExt cx="5472430" cy="1240790"/>
          </a:xfrm>
        </p:grpSpPr>
        <p:sp>
          <p:nvSpPr>
            <p:cNvPr id="5" name="object 5"/>
            <p:cNvSpPr/>
            <p:nvPr/>
          </p:nvSpPr>
          <p:spPr>
            <a:xfrm>
              <a:off x="1703387" y="5253037"/>
              <a:ext cx="5459730" cy="786130"/>
            </a:xfrm>
            <a:custGeom>
              <a:avLst/>
              <a:gdLst/>
              <a:ahLst/>
              <a:cxnLst/>
              <a:rect l="l" t="t" r="r" b="b"/>
              <a:pathLst>
                <a:path w="5459730" h="786129">
                  <a:moveTo>
                    <a:pt x="0" y="1563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5457846" y="0"/>
                  </a:lnTo>
                  <a:lnTo>
                    <a:pt x="5458710" y="0"/>
                  </a:lnTo>
                  <a:lnTo>
                    <a:pt x="5459410" y="700"/>
                  </a:lnTo>
                  <a:lnTo>
                    <a:pt x="5459410" y="1563"/>
                  </a:lnTo>
                  <a:lnTo>
                    <a:pt x="5459410" y="784247"/>
                  </a:lnTo>
                  <a:lnTo>
                    <a:pt x="5459410" y="785111"/>
                  </a:lnTo>
                  <a:lnTo>
                    <a:pt x="5458710" y="785811"/>
                  </a:lnTo>
                  <a:lnTo>
                    <a:pt x="5457846" y="785811"/>
                  </a:lnTo>
                  <a:lnTo>
                    <a:pt x="1564" y="785811"/>
                  </a:lnTo>
                  <a:lnTo>
                    <a:pt x="700" y="785811"/>
                  </a:lnTo>
                  <a:lnTo>
                    <a:pt x="0" y="785111"/>
                  </a:lnTo>
                  <a:lnTo>
                    <a:pt x="0" y="784247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4804756"/>
              <a:ext cx="581890" cy="465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952" y="4804756"/>
              <a:ext cx="436418" cy="465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382" y="4804756"/>
              <a:ext cx="581890" cy="465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531" y="4804756"/>
              <a:ext cx="581890" cy="465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3930" y="4804756"/>
              <a:ext cx="581890" cy="465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20" y="4804756"/>
              <a:ext cx="577734" cy="4655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902137" y="4811283"/>
            <a:ext cx="5075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815464" algn="l"/>
                <a:tab pos="2696845" algn="l"/>
                <a:tab pos="3611245" algn="l"/>
                <a:tab pos="4582795" algn="l"/>
              </a:tabLst>
            </a:pPr>
            <a:r>
              <a:rPr sz="2400" dirty="0">
                <a:latin typeface="Calibri"/>
                <a:cs typeface="Calibri"/>
              </a:rPr>
              <a:t>[ 0 ]	[1]	[ 2 ]	[ 3 ]	[ 4 ]	[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03387" y="5252720"/>
          <a:ext cx="5459091" cy="786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6130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9050">
                      <a:solidFill>
                        <a:srgbClr val="0433FF"/>
                      </a:solidFill>
                      <a:prstDash val="solid"/>
                    </a:lnL>
                    <a:solidFill>
                      <a:srgbClr val="939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66759" y="2015836"/>
            <a:ext cx="565265" cy="4655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91636" y="2020260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85098" y="1898700"/>
            <a:ext cx="922655" cy="798830"/>
            <a:chOff x="7385098" y="1898700"/>
            <a:chExt cx="922655" cy="798830"/>
          </a:xfrm>
        </p:grpSpPr>
        <p:sp>
          <p:nvSpPr>
            <p:cNvPr id="17" name="object 17"/>
            <p:cNvSpPr/>
            <p:nvPr/>
          </p:nvSpPr>
          <p:spPr>
            <a:xfrm>
              <a:off x="7391398" y="19062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91398" y="1905000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30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91398" y="19050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6759" y="2930236"/>
            <a:ext cx="590203" cy="46551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391636" y="2934658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85098" y="2813099"/>
            <a:ext cx="922655" cy="798830"/>
            <a:chOff x="7385098" y="2813099"/>
            <a:chExt cx="922655" cy="798830"/>
          </a:xfrm>
        </p:grpSpPr>
        <p:sp>
          <p:nvSpPr>
            <p:cNvPr id="23" name="object 23"/>
            <p:cNvSpPr/>
            <p:nvPr/>
          </p:nvSpPr>
          <p:spPr>
            <a:xfrm>
              <a:off x="7391398" y="2820669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90"/>
                  </a:moveTo>
                  <a:lnTo>
                    <a:pt x="909637" y="783590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9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1398" y="28193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91398" y="28194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66759" y="3844636"/>
            <a:ext cx="540327" cy="46551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391636" y="3849058"/>
            <a:ext cx="462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85098" y="3727499"/>
            <a:ext cx="922655" cy="798830"/>
            <a:chOff x="7385098" y="3727499"/>
            <a:chExt cx="922655" cy="798830"/>
          </a:xfrm>
        </p:grpSpPr>
        <p:sp>
          <p:nvSpPr>
            <p:cNvPr id="29" name="object 29"/>
            <p:cNvSpPr/>
            <p:nvPr/>
          </p:nvSpPr>
          <p:spPr>
            <a:xfrm>
              <a:off x="7391398" y="37350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1398" y="37337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4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4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91398" y="37338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42899" y="5899808"/>
            <a:ext cx="1562100" cy="539115"/>
            <a:chOff x="342899" y="5899808"/>
            <a:chExt cx="1562100" cy="539115"/>
          </a:xfrm>
        </p:grpSpPr>
        <p:sp>
          <p:nvSpPr>
            <p:cNvPr id="33" name="object 33"/>
            <p:cNvSpPr/>
            <p:nvPr/>
          </p:nvSpPr>
          <p:spPr>
            <a:xfrm>
              <a:off x="380999" y="5965495"/>
              <a:ext cx="1451610" cy="435609"/>
            </a:xfrm>
            <a:custGeom>
              <a:avLst/>
              <a:gdLst/>
              <a:ahLst/>
              <a:cxnLst/>
              <a:rect l="l" t="t" r="r" b="b"/>
              <a:pathLst>
                <a:path w="1451610" h="435610">
                  <a:moveTo>
                    <a:pt x="0" y="435304"/>
                  </a:moveTo>
                  <a:lnTo>
                    <a:pt x="145101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53197" y="5899808"/>
              <a:ext cx="252095" cy="219075"/>
            </a:xfrm>
            <a:custGeom>
              <a:avLst/>
              <a:gdLst/>
              <a:ahLst/>
              <a:cxnLst/>
              <a:rect l="l" t="t" r="r" b="b"/>
              <a:pathLst>
                <a:path w="252094" h="219075">
                  <a:moveTo>
                    <a:pt x="0" y="0"/>
                  </a:moveTo>
                  <a:lnTo>
                    <a:pt x="65686" y="218959"/>
                  </a:lnTo>
                  <a:lnTo>
                    <a:pt x="251802" y="43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387" y="552450"/>
            <a:ext cx="5006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4785" algn="l"/>
              </a:tabLst>
            </a:pPr>
            <a:r>
              <a:rPr spc="-5" dirty="0">
                <a:latin typeface="Times New Roman"/>
                <a:cs typeface="Times New Roman"/>
              </a:rPr>
              <a:t>Array	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97087" y="4804756"/>
            <a:ext cx="6075680" cy="1240790"/>
            <a:chOff x="1697087" y="4804756"/>
            <a:chExt cx="6075680" cy="1240790"/>
          </a:xfrm>
        </p:grpSpPr>
        <p:sp>
          <p:nvSpPr>
            <p:cNvPr id="4" name="object 4"/>
            <p:cNvSpPr/>
            <p:nvPr/>
          </p:nvSpPr>
          <p:spPr>
            <a:xfrm>
              <a:off x="1703387" y="5253037"/>
              <a:ext cx="6047105" cy="786130"/>
            </a:xfrm>
            <a:custGeom>
              <a:avLst/>
              <a:gdLst/>
              <a:ahLst/>
              <a:cxnLst/>
              <a:rect l="l" t="t" r="r" b="b"/>
              <a:pathLst>
                <a:path w="6047105" h="786129">
                  <a:moveTo>
                    <a:pt x="0" y="1563"/>
                  </a:moveTo>
                  <a:lnTo>
                    <a:pt x="0" y="700"/>
                  </a:lnTo>
                  <a:lnTo>
                    <a:pt x="700" y="0"/>
                  </a:lnTo>
                  <a:lnTo>
                    <a:pt x="1564" y="0"/>
                  </a:lnTo>
                  <a:lnTo>
                    <a:pt x="6045221" y="0"/>
                  </a:lnTo>
                  <a:lnTo>
                    <a:pt x="6046084" y="0"/>
                  </a:lnTo>
                  <a:lnTo>
                    <a:pt x="6046784" y="700"/>
                  </a:lnTo>
                  <a:lnTo>
                    <a:pt x="6046784" y="1563"/>
                  </a:lnTo>
                  <a:lnTo>
                    <a:pt x="6046784" y="784247"/>
                  </a:lnTo>
                  <a:lnTo>
                    <a:pt x="6046784" y="785111"/>
                  </a:lnTo>
                  <a:lnTo>
                    <a:pt x="6046084" y="785811"/>
                  </a:lnTo>
                  <a:lnTo>
                    <a:pt x="6045221" y="785811"/>
                  </a:lnTo>
                  <a:lnTo>
                    <a:pt x="1564" y="785811"/>
                  </a:lnTo>
                  <a:lnTo>
                    <a:pt x="700" y="785811"/>
                  </a:lnTo>
                  <a:lnTo>
                    <a:pt x="0" y="785111"/>
                  </a:lnTo>
                  <a:lnTo>
                    <a:pt x="0" y="784247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4520" y="4804756"/>
              <a:ext cx="581890" cy="4655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952" y="4804756"/>
              <a:ext cx="436418" cy="465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382" y="4804756"/>
              <a:ext cx="581890" cy="465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531" y="4804756"/>
              <a:ext cx="581890" cy="465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3930" y="4804756"/>
              <a:ext cx="581890" cy="465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6520" y="4804756"/>
              <a:ext cx="577734" cy="465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1948" y="4804756"/>
              <a:ext cx="490450" cy="46551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Easy</a:t>
            </a:r>
            <a:r>
              <a:rPr spc="-25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spc="-5" dirty="0"/>
              <a:t>implement</a:t>
            </a: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But</a:t>
            </a:r>
            <a:r>
              <a:rPr spc="-10" dirty="0"/>
              <a:t> </a:t>
            </a:r>
            <a:r>
              <a:rPr spc="-5" dirty="0"/>
              <a:t>it</a:t>
            </a:r>
            <a:r>
              <a:rPr spc="-10" dirty="0"/>
              <a:t> </a:t>
            </a:r>
            <a:r>
              <a:rPr spc="-5" dirty="0"/>
              <a:t>has</a:t>
            </a:r>
            <a:r>
              <a:rPr dirty="0"/>
              <a:t> a</a:t>
            </a:r>
            <a:r>
              <a:rPr spc="-10" dirty="0"/>
              <a:t> </a:t>
            </a:r>
            <a:r>
              <a:rPr spc="-5" dirty="0"/>
              <a:t>limited</a:t>
            </a:r>
            <a:r>
              <a:rPr dirty="0"/>
              <a:t> </a:t>
            </a:r>
            <a:r>
              <a:rPr spc="-5" dirty="0"/>
              <a:t>capacity with </a:t>
            </a:r>
            <a:r>
              <a:rPr dirty="0"/>
              <a:t>a</a:t>
            </a:r>
            <a:r>
              <a:rPr spc="-5" dirty="0"/>
              <a:t> fixed array</a:t>
            </a:r>
          </a:p>
          <a:p>
            <a:pPr marL="355600" marR="1745614" indent="-342900">
              <a:lnSpc>
                <a:spcPts val="28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Or you </a:t>
            </a:r>
            <a:r>
              <a:rPr spc="-5" dirty="0"/>
              <a:t>must </a:t>
            </a:r>
            <a:r>
              <a:rPr dirty="0"/>
              <a:t>use a </a:t>
            </a:r>
            <a:r>
              <a:rPr spc="-5" dirty="0"/>
              <a:t>dynamic array </a:t>
            </a:r>
            <a:r>
              <a:rPr dirty="0"/>
              <a:t>for </a:t>
            </a:r>
            <a:r>
              <a:rPr spc="-5" dirty="0"/>
              <a:t>an </a:t>
            </a:r>
            <a:r>
              <a:rPr spc="-585" dirty="0"/>
              <a:t> </a:t>
            </a:r>
            <a:r>
              <a:rPr spc="-5" dirty="0"/>
              <a:t>unbounded capacity</a:t>
            </a:r>
          </a:p>
          <a:p>
            <a:pPr marL="355600" marR="604520" indent="-342900">
              <a:lnSpc>
                <a:spcPts val="27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Special behavior</a:t>
            </a:r>
            <a:r>
              <a:rPr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needed</a:t>
            </a:r>
            <a:r>
              <a:rPr spc="5" dirty="0"/>
              <a:t> </a:t>
            </a:r>
            <a:r>
              <a:rPr spc="-5" dirty="0"/>
              <a:t>when</a:t>
            </a:r>
            <a:r>
              <a:rPr dirty="0"/>
              <a:t> </a:t>
            </a:r>
            <a:r>
              <a:rPr spc="-5" dirty="0"/>
              <a:t>the rear</a:t>
            </a:r>
            <a:r>
              <a:rPr dirty="0"/>
              <a:t> </a:t>
            </a:r>
            <a:r>
              <a:rPr spc="-5" dirty="0"/>
              <a:t>reaches </a:t>
            </a:r>
            <a:r>
              <a:rPr spc="-585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end</a:t>
            </a:r>
            <a:r>
              <a:rPr dirty="0"/>
              <a:t> of </a:t>
            </a:r>
            <a:r>
              <a:rPr spc="-5" dirty="0"/>
              <a:t>the </a:t>
            </a:r>
            <a:r>
              <a:rPr spc="-30" dirty="0"/>
              <a:t>array.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/>
          </a:p>
          <a:p>
            <a:pPr marL="1149985">
              <a:lnSpc>
                <a:spcPct val="100000"/>
              </a:lnSpc>
              <a:spcBef>
                <a:spcPts val="5"/>
              </a:spcBef>
              <a:tabLst>
                <a:tab pos="2115185" algn="l"/>
                <a:tab pos="2953385" algn="l"/>
                <a:tab pos="3834129" algn="l"/>
                <a:tab pos="4748530" algn="l"/>
                <a:tab pos="5720080" algn="l"/>
                <a:tab pos="6555105" algn="l"/>
              </a:tabLst>
            </a:pPr>
            <a:r>
              <a:rPr dirty="0">
                <a:latin typeface="Calibri"/>
                <a:cs typeface="Calibri"/>
              </a:rPr>
              <a:t>[ 0 ]	[1]	[ 2 ]	[ 3 ]	[ 4 ]	[ 5 ]	</a:t>
            </a:r>
            <a:r>
              <a:rPr b="1" dirty="0">
                <a:latin typeface="Calibri"/>
                <a:cs typeface="Calibri"/>
              </a:rPr>
              <a:t>.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.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03387" y="5252720"/>
          <a:ext cx="6046466" cy="786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1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6130"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4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87325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lnR w="19050">
                      <a:solidFill>
                        <a:srgbClr val="0433FF"/>
                      </a:solidFill>
                      <a:prstDash val="solid"/>
                    </a:lnR>
                    <a:solidFill>
                      <a:srgbClr val="939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433FF"/>
                      </a:solidFill>
                      <a:prstDash val="solid"/>
                    </a:lnL>
                    <a:solidFill>
                      <a:srgbClr val="939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6759" y="2015836"/>
            <a:ext cx="565265" cy="4655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91636" y="2020260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85098" y="1898700"/>
            <a:ext cx="922655" cy="798830"/>
            <a:chOff x="7385098" y="1898700"/>
            <a:chExt cx="922655" cy="798830"/>
          </a:xfrm>
        </p:grpSpPr>
        <p:sp>
          <p:nvSpPr>
            <p:cNvPr id="17" name="object 17"/>
            <p:cNvSpPr/>
            <p:nvPr/>
          </p:nvSpPr>
          <p:spPr>
            <a:xfrm>
              <a:off x="7391398" y="19062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91398" y="1905000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30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91398" y="19050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66759" y="2930236"/>
            <a:ext cx="590203" cy="46551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391636" y="2934658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85098" y="2813099"/>
            <a:ext cx="922655" cy="798830"/>
            <a:chOff x="7385098" y="2813099"/>
            <a:chExt cx="922655" cy="798830"/>
          </a:xfrm>
        </p:grpSpPr>
        <p:sp>
          <p:nvSpPr>
            <p:cNvPr id="23" name="object 23"/>
            <p:cNvSpPr/>
            <p:nvPr/>
          </p:nvSpPr>
          <p:spPr>
            <a:xfrm>
              <a:off x="7391398" y="2820669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90"/>
                  </a:moveTo>
                  <a:lnTo>
                    <a:pt x="909637" y="783590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9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1398" y="28193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3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3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3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91398" y="28194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66759" y="3844636"/>
            <a:ext cx="540327" cy="46551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391636" y="3849058"/>
            <a:ext cx="462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last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85098" y="3727499"/>
            <a:ext cx="922655" cy="798830"/>
            <a:chOff x="7385098" y="3727499"/>
            <a:chExt cx="922655" cy="798830"/>
          </a:xfrm>
        </p:grpSpPr>
        <p:sp>
          <p:nvSpPr>
            <p:cNvPr id="29" name="object 29"/>
            <p:cNvSpPr/>
            <p:nvPr/>
          </p:nvSpPr>
          <p:spPr>
            <a:xfrm>
              <a:off x="7391398" y="3735070"/>
              <a:ext cx="909955" cy="783590"/>
            </a:xfrm>
            <a:custGeom>
              <a:avLst/>
              <a:gdLst/>
              <a:ahLst/>
              <a:cxnLst/>
              <a:rect l="l" t="t" r="r" b="b"/>
              <a:pathLst>
                <a:path w="909954" h="783589">
                  <a:moveTo>
                    <a:pt x="0" y="783589"/>
                  </a:moveTo>
                  <a:lnTo>
                    <a:pt x="909637" y="783589"/>
                  </a:lnTo>
                  <a:lnTo>
                    <a:pt x="909637" y="0"/>
                  </a:lnTo>
                  <a:lnTo>
                    <a:pt x="0" y="0"/>
                  </a:lnTo>
                  <a:lnTo>
                    <a:pt x="0" y="78358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1398" y="3733799"/>
              <a:ext cx="909955" cy="786130"/>
            </a:xfrm>
            <a:custGeom>
              <a:avLst/>
              <a:gdLst/>
              <a:ahLst/>
              <a:cxnLst/>
              <a:rect l="l" t="t" r="r" b="b"/>
              <a:pathLst>
                <a:path w="909954" h="786129">
                  <a:moveTo>
                    <a:pt x="0" y="1564"/>
                  </a:moveTo>
                  <a:lnTo>
                    <a:pt x="0" y="700"/>
                  </a:lnTo>
                  <a:lnTo>
                    <a:pt x="699" y="0"/>
                  </a:lnTo>
                  <a:lnTo>
                    <a:pt x="1564" y="0"/>
                  </a:lnTo>
                  <a:lnTo>
                    <a:pt x="908073" y="0"/>
                  </a:lnTo>
                  <a:lnTo>
                    <a:pt x="908937" y="0"/>
                  </a:lnTo>
                  <a:lnTo>
                    <a:pt x="909637" y="700"/>
                  </a:lnTo>
                  <a:lnTo>
                    <a:pt x="909637" y="1564"/>
                  </a:lnTo>
                  <a:lnTo>
                    <a:pt x="909637" y="784248"/>
                  </a:lnTo>
                  <a:lnTo>
                    <a:pt x="909637" y="785112"/>
                  </a:lnTo>
                  <a:lnTo>
                    <a:pt x="908937" y="785812"/>
                  </a:lnTo>
                  <a:lnTo>
                    <a:pt x="908073" y="785812"/>
                  </a:lnTo>
                  <a:lnTo>
                    <a:pt x="1564" y="785812"/>
                  </a:lnTo>
                  <a:lnTo>
                    <a:pt x="699" y="785812"/>
                  </a:lnTo>
                  <a:lnTo>
                    <a:pt x="0" y="785112"/>
                  </a:lnTo>
                  <a:lnTo>
                    <a:pt x="0" y="784248"/>
                  </a:lnTo>
                  <a:lnTo>
                    <a:pt x="0" y="1564"/>
                  </a:lnTo>
                  <a:close/>
                </a:path>
              </a:pathLst>
            </a:custGeom>
            <a:ln w="12599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91398" y="3733800"/>
            <a:ext cx="909955" cy="7861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470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53148" y="4821237"/>
            <a:ext cx="2511425" cy="1473200"/>
            <a:chOff x="6153148" y="4821237"/>
            <a:chExt cx="2511425" cy="1473200"/>
          </a:xfrm>
        </p:grpSpPr>
        <p:sp>
          <p:nvSpPr>
            <p:cNvPr id="3" name="object 3"/>
            <p:cNvSpPr/>
            <p:nvPr/>
          </p:nvSpPr>
          <p:spPr>
            <a:xfrm>
              <a:off x="7650162" y="536066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927099"/>
                  </a:moveTo>
                  <a:lnTo>
                    <a:pt x="1000125" y="927099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709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50162" y="5359399"/>
              <a:ext cx="1000125" cy="929005"/>
            </a:xfrm>
            <a:custGeom>
              <a:avLst/>
              <a:gdLst/>
              <a:ahLst/>
              <a:cxnLst/>
              <a:rect l="l" t="t" r="r" b="b"/>
              <a:pathLst>
                <a:path w="1000125" h="929004">
                  <a:moveTo>
                    <a:pt x="0" y="1550"/>
                  </a:moveTo>
                  <a:lnTo>
                    <a:pt x="0" y="694"/>
                  </a:lnTo>
                  <a:lnTo>
                    <a:pt x="694" y="0"/>
                  </a:lnTo>
                  <a:lnTo>
                    <a:pt x="1551" y="0"/>
                  </a:lnTo>
                  <a:lnTo>
                    <a:pt x="998573" y="0"/>
                  </a:lnTo>
                  <a:lnTo>
                    <a:pt x="999430" y="0"/>
                  </a:lnTo>
                  <a:lnTo>
                    <a:pt x="1000125" y="694"/>
                  </a:lnTo>
                  <a:lnTo>
                    <a:pt x="1000125" y="1550"/>
                  </a:lnTo>
                  <a:lnTo>
                    <a:pt x="1000125" y="927136"/>
                  </a:lnTo>
                  <a:lnTo>
                    <a:pt x="1000125" y="927993"/>
                  </a:lnTo>
                  <a:lnTo>
                    <a:pt x="999430" y="928687"/>
                  </a:lnTo>
                  <a:lnTo>
                    <a:pt x="998573" y="928687"/>
                  </a:lnTo>
                  <a:lnTo>
                    <a:pt x="1551" y="928687"/>
                  </a:lnTo>
                  <a:lnTo>
                    <a:pt x="694" y="928687"/>
                  </a:lnTo>
                  <a:lnTo>
                    <a:pt x="0" y="927993"/>
                  </a:lnTo>
                  <a:lnTo>
                    <a:pt x="0" y="927136"/>
                  </a:lnTo>
                  <a:lnTo>
                    <a:pt x="0" y="1550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5398" y="5740399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7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64262" y="482726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1000125" y="1270"/>
                  </a:moveTo>
                  <a:lnTo>
                    <a:pt x="999744" y="1270"/>
                  </a:lnTo>
                  <a:lnTo>
                    <a:pt x="999744" y="0"/>
                  </a:lnTo>
                  <a:lnTo>
                    <a:pt x="368" y="0"/>
                  </a:lnTo>
                  <a:lnTo>
                    <a:pt x="368" y="1270"/>
                  </a:lnTo>
                  <a:lnTo>
                    <a:pt x="0" y="1270"/>
                  </a:lnTo>
                  <a:lnTo>
                    <a:pt x="0" y="927100"/>
                  </a:lnTo>
                  <a:lnTo>
                    <a:pt x="1000125" y="92710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64262" y="4827587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1547"/>
                  </a:moveTo>
                  <a:lnTo>
                    <a:pt x="0" y="692"/>
                  </a:lnTo>
                  <a:lnTo>
                    <a:pt x="692" y="0"/>
                  </a:lnTo>
                  <a:lnTo>
                    <a:pt x="1547" y="0"/>
                  </a:lnTo>
                  <a:lnTo>
                    <a:pt x="998576" y="0"/>
                  </a:lnTo>
                  <a:lnTo>
                    <a:pt x="999431" y="0"/>
                  </a:lnTo>
                  <a:lnTo>
                    <a:pt x="1000124" y="692"/>
                  </a:lnTo>
                  <a:lnTo>
                    <a:pt x="1000124" y="1547"/>
                  </a:lnTo>
                  <a:lnTo>
                    <a:pt x="1000124" y="925551"/>
                  </a:lnTo>
                  <a:lnTo>
                    <a:pt x="1000124" y="926406"/>
                  </a:lnTo>
                  <a:lnTo>
                    <a:pt x="999431" y="927099"/>
                  </a:lnTo>
                  <a:lnTo>
                    <a:pt x="998576" y="927099"/>
                  </a:lnTo>
                  <a:lnTo>
                    <a:pt x="1547" y="927099"/>
                  </a:lnTo>
                  <a:lnTo>
                    <a:pt x="692" y="927099"/>
                  </a:lnTo>
                  <a:lnTo>
                    <a:pt x="0" y="926406"/>
                  </a:lnTo>
                  <a:lnTo>
                    <a:pt x="0" y="925551"/>
                  </a:lnTo>
                  <a:lnTo>
                    <a:pt x="0" y="1547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59498" y="5208587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5" y="1586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46048" y="552450"/>
            <a:ext cx="6294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4820" algn="l"/>
              </a:tabLst>
            </a:pPr>
            <a:r>
              <a:rPr spc="-5" dirty="0">
                <a:latin typeface="Times New Roman"/>
                <a:cs typeface="Times New Roman"/>
              </a:rPr>
              <a:t>Linked	List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Implementation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64262" y="4843438"/>
            <a:ext cx="1000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1099" y="4038600"/>
            <a:ext cx="1025525" cy="941705"/>
            <a:chOff x="7531099" y="4038600"/>
            <a:chExt cx="1025525" cy="941705"/>
          </a:xfrm>
        </p:grpSpPr>
        <p:sp>
          <p:nvSpPr>
            <p:cNvPr id="12" name="object 12"/>
            <p:cNvSpPr/>
            <p:nvPr/>
          </p:nvSpPr>
          <p:spPr>
            <a:xfrm>
              <a:off x="7542211" y="404621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927099"/>
                  </a:moveTo>
                  <a:lnTo>
                    <a:pt x="1000125" y="927099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709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42211" y="4044950"/>
              <a:ext cx="1000125" cy="929005"/>
            </a:xfrm>
            <a:custGeom>
              <a:avLst/>
              <a:gdLst/>
              <a:ahLst/>
              <a:cxnLst/>
              <a:rect l="l" t="t" r="r" b="b"/>
              <a:pathLst>
                <a:path w="1000125" h="929004">
                  <a:moveTo>
                    <a:pt x="0" y="1551"/>
                  </a:moveTo>
                  <a:lnTo>
                    <a:pt x="0" y="694"/>
                  </a:lnTo>
                  <a:lnTo>
                    <a:pt x="694" y="0"/>
                  </a:lnTo>
                  <a:lnTo>
                    <a:pt x="1551" y="0"/>
                  </a:lnTo>
                  <a:lnTo>
                    <a:pt x="998573" y="0"/>
                  </a:lnTo>
                  <a:lnTo>
                    <a:pt x="999430" y="0"/>
                  </a:lnTo>
                  <a:lnTo>
                    <a:pt x="1000124" y="694"/>
                  </a:lnTo>
                  <a:lnTo>
                    <a:pt x="1000124" y="1551"/>
                  </a:lnTo>
                  <a:lnTo>
                    <a:pt x="1000124" y="927136"/>
                  </a:lnTo>
                  <a:lnTo>
                    <a:pt x="1000124" y="927993"/>
                  </a:lnTo>
                  <a:lnTo>
                    <a:pt x="999430" y="928687"/>
                  </a:lnTo>
                  <a:lnTo>
                    <a:pt x="998573" y="928687"/>
                  </a:lnTo>
                  <a:lnTo>
                    <a:pt x="1551" y="928687"/>
                  </a:lnTo>
                  <a:lnTo>
                    <a:pt x="694" y="928687"/>
                  </a:lnTo>
                  <a:lnTo>
                    <a:pt x="0" y="927993"/>
                  </a:lnTo>
                  <a:lnTo>
                    <a:pt x="0" y="927136"/>
                  </a:lnTo>
                  <a:lnTo>
                    <a:pt x="0" y="1551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37449" y="4425950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8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542210" y="404495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31115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245"/>
              </a:spcBef>
            </a:pPr>
            <a:r>
              <a:rPr sz="2000" b="1" i="1" dirty="0"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0162" y="535940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52069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409"/>
              </a:spcBef>
            </a:pPr>
            <a:r>
              <a:rPr sz="2000" b="1" i="1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96112" y="4975225"/>
            <a:ext cx="535305" cy="452755"/>
            <a:chOff x="6996112" y="4975225"/>
            <a:chExt cx="535305" cy="452755"/>
          </a:xfrm>
        </p:grpSpPr>
        <p:sp>
          <p:nvSpPr>
            <p:cNvPr id="18" name="object 18"/>
            <p:cNvSpPr/>
            <p:nvPr/>
          </p:nvSpPr>
          <p:spPr>
            <a:xfrm>
              <a:off x="7021512" y="5007827"/>
              <a:ext cx="471170" cy="394970"/>
            </a:xfrm>
            <a:custGeom>
              <a:avLst/>
              <a:gdLst/>
              <a:ahLst/>
              <a:cxnLst/>
              <a:rect l="l" t="t" r="r" b="b"/>
              <a:pathLst>
                <a:path w="471170" h="394970">
                  <a:moveTo>
                    <a:pt x="0" y="394434"/>
                  </a:moveTo>
                  <a:lnTo>
                    <a:pt x="470682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65479" y="4975225"/>
              <a:ext cx="165735" cy="156210"/>
            </a:xfrm>
            <a:custGeom>
              <a:avLst/>
              <a:gdLst/>
              <a:ahLst/>
              <a:cxnLst/>
              <a:rect l="l" t="t" r="r" b="b"/>
              <a:pathLst>
                <a:path w="165734" h="156210">
                  <a:moveTo>
                    <a:pt x="165620" y="0"/>
                  </a:moveTo>
                  <a:lnTo>
                    <a:pt x="0" y="39451"/>
                  </a:lnTo>
                  <a:lnTo>
                    <a:pt x="97809" y="156166"/>
                  </a:lnTo>
                  <a:lnTo>
                    <a:pt x="16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50162" y="5748287"/>
            <a:ext cx="1000125" cy="539750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835"/>
              </a:spcBef>
            </a:pPr>
            <a:r>
              <a:rPr sz="2000" b="1" i="1" spc="-5" dirty="0">
                <a:latin typeface="Calibri"/>
                <a:cs typeface="Calibri"/>
              </a:rPr>
              <a:t>null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3887" y="3297238"/>
            <a:ext cx="3640454" cy="2859405"/>
            <a:chOff x="4433887" y="3297238"/>
            <a:chExt cx="3640454" cy="2859405"/>
          </a:xfrm>
        </p:grpSpPr>
        <p:sp>
          <p:nvSpPr>
            <p:cNvPr id="22" name="object 22"/>
            <p:cNvSpPr/>
            <p:nvPr/>
          </p:nvSpPr>
          <p:spPr>
            <a:xfrm>
              <a:off x="7942260" y="4802188"/>
              <a:ext cx="71120" cy="504190"/>
            </a:xfrm>
            <a:custGeom>
              <a:avLst/>
              <a:gdLst/>
              <a:ahLst/>
              <a:cxnLst/>
              <a:rect l="l" t="t" r="r" b="b"/>
              <a:pathLst>
                <a:path w="71120" h="504189">
                  <a:moveTo>
                    <a:pt x="0" y="0"/>
                  </a:moveTo>
                  <a:lnTo>
                    <a:pt x="70729" y="50377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23476" y="5194838"/>
              <a:ext cx="151130" cy="161925"/>
            </a:xfrm>
            <a:custGeom>
              <a:avLst/>
              <a:gdLst/>
              <a:ahLst/>
              <a:cxnLst/>
              <a:rect l="l" t="t" r="r" b="b"/>
              <a:pathLst>
                <a:path w="151129" h="161925">
                  <a:moveTo>
                    <a:pt x="150799" y="0"/>
                  </a:moveTo>
                  <a:lnTo>
                    <a:pt x="0" y="21172"/>
                  </a:lnTo>
                  <a:lnTo>
                    <a:pt x="96572" y="161387"/>
                  </a:lnTo>
                  <a:lnTo>
                    <a:pt x="150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0237" y="5596889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1000125" y="1270"/>
                  </a:moveTo>
                  <a:lnTo>
                    <a:pt x="999413" y="1270"/>
                  </a:lnTo>
                  <a:lnTo>
                    <a:pt x="999413" y="0"/>
                  </a:lnTo>
                  <a:lnTo>
                    <a:pt x="698" y="0"/>
                  </a:lnTo>
                  <a:lnTo>
                    <a:pt x="69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000125" y="552450"/>
                  </a:lnTo>
                  <a:lnTo>
                    <a:pt x="1000125" y="254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40237" y="5597524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0" y="1586"/>
                  </a:moveTo>
                  <a:lnTo>
                    <a:pt x="0" y="710"/>
                  </a:lnTo>
                  <a:lnTo>
                    <a:pt x="710" y="0"/>
                  </a:lnTo>
                  <a:lnTo>
                    <a:pt x="1585" y="0"/>
                  </a:lnTo>
                  <a:lnTo>
                    <a:pt x="998538" y="0"/>
                  </a:lnTo>
                  <a:lnTo>
                    <a:pt x="999414" y="0"/>
                  </a:lnTo>
                  <a:lnTo>
                    <a:pt x="1000124" y="710"/>
                  </a:lnTo>
                  <a:lnTo>
                    <a:pt x="1000124" y="1586"/>
                  </a:lnTo>
                  <a:lnTo>
                    <a:pt x="1000124" y="550863"/>
                  </a:lnTo>
                  <a:lnTo>
                    <a:pt x="1000124" y="551739"/>
                  </a:lnTo>
                  <a:lnTo>
                    <a:pt x="999414" y="552449"/>
                  </a:lnTo>
                  <a:lnTo>
                    <a:pt x="998538" y="552449"/>
                  </a:lnTo>
                  <a:lnTo>
                    <a:pt x="1585" y="552449"/>
                  </a:lnTo>
                  <a:lnTo>
                    <a:pt x="710" y="552449"/>
                  </a:lnTo>
                  <a:lnTo>
                    <a:pt x="0" y="551739"/>
                  </a:lnTo>
                  <a:lnTo>
                    <a:pt x="0" y="550863"/>
                  </a:lnTo>
                  <a:lnTo>
                    <a:pt x="0" y="1586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7287" y="3974236"/>
              <a:ext cx="1133475" cy="1898014"/>
            </a:xfrm>
            <a:custGeom>
              <a:avLst/>
              <a:gdLst/>
              <a:ahLst/>
              <a:cxnLst/>
              <a:rect l="l" t="t" r="r" b="b"/>
              <a:pathLst>
                <a:path w="1133475" h="1898014">
                  <a:moveTo>
                    <a:pt x="0" y="1897926"/>
                  </a:moveTo>
                  <a:lnTo>
                    <a:pt x="1132858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82734" y="3930649"/>
              <a:ext cx="143510" cy="170180"/>
            </a:xfrm>
            <a:custGeom>
              <a:avLst/>
              <a:gdLst/>
              <a:ahLst/>
              <a:cxnLst/>
              <a:rect l="l" t="t" r="r" b="b"/>
              <a:pathLst>
                <a:path w="143510" h="170179">
                  <a:moveTo>
                    <a:pt x="143427" y="0"/>
                  </a:moveTo>
                  <a:lnTo>
                    <a:pt x="0" y="91734"/>
                  </a:lnTo>
                  <a:lnTo>
                    <a:pt x="130756" y="169782"/>
                  </a:lnTo>
                  <a:lnTo>
                    <a:pt x="1434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18223" y="3304539"/>
              <a:ext cx="1000125" cy="925830"/>
            </a:xfrm>
            <a:custGeom>
              <a:avLst/>
              <a:gdLst/>
              <a:ahLst/>
              <a:cxnLst/>
              <a:rect l="l" t="t" r="r" b="b"/>
              <a:pathLst>
                <a:path w="1000125" h="925829">
                  <a:moveTo>
                    <a:pt x="0" y="925830"/>
                  </a:moveTo>
                  <a:lnTo>
                    <a:pt x="1000125" y="925830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583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18223" y="3303588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1547"/>
                  </a:moveTo>
                  <a:lnTo>
                    <a:pt x="0" y="692"/>
                  </a:lnTo>
                  <a:lnTo>
                    <a:pt x="692" y="0"/>
                  </a:lnTo>
                  <a:lnTo>
                    <a:pt x="1547" y="0"/>
                  </a:lnTo>
                  <a:lnTo>
                    <a:pt x="998576" y="0"/>
                  </a:lnTo>
                  <a:lnTo>
                    <a:pt x="999431" y="0"/>
                  </a:lnTo>
                  <a:lnTo>
                    <a:pt x="1000125" y="692"/>
                  </a:lnTo>
                  <a:lnTo>
                    <a:pt x="1000125" y="1547"/>
                  </a:lnTo>
                  <a:lnTo>
                    <a:pt x="1000125" y="925551"/>
                  </a:lnTo>
                  <a:lnTo>
                    <a:pt x="1000125" y="926406"/>
                  </a:lnTo>
                  <a:lnTo>
                    <a:pt x="999431" y="927099"/>
                  </a:lnTo>
                  <a:lnTo>
                    <a:pt x="998576" y="927099"/>
                  </a:lnTo>
                  <a:lnTo>
                    <a:pt x="1547" y="927099"/>
                  </a:lnTo>
                  <a:lnTo>
                    <a:pt x="692" y="927099"/>
                  </a:lnTo>
                  <a:lnTo>
                    <a:pt x="0" y="926406"/>
                  </a:lnTo>
                  <a:lnTo>
                    <a:pt x="0" y="925551"/>
                  </a:lnTo>
                  <a:lnTo>
                    <a:pt x="0" y="1547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3462" y="3684588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6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18223" y="330327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4127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325"/>
              </a:spcBef>
            </a:pPr>
            <a:r>
              <a:rPr sz="2000" b="1" i="1" dirty="0">
                <a:latin typeface="Calibri"/>
                <a:cs typeface="Calibri"/>
              </a:rPr>
              <a:t>13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13498" y="3921144"/>
            <a:ext cx="1606550" cy="2590800"/>
            <a:chOff x="6013498" y="3921144"/>
            <a:chExt cx="1606550" cy="2590800"/>
          </a:xfrm>
        </p:grpSpPr>
        <p:sp>
          <p:nvSpPr>
            <p:cNvPr id="33" name="object 33"/>
            <p:cNvSpPr/>
            <p:nvPr/>
          </p:nvSpPr>
          <p:spPr>
            <a:xfrm>
              <a:off x="6390579" y="3946524"/>
              <a:ext cx="118745" cy="819785"/>
            </a:xfrm>
            <a:custGeom>
              <a:avLst/>
              <a:gdLst/>
              <a:ahLst/>
              <a:cxnLst/>
              <a:rect l="l" t="t" r="r" b="b"/>
              <a:pathLst>
                <a:path w="118745" h="819785">
                  <a:moveTo>
                    <a:pt x="118169" y="0"/>
                  </a:moveTo>
                  <a:lnTo>
                    <a:pt x="0" y="819709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29704" y="4654888"/>
              <a:ext cx="151130" cy="161925"/>
            </a:xfrm>
            <a:custGeom>
              <a:avLst/>
              <a:gdLst/>
              <a:ahLst/>
              <a:cxnLst/>
              <a:rect l="l" t="t" r="r" b="b"/>
              <a:pathLst>
                <a:path w="151129" h="161925">
                  <a:moveTo>
                    <a:pt x="0" y="0"/>
                  </a:moveTo>
                  <a:lnTo>
                    <a:pt x="53633" y="161585"/>
                  </a:lnTo>
                  <a:lnTo>
                    <a:pt x="150722" y="2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19787" y="5952489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1000125" y="1270"/>
                  </a:moveTo>
                  <a:lnTo>
                    <a:pt x="999426" y="1270"/>
                  </a:lnTo>
                  <a:lnTo>
                    <a:pt x="999426" y="0"/>
                  </a:lnTo>
                  <a:lnTo>
                    <a:pt x="711" y="0"/>
                  </a:lnTo>
                  <a:lnTo>
                    <a:pt x="71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000125" y="552450"/>
                  </a:lnTo>
                  <a:lnTo>
                    <a:pt x="1000125" y="254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19798" y="5953124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0" y="1586"/>
                  </a:moveTo>
                  <a:lnTo>
                    <a:pt x="0" y="710"/>
                  </a:lnTo>
                  <a:lnTo>
                    <a:pt x="710" y="0"/>
                  </a:lnTo>
                  <a:lnTo>
                    <a:pt x="1585" y="0"/>
                  </a:lnTo>
                  <a:lnTo>
                    <a:pt x="998538" y="0"/>
                  </a:lnTo>
                  <a:lnTo>
                    <a:pt x="999414" y="0"/>
                  </a:lnTo>
                  <a:lnTo>
                    <a:pt x="1000124" y="710"/>
                  </a:lnTo>
                  <a:lnTo>
                    <a:pt x="1000124" y="1586"/>
                  </a:lnTo>
                  <a:lnTo>
                    <a:pt x="1000124" y="550863"/>
                  </a:lnTo>
                  <a:lnTo>
                    <a:pt x="1000124" y="551739"/>
                  </a:lnTo>
                  <a:lnTo>
                    <a:pt x="999414" y="552449"/>
                  </a:lnTo>
                  <a:lnTo>
                    <a:pt x="998538" y="552449"/>
                  </a:lnTo>
                  <a:lnTo>
                    <a:pt x="1585" y="552449"/>
                  </a:lnTo>
                  <a:lnTo>
                    <a:pt x="710" y="552449"/>
                  </a:lnTo>
                  <a:lnTo>
                    <a:pt x="0" y="551739"/>
                  </a:lnTo>
                  <a:lnTo>
                    <a:pt x="0" y="550863"/>
                  </a:lnTo>
                  <a:lnTo>
                    <a:pt x="0" y="1586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46848" y="5883558"/>
              <a:ext cx="1025525" cy="344805"/>
            </a:xfrm>
            <a:custGeom>
              <a:avLst/>
              <a:gdLst/>
              <a:ahLst/>
              <a:cxnLst/>
              <a:rect l="l" t="t" r="r" b="b"/>
              <a:pathLst>
                <a:path w="1025525" h="344804">
                  <a:moveTo>
                    <a:pt x="0" y="344203"/>
                  </a:moveTo>
                  <a:lnTo>
                    <a:pt x="1025029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51403" y="5843696"/>
              <a:ext cx="168910" cy="144780"/>
            </a:xfrm>
            <a:custGeom>
              <a:avLst/>
              <a:gdLst/>
              <a:ahLst/>
              <a:cxnLst/>
              <a:rect l="l" t="t" r="r" b="b"/>
              <a:pathLst>
                <a:path w="168909" h="144779">
                  <a:moveTo>
                    <a:pt x="0" y="0"/>
                  </a:moveTo>
                  <a:lnTo>
                    <a:pt x="48474" y="144358"/>
                  </a:lnTo>
                  <a:lnTo>
                    <a:pt x="168595" y="23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64539" y="2014220"/>
            <a:ext cx="584136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queue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also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implemented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linked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both </a:t>
            </a:r>
            <a:r>
              <a:rPr sz="3200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07439" y="2979420"/>
            <a:ext cx="37153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Times New Roman"/>
                <a:cs typeface="Times New Roman"/>
              </a:rPr>
              <a:t>head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tail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pointer.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13560" y="6181864"/>
            <a:ext cx="89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head_ptr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93121" y="653746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tail_ptr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53148" y="4821237"/>
            <a:ext cx="2511425" cy="1473200"/>
            <a:chOff x="6153148" y="4821237"/>
            <a:chExt cx="2511425" cy="1473200"/>
          </a:xfrm>
        </p:grpSpPr>
        <p:sp>
          <p:nvSpPr>
            <p:cNvPr id="3" name="object 3"/>
            <p:cNvSpPr/>
            <p:nvPr/>
          </p:nvSpPr>
          <p:spPr>
            <a:xfrm>
              <a:off x="7650162" y="536066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927099"/>
                  </a:moveTo>
                  <a:lnTo>
                    <a:pt x="1000125" y="927099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709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50162" y="5359399"/>
              <a:ext cx="1000125" cy="929005"/>
            </a:xfrm>
            <a:custGeom>
              <a:avLst/>
              <a:gdLst/>
              <a:ahLst/>
              <a:cxnLst/>
              <a:rect l="l" t="t" r="r" b="b"/>
              <a:pathLst>
                <a:path w="1000125" h="929004">
                  <a:moveTo>
                    <a:pt x="0" y="1550"/>
                  </a:moveTo>
                  <a:lnTo>
                    <a:pt x="0" y="694"/>
                  </a:lnTo>
                  <a:lnTo>
                    <a:pt x="694" y="0"/>
                  </a:lnTo>
                  <a:lnTo>
                    <a:pt x="1551" y="0"/>
                  </a:lnTo>
                  <a:lnTo>
                    <a:pt x="998573" y="0"/>
                  </a:lnTo>
                  <a:lnTo>
                    <a:pt x="999430" y="0"/>
                  </a:lnTo>
                  <a:lnTo>
                    <a:pt x="1000125" y="694"/>
                  </a:lnTo>
                  <a:lnTo>
                    <a:pt x="1000125" y="1550"/>
                  </a:lnTo>
                  <a:lnTo>
                    <a:pt x="1000125" y="927136"/>
                  </a:lnTo>
                  <a:lnTo>
                    <a:pt x="1000125" y="927993"/>
                  </a:lnTo>
                  <a:lnTo>
                    <a:pt x="999430" y="928687"/>
                  </a:lnTo>
                  <a:lnTo>
                    <a:pt x="998573" y="928687"/>
                  </a:lnTo>
                  <a:lnTo>
                    <a:pt x="1551" y="928687"/>
                  </a:lnTo>
                  <a:lnTo>
                    <a:pt x="694" y="928687"/>
                  </a:lnTo>
                  <a:lnTo>
                    <a:pt x="0" y="927993"/>
                  </a:lnTo>
                  <a:lnTo>
                    <a:pt x="0" y="927136"/>
                  </a:lnTo>
                  <a:lnTo>
                    <a:pt x="0" y="1550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5398" y="5740399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7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64262" y="482726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1000125" y="1270"/>
                  </a:moveTo>
                  <a:lnTo>
                    <a:pt x="999744" y="1270"/>
                  </a:lnTo>
                  <a:lnTo>
                    <a:pt x="999744" y="0"/>
                  </a:lnTo>
                  <a:lnTo>
                    <a:pt x="368" y="0"/>
                  </a:lnTo>
                  <a:lnTo>
                    <a:pt x="368" y="1270"/>
                  </a:lnTo>
                  <a:lnTo>
                    <a:pt x="0" y="1270"/>
                  </a:lnTo>
                  <a:lnTo>
                    <a:pt x="0" y="927100"/>
                  </a:lnTo>
                  <a:lnTo>
                    <a:pt x="1000125" y="92710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64262" y="4827587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1547"/>
                  </a:moveTo>
                  <a:lnTo>
                    <a:pt x="0" y="692"/>
                  </a:lnTo>
                  <a:lnTo>
                    <a:pt x="692" y="0"/>
                  </a:lnTo>
                  <a:lnTo>
                    <a:pt x="1547" y="0"/>
                  </a:lnTo>
                  <a:lnTo>
                    <a:pt x="998576" y="0"/>
                  </a:lnTo>
                  <a:lnTo>
                    <a:pt x="999431" y="0"/>
                  </a:lnTo>
                  <a:lnTo>
                    <a:pt x="1000124" y="692"/>
                  </a:lnTo>
                  <a:lnTo>
                    <a:pt x="1000124" y="1547"/>
                  </a:lnTo>
                  <a:lnTo>
                    <a:pt x="1000124" y="925551"/>
                  </a:lnTo>
                  <a:lnTo>
                    <a:pt x="1000124" y="926406"/>
                  </a:lnTo>
                  <a:lnTo>
                    <a:pt x="999431" y="927099"/>
                  </a:lnTo>
                  <a:lnTo>
                    <a:pt x="998576" y="927099"/>
                  </a:lnTo>
                  <a:lnTo>
                    <a:pt x="1547" y="927099"/>
                  </a:lnTo>
                  <a:lnTo>
                    <a:pt x="692" y="927099"/>
                  </a:lnTo>
                  <a:lnTo>
                    <a:pt x="0" y="926406"/>
                  </a:lnTo>
                  <a:lnTo>
                    <a:pt x="0" y="925551"/>
                  </a:lnTo>
                  <a:lnTo>
                    <a:pt x="0" y="1547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59498" y="5208587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5" y="1586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46048" y="552450"/>
            <a:ext cx="6294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4820" algn="l"/>
              </a:tabLst>
            </a:pPr>
            <a:r>
              <a:rPr spc="-5" dirty="0">
                <a:latin typeface="Times New Roman"/>
                <a:cs typeface="Times New Roman"/>
              </a:rPr>
              <a:t>Linked	List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Implementation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64262" y="4843438"/>
            <a:ext cx="1000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1099" y="4038600"/>
            <a:ext cx="1025525" cy="941705"/>
            <a:chOff x="7531099" y="4038600"/>
            <a:chExt cx="1025525" cy="941705"/>
          </a:xfrm>
        </p:grpSpPr>
        <p:sp>
          <p:nvSpPr>
            <p:cNvPr id="12" name="object 12"/>
            <p:cNvSpPr/>
            <p:nvPr/>
          </p:nvSpPr>
          <p:spPr>
            <a:xfrm>
              <a:off x="7542211" y="404621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927099"/>
                  </a:moveTo>
                  <a:lnTo>
                    <a:pt x="1000125" y="927099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709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42211" y="4044950"/>
              <a:ext cx="1000125" cy="929005"/>
            </a:xfrm>
            <a:custGeom>
              <a:avLst/>
              <a:gdLst/>
              <a:ahLst/>
              <a:cxnLst/>
              <a:rect l="l" t="t" r="r" b="b"/>
              <a:pathLst>
                <a:path w="1000125" h="929004">
                  <a:moveTo>
                    <a:pt x="0" y="1551"/>
                  </a:moveTo>
                  <a:lnTo>
                    <a:pt x="0" y="694"/>
                  </a:lnTo>
                  <a:lnTo>
                    <a:pt x="694" y="0"/>
                  </a:lnTo>
                  <a:lnTo>
                    <a:pt x="1551" y="0"/>
                  </a:lnTo>
                  <a:lnTo>
                    <a:pt x="998573" y="0"/>
                  </a:lnTo>
                  <a:lnTo>
                    <a:pt x="999430" y="0"/>
                  </a:lnTo>
                  <a:lnTo>
                    <a:pt x="1000124" y="694"/>
                  </a:lnTo>
                  <a:lnTo>
                    <a:pt x="1000124" y="1551"/>
                  </a:lnTo>
                  <a:lnTo>
                    <a:pt x="1000124" y="927136"/>
                  </a:lnTo>
                  <a:lnTo>
                    <a:pt x="1000124" y="927993"/>
                  </a:lnTo>
                  <a:lnTo>
                    <a:pt x="999430" y="928687"/>
                  </a:lnTo>
                  <a:lnTo>
                    <a:pt x="998573" y="928687"/>
                  </a:lnTo>
                  <a:lnTo>
                    <a:pt x="1551" y="928687"/>
                  </a:lnTo>
                  <a:lnTo>
                    <a:pt x="694" y="928687"/>
                  </a:lnTo>
                  <a:lnTo>
                    <a:pt x="0" y="927993"/>
                  </a:lnTo>
                  <a:lnTo>
                    <a:pt x="0" y="927136"/>
                  </a:lnTo>
                  <a:lnTo>
                    <a:pt x="0" y="1551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37449" y="4425950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8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542210" y="404495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31115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245"/>
              </a:spcBef>
            </a:pPr>
            <a:r>
              <a:rPr sz="2000" b="1" i="1" dirty="0"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0162" y="535940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52069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409"/>
              </a:spcBef>
            </a:pPr>
            <a:r>
              <a:rPr sz="2000" b="1" i="1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96112" y="4975225"/>
            <a:ext cx="535305" cy="452755"/>
            <a:chOff x="6996112" y="4975225"/>
            <a:chExt cx="535305" cy="452755"/>
          </a:xfrm>
        </p:grpSpPr>
        <p:sp>
          <p:nvSpPr>
            <p:cNvPr id="18" name="object 18"/>
            <p:cNvSpPr/>
            <p:nvPr/>
          </p:nvSpPr>
          <p:spPr>
            <a:xfrm>
              <a:off x="7021512" y="5007827"/>
              <a:ext cx="471170" cy="394970"/>
            </a:xfrm>
            <a:custGeom>
              <a:avLst/>
              <a:gdLst/>
              <a:ahLst/>
              <a:cxnLst/>
              <a:rect l="l" t="t" r="r" b="b"/>
              <a:pathLst>
                <a:path w="471170" h="394970">
                  <a:moveTo>
                    <a:pt x="0" y="394434"/>
                  </a:moveTo>
                  <a:lnTo>
                    <a:pt x="470682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65479" y="4975225"/>
              <a:ext cx="165735" cy="156210"/>
            </a:xfrm>
            <a:custGeom>
              <a:avLst/>
              <a:gdLst/>
              <a:ahLst/>
              <a:cxnLst/>
              <a:rect l="l" t="t" r="r" b="b"/>
              <a:pathLst>
                <a:path w="165734" h="156210">
                  <a:moveTo>
                    <a:pt x="165620" y="0"/>
                  </a:moveTo>
                  <a:lnTo>
                    <a:pt x="0" y="39451"/>
                  </a:lnTo>
                  <a:lnTo>
                    <a:pt x="97809" y="156166"/>
                  </a:lnTo>
                  <a:lnTo>
                    <a:pt x="16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50162" y="5748287"/>
            <a:ext cx="1000125" cy="539750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835"/>
              </a:spcBef>
            </a:pPr>
            <a:r>
              <a:rPr sz="2000" b="1" i="1" spc="-5" dirty="0">
                <a:latin typeface="Calibri"/>
                <a:cs typeface="Calibri"/>
              </a:rPr>
              <a:t>null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3887" y="3297238"/>
            <a:ext cx="3640454" cy="2859405"/>
            <a:chOff x="4433887" y="3297238"/>
            <a:chExt cx="3640454" cy="2859405"/>
          </a:xfrm>
        </p:grpSpPr>
        <p:sp>
          <p:nvSpPr>
            <p:cNvPr id="22" name="object 22"/>
            <p:cNvSpPr/>
            <p:nvPr/>
          </p:nvSpPr>
          <p:spPr>
            <a:xfrm>
              <a:off x="7942260" y="4802188"/>
              <a:ext cx="71120" cy="504190"/>
            </a:xfrm>
            <a:custGeom>
              <a:avLst/>
              <a:gdLst/>
              <a:ahLst/>
              <a:cxnLst/>
              <a:rect l="l" t="t" r="r" b="b"/>
              <a:pathLst>
                <a:path w="71120" h="504189">
                  <a:moveTo>
                    <a:pt x="0" y="0"/>
                  </a:moveTo>
                  <a:lnTo>
                    <a:pt x="70729" y="50377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23476" y="5194838"/>
              <a:ext cx="151130" cy="161925"/>
            </a:xfrm>
            <a:custGeom>
              <a:avLst/>
              <a:gdLst/>
              <a:ahLst/>
              <a:cxnLst/>
              <a:rect l="l" t="t" r="r" b="b"/>
              <a:pathLst>
                <a:path w="151129" h="161925">
                  <a:moveTo>
                    <a:pt x="150799" y="0"/>
                  </a:moveTo>
                  <a:lnTo>
                    <a:pt x="0" y="21172"/>
                  </a:lnTo>
                  <a:lnTo>
                    <a:pt x="96572" y="161387"/>
                  </a:lnTo>
                  <a:lnTo>
                    <a:pt x="150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0237" y="5596889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1000125" y="1270"/>
                  </a:moveTo>
                  <a:lnTo>
                    <a:pt x="999413" y="1270"/>
                  </a:lnTo>
                  <a:lnTo>
                    <a:pt x="999413" y="0"/>
                  </a:lnTo>
                  <a:lnTo>
                    <a:pt x="698" y="0"/>
                  </a:lnTo>
                  <a:lnTo>
                    <a:pt x="69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000125" y="552450"/>
                  </a:lnTo>
                  <a:lnTo>
                    <a:pt x="1000125" y="254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40237" y="5597524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0" y="1586"/>
                  </a:moveTo>
                  <a:lnTo>
                    <a:pt x="0" y="710"/>
                  </a:lnTo>
                  <a:lnTo>
                    <a:pt x="710" y="0"/>
                  </a:lnTo>
                  <a:lnTo>
                    <a:pt x="1585" y="0"/>
                  </a:lnTo>
                  <a:lnTo>
                    <a:pt x="998538" y="0"/>
                  </a:lnTo>
                  <a:lnTo>
                    <a:pt x="999414" y="0"/>
                  </a:lnTo>
                  <a:lnTo>
                    <a:pt x="1000124" y="710"/>
                  </a:lnTo>
                  <a:lnTo>
                    <a:pt x="1000124" y="1586"/>
                  </a:lnTo>
                  <a:lnTo>
                    <a:pt x="1000124" y="550863"/>
                  </a:lnTo>
                  <a:lnTo>
                    <a:pt x="1000124" y="551739"/>
                  </a:lnTo>
                  <a:lnTo>
                    <a:pt x="999414" y="552449"/>
                  </a:lnTo>
                  <a:lnTo>
                    <a:pt x="998538" y="552449"/>
                  </a:lnTo>
                  <a:lnTo>
                    <a:pt x="1585" y="552449"/>
                  </a:lnTo>
                  <a:lnTo>
                    <a:pt x="710" y="552449"/>
                  </a:lnTo>
                  <a:lnTo>
                    <a:pt x="0" y="551739"/>
                  </a:lnTo>
                  <a:lnTo>
                    <a:pt x="0" y="550863"/>
                  </a:lnTo>
                  <a:lnTo>
                    <a:pt x="0" y="1586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67287" y="3974236"/>
              <a:ext cx="1133475" cy="1898014"/>
            </a:xfrm>
            <a:custGeom>
              <a:avLst/>
              <a:gdLst/>
              <a:ahLst/>
              <a:cxnLst/>
              <a:rect l="l" t="t" r="r" b="b"/>
              <a:pathLst>
                <a:path w="1133475" h="1898014">
                  <a:moveTo>
                    <a:pt x="0" y="1897926"/>
                  </a:moveTo>
                  <a:lnTo>
                    <a:pt x="1132858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82734" y="3930649"/>
              <a:ext cx="143510" cy="170180"/>
            </a:xfrm>
            <a:custGeom>
              <a:avLst/>
              <a:gdLst/>
              <a:ahLst/>
              <a:cxnLst/>
              <a:rect l="l" t="t" r="r" b="b"/>
              <a:pathLst>
                <a:path w="143510" h="170179">
                  <a:moveTo>
                    <a:pt x="143427" y="0"/>
                  </a:moveTo>
                  <a:lnTo>
                    <a:pt x="0" y="91734"/>
                  </a:lnTo>
                  <a:lnTo>
                    <a:pt x="130756" y="169782"/>
                  </a:lnTo>
                  <a:lnTo>
                    <a:pt x="1434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18223" y="3304539"/>
              <a:ext cx="1000125" cy="925830"/>
            </a:xfrm>
            <a:custGeom>
              <a:avLst/>
              <a:gdLst/>
              <a:ahLst/>
              <a:cxnLst/>
              <a:rect l="l" t="t" r="r" b="b"/>
              <a:pathLst>
                <a:path w="1000125" h="925829">
                  <a:moveTo>
                    <a:pt x="0" y="925830"/>
                  </a:moveTo>
                  <a:lnTo>
                    <a:pt x="1000125" y="925830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583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18223" y="3303588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1547"/>
                  </a:moveTo>
                  <a:lnTo>
                    <a:pt x="0" y="692"/>
                  </a:lnTo>
                  <a:lnTo>
                    <a:pt x="692" y="0"/>
                  </a:lnTo>
                  <a:lnTo>
                    <a:pt x="1547" y="0"/>
                  </a:lnTo>
                  <a:lnTo>
                    <a:pt x="998576" y="0"/>
                  </a:lnTo>
                  <a:lnTo>
                    <a:pt x="999431" y="0"/>
                  </a:lnTo>
                  <a:lnTo>
                    <a:pt x="1000125" y="692"/>
                  </a:lnTo>
                  <a:lnTo>
                    <a:pt x="1000125" y="1547"/>
                  </a:lnTo>
                  <a:lnTo>
                    <a:pt x="1000125" y="925551"/>
                  </a:lnTo>
                  <a:lnTo>
                    <a:pt x="1000125" y="926406"/>
                  </a:lnTo>
                  <a:lnTo>
                    <a:pt x="999431" y="927099"/>
                  </a:lnTo>
                  <a:lnTo>
                    <a:pt x="998576" y="927099"/>
                  </a:lnTo>
                  <a:lnTo>
                    <a:pt x="1547" y="927099"/>
                  </a:lnTo>
                  <a:lnTo>
                    <a:pt x="692" y="927099"/>
                  </a:lnTo>
                  <a:lnTo>
                    <a:pt x="0" y="926406"/>
                  </a:lnTo>
                  <a:lnTo>
                    <a:pt x="0" y="925551"/>
                  </a:lnTo>
                  <a:lnTo>
                    <a:pt x="0" y="1547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3462" y="3684588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6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18223" y="330327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4127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325"/>
              </a:spcBef>
            </a:pPr>
            <a:r>
              <a:rPr sz="2000" b="1" i="1" dirty="0">
                <a:latin typeface="Calibri"/>
                <a:cs typeface="Calibri"/>
              </a:rPr>
              <a:t>13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13498" y="3921144"/>
            <a:ext cx="1606550" cy="2590800"/>
            <a:chOff x="6013498" y="3921144"/>
            <a:chExt cx="1606550" cy="2590800"/>
          </a:xfrm>
        </p:grpSpPr>
        <p:sp>
          <p:nvSpPr>
            <p:cNvPr id="33" name="object 33"/>
            <p:cNvSpPr/>
            <p:nvPr/>
          </p:nvSpPr>
          <p:spPr>
            <a:xfrm>
              <a:off x="6390579" y="3946524"/>
              <a:ext cx="118745" cy="819785"/>
            </a:xfrm>
            <a:custGeom>
              <a:avLst/>
              <a:gdLst/>
              <a:ahLst/>
              <a:cxnLst/>
              <a:rect l="l" t="t" r="r" b="b"/>
              <a:pathLst>
                <a:path w="118745" h="819785">
                  <a:moveTo>
                    <a:pt x="118169" y="0"/>
                  </a:moveTo>
                  <a:lnTo>
                    <a:pt x="0" y="819709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29704" y="4654888"/>
              <a:ext cx="151130" cy="161925"/>
            </a:xfrm>
            <a:custGeom>
              <a:avLst/>
              <a:gdLst/>
              <a:ahLst/>
              <a:cxnLst/>
              <a:rect l="l" t="t" r="r" b="b"/>
              <a:pathLst>
                <a:path w="151129" h="161925">
                  <a:moveTo>
                    <a:pt x="0" y="0"/>
                  </a:moveTo>
                  <a:lnTo>
                    <a:pt x="53633" y="161585"/>
                  </a:lnTo>
                  <a:lnTo>
                    <a:pt x="150722" y="2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19787" y="5952489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1000125" y="1270"/>
                  </a:moveTo>
                  <a:lnTo>
                    <a:pt x="999426" y="1270"/>
                  </a:lnTo>
                  <a:lnTo>
                    <a:pt x="999426" y="0"/>
                  </a:lnTo>
                  <a:lnTo>
                    <a:pt x="711" y="0"/>
                  </a:lnTo>
                  <a:lnTo>
                    <a:pt x="71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000125" y="552450"/>
                  </a:lnTo>
                  <a:lnTo>
                    <a:pt x="1000125" y="254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19798" y="5953124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0" y="1586"/>
                  </a:moveTo>
                  <a:lnTo>
                    <a:pt x="0" y="710"/>
                  </a:lnTo>
                  <a:lnTo>
                    <a:pt x="710" y="0"/>
                  </a:lnTo>
                  <a:lnTo>
                    <a:pt x="1585" y="0"/>
                  </a:lnTo>
                  <a:lnTo>
                    <a:pt x="998538" y="0"/>
                  </a:lnTo>
                  <a:lnTo>
                    <a:pt x="999414" y="0"/>
                  </a:lnTo>
                  <a:lnTo>
                    <a:pt x="1000124" y="710"/>
                  </a:lnTo>
                  <a:lnTo>
                    <a:pt x="1000124" y="1586"/>
                  </a:lnTo>
                  <a:lnTo>
                    <a:pt x="1000124" y="550863"/>
                  </a:lnTo>
                  <a:lnTo>
                    <a:pt x="1000124" y="551739"/>
                  </a:lnTo>
                  <a:lnTo>
                    <a:pt x="999414" y="552449"/>
                  </a:lnTo>
                  <a:lnTo>
                    <a:pt x="998538" y="552449"/>
                  </a:lnTo>
                  <a:lnTo>
                    <a:pt x="1585" y="552449"/>
                  </a:lnTo>
                  <a:lnTo>
                    <a:pt x="710" y="552449"/>
                  </a:lnTo>
                  <a:lnTo>
                    <a:pt x="0" y="551739"/>
                  </a:lnTo>
                  <a:lnTo>
                    <a:pt x="0" y="550863"/>
                  </a:lnTo>
                  <a:lnTo>
                    <a:pt x="0" y="1586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46848" y="5883558"/>
              <a:ext cx="1025525" cy="344805"/>
            </a:xfrm>
            <a:custGeom>
              <a:avLst/>
              <a:gdLst/>
              <a:ahLst/>
              <a:cxnLst/>
              <a:rect l="l" t="t" r="r" b="b"/>
              <a:pathLst>
                <a:path w="1025525" h="344804">
                  <a:moveTo>
                    <a:pt x="0" y="344203"/>
                  </a:moveTo>
                  <a:lnTo>
                    <a:pt x="1025029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51403" y="5843696"/>
              <a:ext cx="168910" cy="144780"/>
            </a:xfrm>
            <a:custGeom>
              <a:avLst/>
              <a:gdLst/>
              <a:ahLst/>
              <a:cxnLst/>
              <a:rect l="l" t="t" r="r" b="b"/>
              <a:pathLst>
                <a:path w="168909" h="144779">
                  <a:moveTo>
                    <a:pt x="0" y="0"/>
                  </a:moveTo>
                  <a:lnTo>
                    <a:pt x="48474" y="144358"/>
                  </a:lnTo>
                  <a:lnTo>
                    <a:pt x="168595" y="23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64539" y="2014220"/>
            <a:ext cx="526669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355600" algn="l"/>
                <a:tab pos="3630929" algn="l"/>
              </a:tabLst>
            </a:pPr>
            <a:r>
              <a:rPr sz="3200" spc="-5" dirty="0">
                <a:latin typeface="Times New Roman"/>
                <a:cs typeface="Times New Roman"/>
              </a:rPr>
              <a:t>Which end </a:t>
            </a:r>
            <a:r>
              <a:rPr sz="3200" dirty="0">
                <a:latin typeface="Times New Roman"/>
                <a:cs typeface="Times New Roman"/>
              </a:rPr>
              <a:t>do you </a:t>
            </a:r>
            <a:r>
              <a:rPr sz="3200" spc="-5" dirty="0">
                <a:latin typeface="Times New Roman"/>
                <a:cs typeface="Times New Roman"/>
              </a:rPr>
              <a:t>think is 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front 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queue?	Why?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13560" y="6181864"/>
            <a:ext cx="89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head_ptr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93121" y="653746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tail_ptr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53148" y="4821237"/>
            <a:ext cx="2511425" cy="1473200"/>
            <a:chOff x="6153148" y="4821237"/>
            <a:chExt cx="2511425" cy="1473200"/>
          </a:xfrm>
        </p:grpSpPr>
        <p:sp>
          <p:nvSpPr>
            <p:cNvPr id="3" name="object 3"/>
            <p:cNvSpPr/>
            <p:nvPr/>
          </p:nvSpPr>
          <p:spPr>
            <a:xfrm>
              <a:off x="7650162" y="536066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927099"/>
                  </a:moveTo>
                  <a:lnTo>
                    <a:pt x="1000125" y="927099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709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50162" y="5359399"/>
              <a:ext cx="1000125" cy="929005"/>
            </a:xfrm>
            <a:custGeom>
              <a:avLst/>
              <a:gdLst/>
              <a:ahLst/>
              <a:cxnLst/>
              <a:rect l="l" t="t" r="r" b="b"/>
              <a:pathLst>
                <a:path w="1000125" h="929004">
                  <a:moveTo>
                    <a:pt x="0" y="1550"/>
                  </a:moveTo>
                  <a:lnTo>
                    <a:pt x="0" y="694"/>
                  </a:lnTo>
                  <a:lnTo>
                    <a:pt x="694" y="0"/>
                  </a:lnTo>
                  <a:lnTo>
                    <a:pt x="1551" y="0"/>
                  </a:lnTo>
                  <a:lnTo>
                    <a:pt x="998573" y="0"/>
                  </a:lnTo>
                  <a:lnTo>
                    <a:pt x="999430" y="0"/>
                  </a:lnTo>
                  <a:lnTo>
                    <a:pt x="1000125" y="694"/>
                  </a:lnTo>
                  <a:lnTo>
                    <a:pt x="1000125" y="1550"/>
                  </a:lnTo>
                  <a:lnTo>
                    <a:pt x="1000125" y="927136"/>
                  </a:lnTo>
                  <a:lnTo>
                    <a:pt x="1000125" y="927993"/>
                  </a:lnTo>
                  <a:lnTo>
                    <a:pt x="999430" y="928687"/>
                  </a:lnTo>
                  <a:lnTo>
                    <a:pt x="998573" y="928687"/>
                  </a:lnTo>
                  <a:lnTo>
                    <a:pt x="1551" y="928687"/>
                  </a:lnTo>
                  <a:lnTo>
                    <a:pt x="694" y="928687"/>
                  </a:lnTo>
                  <a:lnTo>
                    <a:pt x="0" y="927993"/>
                  </a:lnTo>
                  <a:lnTo>
                    <a:pt x="0" y="927136"/>
                  </a:lnTo>
                  <a:lnTo>
                    <a:pt x="0" y="1550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5398" y="5740399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7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64262" y="482726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1000125" y="1270"/>
                  </a:moveTo>
                  <a:lnTo>
                    <a:pt x="999744" y="1270"/>
                  </a:lnTo>
                  <a:lnTo>
                    <a:pt x="999744" y="0"/>
                  </a:lnTo>
                  <a:lnTo>
                    <a:pt x="368" y="0"/>
                  </a:lnTo>
                  <a:lnTo>
                    <a:pt x="368" y="1270"/>
                  </a:lnTo>
                  <a:lnTo>
                    <a:pt x="0" y="1270"/>
                  </a:lnTo>
                  <a:lnTo>
                    <a:pt x="0" y="927100"/>
                  </a:lnTo>
                  <a:lnTo>
                    <a:pt x="1000125" y="92710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64262" y="4827587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1547"/>
                  </a:moveTo>
                  <a:lnTo>
                    <a:pt x="0" y="692"/>
                  </a:lnTo>
                  <a:lnTo>
                    <a:pt x="692" y="0"/>
                  </a:lnTo>
                  <a:lnTo>
                    <a:pt x="1547" y="0"/>
                  </a:lnTo>
                  <a:lnTo>
                    <a:pt x="998576" y="0"/>
                  </a:lnTo>
                  <a:lnTo>
                    <a:pt x="999431" y="0"/>
                  </a:lnTo>
                  <a:lnTo>
                    <a:pt x="1000124" y="692"/>
                  </a:lnTo>
                  <a:lnTo>
                    <a:pt x="1000124" y="1547"/>
                  </a:lnTo>
                  <a:lnTo>
                    <a:pt x="1000124" y="925551"/>
                  </a:lnTo>
                  <a:lnTo>
                    <a:pt x="1000124" y="926406"/>
                  </a:lnTo>
                  <a:lnTo>
                    <a:pt x="999431" y="927099"/>
                  </a:lnTo>
                  <a:lnTo>
                    <a:pt x="998576" y="927099"/>
                  </a:lnTo>
                  <a:lnTo>
                    <a:pt x="1547" y="927099"/>
                  </a:lnTo>
                  <a:lnTo>
                    <a:pt x="692" y="927099"/>
                  </a:lnTo>
                  <a:lnTo>
                    <a:pt x="0" y="926406"/>
                  </a:lnTo>
                  <a:lnTo>
                    <a:pt x="0" y="925551"/>
                  </a:lnTo>
                  <a:lnTo>
                    <a:pt x="0" y="1547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59498" y="5208587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5" y="1586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46048" y="552450"/>
            <a:ext cx="6294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4820" algn="l"/>
              </a:tabLst>
            </a:pPr>
            <a:r>
              <a:rPr spc="-5" dirty="0">
                <a:latin typeface="Times New Roman"/>
                <a:cs typeface="Times New Roman"/>
              </a:rPr>
              <a:t>Linked	List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Implementation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64262" y="4843438"/>
            <a:ext cx="1000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1099" y="4038600"/>
            <a:ext cx="1025525" cy="941705"/>
            <a:chOff x="7531099" y="4038600"/>
            <a:chExt cx="1025525" cy="941705"/>
          </a:xfrm>
        </p:grpSpPr>
        <p:sp>
          <p:nvSpPr>
            <p:cNvPr id="12" name="object 12"/>
            <p:cNvSpPr/>
            <p:nvPr/>
          </p:nvSpPr>
          <p:spPr>
            <a:xfrm>
              <a:off x="7542211" y="4046219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927099"/>
                  </a:moveTo>
                  <a:lnTo>
                    <a:pt x="1000125" y="927099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7099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42211" y="4044950"/>
              <a:ext cx="1000125" cy="929005"/>
            </a:xfrm>
            <a:custGeom>
              <a:avLst/>
              <a:gdLst/>
              <a:ahLst/>
              <a:cxnLst/>
              <a:rect l="l" t="t" r="r" b="b"/>
              <a:pathLst>
                <a:path w="1000125" h="929004">
                  <a:moveTo>
                    <a:pt x="0" y="1551"/>
                  </a:moveTo>
                  <a:lnTo>
                    <a:pt x="0" y="694"/>
                  </a:lnTo>
                  <a:lnTo>
                    <a:pt x="694" y="0"/>
                  </a:lnTo>
                  <a:lnTo>
                    <a:pt x="1551" y="0"/>
                  </a:lnTo>
                  <a:lnTo>
                    <a:pt x="998573" y="0"/>
                  </a:lnTo>
                  <a:lnTo>
                    <a:pt x="999430" y="0"/>
                  </a:lnTo>
                  <a:lnTo>
                    <a:pt x="1000124" y="694"/>
                  </a:lnTo>
                  <a:lnTo>
                    <a:pt x="1000124" y="1551"/>
                  </a:lnTo>
                  <a:lnTo>
                    <a:pt x="1000124" y="927136"/>
                  </a:lnTo>
                  <a:lnTo>
                    <a:pt x="1000124" y="927993"/>
                  </a:lnTo>
                  <a:lnTo>
                    <a:pt x="999430" y="928687"/>
                  </a:lnTo>
                  <a:lnTo>
                    <a:pt x="998573" y="928687"/>
                  </a:lnTo>
                  <a:lnTo>
                    <a:pt x="1551" y="928687"/>
                  </a:lnTo>
                  <a:lnTo>
                    <a:pt x="694" y="928687"/>
                  </a:lnTo>
                  <a:lnTo>
                    <a:pt x="0" y="927993"/>
                  </a:lnTo>
                  <a:lnTo>
                    <a:pt x="0" y="927136"/>
                  </a:lnTo>
                  <a:lnTo>
                    <a:pt x="0" y="1551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37449" y="4425950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8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542210" y="404495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31115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245"/>
              </a:spcBef>
            </a:pPr>
            <a:r>
              <a:rPr sz="2000" b="1" i="1" dirty="0"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50162" y="535940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52069" rIns="0" bIns="0" rtlCol="0">
            <a:spAutoFit/>
          </a:bodyPr>
          <a:lstStyle/>
          <a:p>
            <a:pPr marR="100965" algn="ctr">
              <a:lnSpc>
                <a:spcPct val="100000"/>
              </a:lnSpc>
              <a:spcBef>
                <a:spcPts val="409"/>
              </a:spcBef>
            </a:pPr>
            <a:r>
              <a:rPr sz="2000" b="1" i="1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96112" y="4975225"/>
            <a:ext cx="535305" cy="452755"/>
            <a:chOff x="6996112" y="4975225"/>
            <a:chExt cx="535305" cy="452755"/>
          </a:xfrm>
        </p:grpSpPr>
        <p:sp>
          <p:nvSpPr>
            <p:cNvPr id="18" name="object 18"/>
            <p:cNvSpPr/>
            <p:nvPr/>
          </p:nvSpPr>
          <p:spPr>
            <a:xfrm>
              <a:off x="7021512" y="5007827"/>
              <a:ext cx="471170" cy="394970"/>
            </a:xfrm>
            <a:custGeom>
              <a:avLst/>
              <a:gdLst/>
              <a:ahLst/>
              <a:cxnLst/>
              <a:rect l="l" t="t" r="r" b="b"/>
              <a:pathLst>
                <a:path w="471170" h="394970">
                  <a:moveTo>
                    <a:pt x="0" y="394434"/>
                  </a:moveTo>
                  <a:lnTo>
                    <a:pt x="470682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65479" y="4975225"/>
              <a:ext cx="165735" cy="156210"/>
            </a:xfrm>
            <a:custGeom>
              <a:avLst/>
              <a:gdLst/>
              <a:ahLst/>
              <a:cxnLst/>
              <a:rect l="l" t="t" r="r" b="b"/>
              <a:pathLst>
                <a:path w="165734" h="156210">
                  <a:moveTo>
                    <a:pt x="165620" y="0"/>
                  </a:moveTo>
                  <a:lnTo>
                    <a:pt x="0" y="39451"/>
                  </a:lnTo>
                  <a:lnTo>
                    <a:pt x="97809" y="156166"/>
                  </a:lnTo>
                  <a:lnTo>
                    <a:pt x="16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50162" y="5748287"/>
            <a:ext cx="1000125" cy="539750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835"/>
              </a:spcBef>
            </a:pPr>
            <a:r>
              <a:rPr sz="2000" b="1" i="1" spc="-5" dirty="0">
                <a:latin typeface="Calibri"/>
                <a:cs typeface="Calibri"/>
              </a:rPr>
              <a:t>null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3887" y="4776788"/>
            <a:ext cx="3640454" cy="1379855"/>
            <a:chOff x="4433887" y="4776788"/>
            <a:chExt cx="3640454" cy="1379855"/>
          </a:xfrm>
        </p:grpSpPr>
        <p:sp>
          <p:nvSpPr>
            <p:cNvPr id="22" name="object 22"/>
            <p:cNvSpPr/>
            <p:nvPr/>
          </p:nvSpPr>
          <p:spPr>
            <a:xfrm>
              <a:off x="7942260" y="4802188"/>
              <a:ext cx="71120" cy="504190"/>
            </a:xfrm>
            <a:custGeom>
              <a:avLst/>
              <a:gdLst/>
              <a:ahLst/>
              <a:cxnLst/>
              <a:rect l="l" t="t" r="r" b="b"/>
              <a:pathLst>
                <a:path w="71120" h="504189">
                  <a:moveTo>
                    <a:pt x="0" y="0"/>
                  </a:moveTo>
                  <a:lnTo>
                    <a:pt x="70729" y="50377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23476" y="5194838"/>
              <a:ext cx="151130" cy="161925"/>
            </a:xfrm>
            <a:custGeom>
              <a:avLst/>
              <a:gdLst/>
              <a:ahLst/>
              <a:cxnLst/>
              <a:rect l="l" t="t" r="r" b="b"/>
              <a:pathLst>
                <a:path w="151129" h="161925">
                  <a:moveTo>
                    <a:pt x="150799" y="0"/>
                  </a:moveTo>
                  <a:lnTo>
                    <a:pt x="0" y="21172"/>
                  </a:lnTo>
                  <a:lnTo>
                    <a:pt x="96572" y="161387"/>
                  </a:lnTo>
                  <a:lnTo>
                    <a:pt x="150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0237" y="5596889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1000125" y="1270"/>
                  </a:moveTo>
                  <a:lnTo>
                    <a:pt x="999413" y="1270"/>
                  </a:lnTo>
                  <a:lnTo>
                    <a:pt x="999413" y="0"/>
                  </a:lnTo>
                  <a:lnTo>
                    <a:pt x="698" y="0"/>
                  </a:lnTo>
                  <a:lnTo>
                    <a:pt x="69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000125" y="552450"/>
                  </a:lnTo>
                  <a:lnTo>
                    <a:pt x="1000125" y="254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40237" y="5597524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0" y="1586"/>
                  </a:moveTo>
                  <a:lnTo>
                    <a:pt x="0" y="710"/>
                  </a:lnTo>
                  <a:lnTo>
                    <a:pt x="710" y="0"/>
                  </a:lnTo>
                  <a:lnTo>
                    <a:pt x="1585" y="0"/>
                  </a:lnTo>
                  <a:lnTo>
                    <a:pt x="998538" y="0"/>
                  </a:lnTo>
                  <a:lnTo>
                    <a:pt x="999414" y="0"/>
                  </a:lnTo>
                  <a:lnTo>
                    <a:pt x="1000124" y="710"/>
                  </a:lnTo>
                  <a:lnTo>
                    <a:pt x="1000124" y="1586"/>
                  </a:lnTo>
                  <a:lnTo>
                    <a:pt x="1000124" y="550863"/>
                  </a:lnTo>
                  <a:lnTo>
                    <a:pt x="1000124" y="551739"/>
                  </a:lnTo>
                  <a:lnTo>
                    <a:pt x="999414" y="552449"/>
                  </a:lnTo>
                  <a:lnTo>
                    <a:pt x="998538" y="552449"/>
                  </a:lnTo>
                  <a:lnTo>
                    <a:pt x="1585" y="552449"/>
                  </a:lnTo>
                  <a:lnTo>
                    <a:pt x="710" y="552449"/>
                  </a:lnTo>
                  <a:lnTo>
                    <a:pt x="0" y="551739"/>
                  </a:lnTo>
                  <a:lnTo>
                    <a:pt x="0" y="550863"/>
                  </a:lnTo>
                  <a:lnTo>
                    <a:pt x="0" y="1586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13560" y="6181864"/>
            <a:ext cx="89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head_ptr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41887" y="3297238"/>
            <a:ext cx="2190750" cy="2600325"/>
            <a:chOff x="4941887" y="3297238"/>
            <a:chExt cx="2190750" cy="2600325"/>
          </a:xfrm>
        </p:grpSpPr>
        <p:sp>
          <p:nvSpPr>
            <p:cNvPr id="28" name="object 28"/>
            <p:cNvSpPr/>
            <p:nvPr/>
          </p:nvSpPr>
          <p:spPr>
            <a:xfrm>
              <a:off x="4967287" y="3974236"/>
              <a:ext cx="1133475" cy="1898014"/>
            </a:xfrm>
            <a:custGeom>
              <a:avLst/>
              <a:gdLst/>
              <a:ahLst/>
              <a:cxnLst/>
              <a:rect l="l" t="t" r="r" b="b"/>
              <a:pathLst>
                <a:path w="1133475" h="1898014">
                  <a:moveTo>
                    <a:pt x="0" y="1897926"/>
                  </a:moveTo>
                  <a:lnTo>
                    <a:pt x="1132858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82735" y="3930649"/>
              <a:ext cx="143510" cy="170180"/>
            </a:xfrm>
            <a:custGeom>
              <a:avLst/>
              <a:gdLst/>
              <a:ahLst/>
              <a:cxnLst/>
              <a:rect l="l" t="t" r="r" b="b"/>
              <a:pathLst>
                <a:path w="143510" h="170179">
                  <a:moveTo>
                    <a:pt x="143427" y="0"/>
                  </a:moveTo>
                  <a:lnTo>
                    <a:pt x="0" y="91734"/>
                  </a:lnTo>
                  <a:lnTo>
                    <a:pt x="130756" y="169782"/>
                  </a:lnTo>
                  <a:lnTo>
                    <a:pt x="1434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8223" y="3304539"/>
              <a:ext cx="1000125" cy="925830"/>
            </a:xfrm>
            <a:custGeom>
              <a:avLst/>
              <a:gdLst/>
              <a:ahLst/>
              <a:cxnLst/>
              <a:rect l="l" t="t" r="r" b="b"/>
              <a:pathLst>
                <a:path w="1000125" h="925829">
                  <a:moveTo>
                    <a:pt x="0" y="925830"/>
                  </a:moveTo>
                  <a:lnTo>
                    <a:pt x="1000125" y="925830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92583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18223" y="3303588"/>
              <a:ext cx="1000125" cy="927100"/>
            </a:xfrm>
            <a:custGeom>
              <a:avLst/>
              <a:gdLst/>
              <a:ahLst/>
              <a:cxnLst/>
              <a:rect l="l" t="t" r="r" b="b"/>
              <a:pathLst>
                <a:path w="1000125" h="927100">
                  <a:moveTo>
                    <a:pt x="0" y="1547"/>
                  </a:moveTo>
                  <a:lnTo>
                    <a:pt x="0" y="692"/>
                  </a:lnTo>
                  <a:lnTo>
                    <a:pt x="692" y="0"/>
                  </a:lnTo>
                  <a:lnTo>
                    <a:pt x="1547" y="0"/>
                  </a:lnTo>
                  <a:lnTo>
                    <a:pt x="998576" y="0"/>
                  </a:lnTo>
                  <a:lnTo>
                    <a:pt x="999431" y="0"/>
                  </a:lnTo>
                  <a:lnTo>
                    <a:pt x="1000125" y="692"/>
                  </a:lnTo>
                  <a:lnTo>
                    <a:pt x="1000125" y="1547"/>
                  </a:lnTo>
                  <a:lnTo>
                    <a:pt x="1000125" y="925551"/>
                  </a:lnTo>
                  <a:lnTo>
                    <a:pt x="1000125" y="926406"/>
                  </a:lnTo>
                  <a:lnTo>
                    <a:pt x="999431" y="927099"/>
                  </a:lnTo>
                  <a:lnTo>
                    <a:pt x="998576" y="927099"/>
                  </a:lnTo>
                  <a:lnTo>
                    <a:pt x="1547" y="927099"/>
                  </a:lnTo>
                  <a:lnTo>
                    <a:pt x="692" y="927099"/>
                  </a:lnTo>
                  <a:lnTo>
                    <a:pt x="0" y="926406"/>
                  </a:lnTo>
                  <a:lnTo>
                    <a:pt x="0" y="925551"/>
                  </a:lnTo>
                  <a:lnTo>
                    <a:pt x="0" y="1547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13462" y="3684588"/>
              <a:ext cx="1012825" cy="1905"/>
            </a:xfrm>
            <a:custGeom>
              <a:avLst/>
              <a:gdLst/>
              <a:ahLst/>
              <a:cxnLst/>
              <a:rect l="l" t="t" r="r" b="b"/>
              <a:pathLst>
                <a:path w="1012825" h="1904">
                  <a:moveTo>
                    <a:pt x="0" y="0"/>
                  </a:moveTo>
                  <a:lnTo>
                    <a:pt x="1012824" y="1586"/>
                  </a:lnTo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18223" y="3303270"/>
            <a:ext cx="1000125" cy="375285"/>
          </a:xfrm>
          <a:prstGeom prst="rect">
            <a:avLst/>
          </a:prstGeom>
          <a:solidFill>
            <a:srgbClr val="9398FF"/>
          </a:solidFill>
        </p:spPr>
        <p:txBody>
          <a:bodyPr vert="horz" wrap="square" lIns="0" tIns="4127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325"/>
              </a:spcBef>
            </a:pPr>
            <a:r>
              <a:rPr sz="2000" b="1" i="1" dirty="0">
                <a:latin typeface="Calibri"/>
                <a:cs typeface="Calibri"/>
              </a:rPr>
              <a:t>13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13498" y="3921144"/>
            <a:ext cx="1606550" cy="2590800"/>
            <a:chOff x="6013498" y="3921144"/>
            <a:chExt cx="1606550" cy="2590800"/>
          </a:xfrm>
        </p:grpSpPr>
        <p:sp>
          <p:nvSpPr>
            <p:cNvPr id="35" name="object 35"/>
            <p:cNvSpPr/>
            <p:nvPr/>
          </p:nvSpPr>
          <p:spPr>
            <a:xfrm>
              <a:off x="6390579" y="3946524"/>
              <a:ext cx="118745" cy="819785"/>
            </a:xfrm>
            <a:custGeom>
              <a:avLst/>
              <a:gdLst/>
              <a:ahLst/>
              <a:cxnLst/>
              <a:rect l="l" t="t" r="r" b="b"/>
              <a:pathLst>
                <a:path w="118745" h="819785">
                  <a:moveTo>
                    <a:pt x="118169" y="0"/>
                  </a:moveTo>
                  <a:lnTo>
                    <a:pt x="0" y="819709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29704" y="4654888"/>
              <a:ext cx="151130" cy="161925"/>
            </a:xfrm>
            <a:custGeom>
              <a:avLst/>
              <a:gdLst/>
              <a:ahLst/>
              <a:cxnLst/>
              <a:rect l="l" t="t" r="r" b="b"/>
              <a:pathLst>
                <a:path w="151129" h="161925">
                  <a:moveTo>
                    <a:pt x="0" y="0"/>
                  </a:moveTo>
                  <a:lnTo>
                    <a:pt x="53633" y="161585"/>
                  </a:lnTo>
                  <a:lnTo>
                    <a:pt x="150722" y="2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19787" y="5952489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1000125" y="1270"/>
                  </a:moveTo>
                  <a:lnTo>
                    <a:pt x="999426" y="1270"/>
                  </a:lnTo>
                  <a:lnTo>
                    <a:pt x="999426" y="0"/>
                  </a:lnTo>
                  <a:lnTo>
                    <a:pt x="711" y="0"/>
                  </a:lnTo>
                  <a:lnTo>
                    <a:pt x="71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2450"/>
                  </a:lnTo>
                  <a:lnTo>
                    <a:pt x="1000125" y="552450"/>
                  </a:lnTo>
                  <a:lnTo>
                    <a:pt x="1000125" y="2540"/>
                  </a:lnTo>
                  <a:lnTo>
                    <a:pt x="1000125" y="1270"/>
                  </a:lnTo>
                  <a:close/>
                </a:path>
              </a:pathLst>
            </a:custGeom>
            <a:solidFill>
              <a:srgbClr val="93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19798" y="5953124"/>
              <a:ext cx="1000125" cy="552450"/>
            </a:xfrm>
            <a:custGeom>
              <a:avLst/>
              <a:gdLst/>
              <a:ahLst/>
              <a:cxnLst/>
              <a:rect l="l" t="t" r="r" b="b"/>
              <a:pathLst>
                <a:path w="1000125" h="552450">
                  <a:moveTo>
                    <a:pt x="0" y="1586"/>
                  </a:moveTo>
                  <a:lnTo>
                    <a:pt x="0" y="710"/>
                  </a:lnTo>
                  <a:lnTo>
                    <a:pt x="710" y="0"/>
                  </a:lnTo>
                  <a:lnTo>
                    <a:pt x="1585" y="0"/>
                  </a:lnTo>
                  <a:lnTo>
                    <a:pt x="998538" y="0"/>
                  </a:lnTo>
                  <a:lnTo>
                    <a:pt x="999414" y="0"/>
                  </a:lnTo>
                  <a:lnTo>
                    <a:pt x="1000124" y="710"/>
                  </a:lnTo>
                  <a:lnTo>
                    <a:pt x="1000124" y="1586"/>
                  </a:lnTo>
                  <a:lnTo>
                    <a:pt x="1000124" y="550863"/>
                  </a:lnTo>
                  <a:lnTo>
                    <a:pt x="1000124" y="551739"/>
                  </a:lnTo>
                  <a:lnTo>
                    <a:pt x="999414" y="552449"/>
                  </a:lnTo>
                  <a:lnTo>
                    <a:pt x="998538" y="552449"/>
                  </a:lnTo>
                  <a:lnTo>
                    <a:pt x="1585" y="552449"/>
                  </a:lnTo>
                  <a:lnTo>
                    <a:pt x="710" y="552449"/>
                  </a:lnTo>
                  <a:lnTo>
                    <a:pt x="0" y="551739"/>
                  </a:lnTo>
                  <a:lnTo>
                    <a:pt x="0" y="550863"/>
                  </a:lnTo>
                  <a:lnTo>
                    <a:pt x="0" y="1586"/>
                  </a:lnTo>
                  <a:close/>
                </a:path>
              </a:pathLst>
            </a:custGeom>
            <a:ln w="1259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46848" y="5883558"/>
              <a:ext cx="1025525" cy="344805"/>
            </a:xfrm>
            <a:custGeom>
              <a:avLst/>
              <a:gdLst/>
              <a:ahLst/>
              <a:cxnLst/>
              <a:rect l="l" t="t" r="r" b="b"/>
              <a:pathLst>
                <a:path w="1025525" h="344804">
                  <a:moveTo>
                    <a:pt x="0" y="344203"/>
                  </a:moveTo>
                  <a:lnTo>
                    <a:pt x="1025029" y="0"/>
                  </a:lnTo>
                </a:path>
              </a:pathLst>
            </a:custGeom>
            <a:ln w="507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51403" y="5843696"/>
              <a:ext cx="168910" cy="144780"/>
            </a:xfrm>
            <a:custGeom>
              <a:avLst/>
              <a:gdLst/>
              <a:ahLst/>
              <a:cxnLst/>
              <a:rect l="l" t="t" r="r" b="b"/>
              <a:pathLst>
                <a:path w="168909" h="144779">
                  <a:moveTo>
                    <a:pt x="0" y="0"/>
                  </a:moveTo>
                  <a:lnTo>
                    <a:pt x="48474" y="144358"/>
                  </a:lnTo>
                  <a:lnTo>
                    <a:pt x="168595" y="23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4539" y="2014220"/>
            <a:ext cx="552577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head_ptr points to the </a:t>
            </a:r>
            <a:r>
              <a:rPr sz="3200" dirty="0">
                <a:latin typeface="Times New Roman"/>
                <a:cs typeface="Times New Roman"/>
              </a:rPr>
              <a:t>front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the list.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4539" y="3076955"/>
            <a:ext cx="529971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Because it is harder to remove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items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tail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list.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93121" y="6537465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tail_ptr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88506" y="2986047"/>
            <a:ext cx="806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F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ro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55306" y="6262647"/>
            <a:ext cx="689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800080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800080"/>
                </a:solidFill>
                <a:latin typeface="Calibri"/>
                <a:cs typeface="Calibri"/>
              </a:rPr>
              <a:t>ar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9627" y="498158"/>
            <a:ext cx="43497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Abstract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Data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40764"/>
            <a:ext cx="7485380" cy="343407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Abstract Data Type</a:t>
            </a:r>
            <a:r>
              <a:rPr sz="3200" dirty="0">
                <a:latin typeface="Calibri"/>
                <a:cs typeface="Calibri"/>
              </a:rPr>
              <a:t> as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-5" dirty="0">
                <a:latin typeface="Calibri"/>
                <a:cs typeface="Calibri"/>
              </a:rPr>
              <a:t> tool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Concerns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only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important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concept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No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concern on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implementation </a:t>
            </a:r>
            <a:r>
              <a:rPr sz="3200" dirty="0">
                <a:latin typeface="Calibri"/>
                <a:cs typeface="Calibri"/>
              </a:rPr>
              <a:t>details.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Stack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Queue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" dirty="0">
                <a:latin typeface="Calibri"/>
                <a:cs typeface="Calibri"/>
              </a:rPr>
              <a:t> example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ADT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array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ADT.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952" y="498158"/>
            <a:ext cx="53219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What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diﬀerence?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62100"/>
            <a:ext cx="8048625" cy="3916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31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Stack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Queue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vs.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Array</a:t>
            </a:r>
            <a:endParaRPr sz="2800">
              <a:latin typeface="Calibri"/>
              <a:cs typeface="Calibri"/>
            </a:endParaRPr>
          </a:p>
          <a:p>
            <a:pPr marL="749300" marR="5080" indent="-279400">
              <a:lnSpc>
                <a:spcPts val="2320"/>
              </a:lnSpc>
              <a:spcBef>
                <a:spcPts val="49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-5" dirty="0">
                <a:latin typeface="Calibri"/>
                <a:cs typeface="Calibri"/>
              </a:rPr>
              <a:t>Arrays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storage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structures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while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stacks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queues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specialized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DS</a:t>
            </a:r>
            <a:r>
              <a:rPr sz="2400" dirty="0">
                <a:latin typeface="Calibri"/>
                <a:cs typeface="Calibri"/>
              </a:rPr>
              <a:t> and used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5" dirty="0">
                <a:latin typeface="Calibri"/>
                <a:cs typeface="Calibri"/>
              </a:rPr>
              <a:t>programmer</a:t>
            </a:r>
            <a:r>
              <a:rPr sz="2400" spc="-5" dirty="0">
                <a:latin typeface="MS PGothic"/>
                <a:cs typeface="MS PGothic"/>
              </a:rPr>
              <a:t>’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tools.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Stack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container</a:t>
            </a:r>
            <a:r>
              <a:rPr sz="2800" dirty="0">
                <a:latin typeface="Calibri"/>
                <a:cs typeface="Calibri"/>
              </a:rPr>
              <a:t> that</a:t>
            </a:r>
            <a:r>
              <a:rPr sz="2800" spc="-5" dirty="0">
                <a:latin typeface="Calibri"/>
                <a:cs typeface="Calibri"/>
              </a:rPr>
              <a:t> allows</a:t>
            </a:r>
            <a:r>
              <a:rPr sz="2800" dirty="0">
                <a:latin typeface="Calibri"/>
                <a:cs typeface="Calibri"/>
              </a:rPr>
              <a:t> push and </a:t>
            </a:r>
            <a:r>
              <a:rPr sz="2800" spc="-5" dirty="0">
                <a:latin typeface="Calibri"/>
                <a:cs typeface="Calibri"/>
              </a:rPr>
              <a:t>pop</a:t>
            </a:r>
            <a:endParaRPr sz="2800">
              <a:latin typeface="Calibri"/>
              <a:cs typeface="Calibri"/>
            </a:endParaRPr>
          </a:p>
          <a:p>
            <a:pPr marL="355600" marR="1159510" indent="-342900">
              <a:lnSpc>
                <a:spcPct val="782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Queue </a:t>
            </a:r>
            <a:r>
              <a:rPr sz="2800" spc="-575" dirty="0">
                <a:latin typeface="Calibri"/>
                <a:cs typeface="Calibri"/>
              </a:rPr>
              <a:t>-­‐ a c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ntainer that all</a:t>
            </a:r>
            <a:r>
              <a:rPr sz="2800" spc="-5" dirty="0">
                <a:latin typeface="Calibri"/>
                <a:cs typeface="Calibri"/>
              </a:rPr>
              <a:t>ow</a:t>
            </a:r>
            <a:r>
              <a:rPr sz="2800" dirty="0">
                <a:latin typeface="Calibri"/>
                <a:cs typeface="Calibri"/>
              </a:rPr>
              <a:t>s enqueue and  </a:t>
            </a:r>
            <a:r>
              <a:rPr sz="2800" spc="-5" dirty="0">
                <a:latin typeface="Calibri"/>
                <a:cs typeface="Calibri"/>
              </a:rPr>
              <a:t>dequeue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concern on implementation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details.</a:t>
            </a:r>
            <a:endParaRPr sz="2800">
              <a:latin typeface="Calibri"/>
              <a:cs typeface="Calibri"/>
            </a:endParaRPr>
          </a:p>
          <a:p>
            <a:pPr marL="355600" marR="218440" indent="-342900">
              <a:lnSpc>
                <a:spcPct val="7820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5" dirty="0">
                <a:latin typeface="Calibri"/>
                <a:cs typeface="Calibri"/>
              </a:rPr>
              <a:t>array </a:t>
            </a:r>
            <a:r>
              <a:rPr sz="2800" dirty="0">
                <a:latin typeface="Calibri"/>
                <a:cs typeface="Calibri"/>
              </a:rPr>
              <a:t>any </a:t>
            </a:r>
            <a:r>
              <a:rPr sz="2800" spc="-5" dirty="0">
                <a:latin typeface="Calibri"/>
                <a:cs typeface="Calibri"/>
              </a:rPr>
              <a:t>item</a:t>
            </a:r>
            <a:r>
              <a:rPr sz="2800" dirty="0">
                <a:latin typeface="Calibri"/>
                <a:cs typeface="Calibri"/>
              </a:rPr>
              <a:t> 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accessed,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while</a:t>
            </a:r>
            <a:r>
              <a:rPr sz="2800" dirty="0">
                <a:latin typeface="Calibri"/>
                <a:cs typeface="Calibri"/>
              </a:rPr>
              <a:t> in these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 </a:t>
            </a:r>
            <a:r>
              <a:rPr sz="2800" spc="-5" dirty="0">
                <a:latin typeface="Calibri"/>
                <a:cs typeface="Calibri"/>
              </a:rPr>
              <a:t>structures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access</a:t>
            </a:r>
            <a:r>
              <a:rPr sz="2800" dirty="0">
                <a:latin typeface="Calibri"/>
                <a:cs typeface="Calibri"/>
              </a:rPr>
              <a:t> is </a:t>
            </a:r>
            <a:r>
              <a:rPr sz="2800" spc="-5" dirty="0">
                <a:latin typeface="Calibri"/>
                <a:cs typeface="Calibri"/>
              </a:rPr>
              <a:t>restricted.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They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are more abstract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5" dirty="0">
                <a:latin typeface="Calibri"/>
                <a:cs typeface="Calibri"/>
              </a:rPr>
              <a:t> arrays.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1367</Words>
  <Application>Microsoft Office PowerPoint</Application>
  <PresentationFormat>On-screen Show (4:3)</PresentationFormat>
  <Paragraphs>229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MS PGothic</vt:lpstr>
      <vt:lpstr>MS UI Gothic</vt:lpstr>
      <vt:lpstr>Arial MT</vt:lpstr>
      <vt:lpstr>Calibri</vt:lpstr>
      <vt:lpstr>Courier New</vt:lpstr>
      <vt:lpstr>Tahoma</vt:lpstr>
      <vt:lpstr>Times New Roman</vt:lpstr>
      <vt:lpstr>Office Theme</vt:lpstr>
      <vt:lpstr>Queue ADT</vt:lpstr>
      <vt:lpstr>Queues</vt:lpstr>
      <vt:lpstr>Introduction to Queues</vt:lpstr>
      <vt:lpstr>Deﬁnition of a Queue</vt:lpstr>
      <vt:lpstr>Queues</vt:lpstr>
      <vt:lpstr>Introduction to Queues</vt:lpstr>
      <vt:lpstr>The Queue Operations</vt:lpstr>
      <vt:lpstr>The Queue Operations</vt:lpstr>
      <vt:lpstr>The Queue Operations</vt:lpstr>
      <vt:lpstr>Queue Abstract Data Type</vt:lpstr>
      <vt:lpstr>A Graphic Model of a Queue</vt:lpstr>
      <vt:lpstr>Operations on Queues</vt:lpstr>
      <vt:lpstr>Queue as a Class</vt:lpstr>
      <vt:lpstr>Designing and Building a Queue Class  Array-Based</vt:lpstr>
      <vt:lpstr>Queue Operation</vt:lpstr>
      <vt:lpstr>Queue Operation</vt:lpstr>
      <vt:lpstr>Queue Operation</vt:lpstr>
      <vt:lpstr>Queue Operation</vt:lpstr>
      <vt:lpstr>Circular Queue</vt:lpstr>
      <vt:lpstr>Array Implementation</vt:lpstr>
      <vt:lpstr>Array Implementation</vt:lpstr>
      <vt:lpstr>A Dequeue Operation</vt:lpstr>
      <vt:lpstr>An Enqueue Operation</vt:lpstr>
      <vt:lpstr>At the End of the Array</vt:lpstr>
      <vt:lpstr>At the End of the Array</vt:lpstr>
      <vt:lpstr>Array Implementation</vt:lpstr>
      <vt:lpstr>Linked List Implementation</vt:lpstr>
      <vt:lpstr>Linked List Implementation</vt:lpstr>
      <vt:lpstr>Linked List Implementation</vt:lpstr>
      <vt:lpstr>Abstract Data Type</vt:lpstr>
      <vt:lpstr>What is the diﬀerence?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 ADT</dc:title>
  <cp:lastModifiedBy>Roman Richard</cp:lastModifiedBy>
  <cp:revision>1</cp:revision>
  <dcterms:created xsi:type="dcterms:W3CDTF">2022-08-14T08:22:49Z</dcterms:created>
  <dcterms:modified xsi:type="dcterms:W3CDTF">2022-08-14T08:26:10Z</dcterms:modified>
</cp:coreProperties>
</file>