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99" r:id="rId2"/>
    <p:sldId id="296" r:id="rId3"/>
    <p:sldId id="295" r:id="rId4"/>
    <p:sldId id="267" r:id="rId5"/>
    <p:sldId id="268" r:id="rId6"/>
    <p:sldId id="269" r:id="rId7"/>
    <p:sldId id="300" r:id="rId8"/>
    <p:sldId id="301" r:id="rId9"/>
    <p:sldId id="257" r:id="rId10"/>
    <p:sldId id="302" r:id="rId11"/>
    <p:sldId id="303" r:id="rId12"/>
    <p:sldId id="305" r:id="rId13"/>
    <p:sldId id="304" r:id="rId14"/>
    <p:sldId id="306" r:id="rId15"/>
    <p:sldId id="307" r:id="rId16"/>
    <p:sldId id="270" r:id="rId17"/>
    <p:sldId id="262" r:id="rId18"/>
    <p:sldId id="271" r:id="rId19"/>
    <p:sldId id="272" r:id="rId20"/>
    <p:sldId id="282" r:id="rId2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0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22"/>
    </p:cViewPr>
  </p:sorterViewPr>
  <p:notesViewPr>
    <p:cSldViewPr>
      <p:cViewPr varScale="1">
        <p:scale>
          <a:sx n="80" d="100"/>
          <a:sy n="80" d="100"/>
        </p:scale>
        <p:origin x="-19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FEAEE4A-8060-4967-966D-0FB284609C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t" anchorCtr="0" compatLnSpc="1">
            <a:prstTxWarp prst="textNoShape">
              <a:avLst/>
            </a:prstTxWarp>
          </a:bodyPr>
          <a:lstStyle>
            <a:lvl1pPr defTabSz="960438">
              <a:defRPr sz="1300"/>
            </a:lvl1pPr>
          </a:lstStyle>
          <a:p>
            <a:r>
              <a:rPr lang="en-US" altLang="en-US"/>
              <a:t>CS331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01D1648-408D-4684-AB00-64274B2AB4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t" anchorCtr="0" compatLnSpc="1">
            <a:prstTxWarp prst="textNoShape">
              <a:avLst/>
            </a:prstTxWarp>
          </a:bodyPr>
          <a:lstStyle>
            <a:lvl1pPr algn="r" defTabSz="960438">
              <a:defRPr sz="1300"/>
            </a:lvl1pPr>
          </a:lstStyle>
          <a:p>
            <a:r>
              <a:rPr lang="en-US" altLang="en-US"/>
              <a:t>Dr. Young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A7B800BC-2EAD-4DCF-ADC3-0F476B70306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b" anchorCtr="0" compatLnSpc="1">
            <a:prstTxWarp prst="textNoShape">
              <a:avLst/>
            </a:prstTxWarp>
          </a:bodyPr>
          <a:lstStyle>
            <a:lvl1pPr defTabSz="960438">
              <a:defRPr sz="1300"/>
            </a:lvl1pPr>
          </a:lstStyle>
          <a:p>
            <a:r>
              <a:rPr lang="en-US" altLang="en-US"/>
              <a:t>Introduction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8894EAA3-CFD6-4AB6-8879-E57508D3D6F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b" anchorCtr="0" compatLnSpc="1">
            <a:prstTxWarp prst="textNoShape">
              <a:avLst/>
            </a:prstTxWarp>
          </a:bodyPr>
          <a:lstStyle>
            <a:lvl1pPr algn="r" defTabSz="960438">
              <a:defRPr sz="1300"/>
            </a:lvl1pPr>
          </a:lstStyle>
          <a:p>
            <a:fld id="{AEEDF36B-E77F-4690-86A9-465310747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28A4E8D-7F06-46D9-9A62-3A9830B1D3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t" anchorCtr="0" compatLnSpc="1">
            <a:prstTxWarp prst="textNoShape">
              <a:avLst/>
            </a:prstTxWarp>
          </a:bodyPr>
          <a:lstStyle>
            <a:lvl1pPr defTabSz="960438">
              <a:defRPr sz="1300"/>
            </a:lvl1pPr>
          </a:lstStyle>
          <a:p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E224455-9506-408E-94AF-B411900DD8C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t" anchorCtr="0" compatLnSpc="1">
            <a:prstTxWarp prst="textNoShape">
              <a:avLst/>
            </a:prstTxWarp>
          </a:bodyPr>
          <a:lstStyle>
            <a:lvl1pPr algn="r" defTabSz="960438">
              <a:defRPr sz="1300"/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93CD62C-E6DD-4446-9259-8C942E5B1D2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01A5117-BD1C-46E3-A64F-D6C30CFD67E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59300"/>
            <a:ext cx="536257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FD80AD3-8123-4A01-AB15-C28587C670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b" anchorCtr="0" compatLnSpc="1">
            <a:prstTxWarp prst="textNoShape">
              <a:avLst/>
            </a:prstTxWarp>
          </a:bodyPr>
          <a:lstStyle>
            <a:lvl1pPr defTabSz="960438">
              <a:defRPr sz="1300"/>
            </a:lvl1pPr>
          </a:lstStyle>
          <a:p>
            <a:endParaRPr lang="en-US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D2DFF8F-AF74-4ADB-8D8F-6C7E98AEB8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086" tIns="48043" rIns="96086" bIns="48043" numCol="1" anchor="b" anchorCtr="0" compatLnSpc="1">
            <a:prstTxWarp prst="textNoShape">
              <a:avLst/>
            </a:prstTxWarp>
          </a:bodyPr>
          <a:lstStyle>
            <a:lvl1pPr algn="r" defTabSz="960438">
              <a:defRPr sz="1300"/>
            </a:lvl1pPr>
          </a:lstStyle>
          <a:p>
            <a:fld id="{4ABD9E80-2F72-4652-84D8-FA4515F2A58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FFB0C8B-A910-4BCF-92FC-E501C2869C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A806A1-FF8C-4C13-A95B-99263DF765E3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8D50FFC1-26E3-4314-A59C-DFBB82A4C0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89296576-80F1-4396-BA52-1BC15B90D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F4C0FD9E-9E28-4741-94F7-1DBA771D71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08CD00A9-7BFE-440C-87BC-5641D79344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6B34AF4D-A4FD-4786-9ACF-0BD9206F1A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4DBFD664-DF4A-441F-B3F6-908D345931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Introduction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F8F998D5-5FDD-4AE7-8454-EF8700DA5A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77A5387-0799-4456-A998-36E9EBB127D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84BC-4641-4636-9EB3-42037F88B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94D6D-9897-4296-BE05-01BCBF528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2CB61-B201-47B2-8424-0EA90D3E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E91C-0E2B-4FFA-818B-683EEE0A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2E2B3-0D3A-4CFC-BC63-222427CC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E0477-2D57-4295-8D4A-C8B094689B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5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F08A-776E-4E5D-AE43-AB861ABFF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643DD-FA20-4195-941C-5E5CBCCF2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F5E61-F892-4D7E-A5E2-CF80B712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60BBB-6BB7-4DC0-8921-1A9A2A23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F45F-CF35-485B-BF42-578C2CD1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7D8D46-FA10-4351-8D5B-A912722FF3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605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BFB4-0E5C-4D3E-91D0-4F2FE9FA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46A65-F6A8-4306-BF29-35BF0B639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5A4ED-6FCD-4677-B48B-83BCC0719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C8139-6434-484D-995F-0EB575EC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0674A-2B2F-4AB7-9A40-B56236DF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AC912-154E-4899-BD15-D9C6EF9F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E7ED6-EEB4-4637-9EC5-4C0C729724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834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4DC4-B1CA-4780-9FEA-6788FF2A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D71D8-72E7-45F9-BA85-C2BDC9445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859E5-87A8-4325-8CF0-F6E273428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EDDB1-6934-4D33-B91B-028EE37D2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FDC87-920F-41E8-AE1A-825AFC637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FAEAD-782D-47EB-B663-771762D99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13EAD-A03F-4D4A-9B79-DC2B23DA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DA2C5-9996-438E-9BA4-04AD48E7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E875D-48D9-4D61-A9B9-802CABE8B5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41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9E58-DA4B-4C05-A3EF-82E617728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71EFD-7058-4E7D-8796-08B95DD1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FC941-2224-4281-8D89-678023E3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A6F53-111D-46B8-B42E-7286E2B2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4D8F90-D905-47C3-ABA2-35A5F453CA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3721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98763D-513A-47BE-B310-394DC9F8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08A76-98EA-41E7-A7ED-DD8DE9BC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18EF1-8AA6-4500-84B6-3C174ADF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2AFB1D-44AB-4975-B789-917FD89B41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97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FF7F-F302-4206-8F28-CE9296F4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6C5F6-3DBC-4CF5-B394-BFB6ECF8E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60655-F336-4CB3-990D-A6E9BCA57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E24D3-B692-4A3A-9DE6-D96C40DF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85EFB-854A-4B67-B868-4736FD5A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BC362-92BE-45E8-B39A-670E180C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2B1A6D-44DA-489D-B313-820C96E49A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877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ACA3-6E53-4D10-A31F-F9B86800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A385B-2C92-4D69-957A-9A0FD800E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03F03-1803-493E-A916-EFF1CE8AC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F94F3-3562-4C22-9EE8-1CF41334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485A0-03E2-43B6-B4B5-FC9B261D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BE7D5-0E92-4E15-846D-3326E9F3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DC2611-AE81-4C92-B1B3-DD9C59D980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96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4BB0-557E-4D16-9236-1AC6BD4A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34026-2272-47E4-A0EE-996F3B9F3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A509A-F969-471F-B329-60FA68AE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C13C2-16AE-43F4-A47B-848551569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27C5B-3C48-45D1-8E9F-B3AEA904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B70A7B-615F-4C50-95A6-A87A0CCDE9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07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0B07D-83FC-448E-8673-CE510BF15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4FB82-D802-4CDD-AD53-14F03C27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255E-37F7-4FD9-A10C-F1733B22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Young CS 331 D&amp;A of  Algo.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FC3A1-1669-47C0-ACF7-35489E83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66C11-9952-4CA0-ABC8-23998F13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A6DB85-8F57-4CC4-B124-6BE2FA10B4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29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EA6CE18-36C7-48E9-B971-1417A6C43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CF664D-B455-434E-BCF1-8BA6812F6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FCD6CD7-555B-4A7C-B8F6-35C1C067C8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altLang="en-US">
                <a:solidFill>
                  <a:schemeClr val="tx1"/>
                </a:solidFill>
              </a:rPr>
              <a:t>Young CS 331 D&amp;A of  Algo.</a:t>
            </a: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B8280DD-D2BD-4873-A56B-729C36AEDA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en-US"/>
              <a:t> Topic: </a:t>
            </a:r>
            <a:r>
              <a:rPr lang="en-US" altLang="en-US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0E1595A-AA5F-49BF-9822-5802B18B90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442075B-31CC-472D-BEF7-F8FB3079FA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8D3EE5B-2B4C-4883-924B-ED3F9D0458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Introduction to Algorithms and Algorithm Analysis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08AEC77-872D-4ED8-9EBD-44212FA50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H" sz="1100" dirty="0"/>
              <a:t>Based on the slides of Young CS  331 D&amp;A of Algo. Topic: Introduction</a:t>
            </a:r>
          </a:p>
          <a:p>
            <a:r>
              <a:rPr lang="en-PH" sz="1100" dirty="0"/>
              <a:t>w/ content from Analysis of Algorithms cs.purdue.edu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597A-E0EE-47B8-B865-B1CE8068F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0DE0477-2D57-4295-8D4A-C8B094689B6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51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587ED7-4FB9-4807-859B-72EE7597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4384"/>
            <a:ext cx="5181600" cy="228671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1225E7-EF84-4C63-9622-DE56C660E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443C-5864-4478-B6D9-282110DBB0C8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5DCF1FD8-94A2-41C3-93F4-0009902D9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971800"/>
            <a:ext cx="7772400" cy="35814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What is an </a:t>
            </a:r>
            <a:r>
              <a:rPr lang="en-US" altLang="en-US" sz="2000" b="1" u="sng" dirty="0">
                <a:cs typeface="Times New Roman" panose="02020603050405020304" pitchFamily="18" charset="0"/>
              </a:rPr>
              <a:t>algorithm</a:t>
            </a:r>
            <a:r>
              <a:rPr lang="en-US" altLang="en-US" sz="2000" dirty="0">
                <a:cs typeface="Times New Roman" panose="02020603050405020304" pitchFamily="18" charset="0"/>
              </a:rPr>
              <a:t>?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A simple, unambiguous, mechanical procedure to carry out some task.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 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Why algorithm instead of program?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en-US" altLang="en-US" sz="2000" dirty="0"/>
              <a:t>Writing an algorithm is simpler (we don’t need to worry about the detailed implementation, or the language syntax).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endParaRPr lang="en-US" altLang="en-US" sz="2000" dirty="0"/>
          </a:p>
          <a:p>
            <a:pPr marL="533400" indent="-533400">
              <a:lnSpc>
                <a:spcPct val="90000"/>
              </a:lnSpc>
              <a:buFontTx/>
              <a:buAutoNum type="arabicPeriod" startAt="2"/>
            </a:pPr>
            <a:r>
              <a:rPr lang="en-US" altLang="en-US" sz="2000" dirty="0"/>
              <a:t>An algorithm is easier to read than a program written in, for instance, 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B75CD4-D19B-4EBB-952B-8BFD46CA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C98B-F0BE-4508-BF52-FDD9D12D7B64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DAF6963B-AB8D-4D0D-A7DE-057C7F355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867400"/>
          </a:xfrm>
        </p:spPr>
        <p:txBody>
          <a:bodyPr/>
          <a:lstStyle/>
          <a:p>
            <a:pPr marL="533400" indent="-533400">
              <a:buFontTx/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How to represent an algorithm?</a:t>
            </a:r>
          </a:p>
          <a:p>
            <a:pPr marL="533400" indent="-533400">
              <a:buFontTx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533400" indent="-533400">
              <a:buFontTx/>
              <a:buAutoNum type="arabicPeriod"/>
            </a:pPr>
            <a:r>
              <a:rPr lang="en-US" altLang="en-US" dirty="0"/>
              <a:t>Give a description in your own language, e.g. English, Spanish, …</a:t>
            </a:r>
          </a:p>
          <a:p>
            <a:pPr marL="533400" indent="-533400">
              <a:buFontTx/>
              <a:buNone/>
            </a:pPr>
            <a:endParaRPr lang="en-US" altLang="en-US" dirty="0"/>
          </a:p>
          <a:p>
            <a:pPr marL="533400" indent="-533400">
              <a:buFontTx/>
              <a:buNone/>
            </a:pPr>
            <a:r>
              <a:rPr lang="en-US" altLang="en-US" dirty="0"/>
              <a:t>2.	Pseudo code</a:t>
            </a:r>
          </a:p>
          <a:p>
            <a:pPr marL="533400" indent="-533400">
              <a:buFontTx/>
              <a:buNone/>
            </a:pPr>
            <a:endParaRPr lang="en-US" altLang="en-US" dirty="0"/>
          </a:p>
          <a:p>
            <a:pPr marL="533400" indent="-533400">
              <a:buFontTx/>
              <a:buNone/>
            </a:pPr>
            <a:r>
              <a:rPr lang="en-US" altLang="en-US" dirty="0"/>
              <a:t>3.	Graphical</a:t>
            </a:r>
          </a:p>
          <a:p>
            <a:pPr marL="533400" indent="-533400">
              <a:buFontTx/>
              <a:buNone/>
            </a:pPr>
            <a:endParaRPr lang="en-US" altLang="en-US" dirty="0"/>
          </a:p>
          <a:p>
            <a:pPr marL="533400" indent="-533400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F961859-790F-429E-9E1B-66A4519F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F15C6-4C1E-403A-BE75-3444A99E8242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6386" name="Text Box 1026">
            <a:extLst>
              <a:ext uri="{FF2B5EF4-FFF2-40B4-BE49-F238E27FC236}">
                <a16:creationId xmlns:a16="http://schemas.microsoft.com/office/drawing/2014/main" id="{CA3E8AEB-2976-4396-90D8-94CA36F93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346075"/>
            <a:ext cx="8474075" cy="594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200">
                <a:cs typeface="Times New Roman" panose="02020603050405020304" pitchFamily="18" charset="0"/>
              </a:rPr>
              <a:t>Example – multiplying two positive integers A and B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 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For example: 	45*19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 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Usually:  	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					 45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					 19     (x			        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	         	                 405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	        	          	        45       (+	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	          	                 855</a:t>
            </a:r>
          </a:p>
          <a:p>
            <a:endParaRPr lang="en-US" altLang="en-US" sz="3200"/>
          </a:p>
        </p:txBody>
      </p:sp>
      <p:sp>
        <p:nvSpPr>
          <p:cNvPr id="16387" name="Line 1027">
            <a:extLst>
              <a:ext uri="{FF2B5EF4-FFF2-40B4-BE49-F238E27FC236}">
                <a16:creationId xmlns:a16="http://schemas.microsoft.com/office/drawing/2014/main" id="{E173B78A-6BD6-4A2E-AD26-338143953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267200"/>
            <a:ext cx="1790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6388" name="Line 1028">
            <a:extLst>
              <a:ext uri="{FF2B5EF4-FFF2-40B4-BE49-F238E27FC236}">
                <a16:creationId xmlns:a16="http://schemas.microsoft.com/office/drawing/2014/main" id="{0BCC4AF7-DD79-4932-BB43-FA1916F3FE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257800"/>
            <a:ext cx="1790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652D5D6-EB23-4AA6-AB92-F291AF1E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3C0AC-3F9C-4891-BE96-1422A678482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7410" name="Text Box 2">
            <a:extLst>
              <a:ext uri="{FF2B5EF4-FFF2-40B4-BE49-F238E27FC236}">
                <a16:creationId xmlns:a16="http://schemas.microsoft.com/office/drawing/2014/main" id="{B35A1ED1-CF8D-4103-994E-D8466E92F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8" y="228600"/>
            <a:ext cx="8923337" cy="599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800" b="1">
                <a:cs typeface="Times New Roman" panose="02020603050405020304" pitchFamily="18" charset="0"/>
              </a:rPr>
              <a:t>A different algorithm: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 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	Multiplier	Multiplicand	Result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        		(A/2)	          	(B*2)	   	(pick numbers in column 					 	2 when the corresponding 						number under the 					 		multiplier is odd)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 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	45		19		19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	22		38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	11		76		76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	5		152		152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	2		304		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	1		608		608	(+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					855</a:t>
            </a:r>
          </a:p>
          <a:p>
            <a:endParaRPr lang="en-US" altLang="en-US"/>
          </a:p>
        </p:txBody>
      </p:sp>
      <p:sp>
        <p:nvSpPr>
          <p:cNvPr id="17411" name="Line 3">
            <a:extLst>
              <a:ext uri="{FF2B5EF4-FFF2-40B4-BE49-F238E27FC236}">
                <a16:creationId xmlns:a16="http://schemas.microsoft.com/office/drawing/2014/main" id="{E48629E8-94D6-4188-9808-84BEDA088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410200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5A50F51-F6A3-4BA6-B25E-D6D0F0BE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90BE-438C-4AA1-AE25-22FE8898A90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8434" name="Text Box 2">
            <a:extLst>
              <a:ext uri="{FF2B5EF4-FFF2-40B4-BE49-F238E27FC236}">
                <a16:creationId xmlns:a16="http://schemas.microsoft.com/office/drawing/2014/main" id="{001A4E5A-B2D6-40AB-9384-CF98B68D9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609600"/>
            <a:ext cx="8047037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cs typeface="Times New Roman" panose="02020603050405020304" pitchFamily="18" charset="0"/>
              </a:rPr>
              <a:t>An instance of a problem is a specific assignment of values to the parameters. 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This algorithm can be used for multiplying any two positive integers, we say that (45, 19) is an </a:t>
            </a:r>
            <a:r>
              <a:rPr lang="en-US" altLang="en-US" b="1" u="sng">
                <a:cs typeface="Times New Roman" panose="02020603050405020304" pitchFamily="18" charset="0"/>
              </a:rPr>
              <a:t>instance</a:t>
            </a:r>
            <a:r>
              <a:rPr lang="en-US" altLang="en-US">
                <a:cs typeface="Times New Roman" panose="02020603050405020304" pitchFamily="18" charset="0"/>
              </a:rPr>
              <a:t> of this problem. Most problems have infinite collection of instances. 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It’s ok to define the </a:t>
            </a:r>
            <a:r>
              <a:rPr lang="en-US" altLang="en-US" b="1" u="sng">
                <a:cs typeface="Times New Roman" panose="02020603050405020304" pitchFamily="18" charset="0"/>
              </a:rPr>
              <a:t>domain</a:t>
            </a:r>
            <a:r>
              <a:rPr lang="en-US" altLang="en-US">
                <a:cs typeface="Times New Roman" panose="02020603050405020304" pitchFamily="18" charset="0"/>
              </a:rPr>
              <a:t> (i.e. the set of instances) to be considered, and the algorithm should work for all instances in that domain. 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Although the above algorithm will not work if the first operand is negative, this does not invalidate the algorithm since (-45, 19) is not an instance of the problem being considered.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16161-5053-4045-ABD7-6C8F3BEAA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 marL="0" indent="0">
              <a:buNone/>
            </a:pPr>
            <a:r>
              <a:rPr lang="en-PH" sz="2400" dirty="0"/>
              <a:t>How to measure the running time of an algorithm?</a:t>
            </a:r>
          </a:p>
          <a:p>
            <a:pPr marL="0" indent="0">
              <a:buNone/>
            </a:pPr>
            <a:r>
              <a:rPr lang="en-PH" sz="2400" dirty="0"/>
              <a:t> - Experimental Study</a:t>
            </a:r>
          </a:p>
          <a:p>
            <a:pPr marL="0" indent="0">
              <a:buNone/>
            </a:pPr>
            <a:r>
              <a:rPr lang="en-PH" sz="2400" dirty="0"/>
              <a:t> - Theoretical Analysis</a:t>
            </a:r>
          </a:p>
          <a:p>
            <a:pPr marL="0" indent="0">
              <a:buNone/>
            </a:pPr>
            <a:endParaRPr lang="en-PH" sz="2400" dirty="0"/>
          </a:p>
          <a:p>
            <a:pPr marL="0" indent="0">
              <a:buNone/>
            </a:pPr>
            <a:r>
              <a:rPr lang="en-PH" sz="2400" dirty="0"/>
              <a:t>In experimental study, </a:t>
            </a:r>
            <a:r>
              <a:rPr lang="en-US" sz="2400" dirty="0"/>
              <a:t>write the program that implements the algorithm. Then run the program with datasets of varying size and composition. Use a method like #include&lt;chrono&gt; methods to get accurate measure of actual running time. Show the resulting data like shown below.</a:t>
            </a:r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77C8FA-E994-4BF5-B6EC-0B351277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AFB1D-44AB-4975-B789-917FD89B41D6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F14BF-1EBD-484A-8C38-538A2D4AC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240189"/>
            <a:ext cx="2971800" cy="258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0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FF2E-0B77-4776-B18A-AEA1BEC40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 marL="0" indent="0">
              <a:buNone/>
            </a:pPr>
            <a:r>
              <a:rPr lang="en-PH" sz="2400" dirty="0"/>
              <a:t>Experimental studies have limitations:</a:t>
            </a:r>
          </a:p>
          <a:p>
            <a:pPr>
              <a:buFontTx/>
              <a:buChar char="-"/>
            </a:pPr>
            <a:r>
              <a:rPr lang="en-PH" sz="2400" dirty="0"/>
              <a:t>Algorithm must be implemented to test its running time.</a:t>
            </a:r>
          </a:p>
          <a:p>
            <a:pPr>
              <a:buFontTx/>
              <a:buChar char="-"/>
            </a:pPr>
            <a:r>
              <a:rPr lang="en-PH" sz="2400" dirty="0"/>
              <a:t>Experiments can only be performed on limited set of inputs.</a:t>
            </a:r>
          </a:p>
          <a:p>
            <a:pPr>
              <a:buFontTx/>
              <a:buChar char="-"/>
            </a:pPr>
            <a:r>
              <a:rPr lang="en-PH" sz="2400" dirty="0"/>
              <a:t>Comparison will be dependent on computing environment.</a:t>
            </a:r>
          </a:p>
          <a:p>
            <a:pPr marL="0" indent="0">
              <a:buNone/>
            </a:pPr>
            <a:endParaRPr lang="en-PH" sz="2400" dirty="0"/>
          </a:p>
          <a:p>
            <a:pPr marL="0" indent="0">
              <a:buNone/>
            </a:pPr>
            <a:r>
              <a:rPr lang="en-PH" sz="2400" dirty="0"/>
              <a:t>Instead, we also use general methodology of theoretical analysis:</a:t>
            </a:r>
          </a:p>
          <a:p>
            <a:pPr>
              <a:buFontTx/>
              <a:buChar char="-"/>
            </a:pPr>
            <a:r>
              <a:rPr lang="en-PH" sz="2400" dirty="0"/>
              <a:t>Use high-level description over implementation.</a:t>
            </a:r>
          </a:p>
          <a:p>
            <a:pPr>
              <a:buFontTx/>
              <a:buChar char="-"/>
            </a:pPr>
            <a:r>
              <a:rPr lang="en-PH" sz="2400" dirty="0"/>
              <a:t>Consider all possible inputs.</a:t>
            </a:r>
          </a:p>
          <a:p>
            <a:pPr>
              <a:buFontTx/>
              <a:buChar char="-"/>
            </a:pPr>
            <a:r>
              <a:rPr lang="en-PH" sz="2400" dirty="0"/>
              <a:t>Evaluate efficiency that is agnostic to computing environment.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8E0CB-A365-465B-8B63-29DC98B8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0477-2D57-4295-8D4A-C8B094689B6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002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EEA11F0-544E-4B4E-80B5-2D88987E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272AB-8ACC-438E-BF9D-B2E19E198878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122" name="Text Box 2">
            <a:extLst>
              <a:ext uri="{FF2B5EF4-FFF2-40B4-BE49-F238E27FC236}">
                <a16:creationId xmlns:a16="http://schemas.microsoft.com/office/drawing/2014/main" id="{0384ED5A-9D82-428C-A685-F7BF547EE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430213"/>
            <a:ext cx="8702675" cy="554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800" b="1">
                <a:cs typeface="Times New Roman" panose="02020603050405020304" pitchFamily="18" charset="0"/>
              </a:rPr>
              <a:t>Order</a:t>
            </a:r>
            <a:r>
              <a:rPr lang="en-US" altLang="en-US">
                <a:cs typeface="Times New Roman" panose="02020603050405020304" pitchFamily="18" charset="0"/>
              </a:rPr>
              <a:t>:</a:t>
            </a:r>
          </a:p>
          <a:p>
            <a:endParaRPr lang="en-US" altLang="en-US" sz="1800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 Usually we use the </a:t>
            </a:r>
            <a:r>
              <a:rPr lang="en-US" altLang="en-US" b="1" u="sng">
                <a:cs typeface="Times New Roman" panose="02020603050405020304" pitchFamily="18" charset="0"/>
              </a:rPr>
              <a:t>frequency count</a:t>
            </a:r>
            <a:r>
              <a:rPr lang="en-US" altLang="en-US">
                <a:cs typeface="Times New Roman" panose="02020603050405020304" pitchFamily="18" charset="0"/>
              </a:rPr>
              <a:t> to compare algorithms.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Consider the following 3 programs: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        (a)		        (b)			    (c)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x ← x + y	        for i  ← 1 to n do                 for   i ← 1 to n do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                                    x ← x + y                            for j ← 1 to n do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                               end                                                x ← x + y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                                                                                 end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                                                                             end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The frequency count of stmt x ← x + y is 1, n, n</a:t>
            </a:r>
            <a:r>
              <a:rPr lang="en-US" altLang="en-US" baseline="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No</a:t>
            </a:r>
            <a:r>
              <a:rPr lang="en-US" altLang="en-US">
                <a:cs typeface="Times New Roman" panose="02020603050405020304" pitchFamily="18" charset="0"/>
              </a:rPr>
              <a:t> matter which machine we use to run these programs, we know that the execution time of (b) is n times the execution time of (a).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37E85F-C94C-4E41-81F1-5D269BFB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AFB1D-44AB-4975-B789-917FD89B41D6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B9499-8BA5-4A06-A582-9EC3A6ACF0A7}"/>
              </a:ext>
            </a:extLst>
          </p:cNvPr>
          <p:cNvSpPr txBox="1"/>
          <p:nvPr/>
        </p:nvSpPr>
        <p:spPr>
          <a:xfrm>
            <a:off x="457200" y="30480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Pseudo-code is a description of an algorithm that is more structured than usual prose but less formal than a programming language.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F5B08D-DBF7-40AD-9B20-045B9D9708D3}"/>
              </a:ext>
            </a:extLst>
          </p:cNvPr>
          <p:cNvSpPr txBox="1"/>
          <p:nvPr/>
        </p:nvSpPr>
        <p:spPr>
          <a:xfrm>
            <a:off x="457200" y="1828800"/>
            <a:ext cx="7391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Example: Find the maximum element of an array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FF3E2D-D4EA-4E5A-8A08-EF519607B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14600"/>
            <a:ext cx="5810250" cy="32289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C7C41B-4A28-488B-9513-9002C698CB92}"/>
              </a:ext>
            </a:extLst>
          </p:cNvPr>
          <p:cNvSpPr txBox="1"/>
          <p:nvPr/>
        </p:nvSpPr>
        <p:spPr>
          <a:xfrm>
            <a:off x="457200" y="5980617"/>
            <a:ext cx="7696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Pseudo-code is our preferred notation for describing algorithms. However, pseudo-code hides program design issues.</a:t>
            </a:r>
            <a:endParaRPr lang="en-PH" sz="1600" dirty="0"/>
          </a:p>
        </p:txBody>
      </p:sp>
    </p:spTree>
    <p:extLst>
      <p:ext uri="{BB962C8B-B14F-4D97-AF65-F5344CB8AC3E}">
        <p14:creationId xmlns:p14="http://schemas.microsoft.com/office/powerpoint/2010/main" val="1192041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2D6B9-0684-4A8F-8AAC-4498D7FAB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marL="0" indent="0">
              <a:buNone/>
            </a:pPr>
            <a:r>
              <a:rPr lang="en-PH" dirty="0"/>
              <a:t>What are the asymptotic notations?</a:t>
            </a:r>
          </a:p>
          <a:p>
            <a:pPr marL="0" indent="0">
              <a:buNone/>
            </a:pPr>
            <a:r>
              <a:rPr lang="en-US" sz="2400" dirty="0"/>
              <a:t>These asymptotic notations are used to describe the running time of a given algorithm when the input approaches a particular or limiting value. These are:</a:t>
            </a:r>
            <a:endParaRPr lang="en-PH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31F71B-C196-41E3-A117-9CD6B1A6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AFB1D-44AB-4975-B789-917FD89B41D6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57FED7-7084-431E-81AE-843A769CC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2686050"/>
            <a:ext cx="526732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86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3633E8-C1E5-4F49-A225-23590B0C9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762000"/>
                <a:ext cx="7772400" cy="5334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PH" dirty="0"/>
                  <a:t>Keep this example in mind…</a:t>
                </a:r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:r>
                  <a:rPr lang="en-PH" dirty="0"/>
                  <a:t>We know that </a:t>
                </a:r>
                <a14:m>
                  <m:oMath xmlns:m="http://schemas.openxmlformats.org/officeDocument/2006/math">
                    <m:r>
                      <a:rPr lang="en-PH" i="1" dirty="0" smtClean="0"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PH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PH" i="1" dirty="0" smtClean="0">
                        <a:latin typeface="Cambria Math" panose="02040503050406030204" pitchFamily="18" charset="0"/>
                      </a:rPr>
                      <m:t> &gt; </m:t>
                    </m:r>
                    <m:sSup>
                      <m:sSupPr>
                        <m:ctrlPr>
                          <a:rPr lang="en-PH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PH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PH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dirty="0"/>
                  <a:t>when the value of N is small.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PH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PH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dirty="0"/>
                  <a:t>grows at a faster rate and will eventually be the bigger function. After N = 1000,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PH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PH" dirty="0"/>
                  <a:t> will start to overtake </a:t>
                </a:r>
                <a14:m>
                  <m:oMath xmlns:m="http://schemas.openxmlformats.org/officeDocument/2006/math">
                    <m:r>
                      <a:rPr lang="en-PH" i="1" dirty="0" smtClean="0"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PH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PH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3633E8-C1E5-4F49-A225-23590B0C9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762000"/>
                <a:ext cx="7772400" cy="5334000"/>
              </a:xfrm>
              <a:blipFill>
                <a:blip r:embed="rId2"/>
                <a:stretch>
                  <a:fillRect l="-2039" t="-1600" r="-2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53882-BF31-41B2-BB09-C75641C1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0477-2D57-4295-8D4A-C8B094689B69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771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42865C3-9830-4F89-9514-282FD6BC6E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609600"/>
                <a:ext cx="77724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PH" dirty="0"/>
                  <a:t>The “Big-Oh” Notation</a:t>
                </a:r>
              </a:p>
              <a:p>
                <a:pPr marL="0" indent="0">
                  <a:buNone/>
                </a:pPr>
                <a:r>
                  <a:rPr lang="en-PH" sz="2800" dirty="0"/>
                  <a:t>Given functions f(n) and g(n), we say that: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PH" sz="2800" dirty="0"/>
                  <a:t> is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PH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PH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PH" sz="2800" dirty="0"/>
                  <a:t> if and only if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sz="2800" dirty="0"/>
                  <a:t> for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PH" sz="2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42865C3-9830-4F89-9514-282FD6BC6E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609600"/>
                <a:ext cx="7772400" cy="5486400"/>
              </a:xfrm>
              <a:blipFill>
                <a:blip r:embed="rId2"/>
                <a:stretch>
                  <a:fillRect l="-2039" t="-155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2C87BF-3CED-47ED-B85F-212A272C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AFB1D-44AB-4975-B789-917FD89B41D6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0DECD-CD1C-4915-B88E-2957990BF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033141"/>
            <a:ext cx="464820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31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B4847E-5D8C-41C1-91DA-DF50961AC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457200"/>
                <a:ext cx="7772400" cy="563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PH" dirty="0"/>
                  <a:t>The goal for asymptotic notation is to simplify the analysis by removing the unnecessary information.</a:t>
                </a:r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1,000,000 </m:t>
                      </m:r>
                      <m:r>
                        <a:rPr lang="en-P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≈1,000,003</m:t>
                      </m:r>
                    </m:oMath>
                  </m:oMathPara>
                </a14:m>
                <a:endParaRPr lang="en-PH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H" dirty="0"/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PH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PH" dirty="0"/>
                  <a:t> can be approximated as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PH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</m:oMath>
                </a14:m>
                <a:r>
                  <a:rPr lang="en-PH" dirty="0"/>
                  <a:t> or even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PH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PH" dirty="0"/>
                  <a:t>, it is actually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PH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P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B4847E-5D8C-41C1-91DA-DF50961AC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457200"/>
                <a:ext cx="7772400" cy="5638800"/>
              </a:xfrm>
              <a:blipFill>
                <a:blip r:embed="rId2"/>
                <a:stretch>
                  <a:fillRect l="-2039" t="-1514" r="-305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6C68-9EAB-441A-AEE2-4A2F39663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0477-2D57-4295-8D4A-C8B094689B69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437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BD2DD4-160A-47B1-B776-FA139A3B20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914400"/>
                <a:ext cx="77724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PH" dirty="0"/>
                  <a:t>Simple rules:</a:t>
                </a:r>
              </a:p>
              <a:p>
                <a:pPr marL="0" indent="0">
                  <a:buNone/>
                </a:pPr>
                <a:endParaRPr lang="en-PH" dirty="0"/>
              </a:p>
              <a:p>
                <a:pPr>
                  <a:buFontTx/>
                  <a:buChar char="-"/>
                </a:pPr>
                <a:r>
                  <a:rPr lang="en-PH" dirty="0"/>
                  <a:t>If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dirty="0"/>
                  <a:t> is a polynomial of degree d, then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dirty="0"/>
                  <a:t> is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PH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dirty="0"/>
                  <a:t>. We can drop the lower order terms and constant factors.</a:t>
                </a:r>
              </a:p>
              <a:p>
                <a:pPr>
                  <a:buFontTx/>
                  <a:buChar char="-"/>
                </a:pPr>
                <a:r>
                  <a:rPr lang="en-PH" dirty="0"/>
                  <a:t>Use the simplest expression of the class, example: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PH" dirty="0"/>
                  <a:t> is O(n) not O(3n)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BD2DD4-160A-47B1-B776-FA139A3B2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914400"/>
                <a:ext cx="7772400" cy="5181600"/>
              </a:xfrm>
              <a:blipFill>
                <a:blip r:embed="rId2"/>
                <a:stretch>
                  <a:fillRect l="-2039" t="-1647" r="-251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10861-7EF7-42F0-9A53-38E21AAF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0477-2D57-4295-8D4A-C8B094689B69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8281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Text Box 6">
            <a:extLst>
              <a:ext uri="{FF2B5EF4-FFF2-40B4-BE49-F238E27FC236}">
                <a16:creationId xmlns:a16="http://schemas.microsoft.com/office/drawing/2014/main" id="{29B1033B-0097-4DD2-952B-405119849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93675"/>
            <a:ext cx="8397875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Examples:</a:t>
            </a:r>
          </a:p>
          <a:p>
            <a:pPr lvl="1">
              <a:buFontTx/>
              <a:buChar char="•"/>
            </a:pPr>
            <a:r>
              <a:rPr lang="en-US" altLang="en-US" dirty="0"/>
              <a:t>	Is 17 n</a:t>
            </a:r>
            <a:r>
              <a:rPr lang="en-US" altLang="en-US" baseline="30000" dirty="0"/>
              <a:t>2</a:t>
            </a:r>
            <a:r>
              <a:rPr lang="en-US" altLang="en-US" dirty="0"/>
              <a:t> – 5 = O(n</a:t>
            </a:r>
            <a:r>
              <a:rPr lang="en-US" altLang="en-US" baseline="30000" dirty="0"/>
              <a:t>2</a:t>
            </a:r>
            <a:r>
              <a:rPr lang="en-US" altLang="en-US" dirty="0"/>
              <a:t>)?</a:t>
            </a:r>
          </a:p>
          <a:p>
            <a:pPr lvl="1">
              <a:buFontTx/>
              <a:buChar char="•"/>
            </a:pPr>
            <a:endParaRPr lang="en-US" altLang="en-US" dirty="0"/>
          </a:p>
          <a:p>
            <a:pPr lvl="1">
              <a:buFontTx/>
              <a:buChar char="•"/>
            </a:pPr>
            <a:endParaRPr lang="en-US" altLang="en-US" dirty="0"/>
          </a:p>
          <a:p>
            <a:pPr lvl="1">
              <a:buFontTx/>
              <a:buChar char="•"/>
            </a:pPr>
            <a:endParaRPr lang="en-US" altLang="en-US" dirty="0"/>
          </a:p>
          <a:p>
            <a:pPr lvl="1">
              <a:buFontTx/>
              <a:buChar char="•"/>
            </a:pPr>
            <a:endParaRPr lang="en-US" altLang="en-US" dirty="0"/>
          </a:p>
          <a:p>
            <a:pPr lvl="1">
              <a:buFontTx/>
              <a:buChar char="•"/>
            </a:pPr>
            <a:r>
              <a:rPr lang="en-US" altLang="en-US" dirty="0"/>
              <a:t>     Is 35 n</a:t>
            </a:r>
            <a:r>
              <a:rPr lang="en-US" altLang="en-US" baseline="30000" dirty="0"/>
              <a:t>3</a:t>
            </a:r>
            <a:r>
              <a:rPr lang="en-US" altLang="en-US" dirty="0"/>
              <a:t> + 100 = O(n</a:t>
            </a:r>
            <a:r>
              <a:rPr lang="en-US" altLang="en-US" baseline="30000" dirty="0"/>
              <a:t>3</a:t>
            </a:r>
            <a:r>
              <a:rPr lang="en-US" altLang="en-US" dirty="0"/>
              <a:t>)?</a:t>
            </a:r>
          </a:p>
          <a:p>
            <a:pPr lvl="1">
              <a:buFontTx/>
              <a:buChar char="•"/>
            </a:pPr>
            <a:endParaRPr lang="en-US" altLang="en-US" dirty="0"/>
          </a:p>
          <a:p>
            <a:pPr lvl="1">
              <a:buFontTx/>
              <a:buChar char="•"/>
            </a:pPr>
            <a:endParaRPr lang="en-US" altLang="en-US" dirty="0"/>
          </a:p>
          <a:p>
            <a:pPr lvl="1">
              <a:buFontTx/>
              <a:buChar char="•"/>
            </a:pPr>
            <a:endParaRPr lang="en-US" altLang="en-US" dirty="0"/>
          </a:p>
          <a:p>
            <a:pPr lvl="1">
              <a:buFontTx/>
              <a:buChar char="•"/>
            </a:pPr>
            <a:endParaRPr lang="en-US" altLang="en-US" dirty="0"/>
          </a:p>
          <a:p>
            <a:pPr lvl="1">
              <a:buFontTx/>
              <a:buChar char="•"/>
            </a:pPr>
            <a:r>
              <a:rPr lang="en-US" altLang="en-US" dirty="0"/>
              <a:t>      Is 6 </a:t>
            </a:r>
            <a:r>
              <a:rPr lang="en-US" altLang="en-US" dirty="0">
                <a:sym typeface="Symbol" panose="05050102010706020507" pitchFamily="18" charset="2"/>
              </a:rPr>
              <a:t> </a:t>
            </a:r>
            <a:r>
              <a:rPr lang="en-US" altLang="en-US" dirty="0"/>
              <a:t>2</a:t>
            </a:r>
            <a:r>
              <a:rPr lang="en-US" altLang="en-US" baseline="30000" dirty="0"/>
              <a:t>n</a:t>
            </a:r>
            <a:r>
              <a:rPr lang="en-US" altLang="en-US" dirty="0"/>
              <a:t> + n</a:t>
            </a:r>
            <a:r>
              <a:rPr lang="en-US" altLang="en-US" baseline="30000" dirty="0"/>
              <a:t>2</a:t>
            </a:r>
            <a:r>
              <a:rPr lang="en-US" altLang="en-US" dirty="0"/>
              <a:t> = O(2</a:t>
            </a:r>
            <a:r>
              <a:rPr lang="en-US" altLang="en-US" baseline="30000" dirty="0"/>
              <a:t>n</a:t>
            </a:r>
            <a:r>
              <a:rPr lang="en-US" altLang="en-US" dirty="0"/>
              <a:t>)? 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FABA41F4-E667-4164-B2F4-D6CBA11B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F1E6-0D99-49EA-BB65-452D0795F09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2530" name="Text Box 2">
            <a:extLst>
              <a:ext uri="{FF2B5EF4-FFF2-40B4-BE49-F238E27FC236}">
                <a16:creationId xmlns:a16="http://schemas.microsoft.com/office/drawing/2014/main" id="{37D9D3C7-EAC3-4A4A-B7DA-83A543050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422275"/>
            <a:ext cx="8321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1D63C063-3DCF-4EE7-80A8-BBE71D25F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3071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PH"/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C8B9CA58-1940-4139-9ED7-AF5979100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3071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P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EEBF85-7E12-48C9-8B1F-9C2FF49966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7"/>
          <a:stretch/>
        </p:blipFill>
        <p:spPr>
          <a:xfrm>
            <a:off x="1981962" y="1113630"/>
            <a:ext cx="4497324" cy="4572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D18C00-E44F-45BC-AFF1-F53A77B1CD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186"/>
          <a:stretch/>
        </p:blipFill>
        <p:spPr>
          <a:xfrm>
            <a:off x="1981962" y="2843212"/>
            <a:ext cx="4611624" cy="4572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8ABC1E-7F51-4681-BA43-E34A69DCBC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926"/>
          <a:stretch/>
        </p:blipFill>
        <p:spPr>
          <a:xfrm>
            <a:off x="1981962" y="4572795"/>
            <a:ext cx="5030724" cy="5808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8BD2A094-AE7A-4D9B-9DC3-1FC71561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AD50F-8C74-4D4F-A4E6-07CF301C61D5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5659E901-FD59-46D0-9FD0-B647DA0E7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498475"/>
            <a:ext cx="80168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Complexity classes</a:t>
            </a:r>
          </a:p>
          <a:p>
            <a:endParaRPr lang="en-US" altLang="en-US"/>
          </a:p>
          <a:p>
            <a:r>
              <a:rPr lang="en-US" altLang="en-US"/>
              <a:t>	f(n)</a:t>
            </a:r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E9884837-2616-41BD-8208-17F231D58C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657600"/>
            <a:ext cx="2895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B1CD3491-A554-4C55-98A1-F6740D901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1371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n!</a:t>
            </a:r>
          </a:p>
        </p:txBody>
      </p:sp>
      <p:sp>
        <p:nvSpPr>
          <p:cNvPr id="10253" name="Text Box 13">
            <a:extLst>
              <a:ext uri="{FF2B5EF4-FFF2-40B4-BE49-F238E27FC236}">
                <a16:creationId xmlns:a16="http://schemas.microsoft.com/office/drawing/2014/main" id="{C7737EB2-0EE1-4833-B847-DF8A1BE67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650" y="1371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n</a:t>
            </a:r>
          </a:p>
        </p:txBody>
      </p:sp>
      <p:sp>
        <p:nvSpPr>
          <p:cNvPr id="10254" name="Text Box 14">
            <a:extLst>
              <a:ext uri="{FF2B5EF4-FFF2-40B4-BE49-F238E27FC236}">
                <a16:creationId xmlns:a16="http://schemas.microsoft.com/office/drawing/2014/main" id="{86A851C8-A576-402D-B6C8-71BFD5314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450" y="1371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</a:t>
            </a:r>
            <a:r>
              <a:rPr lang="en-US" altLang="en-US" baseline="30000"/>
              <a:t>3</a:t>
            </a:r>
          </a:p>
        </p:txBody>
      </p:sp>
      <p:sp>
        <p:nvSpPr>
          <p:cNvPr id="10255" name="Text Box 15">
            <a:extLst>
              <a:ext uri="{FF2B5EF4-FFF2-40B4-BE49-F238E27FC236}">
                <a16:creationId xmlns:a16="http://schemas.microsoft.com/office/drawing/2014/main" id="{303EAF5C-15E8-4C02-BF85-F915A6CCE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1752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</a:t>
            </a:r>
            <a:r>
              <a:rPr lang="en-US" altLang="en-US" baseline="30000"/>
              <a:t>2</a:t>
            </a:r>
          </a:p>
        </p:txBody>
      </p:sp>
      <p:sp>
        <p:nvSpPr>
          <p:cNvPr id="10256" name="Text Box 16">
            <a:extLst>
              <a:ext uri="{FF2B5EF4-FFF2-40B4-BE49-F238E27FC236}">
                <a16:creationId xmlns:a16="http://schemas.microsoft.com/office/drawing/2014/main" id="{A4251CE0-E830-4E1B-90A4-89B1A2062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5" y="2590800"/>
            <a:ext cx="1030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 log n</a:t>
            </a:r>
            <a:endParaRPr lang="en-US" altLang="en-US" baseline="30000"/>
          </a:p>
        </p:txBody>
      </p:sp>
      <p:sp>
        <p:nvSpPr>
          <p:cNvPr id="10257" name="Text Box 17">
            <a:extLst>
              <a:ext uri="{FF2B5EF4-FFF2-40B4-BE49-F238E27FC236}">
                <a16:creationId xmlns:a16="http://schemas.microsoft.com/office/drawing/2014/main" id="{E6E9112C-0BDC-4021-8CBD-30CF18755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3394075"/>
            <a:ext cx="192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 (linear time)</a:t>
            </a:r>
          </a:p>
        </p:txBody>
      </p:sp>
      <p:sp>
        <p:nvSpPr>
          <p:cNvPr id="10258" name="Text Box 18">
            <a:extLst>
              <a:ext uri="{FF2B5EF4-FFF2-40B4-BE49-F238E27FC236}">
                <a16:creationId xmlns:a16="http://schemas.microsoft.com/office/drawing/2014/main" id="{36AB69B8-50F5-4AC3-B20E-6853EAA69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343400"/>
            <a:ext cx="801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log n</a:t>
            </a:r>
          </a:p>
        </p:txBody>
      </p:sp>
      <p:sp>
        <p:nvSpPr>
          <p:cNvPr id="10259" name="Text Box 19">
            <a:extLst>
              <a:ext uri="{FF2B5EF4-FFF2-40B4-BE49-F238E27FC236}">
                <a16:creationId xmlns:a16="http://schemas.microsoft.com/office/drawing/2014/main" id="{A2D60203-27F1-47F0-9106-90BBE18C2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49942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</a:t>
            </a:r>
          </a:p>
        </p:txBody>
      </p:sp>
      <p:sp>
        <p:nvSpPr>
          <p:cNvPr id="10260" name="Text Box 20">
            <a:extLst>
              <a:ext uri="{FF2B5EF4-FFF2-40B4-BE49-F238E27FC236}">
                <a16:creationId xmlns:a16="http://schemas.microsoft.com/office/drawing/2014/main" id="{7533F179-CB15-4816-9198-FA0593950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5626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Figure 2</a:t>
            </a:r>
            <a:r>
              <a:rPr lang="en-US" altLang="en-US"/>
              <a:t>. Growth rates of some important complexity classes</a:t>
            </a:r>
          </a:p>
        </p:txBody>
      </p:sp>
      <p:sp>
        <p:nvSpPr>
          <p:cNvPr id="10265" name="Freeform 25">
            <a:extLst>
              <a:ext uri="{FF2B5EF4-FFF2-40B4-BE49-F238E27FC236}">
                <a16:creationId xmlns:a16="http://schemas.microsoft.com/office/drawing/2014/main" id="{171CB858-AF17-4D6C-B5A9-5639E7AAD8F3}"/>
              </a:ext>
            </a:extLst>
          </p:cNvPr>
          <p:cNvSpPr>
            <a:spLocks/>
          </p:cNvSpPr>
          <p:nvPr/>
        </p:nvSpPr>
        <p:spPr bwMode="auto">
          <a:xfrm>
            <a:off x="2971800" y="2133600"/>
            <a:ext cx="2514600" cy="2844800"/>
          </a:xfrm>
          <a:custGeom>
            <a:avLst/>
            <a:gdLst>
              <a:gd name="T0" fmla="*/ 0 w 1584"/>
              <a:gd name="T1" fmla="*/ 1792 h 1792"/>
              <a:gd name="T2" fmla="*/ 864 w 1584"/>
              <a:gd name="T3" fmla="*/ 880 h 1792"/>
              <a:gd name="T4" fmla="*/ 1296 w 1584"/>
              <a:gd name="T5" fmla="*/ 400 h 1792"/>
              <a:gd name="T6" fmla="*/ 1536 w 1584"/>
              <a:gd name="T7" fmla="*/ 64 h 1792"/>
              <a:gd name="T8" fmla="*/ 1584 w 1584"/>
              <a:gd name="T9" fmla="*/ 16 h 1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84" h="1792">
                <a:moveTo>
                  <a:pt x="0" y="1792"/>
                </a:moveTo>
                <a:cubicBezTo>
                  <a:pt x="324" y="1452"/>
                  <a:pt x="648" y="1112"/>
                  <a:pt x="864" y="880"/>
                </a:cubicBezTo>
                <a:cubicBezTo>
                  <a:pt x="1080" y="648"/>
                  <a:pt x="1184" y="536"/>
                  <a:pt x="1296" y="400"/>
                </a:cubicBezTo>
                <a:cubicBezTo>
                  <a:pt x="1408" y="264"/>
                  <a:pt x="1488" y="128"/>
                  <a:pt x="1536" y="64"/>
                </a:cubicBezTo>
                <a:cubicBezTo>
                  <a:pt x="1584" y="0"/>
                  <a:pt x="1584" y="8"/>
                  <a:pt x="1584" y="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0268" name="Freeform 28">
            <a:extLst>
              <a:ext uri="{FF2B5EF4-FFF2-40B4-BE49-F238E27FC236}">
                <a16:creationId xmlns:a16="http://schemas.microsoft.com/office/drawing/2014/main" id="{95F97FE4-DC83-4482-B518-779513786843}"/>
              </a:ext>
            </a:extLst>
          </p:cNvPr>
          <p:cNvSpPr>
            <a:spLocks/>
          </p:cNvSpPr>
          <p:nvPr/>
        </p:nvSpPr>
        <p:spPr bwMode="auto">
          <a:xfrm>
            <a:off x="2895600" y="2971800"/>
            <a:ext cx="2667000" cy="1981200"/>
          </a:xfrm>
          <a:custGeom>
            <a:avLst/>
            <a:gdLst>
              <a:gd name="T0" fmla="*/ 0 w 1680"/>
              <a:gd name="T1" fmla="*/ 1248 h 1248"/>
              <a:gd name="T2" fmla="*/ 912 w 1680"/>
              <a:gd name="T3" fmla="*/ 624 h 1248"/>
              <a:gd name="T4" fmla="*/ 1392 w 1680"/>
              <a:gd name="T5" fmla="*/ 240 h 1248"/>
              <a:gd name="T6" fmla="*/ 1680 w 1680"/>
              <a:gd name="T7" fmla="*/ 0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80" h="1248">
                <a:moveTo>
                  <a:pt x="0" y="1248"/>
                </a:moveTo>
                <a:cubicBezTo>
                  <a:pt x="340" y="1020"/>
                  <a:pt x="680" y="792"/>
                  <a:pt x="912" y="624"/>
                </a:cubicBezTo>
                <a:cubicBezTo>
                  <a:pt x="1144" y="456"/>
                  <a:pt x="1264" y="344"/>
                  <a:pt x="1392" y="240"/>
                </a:cubicBezTo>
                <a:cubicBezTo>
                  <a:pt x="1520" y="136"/>
                  <a:pt x="1600" y="68"/>
                  <a:pt x="16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0270" name="Freeform 30">
            <a:extLst>
              <a:ext uri="{FF2B5EF4-FFF2-40B4-BE49-F238E27FC236}">
                <a16:creationId xmlns:a16="http://schemas.microsoft.com/office/drawing/2014/main" id="{688BD177-B282-4B86-BF16-62844FDCD0D7}"/>
              </a:ext>
            </a:extLst>
          </p:cNvPr>
          <p:cNvSpPr>
            <a:spLocks/>
          </p:cNvSpPr>
          <p:nvPr/>
        </p:nvSpPr>
        <p:spPr bwMode="auto">
          <a:xfrm>
            <a:off x="2895600" y="1752600"/>
            <a:ext cx="2362200" cy="3200400"/>
          </a:xfrm>
          <a:custGeom>
            <a:avLst/>
            <a:gdLst>
              <a:gd name="T0" fmla="*/ 0 w 1488"/>
              <a:gd name="T1" fmla="*/ 2016 h 2016"/>
              <a:gd name="T2" fmla="*/ 672 w 1488"/>
              <a:gd name="T3" fmla="*/ 1296 h 2016"/>
              <a:gd name="T4" fmla="*/ 1200 w 1488"/>
              <a:gd name="T5" fmla="*/ 624 h 2016"/>
              <a:gd name="T6" fmla="*/ 1488 w 1488"/>
              <a:gd name="T7" fmla="*/ 0 h 20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88" h="2016">
                <a:moveTo>
                  <a:pt x="0" y="2016"/>
                </a:moveTo>
                <a:cubicBezTo>
                  <a:pt x="236" y="1772"/>
                  <a:pt x="472" y="1528"/>
                  <a:pt x="672" y="1296"/>
                </a:cubicBezTo>
                <a:cubicBezTo>
                  <a:pt x="872" y="1064"/>
                  <a:pt x="1064" y="840"/>
                  <a:pt x="1200" y="624"/>
                </a:cubicBezTo>
                <a:cubicBezTo>
                  <a:pt x="1336" y="408"/>
                  <a:pt x="1412" y="204"/>
                  <a:pt x="148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0271" name="Freeform 31">
            <a:extLst>
              <a:ext uri="{FF2B5EF4-FFF2-40B4-BE49-F238E27FC236}">
                <a16:creationId xmlns:a16="http://schemas.microsoft.com/office/drawing/2014/main" id="{30BD0ACF-5BC0-47D7-A1F7-BB9D69691BEF}"/>
              </a:ext>
            </a:extLst>
          </p:cNvPr>
          <p:cNvSpPr>
            <a:spLocks/>
          </p:cNvSpPr>
          <p:nvPr/>
        </p:nvSpPr>
        <p:spPr bwMode="auto">
          <a:xfrm>
            <a:off x="2971800" y="1752600"/>
            <a:ext cx="1219200" cy="3124200"/>
          </a:xfrm>
          <a:custGeom>
            <a:avLst/>
            <a:gdLst>
              <a:gd name="T0" fmla="*/ 0 w 768"/>
              <a:gd name="T1" fmla="*/ 1968 h 1968"/>
              <a:gd name="T2" fmla="*/ 432 w 768"/>
              <a:gd name="T3" fmla="*/ 1488 h 1968"/>
              <a:gd name="T4" fmla="*/ 672 w 768"/>
              <a:gd name="T5" fmla="*/ 912 h 1968"/>
              <a:gd name="T6" fmla="*/ 768 w 768"/>
              <a:gd name="T7" fmla="*/ 0 h 1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8" h="1968">
                <a:moveTo>
                  <a:pt x="0" y="1968"/>
                </a:moveTo>
                <a:cubicBezTo>
                  <a:pt x="160" y="1816"/>
                  <a:pt x="320" y="1664"/>
                  <a:pt x="432" y="1488"/>
                </a:cubicBezTo>
                <a:cubicBezTo>
                  <a:pt x="544" y="1312"/>
                  <a:pt x="616" y="1160"/>
                  <a:pt x="672" y="912"/>
                </a:cubicBezTo>
                <a:cubicBezTo>
                  <a:pt x="728" y="664"/>
                  <a:pt x="752" y="160"/>
                  <a:pt x="76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0272" name="Freeform 32">
            <a:extLst>
              <a:ext uri="{FF2B5EF4-FFF2-40B4-BE49-F238E27FC236}">
                <a16:creationId xmlns:a16="http://schemas.microsoft.com/office/drawing/2014/main" id="{2F02D6B6-F3EE-4BF6-A03D-6AD30069B5B5}"/>
              </a:ext>
            </a:extLst>
          </p:cNvPr>
          <p:cNvSpPr>
            <a:spLocks/>
          </p:cNvSpPr>
          <p:nvPr/>
        </p:nvSpPr>
        <p:spPr bwMode="auto">
          <a:xfrm>
            <a:off x="2971800" y="1752600"/>
            <a:ext cx="838200" cy="3124200"/>
          </a:xfrm>
          <a:custGeom>
            <a:avLst/>
            <a:gdLst>
              <a:gd name="T0" fmla="*/ 0 w 528"/>
              <a:gd name="T1" fmla="*/ 1968 h 1968"/>
              <a:gd name="T2" fmla="*/ 336 w 528"/>
              <a:gd name="T3" fmla="*/ 1536 h 1968"/>
              <a:gd name="T4" fmla="*/ 480 w 528"/>
              <a:gd name="T5" fmla="*/ 1056 h 1968"/>
              <a:gd name="T6" fmla="*/ 528 w 528"/>
              <a:gd name="T7" fmla="*/ 0 h 1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8" h="1968">
                <a:moveTo>
                  <a:pt x="0" y="1968"/>
                </a:moveTo>
                <a:cubicBezTo>
                  <a:pt x="128" y="1828"/>
                  <a:pt x="256" y="1688"/>
                  <a:pt x="336" y="1536"/>
                </a:cubicBezTo>
                <a:cubicBezTo>
                  <a:pt x="416" y="1384"/>
                  <a:pt x="448" y="1312"/>
                  <a:pt x="480" y="1056"/>
                </a:cubicBezTo>
                <a:cubicBezTo>
                  <a:pt x="512" y="800"/>
                  <a:pt x="520" y="184"/>
                  <a:pt x="528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0273" name="Line 33">
            <a:extLst>
              <a:ext uri="{FF2B5EF4-FFF2-40B4-BE49-F238E27FC236}">
                <a16:creationId xmlns:a16="http://schemas.microsoft.com/office/drawing/2014/main" id="{7FB85E00-6AEA-4817-AB0E-AF7D4E6FE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1054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0274" name="Line 34">
            <a:extLst>
              <a:ext uri="{FF2B5EF4-FFF2-40B4-BE49-F238E27FC236}">
                <a16:creationId xmlns:a16="http://schemas.microsoft.com/office/drawing/2014/main" id="{039EF13F-3A9F-4FA5-BF56-74AD6E1EC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16764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  <p:sp>
        <p:nvSpPr>
          <p:cNvPr id="10277" name="Freeform 37">
            <a:extLst>
              <a:ext uri="{FF2B5EF4-FFF2-40B4-BE49-F238E27FC236}">
                <a16:creationId xmlns:a16="http://schemas.microsoft.com/office/drawing/2014/main" id="{08DA6106-10E4-490C-8787-93853F83C961}"/>
              </a:ext>
            </a:extLst>
          </p:cNvPr>
          <p:cNvSpPr>
            <a:spLocks/>
          </p:cNvSpPr>
          <p:nvPr/>
        </p:nvSpPr>
        <p:spPr bwMode="auto">
          <a:xfrm>
            <a:off x="3048000" y="4495800"/>
            <a:ext cx="3124200" cy="457200"/>
          </a:xfrm>
          <a:custGeom>
            <a:avLst/>
            <a:gdLst>
              <a:gd name="T0" fmla="*/ 0 w 2016"/>
              <a:gd name="T1" fmla="*/ 1536 h 1536"/>
              <a:gd name="T2" fmla="*/ 480 w 2016"/>
              <a:gd name="T3" fmla="*/ 672 h 1536"/>
              <a:gd name="T4" fmla="*/ 1392 w 2016"/>
              <a:gd name="T5" fmla="*/ 144 h 1536"/>
              <a:gd name="T6" fmla="*/ 2016 w 2016"/>
              <a:gd name="T7" fmla="*/ 0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1536">
                <a:moveTo>
                  <a:pt x="0" y="1536"/>
                </a:moveTo>
                <a:cubicBezTo>
                  <a:pt x="124" y="1220"/>
                  <a:pt x="248" y="904"/>
                  <a:pt x="480" y="672"/>
                </a:cubicBezTo>
                <a:cubicBezTo>
                  <a:pt x="712" y="440"/>
                  <a:pt x="1136" y="256"/>
                  <a:pt x="1392" y="144"/>
                </a:cubicBezTo>
                <a:cubicBezTo>
                  <a:pt x="1648" y="32"/>
                  <a:pt x="1832" y="16"/>
                  <a:pt x="201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C9640FFE-930B-4FEF-9617-D7839CE3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07AD1-14C7-450C-8FDC-581D6AF87866}" type="slidenum">
              <a:rPr lang="en-US" altLang="en-US"/>
              <a:pPr/>
              <a:t>18</a:t>
            </a:fld>
            <a:endParaRPr lang="en-US" altLang="en-US"/>
          </a:p>
        </p:txBody>
      </p:sp>
      <p:graphicFrame>
        <p:nvGraphicFramePr>
          <p:cNvPr id="23646" name="Group 94">
            <a:extLst>
              <a:ext uri="{FF2B5EF4-FFF2-40B4-BE49-F238E27FC236}">
                <a16:creationId xmlns:a16="http://schemas.microsoft.com/office/drawing/2014/main" id="{1B3FD2D8-D476-425D-8DF1-726E2346F72D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912938"/>
          <a:ext cx="8534400" cy="2585085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75681271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58127172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526314859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38947029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8749216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92406902"/>
                    </a:ext>
                  </a:extLst>
                </a:gridCol>
              </a:tblGrid>
              <a:tr h="727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Algorithm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Algorithm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Algorithm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Algorithm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Algorithm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867645"/>
                  </a:ext>
                </a:extLst>
              </a:tr>
              <a:tr h="730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Frequency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33n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6nlogn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13n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3.4n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895412"/>
                  </a:ext>
                </a:extLst>
              </a:tr>
              <a:tr h="727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n=10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n=10,000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&lt; 1 sec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&lt; 1 sec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&lt; 1 sec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&lt; 1 sec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&lt; 1 sec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22 min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&lt; 1 sec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39 days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&lt; 1 sec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many many</a:t>
                      </a:r>
                      <a:endParaRPr kumimoji="0" lang="en-US" altLang="en-US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centuries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32584"/>
                  </a:ext>
                </a:extLst>
              </a:tr>
            </a:tbl>
          </a:graphicData>
        </a:graphic>
      </p:graphicFrame>
      <p:sp>
        <p:nvSpPr>
          <p:cNvPr id="23643" name="Text Box 91">
            <a:extLst>
              <a:ext uri="{FF2B5EF4-FFF2-40B4-BE49-F238E27FC236}">
                <a16:creationId xmlns:a16="http://schemas.microsoft.com/office/drawing/2014/main" id="{3A89F7D8-B542-4006-A86B-07C636705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4892675"/>
            <a:ext cx="6721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Table 1</a:t>
            </a:r>
            <a:r>
              <a:rPr lang="en-US" altLang="en-US"/>
              <a:t>. Execution time for algorithms with the 	    	   given time complexities</a:t>
            </a:r>
          </a:p>
        </p:txBody>
      </p:sp>
      <p:sp>
        <p:nvSpPr>
          <p:cNvPr id="23648" name="Text Box 96">
            <a:extLst>
              <a:ext uri="{FF2B5EF4-FFF2-40B4-BE49-F238E27FC236}">
                <a16:creationId xmlns:a16="http://schemas.microsoft.com/office/drawing/2014/main" id="{A2B6A979-AC6A-4C2E-BB77-AE8FB1863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685800"/>
            <a:ext cx="6721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Assume that we have a machine that can execute 1,000,000 required operations per sec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36E8603-3E99-483C-AD45-1749844B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6FFA6-D793-4E87-9E3B-264A2D606EF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2BFDABCE-B118-4229-97D5-2EA19355F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533400"/>
            <a:ext cx="86264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>
                <a:cs typeface="Times New Roman" panose="02020603050405020304" pitchFamily="18" charset="0"/>
              </a:rPr>
              <a:t>Note:</a:t>
            </a:r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	log n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n(linear)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n log n		polynomial time (easy or tractable)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n</a:t>
            </a:r>
            <a:r>
              <a:rPr lang="en-US" altLang="en-US" baseline="30000">
                <a:cs typeface="Times New Roman" panose="02020603050405020304" pitchFamily="18" charset="0"/>
              </a:rPr>
              <a:t>2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n</a:t>
            </a:r>
            <a:r>
              <a:rPr lang="en-US" altLang="en-US" baseline="30000">
                <a:cs typeface="Times New Roman" panose="02020603050405020304" pitchFamily="18" charset="0"/>
              </a:rPr>
              <a:t>3  </a:t>
            </a:r>
            <a:r>
              <a:rPr lang="en-US" altLang="en-US">
                <a:cs typeface="Times New Roman" panose="02020603050405020304" pitchFamily="18" charset="0"/>
              </a:rPr>
              <a:t> 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	2</a:t>
            </a:r>
            <a:r>
              <a:rPr lang="en-US" altLang="en-US" baseline="30000">
                <a:cs typeface="Times New Roman" panose="02020603050405020304" pitchFamily="18" charset="0"/>
              </a:rPr>
              <a:t>n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	n!</a:t>
            </a:r>
            <a:endParaRPr lang="en-US" altLang="en-US"/>
          </a:p>
        </p:txBody>
      </p:sp>
      <p:sp>
        <p:nvSpPr>
          <p:cNvPr id="24579" name="AutoShape 3">
            <a:extLst>
              <a:ext uri="{FF2B5EF4-FFF2-40B4-BE49-F238E27FC236}">
                <a16:creationId xmlns:a16="http://schemas.microsoft.com/office/drawing/2014/main" id="{6C61FC5C-80FE-41E5-B8EA-FE58243685AB}"/>
              </a:ext>
            </a:extLst>
          </p:cNvPr>
          <p:cNvSpPr>
            <a:spLocks/>
          </p:cNvSpPr>
          <p:nvPr/>
        </p:nvSpPr>
        <p:spPr bwMode="auto">
          <a:xfrm>
            <a:off x="2362200" y="1066800"/>
            <a:ext cx="228600" cy="1676400"/>
          </a:xfrm>
          <a:prstGeom prst="rightBrace">
            <a:avLst>
              <a:gd name="adj1" fmla="val 61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H"/>
          </a:p>
        </p:txBody>
      </p:sp>
      <p:sp>
        <p:nvSpPr>
          <p:cNvPr id="24580" name="AutoShape 4">
            <a:extLst>
              <a:ext uri="{FF2B5EF4-FFF2-40B4-BE49-F238E27FC236}">
                <a16:creationId xmlns:a16="http://schemas.microsoft.com/office/drawing/2014/main" id="{EBD20EC7-F357-4F3E-8EC0-F74AEDAE48E6}"/>
              </a:ext>
            </a:extLst>
          </p:cNvPr>
          <p:cNvSpPr>
            <a:spLocks/>
          </p:cNvSpPr>
          <p:nvPr/>
        </p:nvSpPr>
        <p:spPr bwMode="auto">
          <a:xfrm>
            <a:off x="1828800" y="35814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H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3026D25E-FA76-49CB-B1BB-9631D14F8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657600"/>
            <a:ext cx="6492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cs typeface="Times New Roman" panose="02020603050405020304" pitchFamily="18" charset="0"/>
              </a:rPr>
              <a:t>exponential time (hard or intractable)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CEFAE2-A9C9-46EA-9D25-56C1A02F3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995857"/>
            <a:ext cx="5986791" cy="3773751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A90AAA0-9969-4663-AFB8-0310D16C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F6D7-F050-40BA-8000-9DFB77852F1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4818" name="Text Box 2">
            <a:extLst>
              <a:ext uri="{FF2B5EF4-FFF2-40B4-BE49-F238E27FC236}">
                <a16:creationId xmlns:a16="http://schemas.microsoft.com/office/drawing/2014/main" id="{E097843C-85E6-49BB-BDD7-D5A88293F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7813"/>
            <a:ext cx="8169275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b="1" dirty="0">
                <a:cs typeface="Times New Roman" panose="02020603050405020304" pitchFamily="18" charset="0"/>
              </a:rPr>
              <a:t>Analysis of Algorithms</a:t>
            </a:r>
            <a:r>
              <a:rPr lang="en-US" altLang="en-US" sz="2800" dirty="0"/>
              <a:t> </a:t>
            </a:r>
          </a:p>
          <a:p>
            <a:pPr algn="ctr"/>
            <a:endParaRPr lang="en-US" altLang="en-US" sz="2800" dirty="0"/>
          </a:p>
          <a:p>
            <a:pPr>
              <a:buFontTx/>
              <a:buAutoNum type="alphaLcParenR"/>
            </a:pPr>
            <a:r>
              <a:rPr lang="en-US" altLang="en-US" b="1" dirty="0">
                <a:cs typeface="Times New Roman" panose="02020603050405020304" pitchFamily="18" charset="0"/>
              </a:rPr>
              <a:t>Best Case, Worse Case Analysis</a:t>
            </a:r>
            <a:r>
              <a:rPr lang="en-US" altLang="en-US" dirty="0"/>
              <a:t> </a:t>
            </a:r>
          </a:p>
          <a:p>
            <a:endParaRPr lang="en-US" altLang="en-US" sz="1600" dirty="0"/>
          </a:p>
          <a:p>
            <a:r>
              <a:rPr lang="en-US" altLang="en-US" sz="1800" dirty="0"/>
              <a:t>An algorithm may run faster on certain data sets than on others, </a:t>
            </a:r>
          </a:p>
          <a:p>
            <a:r>
              <a:rPr lang="en-US" altLang="en-US" sz="1800" dirty="0"/>
              <a:t>Finding the average case can be very difficult, so typically algorithms are measured by the worst-case time complexity.</a:t>
            </a:r>
          </a:p>
          <a:p>
            <a:r>
              <a:rPr lang="en-US" altLang="en-US" sz="1800" dirty="0"/>
              <a:t>Also, in certain application domains (e.g., air traffic control, surgery) knowing the worst-case time complexity is of crucial importance</a:t>
            </a:r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pter1">
  <a:themeElements>
    <a:clrScheme name="chapter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hapter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hapter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apter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C:\Samuel\CSUPomona\CS331\CS380notes\chapter1.ppt</Template>
  <TotalTime>682</TotalTime>
  <Words>1256</Words>
  <Application>Microsoft Office PowerPoint</Application>
  <PresentationFormat>On-screen Show (4:3)</PresentationFormat>
  <Paragraphs>186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Cambria Math</vt:lpstr>
      <vt:lpstr>Times New Roman</vt:lpstr>
      <vt:lpstr>chapter1</vt:lpstr>
      <vt:lpstr>Introduction to Algorithms and Algorithm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Tiffany Sha</dc:creator>
  <cp:lastModifiedBy>Roman Richard</cp:lastModifiedBy>
  <cp:revision>30</cp:revision>
  <dcterms:created xsi:type="dcterms:W3CDTF">2002-09-22T23:02:12Z</dcterms:created>
  <dcterms:modified xsi:type="dcterms:W3CDTF">2022-08-14T08:11:02Z</dcterms:modified>
</cp:coreProperties>
</file>