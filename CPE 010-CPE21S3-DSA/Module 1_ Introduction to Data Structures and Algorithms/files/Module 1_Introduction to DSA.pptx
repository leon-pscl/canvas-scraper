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08" r:id="rId2"/>
    <p:sldId id="270" r:id="rId3"/>
    <p:sldId id="271" r:id="rId4"/>
    <p:sldId id="272" r:id="rId5"/>
    <p:sldId id="273" r:id="rId6"/>
    <p:sldId id="274" r:id="rId7"/>
    <p:sldId id="275" r:id="rId8"/>
    <p:sldId id="276" r:id="rId9"/>
    <p:sldId id="277" r:id="rId10"/>
    <p:sldId id="278" r:id="rId11"/>
    <p:sldId id="279"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7" r:id="rId28"/>
    <p:sldId id="298" r:id="rId29"/>
    <p:sldId id="299" r:id="rId30"/>
    <p:sldId id="300" r:id="rId31"/>
    <p:sldId id="301" r:id="rId32"/>
    <p:sldId id="302" r:id="rId33"/>
    <p:sldId id="303" r:id="rId34"/>
    <p:sldId id="304" r:id="rId35"/>
    <p:sldId id="30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1" id="{E0E81159-B9F0-45A1-8FED-FF869E4D6F10}">
          <p14:sldIdLst>
            <p14:sldId id="308"/>
            <p14:sldId id="270"/>
            <p14:sldId id="271"/>
            <p14:sldId id="272"/>
            <p14:sldId id="273"/>
            <p14:sldId id="274"/>
            <p14:sldId id="275"/>
            <p14:sldId id="276"/>
            <p14:sldId id="277"/>
            <p14:sldId id="278"/>
            <p14:sldId id="279"/>
            <p14:sldId id="281"/>
            <p14:sldId id="282"/>
            <p14:sldId id="283"/>
            <p14:sldId id="284"/>
            <p14:sldId id="285"/>
            <p14:sldId id="286"/>
            <p14:sldId id="287"/>
            <p14:sldId id="288"/>
            <p14:sldId id="289"/>
            <p14:sldId id="290"/>
            <p14:sldId id="291"/>
            <p14:sldId id="292"/>
            <p14:sldId id="293"/>
            <p14:sldId id="294"/>
            <p14:sldId id="295"/>
            <p14:sldId id="297"/>
            <p14:sldId id="298"/>
            <p14:sldId id="299"/>
            <p14:sldId id="300"/>
            <p14:sldId id="301"/>
            <p14:sldId id="302"/>
            <p14:sldId id="303"/>
            <p14:sldId id="304"/>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70431" autoAdjust="0"/>
  </p:normalViewPr>
  <p:slideViewPr>
    <p:cSldViewPr snapToGrid="0">
      <p:cViewPr varScale="1">
        <p:scale>
          <a:sx n="76" d="100"/>
          <a:sy n="76" d="100"/>
        </p:scale>
        <p:origin x="72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DCEC1F-8C0B-4345-B212-0FFAFE59A111}" type="datetimeFigureOut">
              <a:rPr lang="en-PH" smtClean="0"/>
              <a:t>14/08/2022</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E88C81-EA66-4EBE-A3AC-0FE7CD1BE2AC}" type="slidenum">
              <a:rPr lang="en-PH" smtClean="0"/>
              <a:t>‹#›</a:t>
            </a:fld>
            <a:endParaRPr lang="en-PH"/>
          </a:p>
        </p:txBody>
      </p:sp>
    </p:spTree>
    <p:extLst>
      <p:ext uri="{BB962C8B-B14F-4D97-AF65-F5344CB8AC3E}">
        <p14:creationId xmlns:p14="http://schemas.microsoft.com/office/powerpoint/2010/main" val="3183204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Structures are the main part of many computer science algorithms as they enable the programmers to handle the data in an efficient way. It plays a </a:t>
            </a:r>
            <a:r>
              <a:rPr lang="en-US" dirty="0" err="1"/>
              <a:t>vitle</a:t>
            </a:r>
            <a:r>
              <a:rPr lang="en-US" dirty="0"/>
              <a:t> role in enhancing the performance of a software or a program as the main function of the software is to store and retrieve the user’s data as fast as possible</a:t>
            </a:r>
            <a:endParaRPr lang="en-PH" dirty="0"/>
          </a:p>
        </p:txBody>
      </p:sp>
      <p:sp>
        <p:nvSpPr>
          <p:cNvPr id="4" name="Slide Number Placeholder 3"/>
          <p:cNvSpPr>
            <a:spLocks noGrp="1"/>
          </p:cNvSpPr>
          <p:nvPr>
            <p:ph type="sldNum" sz="quarter" idx="5"/>
          </p:nvPr>
        </p:nvSpPr>
        <p:spPr/>
        <p:txBody>
          <a:bodyPr/>
          <a:lstStyle/>
          <a:p>
            <a:fld id="{3BE88C81-EA66-4EBE-A3AC-0FE7CD1BE2AC}" type="slidenum">
              <a:rPr lang="en-PH" smtClean="0"/>
              <a:t>3</a:t>
            </a:fld>
            <a:endParaRPr lang="en-PH"/>
          </a:p>
        </p:txBody>
      </p:sp>
    </p:spTree>
    <p:extLst>
      <p:ext uri="{BB962C8B-B14F-4D97-AF65-F5344CB8AC3E}">
        <p14:creationId xmlns:p14="http://schemas.microsoft.com/office/powerpoint/2010/main" val="1267282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22222"/>
                </a:solidFill>
                <a:effectLst/>
                <a:latin typeface="Lora"/>
              </a:rPr>
              <a:t>Processor speed:</a:t>
            </a:r>
            <a:r>
              <a:rPr lang="en-US" b="0" i="0" dirty="0">
                <a:solidFill>
                  <a:srgbClr val="222222"/>
                </a:solidFill>
                <a:effectLst/>
                <a:latin typeface="Lora"/>
              </a:rPr>
              <a:t> To handle very large </a:t>
            </a:r>
            <a:r>
              <a:rPr lang="en-US" b="0" i="0" dirty="0" err="1">
                <a:solidFill>
                  <a:srgbClr val="222222"/>
                </a:solidFill>
                <a:effectLst/>
                <a:latin typeface="Lora"/>
              </a:rPr>
              <a:t>amout</a:t>
            </a:r>
            <a:r>
              <a:rPr lang="en-US" b="0" i="0" dirty="0">
                <a:solidFill>
                  <a:srgbClr val="222222"/>
                </a:solidFill>
                <a:effectLst/>
                <a:latin typeface="Lora"/>
              </a:rPr>
              <a:t> of data, high speed processing is required, but as the data is growing day by day to the billions of files per entity, processor may fail to deal with that much amount of data.</a:t>
            </a:r>
          </a:p>
          <a:p>
            <a:pPr algn="l"/>
            <a:r>
              <a:rPr lang="en-US" b="1" i="0" dirty="0">
                <a:solidFill>
                  <a:srgbClr val="222222"/>
                </a:solidFill>
                <a:effectLst/>
                <a:latin typeface="Lora"/>
              </a:rPr>
              <a:t>Data Search:</a:t>
            </a:r>
            <a:r>
              <a:rPr lang="en-US" b="0" i="0" dirty="0">
                <a:solidFill>
                  <a:srgbClr val="222222"/>
                </a:solidFill>
                <a:effectLst/>
                <a:latin typeface="Lora"/>
              </a:rPr>
              <a:t> Consider an inventory size of 106 items in a store, If our application needs to search for a particular item, it needs to traverse 106 items every time, results in slowing down the search process.</a:t>
            </a:r>
          </a:p>
          <a:p>
            <a:pPr algn="l"/>
            <a:r>
              <a:rPr lang="en-US" b="1" i="0" dirty="0">
                <a:solidFill>
                  <a:srgbClr val="222222"/>
                </a:solidFill>
                <a:effectLst/>
                <a:latin typeface="Lora"/>
              </a:rPr>
              <a:t>Multiple requests:</a:t>
            </a:r>
            <a:r>
              <a:rPr lang="en-US" b="0" i="0" dirty="0">
                <a:solidFill>
                  <a:srgbClr val="222222"/>
                </a:solidFill>
                <a:effectLst/>
                <a:latin typeface="Lora"/>
              </a:rPr>
              <a:t> If thousands of users are searching the data simultaneously on a web server, then there are the chances that a very large server can be failed during that process</a:t>
            </a:r>
          </a:p>
          <a:p>
            <a:pPr algn="l"/>
            <a:endParaRPr lang="en-US" b="0" i="0" dirty="0">
              <a:solidFill>
                <a:srgbClr val="222222"/>
              </a:solidFill>
              <a:effectLst/>
              <a:latin typeface="Lora"/>
            </a:endParaRPr>
          </a:p>
          <a:p>
            <a:pPr algn="l"/>
            <a:r>
              <a:rPr lang="en-US" b="0" i="0" dirty="0">
                <a:solidFill>
                  <a:srgbClr val="222222"/>
                </a:solidFill>
                <a:effectLst/>
                <a:latin typeface="Lora"/>
              </a:rPr>
              <a:t>In order to solve the above problems, data structures are used. Data is organized to form a data structure in such a way that all items are not required to be searched and required data can be searched instantly.</a:t>
            </a:r>
          </a:p>
          <a:p>
            <a:endParaRPr lang="en-PH" dirty="0"/>
          </a:p>
        </p:txBody>
      </p:sp>
      <p:sp>
        <p:nvSpPr>
          <p:cNvPr id="4" name="Slide Number Placeholder 3"/>
          <p:cNvSpPr>
            <a:spLocks noGrp="1"/>
          </p:cNvSpPr>
          <p:nvPr>
            <p:ph type="sldNum" sz="quarter" idx="5"/>
          </p:nvPr>
        </p:nvSpPr>
        <p:spPr/>
        <p:txBody>
          <a:bodyPr/>
          <a:lstStyle/>
          <a:p>
            <a:fld id="{3BE88C81-EA66-4EBE-A3AC-0FE7CD1BE2AC}" type="slidenum">
              <a:rPr lang="en-PH" smtClean="0"/>
              <a:t>5</a:t>
            </a:fld>
            <a:endParaRPr lang="en-PH"/>
          </a:p>
        </p:txBody>
      </p:sp>
    </p:spTree>
    <p:extLst>
      <p:ext uri="{BB962C8B-B14F-4D97-AF65-F5344CB8AC3E}">
        <p14:creationId xmlns:p14="http://schemas.microsoft.com/office/powerpoint/2010/main" val="2217235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22222"/>
                </a:solidFill>
                <a:effectLst/>
                <a:latin typeface="Lora"/>
              </a:rPr>
              <a:t>1) </a:t>
            </a:r>
            <a:r>
              <a:rPr lang="en-US" b="1" i="0" dirty="0">
                <a:solidFill>
                  <a:srgbClr val="222222"/>
                </a:solidFill>
                <a:effectLst/>
                <a:latin typeface="Lora"/>
              </a:rPr>
              <a:t>Traversing:</a:t>
            </a:r>
            <a:r>
              <a:rPr lang="en-US" b="0" i="0" dirty="0">
                <a:solidFill>
                  <a:srgbClr val="222222"/>
                </a:solidFill>
                <a:effectLst/>
                <a:latin typeface="Lora"/>
              </a:rPr>
              <a:t> Every data structure contains the set of data elements. Traversing the data structure means visiting each element of the data structure in order to perform some specific operation like searching or sorting.</a:t>
            </a:r>
          </a:p>
          <a:p>
            <a:pPr algn="l"/>
            <a:r>
              <a:rPr lang="en-US" b="1" i="0" dirty="0">
                <a:solidFill>
                  <a:srgbClr val="222222"/>
                </a:solidFill>
                <a:effectLst/>
                <a:latin typeface="Lora"/>
              </a:rPr>
              <a:t>Example:</a:t>
            </a:r>
            <a:r>
              <a:rPr lang="en-US" b="0" i="0" dirty="0">
                <a:solidFill>
                  <a:srgbClr val="222222"/>
                </a:solidFill>
                <a:effectLst/>
                <a:latin typeface="Lora"/>
              </a:rPr>
              <a:t> If we need to calculate the average of the marks obtained by a student in 6 different subject, we need to traverse the complete array of marks and calculate the total sum, then we will </a:t>
            </a:r>
            <a:r>
              <a:rPr lang="en-US" b="0" i="0" dirty="0" err="1">
                <a:solidFill>
                  <a:srgbClr val="222222"/>
                </a:solidFill>
                <a:effectLst/>
                <a:latin typeface="Lora"/>
              </a:rPr>
              <a:t>devide</a:t>
            </a:r>
            <a:r>
              <a:rPr lang="en-US" b="0" i="0" dirty="0">
                <a:solidFill>
                  <a:srgbClr val="222222"/>
                </a:solidFill>
                <a:effectLst/>
                <a:latin typeface="Lora"/>
              </a:rPr>
              <a:t> that sum by the number of subjects i.e. 6, in order to find the average.</a:t>
            </a:r>
          </a:p>
          <a:p>
            <a:pPr algn="l"/>
            <a:r>
              <a:rPr lang="en-US" b="0" i="0" dirty="0">
                <a:solidFill>
                  <a:srgbClr val="222222"/>
                </a:solidFill>
                <a:effectLst/>
                <a:latin typeface="Lora"/>
              </a:rPr>
              <a:t>2) </a:t>
            </a:r>
            <a:r>
              <a:rPr lang="en-US" b="1" i="0" dirty="0">
                <a:solidFill>
                  <a:srgbClr val="222222"/>
                </a:solidFill>
                <a:effectLst/>
                <a:latin typeface="Lora"/>
              </a:rPr>
              <a:t>Insertion:</a:t>
            </a:r>
            <a:r>
              <a:rPr lang="en-US" b="0" i="0" dirty="0">
                <a:solidFill>
                  <a:srgbClr val="222222"/>
                </a:solidFill>
                <a:effectLst/>
                <a:latin typeface="Lora"/>
              </a:rPr>
              <a:t> Insertion can be defined as the process of adding the elements to the data structure at any location.</a:t>
            </a:r>
          </a:p>
          <a:p>
            <a:pPr algn="l"/>
            <a:r>
              <a:rPr lang="en-US" b="0" i="0" dirty="0">
                <a:solidFill>
                  <a:srgbClr val="222222"/>
                </a:solidFill>
                <a:effectLst/>
                <a:latin typeface="Lora"/>
              </a:rPr>
              <a:t>If the size of data structure is </a:t>
            </a:r>
            <a:r>
              <a:rPr lang="en-US" b="1" i="0" dirty="0">
                <a:solidFill>
                  <a:srgbClr val="222222"/>
                </a:solidFill>
                <a:effectLst/>
                <a:latin typeface="Lora"/>
              </a:rPr>
              <a:t>n</a:t>
            </a:r>
            <a:r>
              <a:rPr lang="en-US" b="0" i="0" dirty="0">
                <a:solidFill>
                  <a:srgbClr val="222222"/>
                </a:solidFill>
                <a:effectLst/>
                <a:latin typeface="Lora"/>
              </a:rPr>
              <a:t> then we can only insert </a:t>
            </a:r>
            <a:r>
              <a:rPr lang="en-US" b="1" i="0" dirty="0">
                <a:solidFill>
                  <a:srgbClr val="222222"/>
                </a:solidFill>
                <a:effectLst/>
                <a:latin typeface="Lora"/>
              </a:rPr>
              <a:t>n-1</a:t>
            </a:r>
            <a:r>
              <a:rPr lang="en-US" b="0" i="0" dirty="0">
                <a:solidFill>
                  <a:srgbClr val="222222"/>
                </a:solidFill>
                <a:effectLst/>
                <a:latin typeface="Lora"/>
              </a:rPr>
              <a:t> data elements into it.</a:t>
            </a:r>
          </a:p>
          <a:p>
            <a:pPr algn="l"/>
            <a:r>
              <a:rPr lang="en-US" b="0" i="0" dirty="0">
                <a:solidFill>
                  <a:srgbClr val="222222"/>
                </a:solidFill>
                <a:effectLst/>
                <a:latin typeface="Lora"/>
              </a:rPr>
              <a:t>3) </a:t>
            </a:r>
            <a:r>
              <a:rPr lang="en-US" b="1" i="0" dirty="0" err="1">
                <a:solidFill>
                  <a:srgbClr val="222222"/>
                </a:solidFill>
                <a:effectLst/>
                <a:latin typeface="Lora"/>
              </a:rPr>
              <a:t>Deletion:</a:t>
            </a:r>
            <a:r>
              <a:rPr lang="en-US" b="0" i="0" dirty="0" err="1">
                <a:solidFill>
                  <a:srgbClr val="222222"/>
                </a:solidFill>
                <a:effectLst/>
                <a:latin typeface="Lora"/>
              </a:rPr>
              <a:t>The</a:t>
            </a:r>
            <a:r>
              <a:rPr lang="en-US" b="0" i="0" dirty="0">
                <a:solidFill>
                  <a:srgbClr val="222222"/>
                </a:solidFill>
                <a:effectLst/>
                <a:latin typeface="Lora"/>
              </a:rPr>
              <a:t> process of removing an element from the data structure is called Deletion. We can delete an element from the data structure at any random location.</a:t>
            </a:r>
          </a:p>
          <a:p>
            <a:pPr algn="l"/>
            <a:r>
              <a:rPr lang="en-US" b="0" i="0" dirty="0">
                <a:solidFill>
                  <a:srgbClr val="222222"/>
                </a:solidFill>
                <a:effectLst/>
                <a:latin typeface="Lora"/>
              </a:rPr>
              <a:t>If we try to delete an element from an empty data structure then </a:t>
            </a:r>
            <a:r>
              <a:rPr lang="en-US" b="1" i="0" dirty="0">
                <a:solidFill>
                  <a:srgbClr val="222222"/>
                </a:solidFill>
                <a:effectLst/>
                <a:latin typeface="Lora"/>
              </a:rPr>
              <a:t>underflow</a:t>
            </a:r>
            <a:r>
              <a:rPr lang="en-US" b="0" i="0" dirty="0">
                <a:solidFill>
                  <a:srgbClr val="222222"/>
                </a:solidFill>
                <a:effectLst/>
                <a:latin typeface="Lora"/>
              </a:rPr>
              <a:t> occurs.</a:t>
            </a:r>
          </a:p>
          <a:p>
            <a:pPr algn="l"/>
            <a:r>
              <a:rPr lang="en-US" b="0" i="0" dirty="0">
                <a:solidFill>
                  <a:srgbClr val="222222"/>
                </a:solidFill>
                <a:effectLst/>
                <a:latin typeface="Lora"/>
              </a:rPr>
              <a:t>4) </a:t>
            </a:r>
            <a:r>
              <a:rPr lang="en-US" b="1" i="0" dirty="0">
                <a:solidFill>
                  <a:srgbClr val="222222"/>
                </a:solidFill>
                <a:effectLst/>
                <a:latin typeface="Lora"/>
              </a:rPr>
              <a:t>Searching:</a:t>
            </a:r>
            <a:r>
              <a:rPr lang="en-US" b="0" i="0" dirty="0">
                <a:solidFill>
                  <a:srgbClr val="222222"/>
                </a:solidFill>
                <a:effectLst/>
                <a:latin typeface="Lora"/>
              </a:rPr>
              <a:t> The process of finding the location of an element within the data structure is called Searching. There are two algorithms to perform searching, Linear Search and Binary Search. We will discuss each one of them later in this tutorial.</a:t>
            </a:r>
          </a:p>
          <a:p>
            <a:pPr algn="l"/>
            <a:r>
              <a:rPr lang="en-US" b="0" i="0" dirty="0">
                <a:solidFill>
                  <a:srgbClr val="222222"/>
                </a:solidFill>
                <a:effectLst/>
                <a:latin typeface="Lora"/>
              </a:rPr>
              <a:t>5) </a:t>
            </a:r>
            <a:r>
              <a:rPr lang="en-US" b="1" i="0" dirty="0">
                <a:solidFill>
                  <a:srgbClr val="222222"/>
                </a:solidFill>
                <a:effectLst/>
                <a:latin typeface="Lora"/>
              </a:rPr>
              <a:t>Sorting:</a:t>
            </a:r>
            <a:r>
              <a:rPr lang="en-US" b="0" i="0" dirty="0">
                <a:solidFill>
                  <a:srgbClr val="222222"/>
                </a:solidFill>
                <a:effectLst/>
                <a:latin typeface="Lora"/>
              </a:rPr>
              <a:t> The process of arranging the data structure in a specific order is known as Sorting. There are many algorithms that can be used to perform sorting, for example, insertion sort, selection sort, bubble sort, etc.</a:t>
            </a:r>
          </a:p>
          <a:p>
            <a:pPr algn="l"/>
            <a:r>
              <a:rPr lang="en-US" b="0" i="0" dirty="0">
                <a:solidFill>
                  <a:srgbClr val="222222"/>
                </a:solidFill>
                <a:effectLst/>
                <a:latin typeface="Lora"/>
              </a:rPr>
              <a:t>6) </a:t>
            </a:r>
            <a:r>
              <a:rPr lang="en-US" b="1" i="0" dirty="0">
                <a:solidFill>
                  <a:srgbClr val="222222"/>
                </a:solidFill>
                <a:effectLst/>
                <a:latin typeface="Lora"/>
              </a:rPr>
              <a:t>Merging:</a:t>
            </a:r>
            <a:r>
              <a:rPr lang="en-US" b="0" i="0" dirty="0">
                <a:solidFill>
                  <a:srgbClr val="222222"/>
                </a:solidFill>
                <a:effectLst/>
                <a:latin typeface="Lora"/>
              </a:rPr>
              <a:t> When two lists List A and List B of size M and N respectively, of similar type of elements, clubbed or joined to produce the third list, List C of size (M+N), then this process is called merging</a:t>
            </a:r>
          </a:p>
          <a:p>
            <a:endParaRPr lang="en-PH" dirty="0"/>
          </a:p>
        </p:txBody>
      </p:sp>
      <p:sp>
        <p:nvSpPr>
          <p:cNvPr id="4" name="Slide Number Placeholder 3"/>
          <p:cNvSpPr>
            <a:spLocks noGrp="1"/>
          </p:cNvSpPr>
          <p:nvPr>
            <p:ph type="sldNum" sz="quarter" idx="5"/>
          </p:nvPr>
        </p:nvSpPr>
        <p:spPr/>
        <p:txBody>
          <a:bodyPr/>
          <a:lstStyle/>
          <a:p>
            <a:fld id="{3BE88C81-EA66-4EBE-A3AC-0FE7CD1BE2AC}" type="slidenum">
              <a:rPr lang="en-PH" smtClean="0"/>
              <a:t>10</a:t>
            </a:fld>
            <a:endParaRPr lang="en-PH"/>
          </a:p>
        </p:txBody>
      </p:sp>
    </p:spTree>
    <p:extLst>
      <p:ext uri="{BB962C8B-B14F-4D97-AF65-F5344CB8AC3E}">
        <p14:creationId xmlns:p14="http://schemas.microsoft.com/office/powerpoint/2010/main" val="2105676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22222"/>
                </a:solidFill>
                <a:effectLst/>
                <a:latin typeface="Lora"/>
              </a:rPr>
              <a:t>For example, if we want to store the marks of a student in 6 subjects, then we don’t need to define different variable for the marks in different subject. instead of that, we can define an array which can store the marks in each subject at a the contiguous memory locations.</a:t>
            </a:r>
          </a:p>
          <a:p>
            <a:endParaRPr lang="en-PH" dirty="0"/>
          </a:p>
        </p:txBody>
      </p:sp>
      <p:sp>
        <p:nvSpPr>
          <p:cNvPr id="4" name="Slide Number Placeholder 3"/>
          <p:cNvSpPr>
            <a:spLocks noGrp="1"/>
          </p:cNvSpPr>
          <p:nvPr>
            <p:ph type="sldNum" sz="quarter" idx="5"/>
          </p:nvPr>
        </p:nvSpPr>
        <p:spPr/>
        <p:txBody>
          <a:bodyPr/>
          <a:lstStyle/>
          <a:p>
            <a:fld id="{3BE88C81-EA66-4EBE-A3AC-0FE7CD1BE2AC}" type="slidenum">
              <a:rPr lang="en-PH" smtClean="0"/>
              <a:t>23</a:t>
            </a:fld>
            <a:endParaRPr lang="en-PH"/>
          </a:p>
        </p:txBody>
      </p:sp>
    </p:spTree>
    <p:extLst>
      <p:ext uri="{BB962C8B-B14F-4D97-AF65-F5344CB8AC3E}">
        <p14:creationId xmlns:p14="http://schemas.microsoft.com/office/powerpoint/2010/main" val="588296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3BE88C81-EA66-4EBE-A3AC-0FE7CD1BE2AC}" type="slidenum">
              <a:rPr lang="en-PH" smtClean="0"/>
              <a:t>25</a:t>
            </a:fld>
            <a:endParaRPr lang="en-PH"/>
          </a:p>
        </p:txBody>
      </p:sp>
    </p:spTree>
    <p:extLst>
      <p:ext uri="{BB962C8B-B14F-4D97-AF65-F5344CB8AC3E}">
        <p14:creationId xmlns:p14="http://schemas.microsoft.com/office/powerpoint/2010/main" val="243894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B00D-71F1-47B8-B11E-A904EF8846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CFDB5494-9810-4D84-B6FD-F0CE3E07CA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1E7F9C57-D7A9-4303-9BEF-ED0E3F480C6A}"/>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5" name="Footer Placeholder 4">
            <a:extLst>
              <a:ext uri="{FF2B5EF4-FFF2-40B4-BE49-F238E27FC236}">
                <a16:creationId xmlns:a16="http://schemas.microsoft.com/office/drawing/2014/main" id="{84761881-B989-42F2-A844-94912764F9D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86248B0-F2E1-4E69-8103-B471AEF8386A}"/>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2439159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49B01-B903-4865-A2E4-DEE9E8EB2F06}"/>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9BE45AE8-372A-4C18-84A2-D9BA05CA2A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2D9E766-8AA0-407F-A25B-0F155AF25DE9}"/>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5" name="Footer Placeholder 4">
            <a:extLst>
              <a:ext uri="{FF2B5EF4-FFF2-40B4-BE49-F238E27FC236}">
                <a16:creationId xmlns:a16="http://schemas.microsoft.com/office/drawing/2014/main" id="{E27AC563-00F8-474F-AAA8-50CB31EF4D61}"/>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C80F74B-84D3-41C6-9FC8-1A547B57344F}"/>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2031198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B3C72-A9D3-43ED-BB4A-9FE931296B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426986FF-9E1C-4773-BB40-E1844961A7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6447A3-9D73-4363-9CE6-436D3060CF47}"/>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5" name="Footer Placeholder 4">
            <a:extLst>
              <a:ext uri="{FF2B5EF4-FFF2-40B4-BE49-F238E27FC236}">
                <a16:creationId xmlns:a16="http://schemas.microsoft.com/office/drawing/2014/main" id="{382A7B8E-7563-4D85-94FE-0E00953299C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E4252E3-ECCA-4D6E-9F61-730220BCE7D3}"/>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973417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2DBA-E701-472D-9A34-5E63E5E82C17}"/>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99C7E595-E9EA-4831-A778-34E3C75BC7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BC268E23-A7EF-41B3-B7E4-742A2D575F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4357B18A-93A1-4F5B-B593-90C738541DE4}"/>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6" name="Footer Placeholder 5">
            <a:extLst>
              <a:ext uri="{FF2B5EF4-FFF2-40B4-BE49-F238E27FC236}">
                <a16:creationId xmlns:a16="http://schemas.microsoft.com/office/drawing/2014/main" id="{5639AAF5-22E9-4560-B63C-E7FD99ED07F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1D3A2119-CB0F-42CC-9FE8-6E3E376C395D}"/>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89849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A97EB-D205-4608-9F05-7CF64CB92DB0}"/>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B11ECF3D-73D4-4AA2-938A-2462A13FE2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D65E2-2375-4515-BDA7-7374B6FD6F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825AADA7-DB8D-449D-BC6B-5FFCB74A88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8A0970-2316-4A4C-A526-7D69257536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C36C0D7A-B828-41B7-AF54-0F01D3CF957F}"/>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8" name="Footer Placeholder 7">
            <a:extLst>
              <a:ext uri="{FF2B5EF4-FFF2-40B4-BE49-F238E27FC236}">
                <a16:creationId xmlns:a16="http://schemas.microsoft.com/office/drawing/2014/main" id="{6DCEBDC3-3B92-4EEE-A2C6-84E71C6FAC95}"/>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B8D5A869-1FE2-415E-B251-CA954790852C}"/>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591617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33F12-4C43-45A8-8722-3B48ACDE7FC2}"/>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AC79770B-2C2B-46C3-8702-81241FBCCDC9}"/>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4" name="Footer Placeholder 3">
            <a:extLst>
              <a:ext uri="{FF2B5EF4-FFF2-40B4-BE49-F238E27FC236}">
                <a16:creationId xmlns:a16="http://schemas.microsoft.com/office/drawing/2014/main" id="{1DA9A7F5-CB8B-447B-8084-A002ECFFBCF4}"/>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F1FBDE89-6534-4DBA-BCF3-C8E3AFB5BAA2}"/>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4292437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99056E-7EE4-46AC-97DD-652361D24307}"/>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3" name="Footer Placeholder 2">
            <a:extLst>
              <a:ext uri="{FF2B5EF4-FFF2-40B4-BE49-F238E27FC236}">
                <a16:creationId xmlns:a16="http://schemas.microsoft.com/office/drawing/2014/main" id="{7D3A45C8-08CD-4101-A475-8CC23AA22B7D}"/>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1C5D4ABF-D971-4CD1-9F16-4E2E95732208}"/>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3378458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7EAC0-A5EB-4390-8B64-E61CB8EB77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FA680A6C-5ECE-4870-AFAA-EF0A0B774D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6055E428-B924-48AC-A310-48ADB09718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9CCB26-0586-4AD1-BB29-F49A56D198B2}"/>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6" name="Footer Placeholder 5">
            <a:extLst>
              <a:ext uri="{FF2B5EF4-FFF2-40B4-BE49-F238E27FC236}">
                <a16:creationId xmlns:a16="http://schemas.microsoft.com/office/drawing/2014/main" id="{A8C831CE-C5EB-4645-B94E-3FE6F0087547}"/>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5887CE23-66B7-44C4-B278-9794EC8B1185}"/>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2766544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1A526-4A1B-4EFD-BDCD-C6D8913E81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3C3B4654-86D8-4347-9053-8D43B87841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74DD0F28-8446-4ACB-ABD3-126B3F92D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FDF46-B2C4-4F1F-A71F-8BE9106C29E7}"/>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6" name="Footer Placeholder 5">
            <a:extLst>
              <a:ext uri="{FF2B5EF4-FFF2-40B4-BE49-F238E27FC236}">
                <a16:creationId xmlns:a16="http://schemas.microsoft.com/office/drawing/2014/main" id="{237C3579-2115-4091-AF59-F4B95EBFD615}"/>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3539406-9423-4D20-9E88-556702E6AABA}"/>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2421364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9D0A0-A6D3-4630-8B28-42A817503B6F}"/>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E47906A-563F-426D-8726-27FCFFA724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ADC04F9-08C1-4A4B-8296-6505AAEF70A5}"/>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5" name="Footer Placeholder 4">
            <a:extLst>
              <a:ext uri="{FF2B5EF4-FFF2-40B4-BE49-F238E27FC236}">
                <a16:creationId xmlns:a16="http://schemas.microsoft.com/office/drawing/2014/main" id="{E65DD83C-7B5A-4019-9E76-16E63E3D837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FA4FD285-ABAE-4CAF-8DBB-9856B75C41CC}"/>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39301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D25872-C844-451C-ADEA-BE3CD1C936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F223323E-0E0F-4195-8C9C-34C5AE731B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11F1314E-2010-4170-A6E0-40D0A8152819}"/>
              </a:ext>
            </a:extLst>
          </p:cNvPr>
          <p:cNvSpPr>
            <a:spLocks noGrp="1"/>
          </p:cNvSpPr>
          <p:nvPr>
            <p:ph type="dt" sz="half" idx="10"/>
          </p:nvPr>
        </p:nvSpPr>
        <p:spPr/>
        <p:txBody>
          <a:bodyPr/>
          <a:lstStyle/>
          <a:p>
            <a:fld id="{07CA1F72-5D93-4127-807C-3961341B33D2}" type="datetimeFigureOut">
              <a:rPr lang="en-PH" smtClean="0"/>
              <a:t>14/08/2022</a:t>
            </a:fld>
            <a:endParaRPr lang="en-PH"/>
          </a:p>
        </p:txBody>
      </p:sp>
      <p:sp>
        <p:nvSpPr>
          <p:cNvPr id="5" name="Footer Placeholder 4">
            <a:extLst>
              <a:ext uri="{FF2B5EF4-FFF2-40B4-BE49-F238E27FC236}">
                <a16:creationId xmlns:a16="http://schemas.microsoft.com/office/drawing/2014/main" id="{945FDB36-C512-4F76-AAF5-16848E9896A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2A8A2F5-8B24-4909-95F4-730FB51791B2}"/>
              </a:ext>
            </a:extLst>
          </p:cNvPr>
          <p:cNvSpPr>
            <a:spLocks noGrp="1"/>
          </p:cNvSpPr>
          <p:nvPr>
            <p:ph type="sldNum" sz="quarter" idx="12"/>
          </p:nvPr>
        </p:nvSpPr>
        <p:spPr/>
        <p:txBody>
          <a:bodyPr/>
          <a:lstStyle/>
          <a:p>
            <a:fld id="{8AE2421D-7B18-419B-B60E-06E3FAC9D45F}" type="slidenum">
              <a:rPr lang="en-PH" smtClean="0"/>
              <a:t>‹#›</a:t>
            </a:fld>
            <a:endParaRPr lang="en-PH"/>
          </a:p>
        </p:txBody>
      </p:sp>
    </p:spTree>
    <p:extLst>
      <p:ext uri="{BB962C8B-B14F-4D97-AF65-F5344CB8AC3E}">
        <p14:creationId xmlns:p14="http://schemas.microsoft.com/office/powerpoint/2010/main" val="3779881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E3DC87-DFF6-4929-A66C-A6E81C324C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4B8AB37D-3061-4A8E-A606-DCD642CBFB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ED10FC7-9AE8-4AC7-A275-C24B880093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CA1F72-5D93-4127-807C-3961341B33D2}" type="datetimeFigureOut">
              <a:rPr lang="en-PH" smtClean="0"/>
              <a:t>14/08/2022</a:t>
            </a:fld>
            <a:endParaRPr lang="en-PH"/>
          </a:p>
        </p:txBody>
      </p:sp>
      <p:sp>
        <p:nvSpPr>
          <p:cNvPr id="5" name="Footer Placeholder 4">
            <a:extLst>
              <a:ext uri="{FF2B5EF4-FFF2-40B4-BE49-F238E27FC236}">
                <a16:creationId xmlns:a16="http://schemas.microsoft.com/office/drawing/2014/main" id="{EA537C95-E2B2-4EA1-B7A6-F2E7A258B5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C6CFF81D-E516-4715-8ED0-F6B2717854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E2421D-7B18-419B-B60E-06E3FAC9D45F}" type="slidenum">
              <a:rPr lang="en-PH" smtClean="0"/>
              <a:t>‹#›</a:t>
            </a:fld>
            <a:endParaRPr lang="en-PH"/>
          </a:p>
        </p:txBody>
      </p:sp>
    </p:spTree>
    <p:extLst>
      <p:ext uri="{BB962C8B-B14F-4D97-AF65-F5344CB8AC3E}">
        <p14:creationId xmlns:p14="http://schemas.microsoft.com/office/powerpoint/2010/main" val="2424099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9A4738-873C-48DF-B4D4-AC1F14BBB96C}"/>
              </a:ext>
            </a:extLst>
          </p:cNvPr>
          <p:cNvSpPr>
            <a:spLocks noGrp="1"/>
          </p:cNvSpPr>
          <p:nvPr>
            <p:ph type="ctrTitle"/>
          </p:nvPr>
        </p:nvSpPr>
        <p:spPr>
          <a:xfrm>
            <a:off x="1524000" y="1419246"/>
            <a:ext cx="9144000" cy="2387600"/>
          </a:xfrm>
        </p:spPr>
        <p:txBody>
          <a:bodyPr>
            <a:noAutofit/>
          </a:bodyPr>
          <a:lstStyle/>
          <a:p>
            <a:r>
              <a:rPr lang="en-PH" sz="4400" dirty="0"/>
              <a:t>Introduction to Data Structures</a:t>
            </a:r>
          </a:p>
        </p:txBody>
      </p:sp>
      <p:sp>
        <p:nvSpPr>
          <p:cNvPr id="3" name="Subtitle 2">
            <a:extLst>
              <a:ext uri="{FF2B5EF4-FFF2-40B4-BE49-F238E27FC236}">
                <a16:creationId xmlns:a16="http://schemas.microsoft.com/office/drawing/2014/main" id="{9FD7EDCC-CF77-D319-FE1E-44D314D96698}"/>
              </a:ext>
            </a:extLst>
          </p:cNvPr>
          <p:cNvSpPr>
            <a:spLocks noGrp="1"/>
          </p:cNvSpPr>
          <p:nvPr>
            <p:ph type="subTitle" idx="1"/>
          </p:nvPr>
        </p:nvSpPr>
        <p:spPr/>
        <p:txBody>
          <a:bodyPr/>
          <a:lstStyle/>
          <a:p>
            <a:endParaRPr lang="en-PH"/>
          </a:p>
        </p:txBody>
      </p:sp>
    </p:spTree>
    <p:extLst>
      <p:ext uri="{BB962C8B-B14F-4D97-AF65-F5344CB8AC3E}">
        <p14:creationId xmlns:p14="http://schemas.microsoft.com/office/powerpoint/2010/main" val="4025581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70D03-5E79-4ABC-8600-1EF5C30B7805}"/>
              </a:ext>
            </a:extLst>
          </p:cNvPr>
          <p:cNvSpPr>
            <a:spLocks noGrp="1"/>
          </p:cNvSpPr>
          <p:nvPr>
            <p:ph type="title"/>
          </p:nvPr>
        </p:nvSpPr>
        <p:spPr/>
        <p:txBody>
          <a:bodyPr/>
          <a:lstStyle/>
          <a:p>
            <a:r>
              <a:rPr lang="en-PH" dirty="0"/>
              <a:t>Introduction to Data Structures</a:t>
            </a:r>
          </a:p>
        </p:txBody>
      </p:sp>
      <p:sp>
        <p:nvSpPr>
          <p:cNvPr id="3" name="Content Placeholder 2">
            <a:extLst>
              <a:ext uri="{FF2B5EF4-FFF2-40B4-BE49-F238E27FC236}">
                <a16:creationId xmlns:a16="http://schemas.microsoft.com/office/drawing/2014/main" id="{23588578-A3D9-464C-BE3B-1CFEBE728D12}"/>
              </a:ext>
            </a:extLst>
          </p:cNvPr>
          <p:cNvSpPr>
            <a:spLocks noGrp="1"/>
          </p:cNvSpPr>
          <p:nvPr>
            <p:ph idx="1"/>
          </p:nvPr>
        </p:nvSpPr>
        <p:spPr/>
        <p:txBody>
          <a:bodyPr/>
          <a:lstStyle/>
          <a:p>
            <a:r>
              <a:rPr lang="en-PH" dirty="0"/>
              <a:t>Look around and you will see that people organize things:</a:t>
            </a:r>
          </a:p>
          <a:p>
            <a:pPr lvl="1"/>
            <a:r>
              <a:rPr lang="en-PH" dirty="0"/>
              <a:t>Write TO-DO Lists</a:t>
            </a:r>
          </a:p>
          <a:p>
            <a:pPr lvl="1"/>
            <a:r>
              <a:rPr lang="en-PH" dirty="0"/>
              <a:t>Queue at ATMs</a:t>
            </a:r>
          </a:p>
          <a:p>
            <a:pPr lvl="1"/>
            <a:r>
              <a:rPr lang="en-PH" dirty="0"/>
              <a:t>Arrange stacks of books</a:t>
            </a:r>
          </a:p>
          <a:p>
            <a:pPr lvl="1"/>
            <a:r>
              <a:rPr lang="en-PH" dirty="0"/>
              <a:t>Look-up words in dictionary</a:t>
            </a:r>
          </a:p>
          <a:p>
            <a:pPr lvl="1"/>
            <a:r>
              <a:rPr lang="en-PH" dirty="0"/>
              <a:t>Organize directories in computers</a:t>
            </a:r>
          </a:p>
          <a:p>
            <a:pPr lvl="1"/>
            <a:r>
              <a:rPr lang="en-PH" dirty="0"/>
              <a:t>Plan road map to go somewhere</a:t>
            </a:r>
          </a:p>
        </p:txBody>
      </p:sp>
    </p:spTree>
    <p:extLst>
      <p:ext uri="{BB962C8B-B14F-4D97-AF65-F5344CB8AC3E}">
        <p14:creationId xmlns:p14="http://schemas.microsoft.com/office/powerpoint/2010/main" val="49225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8DA63-02E3-4ED0-B2F8-2C1AF0FB3D51}"/>
              </a:ext>
            </a:extLst>
          </p:cNvPr>
          <p:cNvSpPr>
            <a:spLocks noGrp="1"/>
          </p:cNvSpPr>
          <p:nvPr>
            <p:ph type="title"/>
          </p:nvPr>
        </p:nvSpPr>
        <p:spPr/>
        <p:txBody>
          <a:bodyPr/>
          <a:lstStyle/>
          <a:p>
            <a:r>
              <a:rPr lang="en-PH" dirty="0"/>
              <a:t>Introduction</a:t>
            </a:r>
          </a:p>
        </p:txBody>
      </p:sp>
      <p:sp>
        <p:nvSpPr>
          <p:cNvPr id="3" name="Content Placeholder 2">
            <a:extLst>
              <a:ext uri="{FF2B5EF4-FFF2-40B4-BE49-F238E27FC236}">
                <a16:creationId xmlns:a16="http://schemas.microsoft.com/office/drawing/2014/main" id="{0A794774-2ADF-488D-9E63-E0C082EA2AEC}"/>
              </a:ext>
            </a:extLst>
          </p:cNvPr>
          <p:cNvSpPr>
            <a:spLocks noGrp="1"/>
          </p:cNvSpPr>
          <p:nvPr>
            <p:ph idx="1"/>
          </p:nvPr>
        </p:nvSpPr>
        <p:spPr/>
        <p:txBody>
          <a:bodyPr/>
          <a:lstStyle/>
          <a:p>
            <a:r>
              <a:rPr lang="en-US" dirty="0"/>
              <a:t>Data Structure can be defined as the group of data elements which provides an efficient way of storing and organizing data in the computer so that it can be used efficiently. </a:t>
            </a:r>
          </a:p>
          <a:p>
            <a:pPr lvl="1"/>
            <a:r>
              <a:rPr lang="en-US" dirty="0"/>
              <a:t>Some examples are arrays, Linked List, Stack, Queue, etc. </a:t>
            </a:r>
          </a:p>
          <a:p>
            <a:pPr lvl="1"/>
            <a:r>
              <a:rPr lang="en-US" dirty="0"/>
              <a:t>Widely used in almost every aspect of Computer Science.</a:t>
            </a:r>
          </a:p>
          <a:p>
            <a:pPr lvl="2"/>
            <a:r>
              <a:rPr lang="en-US" dirty="0"/>
              <a:t>i.e., Operating System, Compiler Design, </a:t>
            </a:r>
            <a:r>
              <a:rPr lang="en-US" dirty="0" err="1"/>
              <a:t>Artifical</a:t>
            </a:r>
            <a:r>
              <a:rPr lang="en-US" dirty="0"/>
              <a:t> intelligence, Graphics and many more.</a:t>
            </a:r>
            <a:endParaRPr lang="en-PH" dirty="0"/>
          </a:p>
        </p:txBody>
      </p:sp>
    </p:spTree>
    <p:extLst>
      <p:ext uri="{BB962C8B-B14F-4D97-AF65-F5344CB8AC3E}">
        <p14:creationId xmlns:p14="http://schemas.microsoft.com/office/powerpoint/2010/main" val="2303883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026C-1A5D-4904-9AB7-26F27A670D3F}"/>
              </a:ext>
            </a:extLst>
          </p:cNvPr>
          <p:cNvSpPr>
            <a:spLocks noGrp="1"/>
          </p:cNvSpPr>
          <p:nvPr>
            <p:ph type="title"/>
          </p:nvPr>
        </p:nvSpPr>
        <p:spPr/>
        <p:txBody>
          <a:bodyPr/>
          <a:lstStyle/>
          <a:p>
            <a:r>
              <a:rPr lang="en-PH" dirty="0"/>
              <a:t>Terminologies</a:t>
            </a:r>
          </a:p>
        </p:txBody>
      </p:sp>
      <p:sp>
        <p:nvSpPr>
          <p:cNvPr id="3" name="Content Placeholder 2">
            <a:extLst>
              <a:ext uri="{FF2B5EF4-FFF2-40B4-BE49-F238E27FC236}">
                <a16:creationId xmlns:a16="http://schemas.microsoft.com/office/drawing/2014/main" id="{4329E79C-4532-4EDA-B03F-B97AC9E31E5B}"/>
              </a:ext>
            </a:extLst>
          </p:cNvPr>
          <p:cNvSpPr>
            <a:spLocks noGrp="1"/>
          </p:cNvSpPr>
          <p:nvPr>
            <p:ph idx="1"/>
          </p:nvPr>
        </p:nvSpPr>
        <p:spPr/>
        <p:txBody>
          <a:bodyPr>
            <a:normAutofit fontScale="92500" lnSpcReduction="20000"/>
          </a:bodyPr>
          <a:lstStyle/>
          <a:p>
            <a:r>
              <a:rPr lang="en-PH" dirty="0"/>
              <a:t>Data – elementary value or the collection of values. Such as student’s name or ID.</a:t>
            </a:r>
          </a:p>
          <a:p>
            <a:r>
              <a:rPr lang="en-PH" dirty="0"/>
              <a:t>Group Items – data items with subordinate data items. Such as student’s name consisting of first and last name.</a:t>
            </a:r>
          </a:p>
          <a:p>
            <a:r>
              <a:rPr lang="en-PH" dirty="0"/>
              <a:t>Record – collection of various data items. Such as the record for student which contains the student’s name, address, contact details and etc.</a:t>
            </a:r>
          </a:p>
          <a:p>
            <a:r>
              <a:rPr lang="en-PH" dirty="0"/>
              <a:t>File – Collection of various records. If there are 40 students in DSA, there are 40 records pertaining to those students.</a:t>
            </a:r>
          </a:p>
          <a:p>
            <a:r>
              <a:rPr lang="en-PH" dirty="0"/>
              <a:t>Attribute and Entity – Entity represents the class, attribute represents property.</a:t>
            </a:r>
          </a:p>
          <a:p>
            <a:r>
              <a:rPr lang="en-PH" dirty="0"/>
              <a:t>Field – A single elementary unit of information representing the attribute of an entity.</a:t>
            </a:r>
          </a:p>
        </p:txBody>
      </p:sp>
    </p:spTree>
    <p:extLst>
      <p:ext uri="{BB962C8B-B14F-4D97-AF65-F5344CB8AC3E}">
        <p14:creationId xmlns:p14="http://schemas.microsoft.com/office/powerpoint/2010/main" val="1637691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D0FF8-EBBC-4E4A-A9FF-5B6C345AA419}"/>
              </a:ext>
            </a:extLst>
          </p:cNvPr>
          <p:cNvSpPr>
            <a:spLocks noGrp="1"/>
          </p:cNvSpPr>
          <p:nvPr>
            <p:ph type="title"/>
          </p:nvPr>
        </p:nvSpPr>
        <p:spPr/>
        <p:txBody>
          <a:bodyPr/>
          <a:lstStyle/>
          <a:p>
            <a:r>
              <a:rPr lang="en-PH" dirty="0"/>
              <a:t>Why do we need Data Structures?</a:t>
            </a:r>
          </a:p>
        </p:txBody>
      </p:sp>
      <p:sp>
        <p:nvSpPr>
          <p:cNvPr id="3" name="Content Placeholder 2">
            <a:extLst>
              <a:ext uri="{FF2B5EF4-FFF2-40B4-BE49-F238E27FC236}">
                <a16:creationId xmlns:a16="http://schemas.microsoft.com/office/drawing/2014/main" id="{16AE7126-3A8D-4E6B-8C08-B891A4E54F6F}"/>
              </a:ext>
            </a:extLst>
          </p:cNvPr>
          <p:cNvSpPr>
            <a:spLocks noGrp="1"/>
          </p:cNvSpPr>
          <p:nvPr>
            <p:ph idx="1"/>
          </p:nvPr>
        </p:nvSpPr>
        <p:spPr/>
        <p:txBody>
          <a:bodyPr/>
          <a:lstStyle/>
          <a:p>
            <a:pPr marL="0" indent="0">
              <a:buNone/>
            </a:pPr>
            <a:r>
              <a:rPr lang="en-PH" dirty="0"/>
              <a:t>As our applications become more complex, with the more and more data used, issues may arise considering:</a:t>
            </a:r>
          </a:p>
          <a:p>
            <a:pPr lvl="1"/>
            <a:r>
              <a:rPr lang="en-PH" dirty="0"/>
              <a:t>Processor Speed</a:t>
            </a:r>
          </a:p>
          <a:p>
            <a:pPr lvl="1"/>
            <a:r>
              <a:rPr lang="en-PH" dirty="0"/>
              <a:t>Data Search</a:t>
            </a:r>
          </a:p>
          <a:p>
            <a:pPr lvl="1"/>
            <a:r>
              <a:rPr lang="en-PH" dirty="0"/>
              <a:t>Multiple Requests</a:t>
            </a:r>
          </a:p>
          <a:p>
            <a:endParaRPr lang="en-PH" dirty="0"/>
          </a:p>
          <a:p>
            <a:endParaRPr lang="en-PH" dirty="0"/>
          </a:p>
        </p:txBody>
      </p:sp>
    </p:spTree>
    <p:extLst>
      <p:ext uri="{BB962C8B-B14F-4D97-AF65-F5344CB8AC3E}">
        <p14:creationId xmlns:p14="http://schemas.microsoft.com/office/powerpoint/2010/main" val="907330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2F3E3-C10C-4AFB-B44A-E0FE89AF8C82}"/>
              </a:ext>
            </a:extLst>
          </p:cNvPr>
          <p:cNvSpPr>
            <a:spLocks noGrp="1"/>
          </p:cNvSpPr>
          <p:nvPr>
            <p:ph type="title"/>
          </p:nvPr>
        </p:nvSpPr>
        <p:spPr/>
        <p:txBody>
          <a:bodyPr/>
          <a:lstStyle/>
          <a:p>
            <a:r>
              <a:rPr lang="en-PH" dirty="0"/>
              <a:t>Advantages of Data Structures</a:t>
            </a:r>
          </a:p>
        </p:txBody>
      </p:sp>
      <p:sp>
        <p:nvSpPr>
          <p:cNvPr id="3" name="Content Placeholder 2">
            <a:extLst>
              <a:ext uri="{FF2B5EF4-FFF2-40B4-BE49-F238E27FC236}">
                <a16:creationId xmlns:a16="http://schemas.microsoft.com/office/drawing/2014/main" id="{AD649A10-4187-43B4-8319-E7CD59A573B9}"/>
              </a:ext>
            </a:extLst>
          </p:cNvPr>
          <p:cNvSpPr>
            <a:spLocks noGrp="1"/>
          </p:cNvSpPr>
          <p:nvPr>
            <p:ph idx="1"/>
          </p:nvPr>
        </p:nvSpPr>
        <p:spPr/>
        <p:txBody>
          <a:bodyPr/>
          <a:lstStyle/>
          <a:p>
            <a:r>
              <a:rPr lang="en-PH" dirty="0"/>
              <a:t>The </a:t>
            </a:r>
            <a:r>
              <a:rPr lang="en-PH" b="1" dirty="0"/>
              <a:t>efficiency</a:t>
            </a:r>
            <a:r>
              <a:rPr lang="en-PH" dirty="0"/>
              <a:t> of a program depends on what data structure is being used.</a:t>
            </a:r>
          </a:p>
          <a:p>
            <a:endParaRPr lang="en-PH" dirty="0"/>
          </a:p>
          <a:p>
            <a:r>
              <a:rPr lang="en-PH" dirty="0"/>
              <a:t>Data structures are </a:t>
            </a:r>
            <a:r>
              <a:rPr lang="en-PH" b="1" dirty="0"/>
              <a:t>reusable</a:t>
            </a:r>
            <a:r>
              <a:rPr lang="en-PH" dirty="0"/>
              <a:t>.</a:t>
            </a:r>
          </a:p>
          <a:p>
            <a:endParaRPr lang="en-PH" dirty="0"/>
          </a:p>
          <a:p>
            <a:r>
              <a:rPr lang="en-PH" dirty="0"/>
              <a:t>Data structure specified by the abstract data type provides a level of </a:t>
            </a:r>
            <a:r>
              <a:rPr lang="en-PH" b="1" dirty="0"/>
              <a:t>abstraction</a:t>
            </a:r>
            <a:r>
              <a:rPr lang="en-PH" dirty="0"/>
              <a:t>.</a:t>
            </a:r>
          </a:p>
        </p:txBody>
      </p:sp>
    </p:spTree>
    <p:extLst>
      <p:ext uri="{BB962C8B-B14F-4D97-AF65-F5344CB8AC3E}">
        <p14:creationId xmlns:p14="http://schemas.microsoft.com/office/powerpoint/2010/main" val="298703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4DAF-D0EB-4FD9-BB28-F78B4CDA3C72}"/>
              </a:ext>
            </a:extLst>
          </p:cNvPr>
          <p:cNvSpPr>
            <a:spLocks noGrp="1"/>
          </p:cNvSpPr>
          <p:nvPr>
            <p:ph type="title"/>
          </p:nvPr>
        </p:nvSpPr>
        <p:spPr/>
        <p:txBody>
          <a:bodyPr/>
          <a:lstStyle/>
          <a:p>
            <a:r>
              <a:rPr lang="en-PH" dirty="0"/>
              <a:t>Classification</a:t>
            </a:r>
          </a:p>
        </p:txBody>
      </p:sp>
      <p:sp>
        <p:nvSpPr>
          <p:cNvPr id="3" name="Content Placeholder 2">
            <a:extLst>
              <a:ext uri="{FF2B5EF4-FFF2-40B4-BE49-F238E27FC236}">
                <a16:creationId xmlns:a16="http://schemas.microsoft.com/office/drawing/2014/main" id="{460B3C9F-DC65-4A92-8ABB-A8E8EBE0183F}"/>
              </a:ext>
            </a:extLst>
          </p:cNvPr>
          <p:cNvSpPr>
            <a:spLocks noGrp="1"/>
          </p:cNvSpPr>
          <p:nvPr>
            <p:ph idx="1"/>
          </p:nvPr>
        </p:nvSpPr>
        <p:spPr/>
        <p:txBody>
          <a:bodyPr/>
          <a:lstStyle/>
          <a:p>
            <a:endParaRPr lang="en-PH"/>
          </a:p>
        </p:txBody>
      </p:sp>
      <p:pic>
        <p:nvPicPr>
          <p:cNvPr id="2050" name="Picture 2" descr="DS Introduction">
            <a:extLst>
              <a:ext uri="{FF2B5EF4-FFF2-40B4-BE49-F238E27FC236}">
                <a16:creationId xmlns:a16="http://schemas.microsoft.com/office/drawing/2014/main" id="{9ABBD092-485B-400A-A469-D006098DA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437" y="1429544"/>
            <a:ext cx="96107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768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33771-BAFF-465B-8F04-B3235E815E9F}"/>
              </a:ext>
            </a:extLst>
          </p:cNvPr>
          <p:cNvSpPr>
            <a:spLocks noGrp="1"/>
          </p:cNvSpPr>
          <p:nvPr>
            <p:ph type="title"/>
          </p:nvPr>
        </p:nvSpPr>
        <p:spPr/>
        <p:txBody>
          <a:bodyPr/>
          <a:lstStyle/>
          <a:p>
            <a:r>
              <a:rPr lang="en-PH" dirty="0"/>
              <a:t>Linear Data Structures</a:t>
            </a:r>
          </a:p>
        </p:txBody>
      </p:sp>
      <p:sp>
        <p:nvSpPr>
          <p:cNvPr id="3" name="Content Placeholder 2">
            <a:extLst>
              <a:ext uri="{FF2B5EF4-FFF2-40B4-BE49-F238E27FC236}">
                <a16:creationId xmlns:a16="http://schemas.microsoft.com/office/drawing/2014/main" id="{CD331302-2311-4C85-B731-2B0E43EC403B}"/>
              </a:ext>
            </a:extLst>
          </p:cNvPr>
          <p:cNvSpPr>
            <a:spLocks noGrp="1"/>
          </p:cNvSpPr>
          <p:nvPr>
            <p:ph idx="1"/>
          </p:nvPr>
        </p:nvSpPr>
        <p:spPr/>
        <p:txBody>
          <a:bodyPr>
            <a:normAutofit fontScale="92500"/>
          </a:bodyPr>
          <a:lstStyle/>
          <a:p>
            <a:r>
              <a:rPr lang="en-US" dirty="0"/>
              <a:t>A data structure is called linear if all of its elements are arranged in the linear order.</a:t>
            </a:r>
          </a:p>
          <a:p>
            <a:pPr lvl="1"/>
            <a:r>
              <a:rPr lang="en-US" dirty="0"/>
              <a:t>In linear data structures, the elements are stored in non-hierarchical way where each element has the successors and predecessors except the first and last element.</a:t>
            </a:r>
          </a:p>
          <a:p>
            <a:pPr lvl="1"/>
            <a:endParaRPr lang="en-US" dirty="0"/>
          </a:p>
          <a:p>
            <a:pPr lvl="1"/>
            <a:r>
              <a:rPr lang="en-US" dirty="0"/>
              <a:t>Array: A collection of similar type of data items, with each data item referred to as an element.</a:t>
            </a:r>
          </a:p>
          <a:p>
            <a:pPr lvl="1"/>
            <a:r>
              <a:rPr lang="en-US" dirty="0"/>
              <a:t>Linked List: A collection of nodes stored at non-contiguous memory locations.</a:t>
            </a:r>
          </a:p>
          <a:p>
            <a:pPr lvl="1"/>
            <a:r>
              <a:rPr lang="en-US" dirty="0"/>
              <a:t>Stack: A linear list in which insertion and deletions are allowed only at one end, the top.</a:t>
            </a:r>
          </a:p>
          <a:p>
            <a:pPr lvl="1"/>
            <a:r>
              <a:rPr lang="en-US" dirty="0"/>
              <a:t>Queue: A linear list in which elements can be inserted only at one end called rear and deleted only at the other end called front.</a:t>
            </a:r>
            <a:endParaRPr lang="en-PH" dirty="0"/>
          </a:p>
        </p:txBody>
      </p:sp>
    </p:spTree>
    <p:extLst>
      <p:ext uri="{BB962C8B-B14F-4D97-AF65-F5344CB8AC3E}">
        <p14:creationId xmlns:p14="http://schemas.microsoft.com/office/powerpoint/2010/main" val="4225205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FD8DF-0DFB-4626-9C49-924BAAD206C7}"/>
              </a:ext>
            </a:extLst>
          </p:cNvPr>
          <p:cNvSpPr>
            <a:spLocks noGrp="1"/>
          </p:cNvSpPr>
          <p:nvPr>
            <p:ph type="title"/>
          </p:nvPr>
        </p:nvSpPr>
        <p:spPr/>
        <p:txBody>
          <a:bodyPr/>
          <a:lstStyle/>
          <a:p>
            <a:r>
              <a:rPr lang="en-PH" dirty="0"/>
              <a:t>Non-Linear Data Structures</a:t>
            </a:r>
          </a:p>
        </p:txBody>
      </p:sp>
      <p:sp>
        <p:nvSpPr>
          <p:cNvPr id="3" name="Content Placeholder 2">
            <a:extLst>
              <a:ext uri="{FF2B5EF4-FFF2-40B4-BE49-F238E27FC236}">
                <a16:creationId xmlns:a16="http://schemas.microsoft.com/office/drawing/2014/main" id="{874C96E2-8173-4C66-BC79-7F1AA09FC3C5}"/>
              </a:ext>
            </a:extLst>
          </p:cNvPr>
          <p:cNvSpPr>
            <a:spLocks noGrp="1"/>
          </p:cNvSpPr>
          <p:nvPr>
            <p:ph idx="1"/>
          </p:nvPr>
        </p:nvSpPr>
        <p:spPr/>
        <p:txBody>
          <a:bodyPr/>
          <a:lstStyle/>
          <a:p>
            <a:r>
              <a:rPr lang="en-US" dirty="0"/>
              <a:t>This data structure does not form a sequence.</a:t>
            </a:r>
          </a:p>
          <a:p>
            <a:pPr lvl="1"/>
            <a:r>
              <a:rPr lang="en-US" dirty="0"/>
              <a:t>i.e., each item or element is connected with two or more other items in a non-linear arrangement.</a:t>
            </a:r>
          </a:p>
          <a:p>
            <a:pPr lvl="1"/>
            <a:r>
              <a:rPr lang="en-US" dirty="0"/>
              <a:t>The data elements are not arranged in sequential structure.</a:t>
            </a:r>
          </a:p>
          <a:p>
            <a:pPr lvl="1"/>
            <a:endParaRPr lang="en-US" dirty="0"/>
          </a:p>
          <a:p>
            <a:pPr lvl="1"/>
            <a:r>
              <a:rPr lang="en-US" dirty="0"/>
              <a:t>Trees: Multilevel data structures with a hierarchical relationship among its elements that are called nodes.</a:t>
            </a:r>
          </a:p>
          <a:p>
            <a:pPr lvl="1"/>
            <a:r>
              <a:rPr lang="en-US" dirty="0"/>
              <a:t>Graphs: The pictorial representation of the set of elements (represented by vertices) connected by the links known as edges.</a:t>
            </a:r>
            <a:endParaRPr lang="en-PH" dirty="0"/>
          </a:p>
        </p:txBody>
      </p:sp>
    </p:spTree>
    <p:extLst>
      <p:ext uri="{BB962C8B-B14F-4D97-AF65-F5344CB8AC3E}">
        <p14:creationId xmlns:p14="http://schemas.microsoft.com/office/powerpoint/2010/main" val="1380903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33496-3C58-424D-BC2E-3F817026F883}"/>
              </a:ext>
            </a:extLst>
          </p:cNvPr>
          <p:cNvSpPr>
            <a:spLocks noGrp="1"/>
          </p:cNvSpPr>
          <p:nvPr>
            <p:ph type="title"/>
          </p:nvPr>
        </p:nvSpPr>
        <p:spPr/>
        <p:txBody>
          <a:bodyPr/>
          <a:lstStyle/>
          <a:p>
            <a:r>
              <a:rPr lang="en-PH" dirty="0"/>
              <a:t>Operations on Data Structure</a:t>
            </a:r>
          </a:p>
        </p:txBody>
      </p:sp>
      <p:sp>
        <p:nvSpPr>
          <p:cNvPr id="3" name="Content Placeholder 2">
            <a:extLst>
              <a:ext uri="{FF2B5EF4-FFF2-40B4-BE49-F238E27FC236}">
                <a16:creationId xmlns:a16="http://schemas.microsoft.com/office/drawing/2014/main" id="{4C747CCF-CADE-4882-8A87-176B34C07347}"/>
              </a:ext>
            </a:extLst>
          </p:cNvPr>
          <p:cNvSpPr>
            <a:spLocks noGrp="1"/>
          </p:cNvSpPr>
          <p:nvPr>
            <p:ph idx="1"/>
          </p:nvPr>
        </p:nvSpPr>
        <p:spPr/>
        <p:txBody>
          <a:bodyPr/>
          <a:lstStyle/>
          <a:p>
            <a:r>
              <a:rPr lang="en-PH" dirty="0"/>
              <a:t>Traversing</a:t>
            </a:r>
          </a:p>
          <a:p>
            <a:r>
              <a:rPr lang="en-PH" dirty="0"/>
              <a:t>Insertion</a:t>
            </a:r>
          </a:p>
          <a:p>
            <a:r>
              <a:rPr lang="en-PH" dirty="0"/>
              <a:t>Deletion</a:t>
            </a:r>
          </a:p>
          <a:p>
            <a:r>
              <a:rPr lang="en-PH" dirty="0"/>
              <a:t>Searching</a:t>
            </a:r>
          </a:p>
          <a:p>
            <a:r>
              <a:rPr lang="en-PH" dirty="0"/>
              <a:t>Sorting</a:t>
            </a:r>
          </a:p>
          <a:p>
            <a:r>
              <a:rPr lang="en-PH" dirty="0"/>
              <a:t>Merging</a:t>
            </a:r>
          </a:p>
        </p:txBody>
      </p:sp>
    </p:spTree>
    <p:extLst>
      <p:ext uri="{BB962C8B-B14F-4D97-AF65-F5344CB8AC3E}">
        <p14:creationId xmlns:p14="http://schemas.microsoft.com/office/powerpoint/2010/main" val="3212480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91CDC-58CC-413C-BC81-B06DB04C6C00}"/>
              </a:ext>
            </a:extLst>
          </p:cNvPr>
          <p:cNvSpPr>
            <a:spLocks noGrp="1"/>
          </p:cNvSpPr>
          <p:nvPr>
            <p:ph type="title"/>
          </p:nvPr>
        </p:nvSpPr>
        <p:spPr/>
        <p:txBody>
          <a:bodyPr/>
          <a:lstStyle/>
          <a:p>
            <a:r>
              <a:rPr lang="en-PH" dirty="0"/>
              <a:t>Pointers</a:t>
            </a:r>
          </a:p>
        </p:txBody>
      </p:sp>
      <p:sp>
        <p:nvSpPr>
          <p:cNvPr id="3" name="Content Placeholder 2">
            <a:extLst>
              <a:ext uri="{FF2B5EF4-FFF2-40B4-BE49-F238E27FC236}">
                <a16:creationId xmlns:a16="http://schemas.microsoft.com/office/drawing/2014/main" id="{378A78C8-74BC-42C4-8EE9-787941BEF470}"/>
              </a:ext>
            </a:extLst>
          </p:cNvPr>
          <p:cNvSpPr>
            <a:spLocks noGrp="1"/>
          </p:cNvSpPr>
          <p:nvPr>
            <p:ph idx="1"/>
          </p:nvPr>
        </p:nvSpPr>
        <p:spPr/>
        <p:txBody>
          <a:bodyPr/>
          <a:lstStyle/>
          <a:p>
            <a:r>
              <a:rPr lang="en-PH" dirty="0"/>
              <a:t>A pointer is a variable that holds the memory address of another variable of the same type.</a:t>
            </a:r>
          </a:p>
          <a:p>
            <a:endParaRPr lang="en-PH" dirty="0"/>
          </a:p>
          <a:p>
            <a:endParaRPr lang="en-PH" dirty="0"/>
          </a:p>
          <a:p>
            <a:endParaRPr lang="en-PH" dirty="0"/>
          </a:p>
          <a:p>
            <a:r>
              <a:rPr lang="en-PH" dirty="0"/>
              <a:t>This memory address is the location of another variable where it has been stored in the memory.</a:t>
            </a:r>
          </a:p>
          <a:p>
            <a:r>
              <a:rPr lang="en-PH" dirty="0"/>
              <a:t>It supports dynamic memory allocation routines.</a:t>
            </a:r>
          </a:p>
        </p:txBody>
      </p:sp>
      <p:sp>
        <p:nvSpPr>
          <p:cNvPr id="7" name="TextBox 6">
            <a:extLst>
              <a:ext uri="{FF2B5EF4-FFF2-40B4-BE49-F238E27FC236}">
                <a16:creationId xmlns:a16="http://schemas.microsoft.com/office/drawing/2014/main" id="{A3280834-E06B-4C98-85B8-94A63BE3855F}"/>
              </a:ext>
            </a:extLst>
          </p:cNvPr>
          <p:cNvSpPr txBox="1"/>
          <p:nvPr/>
        </p:nvSpPr>
        <p:spPr>
          <a:xfrm>
            <a:off x="3048000" y="2800965"/>
            <a:ext cx="6096000" cy="1200329"/>
          </a:xfrm>
          <a:prstGeom prst="rect">
            <a:avLst/>
          </a:prstGeom>
          <a:noFill/>
        </p:spPr>
        <p:txBody>
          <a:bodyPr wrap="square">
            <a:spAutoFit/>
          </a:bodyPr>
          <a:lstStyle/>
          <a:p>
            <a:r>
              <a:rPr lang="en-US" dirty="0">
                <a:latin typeface="+mj-lt"/>
              </a:rPr>
              <a:t>int *</a:t>
            </a:r>
            <a:r>
              <a:rPr lang="en-US" dirty="0" err="1">
                <a:latin typeface="+mj-lt"/>
              </a:rPr>
              <a:t>ip</a:t>
            </a:r>
            <a:r>
              <a:rPr lang="en-US" dirty="0">
                <a:latin typeface="+mj-lt"/>
              </a:rPr>
              <a:t>; // pointer to an integer </a:t>
            </a:r>
          </a:p>
          <a:p>
            <a:r>
              <a:rPr lang="en-US" dirty="0">
                <a:latin typeface="+mj-lt"/>
              </a:rPr>
              <a:t>double *</a:t>
            </a:r>
            <a:r>
              <a:rPr lang="en-US" dirty="0" err="1">
                <a:latin typeface="+mj-lt"/>
              </a:rPr>
              <a:t>dp</a:t>
            </a:r>
            <a:r>
              <a:rPr lang="en-US" dirty="0">
                <a:latin typeface="+mj-lt"/>
              </a:rPr>
              <a:t>; // pointer to a double </a:t>
            </a:r>
          </a:p>
          <a:p>
            <a:r>
              <a:rPr lang="en-US" dirty="0">
                <a:latin typeface="+mj-lt"/>
              </a:rPr>
              <a:t>float *</a:t>
            </a:r>
            <a:r>
              <a:rPr lang="en-US" dirty="0" err="1">
                <a:latin typeface="+mj-lt"/>
              </a:rPr>
              <a:t>fp</a:t>
            </a:r>
            <a:r>
              <a:rPr lang="en-US" dirty="0">
                <a:latin typeface="+mj-lt"/>
              </a:rPr>
              <a:t>; // pointer to a float </a:t>
            </a:r>
          </a:p>
          <a:p>
            <a:r>
              <a:rPr lang="en-US" dirty="0">
                <a:latin typeface="+mj-lt"/>
              </a:rPr>
              <a:t>char *</a:t>
            </a:r>
            <a:r>
              <a:rPr lang="en-US" dirty="0" err="1">
                <a:latin typeface="+mj-lt"/>
              </a:rPr>
              <a:t>ch</a:t>
            </a:r>
            <a:r>
              <a:rPr lang="en-US" dirty="0">
                <a:latin typeface="+mj-lt"/>
              </a:rPr>
              <a:t> // pointer to character</a:t>
            </a:r>
            <a:endParaRPr lang="en-PH" dirty="0">
              <a:latin typeface="+mj-lt"/>
            </a:endParaRPr>
          </a:p>
        </p:txBody>
      </p:sp>
    </p:spTree>
    <p:extLst>
      <p:ext uri="{BB962C8B-B14F-4D97-AF65-F5344CB8AC3E}">
        <p14:creationId xmlns:p14="http://schemas.microsoft.com/office/powerpoint/2010/main" val="2893289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36630-C0AC-480B-A75B-94DCEA48177C}"/>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CC9DF1A7-B07A-4FDF-ACF5-6AFF46AC0F88}"/>
              </a:ext>
            </a:extLst>
          </p:cNvPr>
          <p:cNvSpPr>
            <a:spLocks noGrp="1"/>
          </p:cNvSpPr>
          <p:nvPr>
            <p:ph idx="1"/>
          </p:nvPr>
        </p:nvSpPr>
        <p:spPr/>
        <p:txBody>
          <a:bodyPr/>
          <a:lstStyle/>
          <a:p>
            <a:endParaRPr lang="en-PH"/>
          </a:p>
        </p:txBody>
      </p:sp>
      <p:pic>
        <p:nvPicPr>
          <p:cNvPr id="5" name="Picture 4" descr="Timeline&#10;&#10;Description automatically generated with medium confidence">
            <a:extLst>
              <a:ext uri="{FF2B5EF4-FFF2-40B4-BE49-F238E27FC236}">
                <a16:creationId xmlns:a16="http://schemas.microsoft.com/office/drawing/2014/main" id="{8A69CDDA-4C1A-4AA4-96C8-B8CB0060AF45}"/>
              </a:ext>
            </a:extLst>
          </p:cNvPr>
          <p:cNvPicPr>
            <a:picLocks noChangeAspect="1"/>
          </p:cNvPicPr>
          <p:nvPr/>
        </p:nvPicPr>
        <p:blipFill rotWithShape="1">
          <a:blip r:embed="rId2"/>
          <a:srcRect l="1159" t="1734" b="1"/>
          <a:stretch/>
        </p:blipFill>
        <p:spPr>
          <a:xfrm>
            <a:off x="2538871" y="514350"/>
            <a:ext cx="7114258" cy="5829300"/>
          </a:xfrm>
          <a:prstGeom prst="rect">
            <a:avLst/>
          </a:prstGeom>
        </p:spPr>
      </p:pic>
    </p:spTree>
    <p:extLst>
      <p:ext uri="{BB962C8B-B14F-4D97-AF65-F5344CB8AC3E}">
        <p14:creationId xmlns:p14="http://schemas.microsoft.com/office/powerpoint/2010/main" val="3582754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21D3D-2E8B-48A6-877D-CD42D29BFDEC}"/>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46246250-7F99-4036-8E5B-983FC7E3380A}"/>
              </a:ext>
            </a:extLst>
          </p:cNvPr>
          <p:cNvSpPr>
            <a:spLocks noGrp="1"/>
          </p:cNvSpPr>
          <p:nvPr>
            <p:ph idx="1"/>
          </p:nvPr>
        </p:nvSpPr>
        <p:spPr/>
        <p:txBody>
          <a:bodyPr/>
          <a:lstStyle/>
          <a:p>
            <a:endParaRPr lang="en-PH"/>
          </a:p>
        </p:txBody>
      </p:sp>
      <p:pic>
        <p:nvPicPr>
          <p:cNvPr id="5" name="Picture 4" descr="Diagram&#10;&#10;Description automatically generated">
            <a:extLst>
              <a:ext uri="{FF2B5EF4-FFF2-40B4-BE49-F238E27FC236}">
                <a16:creationId xmlns:a16="http://schemas.microsoft.com/office/drawing/2014/main" id="{4193FA31-B46D-4536-9648-7010C6511C10}"/>
              </a:ext>
            </a:extLst>
          </p:cNvPr>
          <p:cNvPicPr>
            <a:picLocks noChangeAspect="1"/>
          </p:cNvPicPr>
          <p:nvPr/>
        </p:nvPicPr>
        <p:blipFill>
          <a:blip r:embed="rId2"/>
          <a:stretch>
            <a:fillRect/>
          </a:stretch>
        </p:blipFill>
        <p:spPr>
          <a:xfrm>
            <a:off x="838200" y="1267365"/>
            <a:ext cx="5268060" cy="3639058"/>
          </a:xfrm>
          <a:prstGeom prst="rect">
            <a:avLst/>
          </a:prstGeom>
        </p:spPr>
      </p:pic>
      <p:sp>
        <p:nvSpPr>
          <p:cNvPr id="7" name="TextBox 6">
            <a:extLst>
              <a:ext uri="{FF2B5EF4-FFF2-40B4-BE49-F238E27FC236}">
                <a16:creationId xmlns:a16="http://schemas.microsoft.com/office/drawing/2014/main" id="{1B4FB688-4152-45DA-930E-164391D87AB7}"/>
              </a:ext>
            </a:extLst>
          </p:cNvPr>
          <p:cNvSpPr txBox="1"/>
          <p:nvPr/>
        </p:nvSpPr>
        <p:spPr>
          <a:xfrm>
            <a:off x="838200" y="5128970"/>
            <a:ext cx="8963526" cy="646331"/>
          </a:xfrm>
          <a:prstGeom prst="rect">
            <a:avLst/>
          </a:prstGeom>
          <a:noFill/>
        </p:spPr>
        <p:txBody>
          <a:bodyPr wrap="square">
            <a:spAutoFit/>
          </a:bodyPr>
          <a:lstStyle/>
          <a:p>
            <a:r>
              <a:rPr lang="en-US" dirty="0"/>
              <a:t>&amp; is the reference operator and can be read as "address of“ </a:t>
            </a:r>
          </a:p>
          <a:p>
            <a:r>
              <a:rPr lang="en-US" dirty="0"/>
              <a:t>* is the dereference operator and can be read as "value pointed by"</a:t>
            </a:r>
            <a:endParaRPr lang="en-PH" dirty="0"/>
          </a:p>
        </p:txBody>
      </p:sp>
      <p:sp>
        <p:nvSpPr>
          <p:cNvPr id="9" name="TextBox 8">
            <a:extLst>
              <a:ext uri="{FF2B5EF4-FFF2-40B4-BE49-F238E27FC236}">
                <a16:creationId xmlns:a16="http://schemas.microsoft.com/office/drawing/2014/main" id="{3C6CE3AC-281B-45D5-BC21-6782F7DC2766}"/>
              </a:ext>
            </a:extLst>
          </p:cNvPr>
          <p:cNvSpPr txBox="1"/>
          <p:nvPr/>
        </p:nvSpPr>
        <p:spPr>
          <a:xfrm>
            <a:off x="6272463" y="2890391"/>
            <a:ext cx="4539916" cy="1077218"/>
          </a:xfrm>
          <a:prstGeom prst="rect">
            <a:avLst/>
          </a:prstGeom>
          <a:noFill/>
        </p:spPr>
        <p:txBody>
          <a:bodyPr wrap="square">
            <a:spAutoFit/>
          </a:bodyPr>
          <a:lstStyle/>
          <a:p>
            <a:r>
              <a:rPr lang="en-PH" sz="3200" dirty="0">
                <a:latin typeface="+mj-lt"/>
              </a:rPr>
              <a:t>int bar = *</a:t>
            </a:r>
            <a:r>
              <a:rPr lang="en-PH" sz="3200" dirty="0" err="1">
                <a:latin typeface="+mj-lt"/>
              </a:rPr>
              <a:t>foo_ptr</a:t>
            </a:r>
            <a:r>
              <a:rPr lang="en-PH" sz="3200" dirty="0">
                <a:latin typeface="+mj-lt"/>
              </a:rPr>
              <a:t>;</a:t>
            </a:r>
          </a:p>
          <a:p>
            <a:r>
              <a:rPr lang="en-PH" sz="3200" dirty="0">
                <a:latin typeface="+mj-lt"/>
              </a:rPr>
              <a:t>*</a:t>
            </a:r>
            <a:r>
              <a:rPr lang="en-PH" sz="3200" dirty="0" err="1">
                <a:latin typeface="+mj-lt"/>
              </a:rPr>
              <a:t>foo_ptr</a:t>
            </a:r>
            <a:r>
              <a:rPr lang="en-PH" sz="3200" dirty="0">
                <a:latin typeface="+mj-lt"/>
              </a:rPr>
              <a:t> = 42; </a:t>
            </a:r>
          </a:p>
        </p:txBody>
      </p:sp>
    </p:spTree>
    <p:extLst>
      <p:ext uri="{BB962C8B-B14F-4D97-AF65-F5344CB8AC3E}">
        <p14:creationId xmlns:p14="http://schemas.microsoft.com/office/powerpoint/2010/main" val="1687185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3D486-D3BF-4D87-B748-0EFA1E8717E8}"/>
              </a:ext>
            </a:extLst>
          </p:cNvPr>
          <p:cNvSpPr>
            <a:spLocks noGrp="1"/>
          </p:cNvSpPr>
          <p:nvPr>
            <p:ph type="title"/>
          </p:nvPr>
        </p:nvSpPr>
        <p:spPr/>
        <p:txBody>
          <a:bodyPr/>
          <a:lstStyle/>
          <a:p>
            <a:r>
              <a:rPr lang="en-PH" dirty="0"/>
              <a:t>Allocating Memory</a:t>
            </a:r>
          </a:p>
        </p:txBody>
      </p:sp>
      <p:sp>
        <p:nvSpPr>
          <p:cNvPr id="3" name="Content Placeholder 2">
            <a:extLst>
              <a:ext uri="{FF2B5EF4-FFF2-40B4-BE49-F238E27FC236}">
                <a16:creationId xmlns:a16="http://schemas.microsoft.com/office/drawing/2014/main" id="{A65C3221-F970-4741-A361-FE97F5703E2B}"/>
              </a:ext>
            </a:extLst>
          </p:cNvPr>
          <p:cNvSpPr>
            <a:spLocks noGrp="1"/>
          </p:cNvSpPr>
          <p:nvPr>
            <p:ph idx="1"/>
          </p:nvPr>
        </p:nvSpPr>
        <p:spPr/>
        <p:txBody>
          <a:bodyPr>
            <a:normAutofit lnSpcReduction="10000"/>
          </a:bodyPr>
          <a:lstStyle/>
          <a:p>
            <a:r>
              <a:rPr lang="en-US" dirty="0"/>
              <a:t>There are two ways that memory gets allocated for data storage:</a:t>
            </a:r>
          </a:p>
          <a:p>
            <a:pPr lvl="1">
              <a:buFont typeface="+mj-lt"/>
              <a:buAutoNum type="arabicPeriod"/>
            </a:pPr>
            <a:r>
              <a:rPr lang="en-US" dirty="0"/>
              <a:t>Compile Time (or static) Allocation</a:t>
            </a:r>
          </a:p>
          <a:p>
            <a:pPr lvl="2"/>
            <a:r>
              <a:rPr lang="en-US" dirty="0"/>
              <a:t>Memory for named variables is allocated by the compiler</a:t>
            </a:r>
          </a:p>
          <a:p>
            <a:pPr lvl="2"/>
            <a:r>
              <a:rPr lang="en-US" dirty="0"/>
              <a:t>Exact size and type of storage must be known at compile time</a:t>
            </a:r>
          </a:p>
          <a:p>
            <a:pPr lvl="2"/>
            <a:r>
              <a:rPr lang="en-US" dirty="0"/>
              <a:t>For standard array declarations, this is why the size has to be constant</a:t>
            </a:r>
            <a:br>
              <a:rPr lang="en-US" dirty="0"/>
            </a:br>
            <a:endParaRPr lang="en-US" dirty="0"/>
          </a:p>
          <a:p>
            <a:pPr marL="742950" lvl="1" indent="-285750" algn="l">
              <a:buFont typeface="+mj-lt"/>
              <a:buAutoNum type="arabicPeriod"/>
            </a:pPr>
            <a:r>
              <a:rPr lang="en-US" dirty="0"/>
              <a:t>Dynamic Memory Allocation</a:t>
            </a:r>
          </a:p>
          <a:p>
            <a:pPr lvl="2"/>
            <a:r>
              <a:rPr lang="en-US" dirty="0"/>
              <a:t>Memory allocated "on the fly" during run time</a:t>
            </a:r>
          </a:p>
          <a:p>
            <a:pPr lvl="2"/>
            <a:r>
              <a:rPr lang="en-US" dirty="0"/>
              <a:t>dynamically allocated space usually placed in a program segment known as the heap or the free store</a:t>
            </a:r>
          </a:p>
          <a:p>
            <a:pPr lvl="2"/>
            <a:r>
              <a:rPr lang="en-US" dirty="0"/>
              <a:t>Exact amount of space or number of items does not have to be known by the compiler in advance.</a:t>
            </a:r>
          </a:p>
          <a:p>
            <a:pPr lvl="2"/>
            <a:r>
              <a:rPr lang="en-US" dirty="0"/>
              <a:t>For dynamic memory allocation, pointers are crucial</a:t>
            </a:r>
          </a:p>
          <a:p>
            <a:endParaRPr lang="en-PH" dirty="0"/>
          </a:p>
        </p:txBody>
      </p:sp>
    </p:spTree>
    <p:extLst>
      <p:ext uri="{BB962C8B-B14F-4D97-AF65-F5344CB8AC3E}">
        <p14:creationId xmlns:p14="http://schemas.microsoft.com/office/powerpoint/2010/main" val="4102882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8F453-AB49-4B56-B2EF-19DAC72451A0}"/>
              </a:ext>
            </a:extLst>
          </p:cNvPr>
          <p:cNvSpPr>
            <a:spLocks noGrp="1"/>
          </p:cNvSpPr>
          <p:nvPr>
            <p:ph type="title"/>
          </p:nvPr>
        </p:nvSpPr>
        <p:spPr/>
        <p:txBody>
          <a:bodyPr/>
          <a:lstStyle/>
          <a:p>
            <a:r>
              <a:rPr lang="en-PH" dirty="0"/>
              <a:t>Dynamic Memory Allocation</a:t>
            </a:r>
          </a:p>
        </p:txBody>
      </p:sp>
      <p:sp>
        <p:nvSpPr>
          <p:cNvPr id="3" name="Content Placeholder 2">
            <a:extLst>
              <a:ext uri="{FF2B5EF4-FFF2-40B4-BE49-F238E27FC236}">
                <a16:creationId xmlns:a16="http://schemas.microsoft.com/office/drawing/2014/main" id="{6B32D810-5C01-40B4-B434-FD40FCD36A0A}"/>
              </a:ext>
            </a:extLst>
          </p:cNvPr>
          <p:cNvSpPr>
            <a:spLocks noGrp="1"/>
          </p:cNvSpPr>
          <p:nvPr>
            <p:ph idx="1"/>
          </p:nvPr>
        </p:nvSpPr>
        <p:spPr/>
        <p:txBody>
          <a:bodyPr>
            <a:normAutofit fontScale="92500" lnSpcReduction="10000"/>
          </a:bodyPr>
          <a:lstStyle/>
          <a:p>
            <a:r>
              <a:rPr lang="en-US" dirty="0"/>
              <a:t>We can dynamically allocate storage space while the program is running, but we cannot create new variable names "on the fly"</a:t>
            </a:r>
          </a:p>
          <a:p>
            <a:r>
              <a:rPr lang="en-US" dirty="0"/>
              <a:t>For this reason, dynamic allocation requires two steps:</a:t>
            </a:r>
          </a:p>
          <a:p>
            <a:pPr marL="914400" lvl="1" indent="-457200">
              <a:buFont typeface="+mj-lt"/>
              <a:buAutoNum type="arabicPeriod"/>
            </a:pPr>
            <a:r>
              <a:rPr lang="en-US" dirty="0"/>
              <a:t>Creating the dynamic space.</a:t>
            </a:r>
          </a:p>
          <a:p>
            <a:pPr marL="914400" lvl="1" indent="-457200">
              <a:buFont typeface="+mj-lt"/>
              <a:buAutoNum type="arabicPeriod"/>
            </a:pPr>
            <a:r>
              <a:rPr lang="en-US" dirty="0"/>
              <a:t>Storing its address in a pointer (so that the space can be </a:t>
            </a:r>
            <a:r>
              <a:rPr lang="en-US" dirty="0" err="1"/>
              <a:t>accesed</a:t>
            </a:r>
            <a:r>
              <a:rPr lang="en-US" dirty="0"/>
              <a:t>)</a:t>
            </a:r>
          </a:p>
          <a:p>
            <a:r>
              <a:rPr lang="en-US" dirty="0"/>
              <a:t>To dynamically allocate memory in C++, we use the new operator.</a:t>
            </a:r>
          </a:p>
          <a:p>
            <a:r>
              <a:rPr lang="en-US" dirty="0"/>
              <a:t>De-allocation:</a:t>
            </a:r>
          </a:p>
          <a:p>
            <a:pPr lvl="1"/>
            <a:r>
              <a:rPr lang="en-US" dirty="0"/>
              <a:t>Deallocation is the "clean-up" of space being used for variables or other data storage</a:t>
            </a:r>
          </a:p>
          <a:p>
            <a:pPr lvl="1"/>
            <a:r>
              <a:rPr lang="en-US" dirty="0"/>
              <a:t>Compile time variables are automatically deallocated based on their known extent (this is the same as scope for "automatic" variables)</a:t>
            </a:r>
          </a:p>
          <a:p>
            <a:pPr lvl="1"/>
            <a:r>
              <a:rPr lang="en-US" dirty="0"/>
              <a:t>It is the programmer's job to deallocate dynamically created space</a:t>
            </a:r>
          </a:p>
          <a:p>
            <a:pPr lvl="1"/>
            <a:r>
              <a:rPr lang="en-US" dirty="0"/>
              <a:t>To de-allocate dynamic memory, we use the delete operator</a:t>
            </a:r>
            <a:endParaRPr lang="en-PH" dirty="0"/>
          </a:p>
        </p:txBody>
      </p:sp>
    </p:spTree>
    <p:extLst>
      <p:ext uri="{BB962C8B-B14F-4D97-AF65-F5344CB8AC3E}">
        <p14:creationId xmlns:p14="http://schemas.microsoft.com/office/powerpoint/2010/main" val="2341038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2FE80-FDC8-42EE-8F1A-4AD1BB0DD913}"/>
              </a:ext>
            </a:extLst>
          </p:cNvPr>
          <p:cNvSpPr>
            <a:spLocks noGrp="1"/>
          </p:cNvSpPr>
          <p:nvPr>
            <p:ph type="title"/>
          </p:nvPr>
        </p:nvSpPr>
        <p:spPr/>
        <p:txBody>
          <a:bodyPr/>
          <a:lstStyle/>
          <a:p>
            <a:r>
              <a:rPr lang="en-PH" dirty="0"/>
              <a:t>Allocating space with new</a:t>
            </a:r>
          </a:p>
        </p:txBody>
      </p:sp>
      <p:sp>
        <p:nvSpPr>
          <p:cNvPr id="3" name="Content Placeholder 2">
            <a:extLst>
              <a:ext uri="{FF2B5EF4-FFF2-40B4-BE49-F238E27FC236}">
                <a16:creationId xmlns:a16="http://schemas.microsoft.com/office/drawing/2014/main" id="{CAA5A3AD-82CA-455F-B093-0C3BE4DD2AEF}"/>
              </a:ext>
            </a:extLst>
          </p:cNvPr>
          <p:cNvSpPr>
            <a:spLocks noGrp="1"/>
          </p:cNvSpPr>
          <p:nvPr>
            <p:ph idx="1"/>
          </p:nvPr>
        </p:nvSpPr>
        <p:spPr>
          <a:xfrm>
            <a:off x="838200" y="1507958"/>
            <a:ext cx="10515600" cy="5101389"/>
          </a:xfrm>
        </p:spPr>
        <p:txBody>
          <a:bodyPr>
            <a:normAutofit fontScale="85000" lnSpcReduction="20000"/>
          </a:bodyPr>
          <a:lstStyle/>
          <a:p>
            <a:r>
              <a:rPr lang="en-US" dirty="0"/>
              <a:t>To allocate space dynamically, use the unary operator new, followed by the type being allocated.</a:t>
            </a:r>
          </a:p>
          <a:p>
            <a:pPr marL="0" indent="0">
              <a:spcBef>
                <a:spcPts val="0"/>
              </a:spcBef>
              <a:buNone/>
            </a:pPr>
            <a:r>
              <a:rPr lang="en-US" dirty="0">
                <a:latin typeface="+mj-lt"/>
              </a:rPr>
              <a:t> </a:t>
            </a: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r>
              <a:rPr lang="en-US" dirty="0"/>
              <a:t>If creating an array dynamically, use the same form, but put brackets with a size after the type:</a:t>
            </a:r>
          </a:p>
          <a:p>
            <a:pPr marL="0" indent="0">
              <a:spcBef>
                <a:spcPts val="0"/>
              </a:spcBef>
              <a:buNone/>
            </a:pPr>
            <a:r>
              <a:rPr lang="en-US" dirty="0">
                <a:latin typeface="+mj-lt"/>
              </a:rPr>
              <a:t> </a:t>
            </a: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r>
              <a:rPr lang="en-US" dirty="0"/>
              <a:t>These statements above are not very useful by themselves, because the allocated spaces have no names! BUT, the new operator returns the starting address of the allocated space, and this address can be stored in a pointer:</a:t>
            </a:r>
          </a:p>
          <a:p>
            <a:pPr marL="0" indent="0">
              <a:spcBef>
                <a:spcPts val="0"/>
              </a:spcBef>
              <a:buNone/>
            </a:pPr>
            <a:endParaRPr lang="en-US" dirty="0">
              <a:latin typeface="+mj-lt"/>
            </a:endParaRPr>
          </a:p>
        </p:txBody>
      </p:sp>
      <p:sp>
        <p:nvSpPr>
          <p:cNvPr id="6" name="TextBox 5">
            <a:extLst>
              <a:ext uri="{FF2B5EF4-FFF2-40B4-BE49-F238E27FC236}">
                <a16:creationId xmlns:a16="http://schemas.microsoft.com/office/drawing/2014/main" id="{F98A735D-29ED-4DD2-9A77-84E1E233BB16}"/>
              </a:ext>
            </a:extLst>
          </p:cNvPr>
          <p:cNvSpPr txBox="1"/>
          <p:nvPr/>
        </p:nvSpPr>
        <p:spPr>
          <a:xfrm>
            <a:off x="1283368" y="2187190"/>
            <a:ext cx="7459579" cy="646331"/>
          </a:xfrm>
          <a:prstGeom prst="rect">
            <a:avLst/>
          </a:prstGeom>
          <a:noFill/>
        </p:spPr>
        <p:txBody>
          <a:bodyPr wrap="square">
            <a:spAutoFit/>
          </a:bodyPr>
          <a:lstStyle/>
          <a:p>
            <a:pPr marL="0" indent="0">
              <a:spcBef>
                <a:spcPts val="0"/>
              </a:spcBef>
              <a:buNone/>
            </a:pPr>
            <a:r>
              <a:rPr lang="en-US" dirty="0">
                <a:latin typeface="+mj-lt"/>
              </a:rPr>
              <a:t> new int;        // dynamically allocates an int </a:t>
            </a:r>
          </a:p>
          <a:p>
            <a:pPr marL="0" indent="0">
              <a:spcBef>
                <a:spcPts val="0"/>
              </a:spcBef>
              <a:buNone/>
            </a:pPr>
            <a:r>
              <a:rPr lang="en-US" dirty="0">
                <a:latin typeface="+mj-lt"/>
              </a:rPr>
              <a:t> new double;     // dynamically allocates a double</a:t>
            </a:r>
          </a:p>
        </p:txBody>
      </p:sp>
      <p:sp>
        <p:nvSpPr>
          <p:cNvPr id="8" name="TextBox 7">
            <a:extLst>
              <a:ext uri="{FF2B5EF4-FFF2-40B4-BE49-F238E27FC236}">
                <a16:creationId xmlns:a16="http://schemas.microsoft.com/office/drawing/2014/main" id="{4AD78FB1-BE0C-4448-9EAE-BB72305C5259}"/>
              </a:ext>
            </a:extLst>
          </p:cNvPr>
          <p:cNvSpPr txBox="1"/>
          <p:nvPr/>
        </p:nvSpPr>
        <p:spPr>
          <a:xfrm>
            <a:off x="1283368" y="4058652"/>
            <a:ext cx="9224211" cy="923330"/>
          </a:xfrm>
          <a:prstGeom prst="rect">
            <a:avLst/>
          </a:prstGeom>
          <a:noFill/>
        </p:spPr>
        <p:txBody>
          <a:bodyPr wrap="square">
            <a:spAutoFit/>
          </a:bodyPr>
          <a:lstStyle/>
          <a:p>
            <a:pPr marL="0" indent="0">
              <a:spcBef>
                <a:spcPts val="0"/>
              </a:spcBef>
              <a:buNone/>
            </a:pPr>
            <a:r>
              <a:rPr lang="en-US" dirty="0">
                <a:latin typeface="+mj-lt"/>
              </a:rPr>
              <a:t> new int[40];      // dynamically allocates an array of 40 </a:t>
            </a:r>
            <a:r>
              <a:rPr lang="en-US" dirty="0" err="1">
                <a:latin typeface="+mj-lt"/>
              </a:rPr>
              <a:t>ints</a:t>
            </a:r>
            <a:r>
              <a:rPr lang="en-US" dirty="0">
                <a:latin typeface="+mj-lt"/>
              </a:rPr>
              <a:t> </a:t>
            </a:r>
          </a:p>
          <a:p>
            <a:pPr marL="0" indent="0">
              <a:spcBef>
                <a:spcPts val="0"/>
              </a:spcBef>
              <a:buNone/>
            </a:pPr>
            <a:r>
              <a:rPr lang="en-US" dirty="0">
                <a:latin typeface="+mj-lt"/>
              </a:rPr>
              <a:t> new double[size]; // dynamically allocates an array of size doubles</a:t>
            </a:r>
          </a:p>
          <a:p>
            <a:pPr marL="0" indent="0">
              <a:spcBef>
                <a:spcPts val="0"/>
              </a:spcBef>
              <a:buNone/>
            </a:pPr>
            <a:r>
              <a:rPr lang="en-US" dirty="0">
                <a:latin typeface="+mj-lt"/>
              </a:rPr>
              <a:t>                   //  note that the size can be a variable</a:t>
            </a:r>
          </a:p>
        </p:txBody>
      </p:sp>
    </p:spTree>
    <p:extLst>
      <p:ext uri="{BB962C8B-B14F-4D97-AF65-F5344CB8AC3E}">
        <p14:creationId xmlns:p14="http://schemas.microsoft.com/office/powerpoint/2010/main" val="2982009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2FE80-FDC8-42EE-8F1A-4AD1BB0DD913}"/>
              </a:ext>
            </a:extLst>
          </p:cNvPr>
          <p:cNvSpPr>
            <a:spLocks noGrp="1"/>
          </p:cNvSpPr>
          <p:nvPr>
            <p:ph type="title"/>
          </p:nvPr>
        </p:nvSpPr>
        <p:spPr/>
        <p:txBody>
          <a:bodyPr/>
          <a:lstStyle/>
          <a:p>
            <a:r>
              <a:rPr lang="en-PH" dirty="0"/>
              <a:t>Allocating space with new</a:t>
            </a:r>
          </a:p>
        </p:txBody>
      </p:sp>
      <p:sp>
        <p:nvSpPr>
          <p:cNvPr id="3" name="Content Placeholder 2">
            <a:extLst>
              <a:ext uri="{FF2B5EF4-FFF2-40B4-BE49-F238E27FC236}">
                <a16:creationId xmlns:a16="http://schemas.microsoft.com/office/drawing/2014/main" id="{CAA5A3AD-82CA-455F-B093-0C3BE4DD2AEF}"/>
              </a:ext>
            </a:extLst>
          </p:cNvPr>
          <p:cNvSpPr>
            <a:spLocks noGrp="1"/>
          </p:cNvSpPr>
          <p:nvPr>
            <p:ph idx="1"/>
          </p:nvPr>
        </p:nvSpPr>
        <p:spPr>
          <a:xfrm>
            <a:off x="838200" y="1507958"/>
            <a:ext cx="10515600" cy="5101389"/>
          </a:xfrm>
        </p:spPr>
        <p:txBody>
          <a:bodyPr>
            <a:normAutofit lnSpcReduction="10000"/>
          </a:bodyPr>
          <a:lstStyle/>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pPr marL="0" indent="0">
              <a:spcBef>
                <a:spcPts val="0"/>
              </a:spcBef>
              <a:buNone/>
            </a:pPr>
            <a:endParaRPr lang="en-US" dirty="0">
              <a:latin typeface="+mj-lt"/>
            </a:endParaRPr>
          </a:p>
          <a:p>
            <a:r>
              <a:rPr lang="en-US" dirty="0"/>
              <a:t>Notice that this is one more way of initializing a pointer to a valid target (and the most important one).</a:t>
            </a:r>
            <a:endParaRPr lang="en-PH" dirty="0"/>
          </a:p>
        </p:txBody>
      </p:sp>
      <p:sp>
        <p:nvSpPr>
          <p:cNvPr id="10" name="TextBox 9">
            <a:extLst>
              <a:ext uri="{FF2B5EF4-FFF2-40B4-BE49-F238E27FC236}">
                <a16:creationId xmlns:a16="http://schemas.microsoft.com/office/drawing/2014/main" id="{8BD3DADD-19D5-449B-B597-39D238E58265}"/>
              </a:ext>
            </a:extLst>
          </p:cNvPr>
          <p:cNvSpPr txBox="1"/>
          <p:nvPr/>
        </p:nvSpPr>
        <p:spPr>
          <a:xfrm>
            <a:off x="1443789" y="1997839"/>
            <a:ext cx="9625264" cy="2862322"/>
          </a:xfrm>
          <a:prstGeom prst="rect">
            <a:avLst/>
          </a:prstGeom>
          <a:noFill/>
        </p:spPr>
        <p:txBody>
          <a:bodyPr wrap="square">
            <a:spAutoFit/>
          </a:bodyPr>
          <a:lstStyle/>
          <a:p>
            <a:pPr marL="0" indent="0">
              <a:spcBef>
                <a:spcPts val="0"/>
              </a:spcBef>
              <a:buNone/>
            </a:pPr>
            <a:r>
              <a:rPr lang="en-US" dirty="0">
                <a:latin typeface="+mj-lt"/>
              </a:rPr>
              <a:t> int * p;        // declare a pointer p </a:t>
            </a:r>
          </a:p>
          <a:p>
            <a:pPr marL="0" indent="0">
              <a:spcBef>
                <a:spcPts val="0"/>
              </a:spcBef>
              <a:buNone/>
            </a:pPr>
            <a:r>
              <a:rPr lang="en-US" dirty="0">
                <a:latin typeface="+mj-lt"/>
              </a:rPr>
              <a:t> p = new int;    // dynamically allocate an int and load address into p </a:t>
            </a:r>
          </a:p>
          <a:p>
            <a:pPr marL="0" indent="0">
              <a:spcBef>
                <a:spcPts val="0"/>
              </a:spcBef>
              <a:buNone/>
            </a:pPr>
            <a:endParaRPr lang="en-US" dirty="0">
              <a:latin typeface="+mj-lt"/>
            </a:endParaRPr>
          </a:p>
          <a:p>
            <a:pPr marL="0" indent="0">
              <a:spcBef>
                <a:spcPts val="0"/>
              </a:spcBef>
              <a:buNone/>
            </a:pPr>
            <a:r>
              <a:rPr lang="en-US" dirty="0">
                <a:latin typeface="+mj-lt"/>
              </a:rPr>
              <a:t> double * d;     // declare a pointer d </a:t>
            </a:r>
          </a:p>
          <a:p>
            <a:pPr marL="0" indent="0">
              <a:spcBef>
                <a:spcPts val="0"/>
              </a:spcBef>
              <a:buNone/>
            </a:pPr>
            <a:r>
              <a:rPr lang="en-US" dirty="0">
                <a:latin typeface="+mj-lt"/>
              </a:rPr>
              <a:t> d = new double; // dynamically allocate a double and load address into d </a:t>
            </a:r>
          </a:p>
          <a:p>
            <a:pPr marL="0" indent="0">
              <a:spcBef>
                <a:spcPts val="0"/>
              </a:spcBef>
              <a:buNone/>
            </a:pPr>
            <a:endParaRPr lang="en-US" dirty="0">
              <a:latin typeface="+mj-lt"/>
            </a:endParaRPr>
          </a:p>
          <a:p>
            <a:pPr marL="0" indent="0">
              <a:spcBef>
                <a:spcPts val="0"/>
              </a:spcBef>
              <a:buNone/>
            </a:pPr>
            <a:r>
              <a:rPr lang="en-US" dirty="0">
                <a:latin typeface="+mj-lt"/>
              </a:rPr>
              <a:t> // we can also do these in single line statements </a:t>
            </a:r>
          </a:p>
          <a:p>
            <a:pPr marL="0" indent="0">
              <a:spcBef>
                <a:spcPts val="0"/>
              </a:spcBef>
              <a:buNone/>
            </a:pPr>
            <a:r>
              <a:rPr lang="en-US" dirty="0">
                <a:latin typeface="+mj-lt"/>
              </a:rPr>
              <a:t> int x = 40;</a:t>
            </a:r>
          </a:p>
          <a:p>
            <a:pPr marL="0" indent="0">
              <a:spcBef>
                <a:spcPts val="0"/>
              </a:spcBef>
              <a:buNone/>
            </a:pPr>
            <a:r>
              <a:rPr lang="en-US" dirty="0">
                <a:latin typeface="+mj-lt"/>
              </a:rPr>
              <a:t> int * list = new int[x];</a:t>
            </a:r>
          </a:p>
          <a:p>
            <a:pPr marL="0" indent="0">
              <a:spcBef>
                <a:spcPts val="0"/>
              </a:spcBef>
              <a:buNone/>
            </a:pPr>
            <a:r>
              <a:rPr lang="en-US" dirty="0">
                <a:latin typeface="+mj-lt"/>
              </a:rPr>
              <a:t> float * numbers = new float[x+10];</a:t>
            </a:r>
          </a:p>
        </p:txBody>
      </p:sp>
    </p:spTree>
    <p:extLst>
      <p:ext uri="{BB962C8B-B14F-4D97-AF65-F5344CB8AC3E}">
        <p14:creationId xmlns:p14="http://schemas.microsoft.com/office/powerpoint/2010/main" val="2009257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61BA4-1A7D-440D-9F36-4039B2812B08}"/>
              </a:ext>
            </a:extLst>
          </p:cNvPr>
          <p:cNvSpPr>
            <a:spLocks noGrp="1"/>
          </p:cNvSpPr>
          <p:nvPr>
            <p:ph type="title"/>
          </p:nvPr>
        </p:nvSpPr>
        <p:spPr/>
        <p:txBody>
          <a:bodyPr/>
          <a:lstStyle/>
          <a:p>
            <a:r>
              <a:rPr lang="en-PH" dirty="0"/>
              <a:t>Accessing dynamically created space</a:t>
            </a:r>
          </a:p>
        </p:txBody>
      </p:sp>
      <p:sp>
        <p:nvSpPr>
          <p:cNvPr id="3" name="Content Placeholder 2">
            <a:extLst>
              <a:ext uri="{FF2B5EF4-FFF2-40B4-BE49-F238E27FC236}">
                <a16:creationId xmlns:a16="http://schemas.microsoft.com/office/drawing/2014/main" id="{A5EAE20D-7191-4857-8F4A-2422BAE6EB17}"/>
              </a:ext>
            </a:extLst>
          </p:cNvPr>
          <p:cNvSpPr>
            <a:spLocks noGrp="1"/>
          </p:cNvSpPr>
          <p:nvPr>
            <p:ph idx="1"/>
          </p:nvPr>
        </p:nvSpPr>
        <p:spPr>
          <a:xfrm>
            <a:off x="838200" y="1825625"/>
            <a:ext cx="10515600" cy="4667250"/>
          </a:xfrm>
        </p:spPr>
        <p:txBody>
          <a:bodyPr>
            <a:normAutofit/>
          </a:bodyPr>
          <a:lstStyle/>
          <a:p>
            <a:r>
              <a:rPr lang="en-US" dirty="0"/>
              <a:t>So once the space has been dynamically allocated, how do we use it?</a:t>
            </a:r>
          </a:p>
          <a:p>
            <a:r>
              <a:rPr lang="en-US" dirty="0"/>
              <a:t>For single items, we go through the pointer. Dereference the pointer to reach the dynamically created target:</a:t>
            </a:r>
          </a:p>
        </p:txBody>
      </p:sp>
      <p:sp>
        <p:nvSpPr>
          <p:cNvPr id="6" name="TextBox 5">
            <a:extLst>
              <a:ext uri="{FF2B5EF4-FFF2-40B4-BE49-F238E27FC236}">
                <a16:creationId xmlns:a16="http://schemas.microsoft.com/office/drawing/2014/main" id="{45580DBB-D65E-4C2B-AA10-B4E88E907692}"/>
              </a:ext>
            </a:extLst>
          </p:cNvPr>
          <p:cNvSpPr txBox="1"/>
          <p:nvPr/>
        </p:nvSpPr>
        <p:spPr>
          <a:xfrm>
            <a:off x="1628273" y="4288394"/>
            <a:ext cx="8935453" cy="1200329"/>
          </a:xfrm>
          <a:prstGeom prst="rect">
            <a:avLst/>
          </a:prstGeom>
          <a:noFill/>
        </p:spPr>
        <p:txBody>
          <a:bodyPr wrap="square">
            <a:spAutoFit/>
          </a:bodyPr>
          <a:lstStyle/>
          <a:p>
            <a:pPr marL="0" indent="0">
              <a:buNone/>
            </a:pPr>
            <a:r>
              <a:rPr lang="en-US" dirty="0">
                <a:latin typeface="+mj-lt"/>
              </a:rPr>
              <a:t> int * p = new int;	// dynamic integer, pointed to by p</a:t>
            </a:r>
          </a:p>
          <a:p>
            <a:pPr marL="0" indent="0">
              <a:buNone/>
            </a:pPr>
            <a:endParaRPr lang="en-US" dirty="0">
              <a:latin typeface="+mj-lt"/>
            </a:endParaRPr>
          </a:p>
          <a:p>
            <a:pPr marL="0" indent="0">
              <a:buNone/>
            </a:pPr>
            <a:r>
              <a:rPr lang="en-US" dirty="0">
                <a:latin typeface="+mj-lt"/>
              </a:rPr>
              <a:t>  *p = 10;		// assigns 10 to the dynamic integer</a:t>
            </a:r>
          </a:p>
          <a:p>
            <a:pPr marL="0" indent="0">
              <a:buNone/>
            </a:pPr>
            <a:r>
              <a:rPr lang="en-US" dirty="0">
                <a:latin typeface="+mj-lt"/>
              </a:rPr>
              <a:t>  </a:t>
            </a:r>
            <a:r>
              <a:rPr lang="en-US" dirty="0" err="1">
                <a:latin typeface="+mj-lt"/>
              </a:rPr>
              <a:t>cout</a:t>
            </a:r>
            <a:r>
              <a:rPr lang="en-US" dirty="0">
                <a:latin typeface="+mj-lt"/>
              </a:rPr>
              <a:t> &lt;&lt; *p;		// prints 10</a:t>
            </a:r>
            <a:endParaRPr lang="en-PH" dirty="0"/>
          </a:p>
        </p:txBody>
      </p:sp>
    </p:spTree>
    <p:extLst>
      <p:ext uri="{BB962C8B-B14F-4D97-AF65-F5344CB8AC3E}">
        <p14:creationId xmlns:p14="http://schemas.microsoft.com/office/powerpoint/2010/main" val="1919493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61BA4-1A7D-440D-9F36-4039B2812B08}"/>
              </a:ext>
            </a:extLst>
          </p:cNvPr>
          <p:cNvSpPr>
            <a:spLocks noGrp="1"/>
          </p:cNvSpPr>
          <p:nvPr>
            <p:ph type="title"/>
          </p:nvPr>
        </p:nvSpPr>
        <p:spPr/>
        <p:txBody>
          <a:bodyPr/>
          <a:lstStyle/>
          <a:p>
            <a:r>
              <a:rPr lang="en-PH" dirty="0"/>
              <a:t>Accessing dynamically created space</a:t>
            </a:r>
          </a:p>
        </p:txBody>
      </p:sp>
      <p:sp>
        <p:nvSpPr>
          <p:cNvPr id="3" name="Content Placeholder 2">
            <a:extLst>
              <a:ext uri="{FF2B5EF4-FFF2-40B4-BE49-F238E27FC236}">
                <a16:creationId xmlns:a16="http://schemas.microsoft.com/office/drawing/2014/main" id="{A5EAE20D-7191-4857-8F4A-2422BAE6EB17}"/>
              </a:ext>
            </a:extLst>
          </p:cNvPr>
          <p:cNvSpPr>
            <a:spLocks noGrp="1"/>
          </p:cNvSpPr>
          <p:nvPr>
            <p:ph idx="1"/>
          </p:nvPr>
        </p:nvSpPr>
        <p:spPr>
          <a:xfrm>
            <a:off x="838200" y="1825625"/>
            <a:ext cx="10515600" cy="4667250"/>
          </a:xfrm>
        </p:spPr>
        <p:txBody>
          <a:bodyPr>
            <a:normAutofit/>
          </a:bodyPr>
          <a:lstStyle/>
          <a:p>
            <a:r>
              <a:rPr lang="en-US" dirty="0"/>
              <a:t>For dynamically created arrays, you can use either pointer-offset notation, or treat the pointer as the array name and use the standard bracket notation:</a:t>
            </a:r>
          </a:p>
        </p:txBody>
      </p:sp>
      <p:sp>
        <p:nvSpPr>
          <p:cNvPr id="5" name="TextBox 4">
            <a:extLst>
              <a:ext uri="{FF2B5EF4-FFF2-40B4-BE49-F238E27FC236}">
                <a16:creationId xmlns:a16="http://schemas.microsoft.com/office/drawing/2014/main" id="{22007B48-0AB6-4A0B-9B00-7C66C496AC23}"/>
              </a:ext>
            </a:extLst>
          </p:cNvPr>
          <p:cNvSpPr txBox="1"/>
          <p:nvPr/>
        </p:nvSpPr>
        <p:spPr>
          <a:xfrm>
            <a:off x="633663" y="3605463"/>
            <a:ext cx="10924674" cy="2308324"/>
          </a:xfrm>
          <a:prstGeom prst="rect">
            <a:avLst/>
          </a:prstGeom>
          <a:noFill/>
        </p:spPr>
        <p:txBody>
          <a:bodyPr wrap="square">
            <a:spAutoFit/>
          </a:bodyPr>
          <a:lstStyle/>
          <a:p>
            <a:pPr marL="0" indent="0">
              <a:buNone/>
            </a:pPr>
            <a:r>
              <a:rPr lang="en-US" dirty="0">
                <a:latin typeface="+mj-lt"/>
              </a:rPr>
              <a:t> double * </a:t>
            </a:r>
            <a:r>
              <a:rPr lang="en-US" dirty="0" err="1">
                <a:latin typeface="+mj-lt"/>
              </a:rPr>
              <a:t>numList</a:t>
            </a:r>
            <a:r>
              <a:rPr lang="en-US" dirty="0">
                <a:latin typeface="+mj-lt"/>
              </a:rPr>
              <a:t> = new double[size];	// dynamic array</a:t>
            </a:r>
          </a:p>
          <a:p>
            <a:pPr marL="0" indent="0">
              <a:buNone/>
            </a:pPr>
            <a:endParaRPr lang="en-US" dirty="0">
              <a:latin typeface="+mj-lt"/>
            </a:endParaRPr>
          </a:p>
          <a:p>
            <a:pPr marL="0" indent="0">
              <a:buNone/>
            </a:pPr>
            <a:r>
              <a:rPr lang="en-US" dirty="0">
                <a:latin typeface="+mj-lt"/>
              </a:rPr>
              <a:t>  for (int i = 0; i &lt; size; i++)</a:t>
            </a:r>
          </a:p>
          <a:p>
            <a:pPr marL="0" indent="0">
              <a:buNone/>
            </a:pPr>
            <a:r>
              <a:rPr lang="en-US" dirty="0">
                <a:latin typeface="+mj-lt"/>
              </a:rPr>
              <a:t>      </a:t>
            </a:r>
            <a:r>
              <a:rPr lang="en-US" dirty="0" err="1">
                <a:latin typeface="+mj-lt"/>
              </a:rPr>
              <a:t>numList</a:t>
            </a:r>
            <a:r>
              <a:rPr lang="en-US" dirty="0">
                <a:latin typeface="+mj-lt"/>
              </a:rPr>
              <a:t>[i] = 0;			 	// initialize array elements to 0</a:t>
            </a:r>
          </a:p>
          <a:p>
            <a:pPr marL="0" indent="0">
              <a:buNone/>
            </a:pPr>
            <a:endParaRPr lang="en-US" dirty="0">
              <a:latin typeface="+mj-lt"/>
            </a:endParaRPr>
          </a:p>
          <a:p>
            <a:pPr marL="0" indent="0">
              <a:buNone/>
            </a:pPr>
            <a:r>
              <a:rPr lang="en-US" dirty="0">
                <a:latin typeface="+mj-lt"/>
              </a:rPr>
              <a:t>  </a:t>
            </a:r>
            <a:r>
              <a:rPr lang="en-US" dirty="0" err="1">
                <a:latin typeface="+mj-lt"/>
              </a:rPr>
              <a:t>numList</a:t>
            </a:r>
            <a:r>
              <a:rPr lang="en-US" dirty="0">
                <a:latin typeface="+mj-lt"/>
              </a:rPr>
              <a:t>[5] = 20;				// bracket notation</a:t>
            </a:r>
          </a:p>
          <a:p>
            <a:pPr marL="0" indent="0">
              <a:buNone/>
            </a:pPr>
            <a:r>
              <a:rPr lang="en-US" dirty="0">
                <a:latin typeface="+mj-lt"/>
              </a:rPr>
              <a:t>  *(</a:t>
            </a:r>
            <a:r>
              <a:rPr lang="en-US" dirty="0" err="1">
                <a:latin typeface="+mj-lt"/>
              </a:rPr>
              <a:t>numList</a:t>
            </a:r>
            <a:r>
              <a:rPr lang="en-US" dirty="0">
                <a:latin typeface="+mj-lt"/>
              </a:rPr>
              <a:t> + 7) = 15;			// pointer-offset notation</a:t>
            </a:r>
          </a:p>
          <a:p>
            <a:pPr marL="0" indent="0">
              <a:buNone/>
            </a:pPr>
            <a:r>
              <a:rPr lang="en-US" dirty="0">
                <a:latin typeface="+mj-lt"/>
              </a:rPr>
              <a:t>						//   means same as </a:t>
            </a:r>
            <a:r>
              <a:rPr lang="en-US" dirty="0" err="1">
                <a:latin typeface="+mj-lt"/>
              </a:rPr>
              <a:t>numList</a:t>
            </a:r>
            <a:r>
              <a:rPr lang="en-US" dirty="0">
                <a:latin typeface="+mj-lt"/>
              </a:rPr>
              <a:t>[7]</a:t>
            </a:r>
            <a:endParaRPr lang="en-PH" dirty="0"/>
          </a:p>
        </p:txBody>
      </p:sp>
    </p:spTree>
    <p:extLst>
      <p:ext uri="{BB962C8B-B14F-4D97-AF65-F5344CB8AC3E}">
        <p14:creationId xmlns:p14="http://schemas.microsoft.com/office/powerpoint/2010/main" val="1028380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20352-6A83-4C86-AF66-133AC76B82AD}"/>
              </a:ext>
            </a:extLst>
          </p:cNvPr>
          <p:cNvSpPr>
            <a:spLocks noGrp="1"/>
          </p:cNvSpPr>
          <p:nvPr>
            <p:ph type="title"/>
          </p:nvPr>
        </p:nvSpPr>
        <p:spPr/>
        <p:txBody>
          <a:bodyPr/>
          <a:lstStyle/>
          <a:p>
            <a:r>
              <a:rPr lang="en-PH" dirty="0"/>
              <a:t>Deallocation of dynamic memory</a:t>
            </a:r>
          </a:p>
        </p:txBody>
      </p:sp>
      <p:sp>
        <p:nvSpPr>
          <p:cNvPr id="3" name="Content Placeholder 2">
            <a:extLst>
              <a:ext uri="{FF2B5EF4-FFF2-40B4-BE49-F238E27FC236}">
                <a16:creationId xmlns:a16="http://schemas.microsoft.com/office/drawing/2014/main" id="{2A0FB0D9-10B0-49D8-9BE3-1644F6D088D9}"/>
              </a:ext>
            </a:extLst>
          </p:cNvPr>
          <p:cNvSpPr>
            <a:spLocks noGrp="1"/>
          </p:cNvSpPr>
          <p:nvPr>
            <p:ph idx="1"/>
          </p:nvPr>
        </p:nvSpPr>
        <p:spPr/>
        <p:txBody>
          <a:bodyPr>
            <a:normAutofit/>
          </a:bodyPr>
          <a:lstStyle/>
          <a:p>
            <a:r>
              <a:rPr lang="en-US" sz="2000" dirty="0"/>
              <a:t>To deallocate memory that was created with new, we use the unary operator delete. The one operand should be a pointer that stores the address of the space to be deallocated:</a:t>
            </a:r>
          </a:p>
          <a:p>
            <a:endParaRPr lang="en-US" sz="2000" dirty="0"/>
          </a:p>
          <a:p>
            <a:endParaRPr lang="en-US" sz="2000" dirty="0"/>
          </a:p>
          <a:p>
            <a:endParaRPr lang="en-US" sz="2000" dirty="0"/>
          </a:p>
          <a:p>
            <a:r>
              <a:rPr lang="en-US" sz="2000" dirty="0"/>
              <a:t>Note that the pointer </a:t>
            </a:r>
            <a:r>
              <a:rPr lang="en-US" sz="2000" dirty="0" err="1"/>
              <a:t>ptr</a:t>
            </a:r>
            <a:r>
              <a:rPr lang="en-US" sz="2000" dirty="0"/>
              <a:t> still exists in this example. That's a named variable subject to scope and extent determined at compile time. It can be reused:</a:t>
            </a:r>
            <a:endParaRPr lang="en-PH" sz="2000" dirty="0"/>
          </a:p>
        </p:txBody>
      </p:sp>
      <p:sp>
        <p:nvSpPr>
          <p:cNvPr id="8" name="TextBox 7">
            <a:extLst>
              <a:ext uri="{FF2B5EF4-FFF2-40B4-BE49-F238E27FC236}">
                <a16:creationId xmlns:a16="http://schemas.microsoft.com/office/drawing/2014/main" id="{88996228-A545-455D-987C-C6700DE4DD44}"/>
              </a:ext>
            </a:extLst>
          </p:cNvPr>
          <p:cNvSpPr txBox="1"/>
          <p:nvPr/>
        </p:nvSpPr>
        <p:spPr>
          <a:xfrm>
            <a:off x="1459831" y="2967335"/>
            <a:ext cx="9272337" cy="923330"/>
          </a:xfrm>
          <a:prstGeom prst="rect">
            <a:avLst/>
          </a:prstGeom>
          <a:noFill/>
        </p:spPr>
        <p:txBody>
          <a:bodyPr wrap="square">
            <a:spAutoFit/>
          </a:bodyPr>
          <a:lstStyle/>
          <a:p>
            <a:r>
              <a:rPr lang="en-US" dirty="0">
                <a:latin typeface="+mj-lt"/>
              </a:rPr>
              <a:t> int * </a:t>
            </a:r>
            <a:r>
              <a:rPr lang="en-US" dirty="0" err="1">
                <a:latin typeface="+mj-lt"/>
              </a:rPr>
              <a:t>ptr</a:t>
            </a:r>
            <a:r>
              <a:rPr lang="en-US" dirty="0">
                <a:latin typeface="+mj-lt"/>
              </a:rPr>
              <a:t> = new int;		// dynamically created int</a:t>
            </a:r>
          </a:p>
          <a:p>
            <a:r>
              <a:rPr lang="en-US" dirty="0">
                <a:latin typeface="+mj-lt"/>
              </a:rPr>
              <a:t>  // ...</a:t>
            </a:r>
          </a:p>
          <a:p>
            <a:r>
              <a:rPr lang="en-US" dirty="0">
                <a:latin typeface="+mj-lt"/>
              </a:rPr>
              <a:t>  delete </a:t>
            </a:r>
            <a:r>
              <a:rPr lang="en-US" dirty="0" err="1">
                <a:latin typeface="+mj-lt"/>
              </a:rPr>
              <a:t>ptr</a:t>
            </a:r>
            <a:r>
              <a:rPr lang="en-US" dirty="0">
                <a:latin typeface="+mj-lt"/>
              </a:rPr>
              <a:t>;			// deletes the space that </a:t>
            </a:r>
            <a:r>
              <a:rPr lang="en-US" dirty="0" err="1">
                <a:latin typeface="+mj-lt"/>
              </a:rPr>
              <a:t>ptr</a:t>
            </a:r>
            <a:r>
              <a:rPr lang="en-US" dirty="0">
                <a:latin typeface="+mj-lt"/>
              </a:rPr>
              <a:t> points</a:t>
            </a:r>
            <a:endParaRPr lang="en-PH" dirty="0">
              <a:latin typeface="+mj-lt"/>
            </a:endParaRPr>
          </a:p>
        </p:txBody>
      </p:sp>
      <p:sp>
        <p:nvSpPr>
          <p:cNvPr id="11" name="TextBox 10">
            <a:extLst>
              <a:ext uri="{FF2B5EF4-FFF2-40B4-BE49-F238E27FC236}">
                <a16:creationId xmlns:a16="http://schemas.microsoft.com/office/drawing/2014/main" id="{EF5A1A10-2DF0-48AF-B7C8-3D59BC9D6ABA}"/>
              </a:ext>
            </a:extLst>
          </p:cNvPr>
          <p:cNvSpPr txBox="1"/>
          <p:nvPr/>
        </p:nvSpPr>
        <p:spPr>
          <a:xfrm>
            <a:off x="1459831" y="4849148"/>
            <a:ext cx="9529011" cy="369332"/>
          </a:xfrm>
          <a:prstGeom prst="rect">
            <a:avLst/>
          </a:prstGeom>
          <a:noFill/>
        </p:spPr>
        <p:txBody>
          <a:bodyPr wrap="square">
            <a:spAutoFit/>
          </a:bodyPr>
          <a:lstStyle/>
          <a:p>
            <a:r>
              <a:rPr lang="en-US" dirty="0">
                <a:latin typeface="+mj-lt"/>
              </a:rPr>
              <a:t> </a:t>
            </a:r>
            <a:r>
              <a:rPr lang="en-US" dirty="0" err="1">
                <a:latin typeface="+mj-lt"/>
              </a:rPr>
              <a:t>ptr</a:t>
            </a:r>
            <a:r>
              <a:rPr lang="en-US" dirty="0">
                <a:latin typeface="+mj-lt"/>
              </a:rPr>
              <a:t> = new int[10];		// point p to a brand new array</a:t>
            </a:r>
            <a:endParaRPr lang="en-PH" dirty="0">
              <a:latin typeface="+mj-lt"/>
            </a:endParaRPr>
          </a:p>
        </p:txBody>
      </p:sp>
    </p:spTree>
    <p:extLst>
      <p:ext uri="{BB962C8B-B14F-4D97-AF65-F5344CB8AC3E}">
        <p14:creationId xmlns:p14="http://schemas.microsoft.com/office/powerpoint/2010/main" val="2480248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FF19A-C473-4B2E-98FF-BE570D7522CB}"/>
              </a:ext>
            </a:extLst>
          </p:cNvPr>
          <p:cNvSpPr>
            <a:spLocks noGrp="1"/>
          </p:cNvSpPr>
          <p:nvPr>
            <p:ph type="title"/>
          </p:nvPr>
        </p:nvSpPr>
        <p:spPr/>
        <p:txBody>
          <a:bodyPr/>
          <a:lstStyle/>
          <a:p>
            <a:r>
              <a:rPr lang="en-PH" dirty="0"/>
              <a:t>Deallocation of dynamic memory</a:t>
            </a:r>
          </a:p>
        </p:txBody>
      </p:sp>
      <p:sp>
        <p:nvSpPr>
          <p:cNvPr id="3" name="Content Placeholder 2">
            <a:extLst>
              <a:ext uri="{FF2B5EF4-FFF2-40B4-BE49-F238E27FC236}">
                <a16:creationId xmlns:a16="http://schemas.microsoft.com/office/drawing/2014/main" id="{604F8119-3A5F-409F-8E49-48EEFD07D4DA}"/>
              </a:ext>
            </a:extLst>
          </p:cNvPr>
          <p:cNvSpPr>
            <a:spLocks noGrp="1"/>
          </p:cNvSpPr>
          <p:nvPr>
            <p:ph idx="1"/>
          </p:nvPr>
        </p:nvSpPr>
        <p:spPr/>
        <p:txBody>
          <a:bodyPr>
            <a:normAutofit/>
          </a:bodyPr>
          <a:lstStyle/>
          <a:p>
            <a:r>
              <a:rPr lang="en-US" dirty="0"/>
              <a:t>To deallocate a dynamic array, use this form:</a:t>
            </a:r>
          </a:p>
          <a:p>
            <a:pPr marL="914400" lvl="2" indent="0">
              <a:buNone/>
            </a:pPr>
            <a:r>
              <a:rPr lang="en-US" dirty="0">
                <a:latin typeface="+mj-lt"/>
              </a:rPr>
              <a:t>delete [] </a:t>
            </a:r>
            <a:r>
              <a:rPr lang="en-US" dirty="0" err="1">
                <a:latin typeface="+mj-lt"/>
              </a:rPr>
              <a:t>name_of_pointer</a:t>
            </a:r>
            <a:r>
              <a:rPr lang="en-US" dirty="0">
                <a:latin typeface="+mj-lt"/>
              </a:rPr>
              <a:t>;</a:t>
            </a:r>
          </a:p>
          <a:p>
            <a:r>
              <a:rPr lang="en-US" dirty="0"/>
              <a:t>Example:</a:t>
            </a:r>
          </a:p>
          <a:p>
            <a:pPr marL="914400" lvl="2" indent="0">
              <a:buNone/>
            </a:pPr>
            <a:r>
              <a:rPr lang="en-US" dirty="0">
                <a:latin typeface="+mj-lt"/>
              </a:rPr>
              <a:t>int * list = new int[40];	// dynamic array</a:t>
            </a:r>
          </a:p>
          <a:p>
            <a:pPr lvl="2"/>
            <a:endParaRPr lang="en-US" dirty="0">
              <a:latin typeface="+mj-lt"/>
            </a:endParaRPr>
          </a:p>
          <a:p>
            <a:pPr marL="914400" lvl="2" indent="0">
              <a:buNone/>
            </a:pPr>
            <a:r>
              <a:rPr lang="en-US" dirty="0">
                <a:latin typeface="+mj-lt"/>
              </a:rPr>
              <a:t>delete [] list;		// deallocates the array</a:t>
            </a:r>
          </a:p>
          <a:p>
            <a:pPr marL="914400" lvl="2" indent="0">
              <a:buNone/>
            </a:pPr>
            <a:r>
              <a:rPr lang="en-US" dirty="0">
                <a:latin typeface="+mj-lt"/>
              </a:rPr>
              <a:t>list = 0; 			// reset list to null pointer</a:t>
            </a:r>
          </a:p>
          <a:p>
            <a:r>
              <a:rPr lang="en-US" dirty="0"/>
              <a:t>After deallocating space, it's always a good idea to reset the pointer to null unless you are pointing it at another valid target right away.</a:t>
            </a:r>
            <a:endParaRPr lang="en-PH" dirty="0"/>
          </a:p>
        </p:txBody>
      </p:sp>
    </p:spTree>
    <p:extLst>
      <p:ext uri="{BB962C8B-B14F-4D97-AF65-F5344CB8AC3E}">
        <p14:creationId xmlns:p14="http://schemas.microsoft.com/office/powerpoint/2010/main" val="3357617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41A75-B8DE-4A1F-9171-0A27442E9174}"/>
              </a:ext>
            </a:extLst>
          </p:cNvPr>
          <p:cNvSpPr>
            <a:spLocks noGrp="1"/>
          </p:cNvSpPr>
          <p:nvPr>
            <p:ph type="title"/>
          </p:nvPr>
        </p:nvSpPr>
        <p:spPr/>
        <p:txBody>
          <a:bodyPr/>
          <a:lstStyle/>
          <a:p>
            <a:r>
              <a:rPr lang="en-PH" dirty="0"/>
              <a:t>Memory Leak</a:t>
            </a:r>
          </a:p>
        </p:txBody>
      </p:sp>
      <p:sp>
        <p:nvSpPr>
          <p:cNvPr id="3" name="Content Placeholder 2">
            <a:extLst>
              <a:ext uri="{FF2B5EF4-FFF2-40B4-BE49-F238E27FC236}">
                <a16:creationId xmlns:a16="http://schemas.microsoft.com/office/drawing/2014/main" id="{E705D38F-404A-4B9D-A713-7C377E034640}"/>
              </a:ext>
            </a:extLst>
          </p:cNvPr>
          <p:cNvSpPr>
            <a:spLocks noGrp="1"/>
          </p:cNvSpPr>
          <p:nvPr>
            <p:ph idx="1"/>
          </p:nvPr>
        </p:nvSpPr>
        <p:spPr/>
        <p:txBody>
          <a:bodyPr/>
          <a:lstStyle/>
          <a:p>
            <a:r>
              <a:rPr lang="en-PH" dirty="0"/>
              <a:t>A memory leak occurs when a piece (or pieces) of memory that was previously allocated by a programmer is not properly deallocated.</a:t>
            </a:r>
          </a:p>
          <a:p>
            <a:pPr lvl="1"/>
            <a:r>
              <a:rPr lang="en-PH" dirty="0"/>
              <a:t>Even though the memory is not used by the program anymore, it is still “reserved” and that piece of memory cannot be used by the program until it is properly deallocated.</a:t>
            </a:r>
          </a:p>
          <a:p>
            <a:r>
              <a:rPr lang="en-PH" dirty="0"/>
              <a:t>It is called a </a:t>
            </a:r>
            <a:r>
              <a:rPr lang="en-PH" i="1" dirty="0"/>
              <a:t>memory leak </a:t>
            </a:r>
            <a:r>
              <a:rPr lang="en-PH" dirty="0"/>
              <a:t>because it works like a leaky faucet where water is wasted – only in this case, it is the computer memory.</a:t>
            </a:r>
          </a:p>
        </p:txBody>
      </p:sp>
    </p:spTree>
    <p:extLst>
      <p:ext uri="{BB962C8B-B14F-4D97-AF65-F5344CB8AC3E}">
        <p14:creationId xmlns:p14="http://schemas.microsoft.com/office/powerpoint/2010/main" val="362599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FCE9B-9BBB-4ED4-9E48-07364CD98AAE}"/>
              </a:ext>
            </a:extLst>
          </p:cNvPr>
          <p:cNvSpPr>
            <a:spLocks noGrp="1"/>
          </p:cNvSpPr>
          <p:nvPr>
            <p:ph type="title"/>
          </p:nvPr>
        </p:nvSpPr>
        <p:spPr/>
        <p:txBody>
          <a:bodyPr/>
          <a:lstStyle/>
          <a:p>
            <a:r>
              <a:rPr lang="en-PH" dirty="0"/>
              <a:t>Review of Arrays</a:t>
            </a:r>
          </a:p>
        </p:txBody>
      </p:sp>
      <p:sp>
        <p:nvSpPr>
          <p:cNvPr id="3" name="Content Placeholder 2">
            <a:extLst>
              <a:ext uri="{FF2B5EF4-FFF2-40B4-BE49-F238E27FC236}">
                <a16:creationId xmlns:a16="http://schemas.microsoft.com/office/drawing/2014/main" id="{FC6DAD27-041D-4B5D-9952-9FCF8E4C9ACA}"/>
              </a:ext>
            </a:extLst>
          </p:cNvPr>
          <p:cNvSpPr>
            <a:spLocks noGrp="1"/>
          </p:cNvSpPr>
          <p:nvPr>
            <p:ph idx="1"/>
          </p:nvPr>
        </p:nvSpPr>
        <p:spPr/>
        <p:txBody>
          <a:bodyPr/>
          <a:lstStyle/>
          <a:p>
            <a:r>
              <a:rPr lang="en-US" dirty="0"/>
              <a:t>Arrays are defined as the collection of similar type of data items stored at contiguous memory locations.</a:t>
            </a:r>
          </a:p>
          <a:p>
            <a:r>
              <a:rPr lang="en-US" dirty="0"/>
              <a:t>Arrays are the derived data type in C programming language which can store the primitive type of data such as int, char, double, float, etc.</a:t>
            </a:r>
          </a:p>
          <a:p>
            <a:r>
              <a:rPr lang="en-US" dirty="0"/>
              <a:t>Array is the simplest data structure where each data element can be randomly accessed by using its index number.</a:t>
            </a:r>
            <a:endParaRPr lang="en-PH" dirty="0"/>
          </a:p>
        </p:txBody>
      </p:sp>
    </p:spTree>
    <p:extLst>
      <p:ext uri="{BB962C8B-B14F-4D97-AF65-F5344CB8AC3E}">
        <p14:creationId xmlns:p14="http://schemas.microsoft.com/office/powerpoint/2010/main" val="150995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EFE08-3683-4F9D-95AB-65BD6B31F20C}"/>
              </a:ext>
            </a:extLst>
          </p:cNvPr>
          <p:cNvSpPr>
            <a:spLocks noGrp="1"/>
          </p:cNvSpPr>
          <p:nvPr>
            <p:ph type="title"/>
          </p:nvPr>
        </p:nvSpPr>
        <p:spPr/>
        <p:txBody>
          <a:bodyPr/>
          <a:lstStyle/>
          <a:p>
            <a:r>
              <a:rPr lang="en-PH" dirty="0"/>
              <a:t>Properties of the Array</a:t>
            </a:r>
          </a:p>
        </p:txBody>
      </p:sp>
      <p:sp>
        <p:nvSpPr>
          <p:cNvPr id="3" name="Content Placeholder 2">
            <a:extLst>
              <a:ext uri="{FF2B5EF4-FFF2-40B4-BE49-F238E27FC236}">
                <a16:creationId xmlns:a16="http://schemas.microsoft.com/office/drawing/2014/main" id="{A014D880-236F-4D74-B3E2-8FC275B0DC31}"/>
              </a:ext>
            </a:extLst>
          </p:cNvPr>
          <p:cNvSpPr>
            <a:spLocks noGrp="1"/>
          </p:cNvSpPr>
          <p:nvPr>
            <p:ph idx="1"/>
          </p:nvPr>
        </p:nvSpPr>
        <p:spPr/>
        <p:txBody>
          <a:bodyPr/>
          <a:lstStyle/>
          <a:p>
            <a:r>
              <a:rPr lang="en-US" dirty="0"/>
              <a:t>Each element is of same data type and carries a same size i.e. int = 4 bytes.</a:t>
            </a:r>
          </a:p>
          <a:p>
            <a:r>
              <a:rPr lang="en-US" dirty="0"/>
              <a:t>Elements of the array are stored at contiguous memory locations where the first element is stored at the smallest memory location.</a:t>
            </a:r>
          </a:p>
          <a:p>
            <a:r>
              <a:rPr lang="en-US" dirty="0"/>
              <a:t>Elements of the array can be randomly accessed since we can calculate the address of each element of the array with the given base address and the size of data element.</a:t>
            </a:r>
            <a:endParaRPr lang="en-PH" dirty="0"/>
          </a:p>
        </p:txBody>
      </p:sp>
    </p:spTree>
    <p:extLst>
      <p:ext uri="{BB962C8B-B14F-4D97-AF65-F5344CB8AC3E}">
        <p14:creationId xmlns:p14="http://schemas.microsoft.com/office/powerpoint/2010/main" val="2987216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DFC10-60C9-45D1-B958-02A87DA1F607}"/>
              </a:ext>
            </a:extLst>
          </p:cNvPr>
          <p:cNvSpPr>
            <a:spLocks noGrp="1"/>
          </p:cNvSpPr>
          <p:nvPr>
            <p:ph type="title"/>
          </p:nvPr>
        </p:nvSpPr>
        <p:spPr/>
        <p:txBody>
          <a:bodyPr/>
          <a:lstStyle/>
          <a:p>
            <a:r>
              <a:rPr lang="en-PH" dirty="0"/>
              <a:t>Need of using arrays</a:t>
            </a:r>
          </a:p>
        </p:txBody>
      </p:sp>
      <p:sp>
        <p:nvSpPr>
          <p:cNvPr id="3" name="Content Placeholder 2">
            <a:extLst>
              <a:ext uri="{FF2B5EF4-FFF2-40B4-BE49-F238E27FC236}">
                <a16:creationId xmlns:a16="http://schemas.microsoft.com/office/drawing/2014/main" id="{9585BE98-A4CF-4E8C-A1FD-6BAAB5841C92}"/>
              </a:ext>
            </a:extLst>
          </p:cNvPr>
          <p:cNvSpPr>
            <a:spLocks noGrp="1"/>
          </p:cNvSpPr>
          <p:nvPr>
            <p:ph idx="1"/>
          </p:nvPr>
        </p:nvSpPr>
        <p:spPr/>
        <p:txBody>
          <a:bodyPr/>
          <a:lstStyle/>
          <a:p>
            <a:endParaRPr lang="en-PH" dirty="0"/>
          </a:p>
        </p:txBody>
      </p:sp>
      <p:pic>
        <p:nvPicPr>
          <p:cNvPr id="5" name="Picture 4" descr="Text&#10;&#10;Description automatically generated">
            <a:extLst>
              <a:ext uri="{FF2B5EF4-FFF2-40B4-BE49-F238E27FC236}">
                <a16:creationId xmlns:a16="http://schemas.microsoft.com/office/drawing/2014/main" id="{59CFB80F-E346-4B53-97C6-8002B3EFD388}"/>
              </a:ext>
            </a:extLst>
          </p:cNvPr>
          <p:cNvPicPr>
            <a:picLocks noChangeAspect="1"/>
          </p:cNvPicPr>
          <p:nvPr/>
        </p:nvPicPr>
        <p:blipFill rotWithShape="1">
          <a:blip r:embed="rId3"/>
          <a:srcRect r="1135"/>
          <a:stretch/>
        </p:blipFill>
        <p:spPr>
          <a:xfrm>
            <a:off x="838200" y="1825625"/>
            <a:ext cx="6894095" cy="2133898"/>
          </a:xfrm>
          <a:prstGeom prst="rect">
            <a:avLst/>
          </a:prstGeom>
        </p:spPr>
      </p:pic>
      <p:pic>
        <p:nvPicPr>
          <p:cNvPr id="7" name="Picture 6" descr="Text&#10;&#10;Description automatically generated">
            <a:extLst>
              <a:ext uri="{FF2B5EF4-FFF2-40B4-BE49-F238E27FC236}">
                <a16:creationId xmlns:a16="http://schemas.microsoft.com/office/drawing/2014/main" id="{2C1DE99E-D4BC-41F9-ACF9-790174CB443C}"/>
              </a:ext>
            </a:extLst>
          </p:cNvPr>
          <p:cNvPicPr>
            <a:picLocks noChangeAspect="1"/>
          </p:cNvPicPr>
          <p:nvPr/>
        </p:nvPicPr>
        <p:blipFill>
          <a:blip r:embed="rId4"/>
          <a:stretch>
            <a:fillRect/>
          </a:stretch>
        </p:blipFill>
        <p:spPr>
          <a:xfrm>
            <a:off x="8086269" y="1549361"/>
            <a:ext cx="3267531" cy="2686425"/>
          </a:xfrm>
          <a:prstGeom prst="rect">
            <a:avLst/>
          </a:prstGeom>
        </p:spPr>
      </p:pic>
    </p:spTree>
    <p:extLst>
      <p:ext uri="{BB962C8B-B14F-4D97-AF65-F5344CB8AC3E}">
        <p14:creationId xmlns:p14="http://schemas.microsoft.com/office/powerpoint/2010/main" val="3218364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CA811-6E89-4B7B-9E8E-BAE53C09DA14}"/>
              </a:ext>
            </a:extLst>
          </p:cNvPr>
          <p:cNvSpPr>
            <a:spLocks noGrp="1"/>
          </p:cNvSpPr>
          <p:nvPr>
            <p:ph type="title"/>
          </p:nvPr>
        </p:nvSpPr>
        <p:spPr/>
        <p:txBody>
          <a:bodyPr/>
          <a:lstStyle/>
          <a:p>
            <a:r>
              <a:rPr lang="en-PH" dirty="0"/>
              <a:t>Memory Allocation of the array</a:t>
            </a:r>
          </a:p>
        </p:txBody>
      </p:sp>
      <p:sp>
        <p:nvSpPr>
          <p:cNvPr id="3" name="Content Placeholder 2">
            <a:extLst>
              <a:ext uri="{FF2B5EF4-FFF2-40B4-BE49-F238E27FC236}">
                <a16:creationId xmlns:a16="http://schemas.microsoft.com/office/drawing/2014/main" id="{24F8F1B0-2DBB-496A-A251-57F7A22AC411}"/>
              </a:ext>
            </a:extLst>
          </p:cNvPr>
          <p:cNvSpPr>
            <a:spLocks noGrp="1"/>
          </p:cNvSpPr>
          <p:nvPr>
            <p:ph idx="1"/>
          </p:nvPr>
        </p:nvSpPr>
        <p:spPr/>
        <p:txBody>
          <a:bodyPr/>
          <a:lstStyle/>
          <a:p>
            <a:r>
              <a:rPr lang="en-PH" dirty="0"/>
              <a:t>Indexing is defined in three ways:</a:t>
            </a:r>
          </a:p>
          <a:p>
            <a:pPr lvl="1"/>
            <a:r>
              <a:rPr lang="en-PH" dirty="0"/>
              <a:t>0 based indexing</a:t>
            </a:r>
          </a:p>
          <a:p>
            <a:pPr lvl="1"/>
            <a:r>
              <a:rPr lang="en-PH" dirty="0"/>
              <a:t>1 based indexing</a:t>
            </a:r>
          </a:p>
          <a:p>
            <a:pPr lvl="1"/>
            <a:r>
              <a:rPr lang="en-PH" dirty="0"/>
              <a:t>N based indexing</a:t>
            </a:r>
          </a:p>
        </p:txBody>
      </p:sp>
      <p:pic>
        <p:nvPicPr>
          <p:cNvPr id="5122" name="Picture 2" descr="DS 1D Array">
            <a:extLst>
              <a:ext uri="{FF2B5EF4-FFF2-40B4-BE49-F238E27FC236}">
                <a16:creationId xmlns:a16="http://schemas.microsoft.com/office/drawing/2014/main" id="{67917B51-B9C8-409B-8BCA-926BF8E70B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3510" y="3921125"/>
            <a:ext cx="4105275" cy="25717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EC5DDFB-44DD-4D6B-A973-E5FBE1DC71D5}"/>
              </a:ext>
            </a:extLst>
          </p:cNvPr>
          <p:cNvSpPr txBox="1"/>
          <p:nvPr/>
        </p:nvSpPr>
        <p:spPr>
          <a:xfrm>
            <a:off x="6524374" y="4145638"/>
            <a:ext cx="4829426" cy="2031325"/>
          </a:xfrm>
          <a:prstGeom prst="rect">
            <a:avLst/>
          </a:prstGeom>
          <a:noFill/>
        </p:spPr>
        <p:txBody>
          <a:bodyPr wrap="square">
            <a:spAutoFit/>
          </a:bodyPr>
          <a:lstStyle/>
          <a:p>
            <a:r>
              <a:rPr lang="en-US" b="0" i="0" dirty="0">
                <a:solidFill>
                  <a:srgbClr val="222222"/>
                </a:solidFill>
                <a:effectLst/>
                <a:latin typeface="Lora"/>
              </a:rPr>
              <a:t>n the following image, we have shown the memory allocation of an array </a:t>
            </a:r>
            <a:r>
              <a:rPr lang="en-US" b="0" i="0" dirty="0" err="1">
                <a:solidFill>
                  <a:srgbClr val="222222"/>
                </a:solidFill>
                <a:effectLst/>
                <a:latin typeface="Lora"/>
              </a:rPr>
              <a:t>arr</a:t>
            </a:r>
            <a:r>
              <a:rPr lang="en-US" b="0" i="0" dirty="0">
                <a:solidFill>
                  <a:srgbClr val="222222"/>
                </a:solidFill>
                <a:effectLst/>
                <a:latin typeface="Lora"/>
              </a:rPr>
              <a:t> of size 5. The array follows 0-based indexing approach. The base address of the array is 100th byte. This will be the address of </a:t>
            </a:r>
            <a:r>
              <a:rPr lang="en-US" b="0" i="0" dirty="0" err="1">
                <a:solidFill>
                  <a:srgbClr val="222222"/>
                </a:solidFill>
                <a:effectLst/>
                <a:latin typeface="Lora"/>
              </a:rPr>
              <a:t>arr</a:t>
            </a:r>
            <a:r>
              <a:rPr lang="en-US" b="0" i="0" dirty="0">
                <a:solidFill>
                  <a:srgbClr val="222222"/>
                </a:solidFill>
                <a:effectLst/>
                <a:latin typeface="Lora"/>
              </a:rPr>
              <a:t>[0]. Here, the size of int is 4 bytes therefore each element will take 4 bytes in the memory.</a:t>
            </a:r>
            <a:endParaRPr lang="en-PH" dirty="0"/>
          </a:p>
        </p:txBody>
      </p:sp>
    </p:spTree>
    <p:extLst>
      <p:ext uri="{BB962C8B-B14F-4D97-AF65-F5344CB8AC3E}">
        <p14:creationId xmlns:p14="http://schemas.microsoft.com/office/powerpoint/2010/main" val="4155201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7881-D8BE-49B4-BC85-AB82E3CFAE26}"/>
              </a:ext>
            </a:extLst>
          </p:cNvPr>
          <p:cNvSpPr>
            <a:spLocks noGrp="1"/>
          </p:cNvSpPr>
          <p:nvPr>
            <p:ph type="title"/>
          </p:nvPr>
        </p:nvSpPr>
        <p:spPr/>
        <p:txBody>
          <a:bodyPr/>
          <a:lstStyle/>
          <a:p>
            <a:r>
              <a:rPr lang="en-US" dirty="0"/>
              <a:t>Abstract Data Types (ADTs)</a:t>
            </a:r>
            <a:endParaRPr lang="en-PH" dirty="0"/>
          </a:p>
        </p:txBody>
      </p:sp>
      <p:sp>
        <p:nvSpPr>
          <p:cNvPr id="3" name="Content Placeholder 2">
            <a:extLst>
              <a:ext uri="{FF2B5EF4-FFF2-40B4-BE49-F238E27FC236}">
                <a16:creationId xmlns:a16="http://schemas.microsoft.com/office/drawing/2014/main" id="{106B9790-9FD0-455C-9847-7B7B24D6464C}"/>
              </a:ext>
            </a:extLst>
          </p:cNvPr>
          <p:cNvSpPr>
            <a:spLocks noGrp="1"/>
          </p:cNvSpPr>
          <p:nvPr>
            <p:ph idx="1"/>
          </p:nvPr>
        </p:nvSpPr>
        <p:spPr/>
        <p:txBody>
          <a:bodyPr>
            <a:normAutofit fontScale="85000" lnSpcReduction="10000"/>
          </a:bodyPr>
          <a:lstStyle/>
          <a:p>
            <a:r>
              <a:rPr lang="en-US" dirty="0"/>
              <a:t>Data abstraction, or abstract data types, is a programming methodology where one defines not only the data structure to be used, but the processes to manipulate the structure</a:t>
            </a:r>
          </a:p>
          <a:p>
            <a:pPr lvl="1"/>
            <a:r>
              <a:rPr lang="en-US" dirty="0"/>
              <a:t>like process abstraction, ADTs can be supported directly by programming languages</a:t>
            </a:r>
          </a:p>
          <a:p>
            <a:endParaRPr lang="en-US" dirty="0"/>
          </a:p>
          <a:p>
            <a:r>
              <a:rPr lang="en-US" dirty="0"/>
              <a:t>To support it, there needs to be mechanisms for</a:t>
            </a:r>
          </a:p>
          <a:p>
            <a:pPr lvl="1"/>
            <a:r>
              <a:rPr lang="en-US" dirty="0"/>
              <a:t>defining data structures</a:t>
            </a:r>
          </a:p>
          <a:p>
            <a:pPr lvl="1"/>
            <a:r>
              <a:rPr lang="en-US" dirty="0"/>
              <a:t>encapsulation of data structures and their routines to manipulate the structures into one unit</a:t>
            </a:r>
          </a:p>
          <a:p>
            <a:pPr lvl="2"/>
            <a:r>
              <a:rPr lang="en-US" dirty="0"/>
              <a:t>by placing all definitions in one unit, it can be compiled at one time</a:t>
            </a:r>
          </a:p>
          <a:p>
            <a:pPr lvl="1"/>
            <a:r>
              <a:rPr lang="en-US" dirty="0"/>
              <a:t>information hiding to protect the data structure from outside interference or manipulation </a:t>
            </a:r>
          </a:p>
          <a:p>
            <a:pPr lvl="2"/>
            <a:r>
              <a:rPr lang="en-US" dirty="0"/>
              <a:t>the data structure should only be accessible from code encapsulated with it so that the structure is hidden and protected from the outside</a:t>
            </a:r>
          </a:p>
          <a:p>
            <a:pPr lvl="2"/>
            <a:r>
              <a:rPr lang="en-US" dirty="0"/>
              <a:t>objects are one way to implement ADTs, but because objects have additional properties, we defer discussion of them until the next chapter</a:t>
            </a:r>
          </a:p>
          <a:p>
            <a:endParaRPr lang="en-PH" dirty="0"/>
          </a:p>
        </p:txBody>
      </p:sp>
    </p:spTree>
    <p:extLst>
      <p:ext uri="{BB962C8B-B14F-4D97-AF65-F5344CB8AC3E}">
        <p14:creationId xmlns:p14="http://schemas.microsoft.com/office/powerpoint/2010/main" val="1772749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E8140-1A80-4463-89DD-7CB4657034A2}"/>
              </a:ext>
            </a:extLst>
          </p:cNvPr>
          <p:cNvSpPr>
            <a:spLocks noGrp="1"/>
          </p:cNvSpPr>
          <p:nvPr>
            <p:ph type="title"/>
          </p:nvPr>
        </p:nvSpPr>
        <p:spPr/>
        <p:txBody>
          <a:bodyPr/>
          <a:lstStyle/>
          <a:p>
            <a:r>
              <a:rPr lang="en-US" dirty="0"/>
              <a:t>ADT Design Issues</a:t>
            </a:r>
            <a:endParaRPr lang="en-PH" dirty="0"/>
          </a:p>
        </p:txBody>
      </p:sp>
      <p:sp>
        <p:nvSpPr>
          <p:cNvPr id="3" name="Content Placeholder 2">
            <a:extLst>
              <a:ext uri="{FF2B5EF4-FFF2-40B4-BE49-F238E27FC236}">
                <a16:creationId xmlns:a16="http://schemas.microsoft.com/office/drawing/2014/main" id="{138B4D4B-418C-45CD-8E7A-2CE15D74F08E}"/>
              </a:ext>
            </a:extLst>
          </p:cNvPr>
          <p:cNvSpPr>
            <a:spLocks noGrp="1"/>
          </p:cNvSpPr>
          <p:nvPr>
            <p:ph idx="1"/>
          </p:nvPr>
        </p:nvSpPr>
        <p:spPr/>
        <p:txBody>
          <a:bodyPr>
            <a:normAutofit fontScale="92500" lnSpcReduction="10000"/>
          </a:bodyPr>
          <a:lstStyle/>
          <a:p>
            <a:r>
              <a:rPr lang="en-US" dirty="0"/>
              <a:t>Encapsulation:  it must be possible to define a unit that contains a data structure and the subprograms that access (manipulate) it</a:t>
            </a:r>
          </a:p>
          <a:p>
            <a:pPr lvl="1"/>
            <a:r>
              <a:rPr lang="en-US" dirty="0"/>
              <a:t>design issues:</a:t>
            </a:r>
          </a:p>
          <a:p>
            <a:pPr lvl="2"/>
            <a:r>
              <a:rPr lang="en-US" dirty="0"/>
              <a:t>will ADT access be restricted through pointers? </a:t>
            </a:r>
          </a:p>
          <a:p>
            <a:pPr lvl="2"/>
            <a:r>
              <a:rPr lang="en-US" dirty="0"/>
              <a:t>can ADTs be parameterized (size and/or type of data being stored)?</a:t>
            </a:r>
          </a:p>
          <a:p>
            <a:endParaRPr lang="en-US" dirty="0"/>
          </a:p>
          <a:p>
            <a:r>
              <a:rPr lang="en-US" dirty="0"/>
              <a:t>Information hiding:  controlling access to the data structure through some form of interface so that it cannot be directly manipulated by external code</a:t>
            </a:r>
          </a:p>
          <a:p>
            <a:pPr lvl="1"/>
            <a:r>
              <a:rPr lang="en-US" dirty="0"/>
              <a:t>often implemented via two sections of code</a:t>
            </a:r>
          </a:p>
          <a:p>
            <a:pPr lvl="2"/>
            <a:r>
              <a:rPr lang="en-US" dirty="0"/>
              <a:t>public part (interface) constitutes those elements that can be accessed externally (often limited to subprograms and constants)</a:t>
            </a:r>
          </a:p>
          <a:p>
            <a:pPr lvl="2"/>
            <a:r>
              <a:rPr lang="en-US" dirty="0"/>
              <a:t>private part, which remains secure because it is only accessible by subprograms of the ADT itself</a:t>
            </a:r>
          </a:p>
          <a:p>
            <a:endParaRPr lang="en-PH" dirty="0"/>
          </a:p>
        </p:txBody>
      </p:sp>
    </p:spTree>
    <p:extLst>
      <p:ext uri="{BB962C8B-B14F-4D97-AF65-F5344CB8AC3E}">
        <p14:creationId xmlns:p14="http://schemas.microsoft.com/office/powerpoint/2010/main" val="2890944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0377-3D90-4BB5-9EC5-616679116E89}"/>
              </a:ext>
            </a:extLst>
          </p:cNvPr>
          <p:cNvSpPr>
            <a:spLocks noGrp="1"/>
          </p:cNvSpPr>
          <p:nvPr>
            <p:ph type="title"/>
          </p:nvPr>
        </p:nvSpPr>
        <p:spPr/>
        <p:txBody>
          <a:bodyPr/>
          <a:lstStyle/>
          <a:p>
            <a:r>
              <a:rPr lang="en-US" dirty="0"/>
              <a:t>ADTs in C++</a:t>
            </a:r>
            <a:endParaRPr lang="en-PH" dirty="0"/>
          </a:p>
        </p:txBody>
      </p:sp>
      <p:sp>
        <p:nvSpPr>
          <p:cNvPr id="3" name="Content Placeholder 2">
            <a:extLst>
              <a:ext uri="{FF2B5EF4-FFF2-40B4-BE49-F238E27FC236}">
                <a16:creationId xmlns:a16="http://schemas.microsoft.com/office/drawing/2014/main" id="{AAE4FDDB-825E-4EB8-9632-FA30973B58FC}"/>
              </a:ext>
            </a:extLst>
          </p:cNvPr>
          <p:cNvSpPr>
            <a:spLocks noGrp="1"/>
          </p:cNvSpPr>
          <p:nvPr>
            <p:ph idx="1"/>
          </p:nvPr>
        </p:nvSpPr>
        <p:spPr/>
        <p:txBody>
          <a:bodyPr>
            <a:normAutofit fontScale="92500" lnSpcReduction="10000"/>
          </a:bodyPr>
          <a:lstStyle/>
          <a:p>
            <a:r>
              <a:rPr lang="en-US" dirty="0"/>
              <a:t>C++ offers two mechanisms for building data structures:  the struct and the class</a:t>
            </a:r>
          </a:p>
          <a:p>
            <a:pPr lvl="1"/>
            <a:r>
              <a:rPr lang="en-US" dirty="0"/>
              <a:t>because the struct does not have a mechanism for information hiding, it can only offer encapsulation (and encapsulation is not enforced when using structs, merely available), so for a true ADT, we must use C++s object</a:t>
            </a:r>
          </a:p>
          <a:p>
            <a:pPr lvl="1"/>
            <a:r>
              <a:rPr lang="en-US" dirty="0"/>
              <a:t>C++ classes contain both visible (public) and hidden (private) components (as well as protected for inheritance)</a:t>
            </a:r>
          </a:p>
          <a:p>
            <a:pPr lvl="1"/>
            <a:r>
              <a:rPr lang="en-US" dirty="0"/>
              <a:t>C++ instances can be static, heap-dynamic and stack-dynamic</a:t>
            </a:r>
          </a:p>
          <a:p>
            <a:pPr lvl="2"/>
            <a:r>
              <a:rPr lang="en-US" dirty="0"/>
              <a:t>the lifetime of an instance ends when it reaches the end of the scope of where it was declared</a:t>
            </a:r>
          </a:p>
          <a:p>
            <a:pPr lvl="2"/>
            <a:r>
              <a:rPr lang="en-US" dirty="0"/>
              <a:t>a stack-dynamic object may have heap-dynamic data so that parts of the object may continue even though the instant is deallocated</a:t>
            </a:r>
          </a:p>
          <a:p>
            <a:pPr lvl="1"/>
            <a:r>
              <a:rPr lang="en-US" dirty="0"/>
              <a:t>we defer most of our discussion of objects in C++ to the next chapter, but we will see an example next</a:t>
            </a:r>
          </a:p>
          <a:p>
            <a:endParaRPr lang="en-PH" dirty="0"/>
          </a:p>
        </p:txBody>
      </p:sp>
    </p:spTree>
    <p:extLst>
      <p:ext uri="{BB962C8B-B14F-4D97-AF65-F5344CB8AC3E}">
        <p14:creationId xmlns:p14="http://schemas.microsoft.com/office/powerpoint/2010/main" val="1906532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F70EF-F3DA-4308-A767-02462D1B46F2}"/>
              </a:ext>
            </a:extLst>
          </p:cNvPr>
          <p:cNvSpPr>
            <a:spLocks noGrp="1"/>
          </p:cNvSpPr>
          <p:nvPr>
            <p:ph type="title"/>
          </p:nvPr>
        </p:nvSpPr>
        <p:spPr/>
        <p:txBody>
          <a:bodyPr/>
          <a:lstStyle/>
          <a:p>
            <a:r>
              <a:rPr lang="en-US" dirty="0"/>
              <a:t>Parameterized ADTs</a:t>
            </a:r>
            <a:endParaRPr lang="en-PH" dirty="0"/>
          </a:p>
        </p:txBody>
      </p:sp>
      <p:sp>
        <p:nvSpPr>
          <p:cNvPr id="3" name="Content Placeholder 2">
            <a:extLst>
              <a:ext uri="{FF2B5EF4-FFF2-40B4-BE49-F238E27FC236}">
                <a16:creationId xmlns:a16="http://schemas.microsoft.com/office/drawing/2014/main" id="{5FE4DDF5-162F-4CF2-AB5C-97A18953E164}"/>
              </a:ext>
            </a:extLst>
          </p:cNvPr>
          <p:cNvSpPr>
            <a:spLocks noGrp="1"/>
          </p:cNvSpPr>
          <p:nvPr>
            <p:ph idx="1"/>
          </p:nvPr>
        </p:nvSpPr>
        <p:spPr/>
        <p:txBody>
          <a:bodyPr>
            <a:normAutofit/>
          </a:bodyPr>
          <a:lstStyle/>
          <a:p>
            <a:r>
              <a:rPr lang="en-US" dirty="0"/>
              <a:t>The ability to define an ADT where the type and/or size is specified generically so that a specific version can be generated later</a:t>
            </a:r>
          </a:p>
          <a:p>
            <a:pPr lvl="1"/>
            <a:r>
              <a:rPr lang="en-US" dirty="0"/>
              <a:t>a stack defined without specifying the element type (integer vs. string vs. float, </a:t>
            </a:r>
            <a:r>
              <a:rPr lang="en-US" dirty="0" err="1"/>
              <a:t>etc</a:t>
            </a:r>
            <a:r>
              <a:rPr lang="en-US" dirty="0"/>
              <a:t>)</a:t>
            </a:r>
          </a:p>
          <a:p>
            <a:pPr lvl="1"/>
            <a:r>
              <a:rPr lang="en-US" dirty="0"/>
              <a:t>a stack defined without a restriction on the size of the stack </a:t>
            </a:r>
          </a:p>
          <a:p>
            <a:pPr lvl="1"/>
            <a:r>
              <a:rPr lang="en-US" dirty="0"/>
              <a:t>Ada, C++, Java and C# all have this capability</a:t>
            </a:r>
          </a:p>
          <a:p>
            <a:r>
              <a:rPr lang="en-US" dirty="0"/>
              <a:t>The approach is to replace the type definition with a place holder that is filled in later</a:t>
            </a:r>
          </a:p>
          <a:p>
            <a:endParaRPr lang="en-PH" dirty="0"/>
          </a:p>
        </p:txBody>
      </p:sp>
    </p:spTree>
    <p:extLst>
      <p:ext uri="{BB962C8B-B14F-4D97-AF65-F5344CB8AC3E}">
        <p14:creationId xmlns:p14="http://schemas.microsoft.com/office/powerpoint/2010/main" val="1636872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6526D-981E-481A-9709-AB64F64B1C78}"/>
              </a:ext>
            </a:extLst>
          </p:cNvPr>
          <p:cNvSpPr>
            <a:spLocks noGrp="1"/>
          </p:cNvSpPr>
          <p:nvPr>
            <p:ph type="title"/>
          </p:nvPr>
        </p:nvSpPr>
        <p:spPr/>
        <p:txBody>
          <a:bodyPr/>
          <a:lstStyle/>
          <a:p>
            <a:r>
              <a:rPr lang="en-US" dirty="0"/>
              <a:t>Parameterized ADTs</a:t>
            </a:r>
            <a:endParaRPr lang="en-PH" dirty="0"/>
          </a:p>
        </p:txBody>
      </p:sp>
      <p:sp>
        <p:nvSpPr>
          <p:cNvPr id="3" name="Content Placeholder 2">
            <a:extLst>
              <a:ext uri="{FF2B5EF4-FFF2-40B4-BE49-F238E27FC236}">
                <a16:creationId xmlns:a16="http://schemas.microsoft.com/office/drawing/2014/main" id="{3AB507E8-E581-46C0-8C14-808DDAA2764B}"/>
              </a:ext>
            </a:extLst>
          </p:cNvPr>
          <p:cNvSpPr>
            <a:spLocks noGrp="1"/>
          </p:cNvSpPr>
          <p:nvPr>
            <p:ph idx="1"/>
          </p:nvPr>
        </p:nvSpPr>
        <p:spPr/>
        <p:txBody>
          <a:bodyPr>
            <a:normAutofit fontScale="92500" lnSpcReduction="10000"/>
          </a:bodyPr>
          <a:lstStyle/>
          <a:p>
            <a:r>
              <a:rPr lang="en-US" dirty="0"/>
              <a:t>In C++, parameterized ADTs are implemented as templated classes</a:t>
            </a:r>
          </a:p>
          <a:p>
            <a:pPr lvl="1"/>
            <a:r>
              <a:rPr lang="en-US" dirty="0"/>
              <a:t>to change the stack </a:t>
            </a:r>
            <a:r>
              <a:rPr lang="en-US" dirty="0" err="1"/>
              <a:t>class’</a:t>
            </a:r>
            <a:r>
              <a:rPr lang="en-US" dirty="0"/>
              <a:t> size, only change the constructor to receive the size as a parameter, which is used to establish the size of the array</a:t>
            </a:r>
          </a:p>
          <a:p>
            <a:pPr lvl="1"/>
            <a:r>
              <a:rPr lang="en-US" dirty="0"/>
              <a:t>to change the stack’s type, the class is now defined as a template using template &lt;class Type&gt; where Type is the place-holder to be filled in by a specific type at run-time</a:t>
            </a:r>
          </a:p>
          <a:p>
            <a:r>
              <a:rPr lang="en-US" dirty="0"/>
              <a:t>In both Ada and C++, the parameterized ADT definition is generated at compile-time </a:t>
            </a:r>
          </a:p>
          <a:p>
            <a:pPr lvl="1"/>
            <a:r>
              <a:rPr lang="en-US" dirty="0"/>
              <a:t>the new statement signals that a new package should be generated by the compiler</a:t>
            </a:r>
          </a:p>
          <a:p>
            <a:pPr lvl="2"/>
            <a:r>
              <a:rPr lang="en-US" dirty="0"/>
              <a:t>in C++, if two definitions ask for the same type of ADT, only 1 set of source code is generated, in Ada, the same source code is generated twice!</a:t>
            </a:r>
          </a:p>
          <a:p>
            <a:r>
              <a:rPr lang="en-US" dirty="0"/>
              <a:t>In Java and C#, parameterized ADTs are implemented as generic classes.</a:t>
            </a:r>
          </a:p>
          <a:p>
            <a:endParaRPr lang="en-PH" dirty="0"/>
          </a:p>
        </p:txBody>
      </p:sp>
    </p:spTree>
    <p:extLst>
      <p:ext uri="{BB962C8B-B14F-4D97-AF65-F5344CB8AC3E}">
        <p14:creationId xmlns:p14="http://schemas.microsoft.com/office/powerpoint/2010/main" val="3808790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C3A6B-3890-4265-A200-F739B7DE7B1A}"/>
              </a:ext>
            </a:extLst>
          </p:cNvPr>
          <p:cNvSpPr>
            <a:spLocks noGrp="1"/>
          </p:cNvSpPr>
          <p:nvPr>
            <p:ph type="title"/>
          </p:nvPr>
        </p:nvSpPr>
        <p:spPr/>
        <p:txBody>
          <a:bodyPr/>
          <a:lstStyle/>
          <a:p>
            <a:r>
              <a:rPr lang="en-US" dirty="0"/>
              <a:t>Common ADTs</a:t>
            </a:r>
            <a:endParaRPr lang="en-PH" dirty="0"/>
          </a:p>
        </p:txBody>
      </p:sp>
      <p:sp>
        <p:nvSpPr>
          <p:cNvPr id="3" name="Content Placeholder 2">
            <a:extLst>
              <a:ext uri="{FF2B5EF4-FFF2-40B4-BE49-F238E27FC236}">
                <a16:creationId xmlns:a16="http://schemas.microsoft.com/office/drawing/2014/main" id="{15EA8F26-CAA2-4006-9ECF-6048952679F9}"/>
              </a:ext>
            </a:extLst>
          </p:cNvPr>
          <p:cNvSpPr>
            <a:spLocks noGrp="1"/>
          </p:cNvSpPr>
          <p:nvPr>
            <p:ph idx="1"/>
          </p:nvPr>
        </p:nvSpPr>
        <p:spPr/>
        <p:txBody>
          <a:bodyPr/>
          <a:lstStyle/>
          <a:p>
            <a:r>
              <a:rPr lang="en-US" dirty="0"/>
              <a:t>Consider ADT as the black box.</a:t>
            </a:r>
          </a:p>
          <a:p>
            <a:r>
              <a:rPr lang="en-US" dirty="0"/>
              <a:t>3 common ADTs:</a:t>
            </a:r>
          </a:p>
          <a:p>
            <a:pPr lvl="1"/>
            <a:r>
              <a:rPr lang="en-US" dirty="0"/>
              <a:t>List ADT</a:t>
            </a:r>
          </a:p>
          <a:p>
            <a:pPr lvl="1"/>
            <a:r>
              <a:rPr lang="en-US" dirty="0"/>
              <a:t>Stack ADT</a:t>
            </a:r>
          </a:p>
          <a:p>
            <a:pPr lvl="1"/>
            <a:r>
              <a:rPr lang="en-US" dirty="0"/>
              <a:t>Queue ADT</a:t>
            </a:r>
            <a:endParaRPr lang="en-PH" dirty="0"/>
          </a:p>
        </p:txBody>
      </p:sp>
    </p:spTree>
    <p:extLst>
      <p:ext uri="{BB962C8B-B14F-4D97-AF65-F5344CB8AC3E}">
        <p14:creationId xmlns:p14="http://schemas.microsoft.com/office/powerpoint/2010/main" val="17586482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6B10-72D4-4E00-856B-B97A7FAC328C}"/>
              </a:ext>
            </a:extLst>
          </p:cNvPr>
          <p:cNvSpPr>
            <a:spLocks noGrp="1"/>
          </p:cNvSpPr>
          <p:nvPr>
            <p:ph type="title"/>
          </p:nvPr>
        </p:nvSpPr>
        <p:spPr/>
        <p:txBody>
          <a:bodyPr/>
          <a:lstStyle/>
          <a:p>
            <a:r>
              <a:rPr lang="en-US" dirty="0"/>
              <a:t>List ADT</a:t>
            </a:r>
            <a:endParaRPr lang="en-PH" dirty="0"/>
          </a:p>
        </p:txBody>
      </p:sp>
      <p:sp>
        <p:nvSpPr>
          <p:cNvPr id="3" name="Content Placeholder 2">
            <a:extLst>
              <a:ext uri="{FF2B5EF4-FFF2-40B4-BE49-F238E27FC236}">
                <a16:creationId xmlns:a16="http://schemas.microsoft.com/office/drawing/2014/main" id="{3B031E86-623A-40EB-9C7D-C10560F6E97A}"/>
              </a:ext>
            </a:extLst>
          </p:cNvPr>
          <p:cNvSpPr>
            <a:spLocks noGrp="1"/>
          </p:cNvSpPr>
          <p:nvPr>
            <p:ph idx="1"/>
          </p:nvPr>
        </p:nvSpPr>
        <p:spPr/>
        <p:txBody>
          <a:bodyPr/>
          <a:lstStyle/>
          <a:p>
            <a:r>
              <a:rPr lang="en-US" dirty="0"/>
              <a:t>The data is generally stored in key sequence in a list which has a head structure consisting of count, pointers and address of compare function needed to compare the data in the list.</a:t>
            </a:r>
            <a:endParaRPr lang="en-PH" dirty="0"/>
          </a:p>
        </p:txBody>
      </p:sp>
      <p:pic>
        <p:nvPicPr>
          <p:cNvPr id="1026" name="Picture 2">
            <a:extLst>
              <a:ext uri="{FF2B5EF4-FFF2-40B4-BE49-F238E27FC236}">
                <a16:creationId xmlns:a16="http://schemas.microsoft.com/office/drawing/2014/main" id="{30F1F473-B2EF-462A-A614-32E14CA9F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22328"/>
            <a:ext cx="4735444" cy="2970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644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8D38F-D702-46C9-A08A-7034137CE138}"/>
              </a:ext>
            </a:extLst>
          </p:cNvPr>
          <p:cNvSpPr>
            <a:spLocks noGrp="1"/>
          </p:cNvSpPr>
          <p:nvPr>
            <p:ph type="title"/>
          </p:nvPr>
        </p:nvSpPr>
        <p:spPr/>
        <p:txBody>
          <a:bodyPr/>
          <a:lstStyle/>
          <a:p>
            <a:r>
              <a:rPr lang="en-US" dirty="0"/>
              <a:t>Stack ADT</a:t>
            </a:r>
            <a:endParaRPr lang="en-PH" dirty="0"/>
          </a:p>
        </p:txBody>
      </p:sp>
      <p:sp>
        <p:nvSpPr>
          <p:cNvPr id="3" name="Content Placeholder 2">
            <a:extLst>
              <a:ext uri="{FF2B5EF4-FFF2-40B4-BE49-F238E27FC236}">
                <a16:creationId xmlns:a16="http://schemas.microsoft.com/office/drawing/2014/main" id="{B61D4768-AD42-4876-95E1-6B1FC89B1F27}"/>
              </a:ext>
            </a:extLst>
          </p:cNvPr>
          <p:cNvSpPr>
            <a:spLocks noGrp="1"/>
          </p:cNvSpPr>
          <p:nvPr>
            <p:ph idx="1"/>
          </p:nvPr>
        </p:nvSpPr>
        <p:spPr/>
        <p:txBody>
          <a:bodyPr/>
          <a:lstStyle/>
          <a:p>
            <a:r>
              <a:rPr lang="en-US" dirty="0"/>
              <a:t>In Stack ADT Implementation instead of data being stored in each node, the pointer to data is stored.</a:t>
            </a:r>
          </a:p>
          <a:p>
            <a:r>
              <a:rPr lang="en-US" dirty="0"/>
              <a:t>The program allocates memory for the data and address is passed to the stack ADT.</a:t>
            </a:r>
            <a:endParaRPr lang="en-PH" dirty="0"/>
          </a:p>
        </p:txBody>
      </p:sp>
      <p:pic>
        <p:nvPicPr>
          <p:cNvPr id="2052" name="Picture 4">
            <a:extLst>
              <a:ext uri="{FF2B5EF4-FFF2-40B4-BE49-F238E27FC236}">
                <a16:creationId xmlns:a16="http://schemas.microsoft.com/office/drawing/2014/main" id="{DFF8CF06-B245-4432-A988-0B481E43A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2" y="3692572"/>
            <a:ext cx="7762875" cy="2721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4624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5A151-2928-4B9C-A661-CD3651E80250}"/>
              </a:ext>
            </a:extLst>
          </p:cNvPr>
          <p:cNvSpPr>
            <a:spLocks noGrp="1"/>
          </p:cNvSpPr>
          <p:nvPr>
            <p:ph type="title"/>
          </p:nvPr>
        </p:nvSpPr>
        <p:spPr/>
        <p:txBody>
          <a:bodyPr/>
          <a:lstStyle/>
          <a:p>
            <a:r>
              <a:rPr lang="en-US" dirty="0"/>
              <a:t>Queue ADT</a:t>
            </a:r>
            <a:endParaRPr lang="en-PH" dirty="0"/>
          </a:p>
        </p:txBody>
      </p:sp>
      <p:sp>
        <p:nvSpPr>
          <p:cNvPr id="3" name="Content Placeholder 2">
            <a:extLst>
              <a:ext uri="{FF2B5EF4-FFF2-40B4-BE49-F238E27FC236}">
                <a16:creationId xmlns:a16="http://schemas.microsoft.com/office/drawing/2014/main" id="{6B46B8FC-A0B5-486C-AEB5-1CE012578A4A}"/>
              </a:ext>
            </a:extLst>
          </p:cNvPr>
          <p:cNvSpPr>
            <a:spLocks noGrp="1"/>
          </p:cNvSpPr>
          <p:nvPr>
            <p:ph idx="1"/>
          </p:nvPr>
        </p:nvSpPr>
        <p:spPr/>
        <p:txBody>
          <a:bodyPr/>
          <a:lstStyle/>
          <a:p>
            <a:r>
              <a:rPr lang="en-US" dirty="0"/>
              <a:t>The queue abstract data type (ADT) follows the basic design of the stack abstract data type.</a:t>
            </a:r>
            <a:endParaRPr lang="en-PH" dirty="0"/>
          </a:p>
        </p:txBody>
      </p:sp>
      <p:pic>
        <p:nvPicPr>
          <p:cNvPr id="3074" name="Picture 2">
            <a:extLst>
              <a:ext uri="{FF2B5EF4-FFF2-40B4-BE49-F238E27FC236}">
                <a16:creationId xmlns:a16="http://schemas.microsoft.com/office/drawing/2014/main" id="{D3ACDB7E-D31D-4B5D-96B1-026C83C112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4874" y="2693030"/>
            <a:ext cx="4382251" cy="3799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343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3">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3206</TotalTime>
  <Words>3295</Words>
  <Application>Microsoft Office PowerPoint</Application>
  <PresentationFormat>Widescreen</PresentationFormat>
  <Paragraphs>266</Paragraphs>
  <Slides>35</Slides>
  <Notes>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Lora</vt:lpstr>
      <vt:lpstr>Times New Roman</vt:lpstr>
      <vt:lpstr>Office Theme</vt:lpstr>
      <vt:lpstr>Introduction to Data Structures</vt:lpstr>
      <vt:lpstr>Introduction to Data Structures</vt:lpstr>
      <vt:lpstr>Introduction</vt:lpstr>
      <vt:lpstr>Terminologies</vt:lpstr>
      <vt:lpstr>Why do we need Data Structures?</vt:lpstr>
      <vt:lpstr>Advantages of Data Structures</vt:lpstr>
      <vt:lpstr>Classification</vt:lpstr>
      <vt:lpstr>Linear Data Structures</vt:lpstr>
      <vt:lpstr>Non-Linear Data Structures</vt:lpstr>
      <vt:lpstr>Operations on Data Structure</vt:lpstr>
      <vt:lpstr>Pointers</vt:lpstr>
      <vt:lpstr>PowerPoint Presentation</vt:lpstr>
      <vt:lpstr>PowerPoint Presentation</vt:lpstr>
      <vt:lpstr>Allocating Memory</vt:lpstr>
      <vt:lpstr>Dynamic Memory Allocation</vt:lpstr>
      <vt:lpstr>Allocating space with new</vt:lpstr>
      <vt:lpstr>Allocating space with new</vt:lpstr>
      <vt:lpstr>Accessing dynamically created space</vt:lpstr>
      <vt:lpstr>Accessing dynamically created space</vt:lpstr>
      <vt:lpstr>Deallocation of dynamic memory</vt:lpstr>
      <vt:lpstr>Deallocation of dynamic memory</vt:lpstr>
      <vt:lpstr>Memory Leak</vt:lpstr>
      <vt:lpstr>Review of Arrays</vt:lpstr>
      <vt:lpstr>Properties of the Array</vt:lpstr>
      <vt:lpstr>Need of using arrays</vt:lpstr>
      <vt:lpstr>Memory Allocation of the array</vt:lpstr>
      <vt:lpstr>Abstract Data Types (ADTs)</vt:lpstr>
      <vt:lpstr>ADT Design Issues</vt:lpstr>
      <vt:lpstr>ADTs in C++</vt:lpstr>
      <vt:lpstr>Parameterized ADTs</vt:lpstr>
      <vt:lpstr>Parameterized ADTs</vt:lpstr>
      <vt:lpstr>Common ADTs</vt:lpstr>
      <vt:lpstr>List ADT</vt:lpstr>
      <vt:lpstr>Stack ADT</vt:lpstr>
      <vt:lpstr>Queue ADT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CPE010 | Data Structures and Algorithms  Introduction to Data Structures</dc:title>
  <dc:creator>Roman Richard</dc:creator>
  <cp:lastModifiedBy>Roman Richard</cp:lastModifiedBy>
  <cp:revision>12</cp:revision>
  <dcterms:created xsi:type="dcterms:W3CDTF">2021-08-25T00:07:18Z</dcterms:created>
  <dcterms:modified xsi:type="dcterms:W3CDTF">2022-08-14T08:05:50Z</dcterms:modified>
</cp:coreProperties>
</file>