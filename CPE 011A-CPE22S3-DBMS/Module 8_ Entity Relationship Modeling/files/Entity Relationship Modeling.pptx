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26" r:id="rId3"/>
    <p:sldId id="327" r:id="rId4"/>
    <p:sldId id="328" r:id="rId5"/>
    <p:sldId id="329" r:id="rId6"/>
    <p:sldId id="330" r:id="rId7"/>
    <p:sldId id="395" r:id="rId8"/>
    <p:sldId id="333" r:id="rId9"/>
    <p:sldId id="396" r:id="rId10"/>
    <p:sldId id="334" r:id="rId11"/>
    <p:sldId id="397" r:id="rId12"/>
    <p:sldId id="398" r:id="rId13"/>
    <p:sldId id="338" r:id="rId14"/>
    <p:sldId id="400" r:id="rId15"/>
    <p:sldId id="399" r:id="rId16"/>
    <p:sldId id="343" r:id="rId17"/>
    <p:sldId id="401" r:id="rId18"/>
    <p:sldId id="346" r:id="rId19"/>
    <p:sldId id="347" r:id="rId20"/>
    <p:sldId id="348" r:id="rId21"/>
    <p:sldId id="349" r:id="rId22"/>
    <p:sldId id="402" r:id="rId23"/>
    <p:sldId id="350" r:id="rId24"/>
    <p:sldId id="403" r:id="rId25"/>
    <p:sldId id="352" r:id="rId26"/>
    <p:sldId id="353" r:id="rId27"/>
    <p:sldId id="356" r:id="rId28"/>
    <p:sldId id="404" r:id="rId29"/>
    <p:sldId id="360" r:id="rId30"/>
    <p:sldId id="405" r:id="rId31"/>
    <p:sldId id="357" r:id="rId32"/>
    <p:sldId id="361" r:id="rId33"/>
    <p:sldId id="362" r:id="rId34"/>
    <p:sldId id="363" r:id="rId35"/>
    <p:sldId id="364" r:id="rId36"/>
    <p:sldId id="406" r:id="rId37"/>
    <p:sldId id="407" r:id="rId38"/>
    <p:sldId id="371" r:id="rId39"/>
    <p:sldId id="408" r:id="rId40"/>
    <p:sldId id="372" r:id="rId41"/>
    <p:sldId id="37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EDC60-79DC-42E2-AC41-8213A2A08838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073FB-17D6-4D62-8F1C-3944E24677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358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0263354B-9A29-C412-1CCD-A3D5D00A87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087AD84F-8038-2B90-2DEE-5DDB0BE71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DAE96C3-ED9F-56E0-3CD7-79B354E139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F362E5-773D-B331-5983-6D6B50C3F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79875CD-9BAF-FE72-680C-F22CD48CF0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02D509A-A69D-8F5C-B819-F4D055E49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A4F6B7D-0FB7-DF39-8890-0E81C11A1B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CEDFA4E-D9CD-18F1-AC3A-96CEF7CA4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7516FC6-D51B-417F-6305-E8F4CE7C77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844FD67-CE7F-0293-D2DA-D30F61D3B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9E1ACBE-0918-EE5A-3D49-C60926A1E87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8DE7B26-52CD-BE7F-1FE8-A81FCA9C0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9A3652F-DDE6-B93F-E7F5-72E2619955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669684C-374C-DC9B-7824-B25B9B8DC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C28A82D-4448-5C16-CCC1-13CD53630F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144962E-9A64-9195-6214-C56864096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056D04A-29E3-1263-3FD7-87DF1BB39E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07A1E1B-3B43-546C-DB68-05B5BDB5A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31479C7-311C-51A4-FEE2-24BA2F4954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B975FD7-9891-8A48-FE59-3911DF592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8B8512F-DE94-462F-CCBF-1C36AC6F30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5A897ED-6C9C-4F9D-0DCE-9C4DA4D9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EB612BE-B35E-8394-5CFE-61F6902B1F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3620803-534A-6659-9BA2-43FAB2CBC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EE1F384-5131-6C34-DB73-66B2B5A23D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E7CCA2B-8A12-C2F6-4F6F-B3C585652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16368BE-3C35-77D6-6878-C67749D7B5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5DCD7CB-14AC-D962-2E8A-6E8056088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4FF5D4A-E27A-6FB1-C77A-6B883D29C9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C5276C6-3348-41F0-FB02-EF406AB24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E4481A7-3C47-CB3C-814E-825D624C34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ED18D45-3756-73EE-3603-0DA3428BA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B25D0EB-A6A2-C142-0152-F3FA4F6690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9B31FCE-A30A-8564-AC9D-29A9414EA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ED0225F-21F2-AE08-ADA2-1DEF6D2B89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E482A37-1BAF-A954-D63B-5099A450F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6B7C74D-BD59-12D0-8AC9-B1C539AB72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F74BABD-2785-02EE-3A2A-2ED5E301C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60FB326-9068-1BFC-29EA-A778C17BA3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97F10EA-F4CB-60D7-3CF8-A54BB94CE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9A7142D-4695-D5E0-BCA3-52D69BBFB8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84C9575-A820-0B1E-6F75-AE744F979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8CA5219-9523-E817-4CD7-73EF85C77E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21DD0B55-8E7B-6308-5C65-117E1F334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790CF1C-F4C7-B3D4-187A-BD6191DFB1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0397CEB-2F62-BF45-D176-44A9D67FC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1BD7A92-9DA2-CABD-2519-C9FE8EFCEE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F051995-CD37-B30D-D97C-2D69698B1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1B6D190-7DB7-E0FA-B590-73D2304176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2713D72-36FF-5D88-869D-EE23913E4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0206434-2B5D-0BDB-9A2E-A4D710EF8C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9F6A58D-EFA0-862C-3C5D-57E4131FD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908FDF-0C16-2E85-ABB8-5E2742AA9A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F73AAE8-2138-94E2-A166-E384D7D50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8DE51FC-DD4B-1B62-ACC0-F5E7DF3038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6CC302B-82C8-AD20-6EAE-0A80F18A6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F8E2B993-5463-DCD0-FE23-8E24904684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B1C3214-16DF-1DD3-363E-A43A1C71B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84774C1-1773-574E-36DF-CBECC1BE61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19312DF-F7AE-9E08-AAD0-6E31DE88A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ADF0B78-6893-1524-072F-018DB2BAE2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34646C0-4D0A-7AB5-027D-2F321F2D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96D991B-53EC-EB59-0FA3-0A00FD42BC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E2D6DA4-2101-6B15-A300-51C5DB59B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1A7D1AF-BA88-A45D-39C6-B40D6564ED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576E969-C048-E764-032B-906A059DE3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BF72559-EAEB-DE74-55C5-79C15C3BD8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00E708F-700A-61D1-5663-698E72C7C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415EB39-8B6F-B086-FD05-9C1023E8D9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1E5FB0C-04C8-8CD9-22B2-0E40FB92B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690EDE1-EE2D-4118-652F-8914AC8076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776F3EA-2529-F2BE-7E59-F71DBBFCF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C7E5-578D-707A-E75B-6717E950E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7EBA0-C42B-AAF5-C294-D6C4CBD30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8A95-9CA8-B634-84C2-C14DC438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4801F-2FC0-EF83-BB00-F363C56F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590E1-7F42-69C7-8822-1B8819D8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81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5806-8A45-0C4A-55F5-C3CCA812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326E0-289C-AD19-DAA3-D5729A27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B9975-8C28-DE28-F3C7-52970C21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08576-8D18-F9F7-4358-64280A22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5F3E-4EDC-C3B5-D77D-8B1668A2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22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3EA4-8643-00F1-EBAC-9C76D0C6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213BE-DA9E-1FBF-C2A9-D47611A78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4EFC-CF02-95B0-0B5A-2E5F4669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B5E0B-06E2-0145-9BFB-1F833DA7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B34DA-AEB0-2691-064B-6ACEF067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8332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B230-2B75-E1A8-F4BF-37966598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124F-022C-0C6D-2930-E022B0BAA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69D62-2D87-4233-AABF-28BFF3F28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441F8-8A57-2B80-B466-0ABA9D27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9AA4F-15A3-156E-B357-0DD0959D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C12CB-F4BA-DE65-76E4-55987D2D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931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45E3-AF4A-6501-DE8F-E6EBEBB8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E41B0-9464-3E43-6B67-2D83E6791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F959C-2BE2-D170-57EC-06E14401E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8F353-12F3-9A0B-C42A-DB543AA7A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4C762-B3D8-A19D-92F2-A824580EF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23E4EA-842C-D83F-AC90-539FE373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D35C6A-1F2A-09AA-133B-F61C554A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75E16-5690-8318-2FEC-6BB1A374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4105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E3B9-DBF0-FE8B-9EFB-164F83FD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524FE-FCC3-05BA-D357-7CC792D4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04E79-C730-FBBB-E636-10EEC00B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71C46-20C5-BC1E-2FBE-26B5692B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604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4048D-791B-8280-A443-7FCF31C5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4EEC1-46DF-77A0-2FD0-A896E860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B013C-1DC9-2F4C-8317-8E25C468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878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33D8-D162-F7EF-47CB-8AB1BDB3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C48A3-A0FD-18BD-BFCD-4920EAC0F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43DA4-F998-A8A4-A128-CC0F92D78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50848-D983-36F7-443B-C4F73C54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5AFF2-A1F3-09FD-5068-AE768383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146F2-69C9-6BA7-1148-56E605AD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6196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BF25-70E9-3BD5-B5AE-E26A0533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9BFD6-950C-5005-AC01-30938A650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0F808-DEB0-8676-D486-AC6DDD548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B58D2-F05E-FC80-74C3-74584C81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F7204-8A77-6363-946C-8A6C1F11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F81E4-CFDD-BD96-C9B0-B4F365A5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06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24DC-F116-3DC8-B03F-BE61F9F4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EC2C6-EF73-2C63-6D09-498877E2D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D450-962F-E304-5D1A-A261EF29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A2300-5B6C-D176-D84A-A2944B9A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6380-D14D-C312-21C2-9082AEF4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401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C492B-6660-1349-99BB-F42DEE5FF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BD39C-1A4B-94BC-4A67-E925214F6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F3DEB-2967-239C-31A1-DDB8701E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819A2-76F4-6206-16AD-6C0213F1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4A5A2-A689-A235-46E2-8E24570D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0253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E2E7-B85A-041D-68B9-F7BCB39441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CFF5-3755-EB72-2E89-716E1EAA0F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DAC52B-876D-455B-8C19-1574AE67B23B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9672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D8F4E-7518-0A2B-B49F-F1E1E5D8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D6EFD-2BF4-CAFC-029C-93D1D736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66ECE-D65B-E024-C129-85C667F02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D6E45-8AB5-4853-8ABA-EC64E05F9627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E697E-D5D4-9F08-F73E-FE9782B9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6578-756B-CC59-CFC4-5AB5C2DA5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76DFC-BA21-4002-9510-5285C1832C6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63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668C-5634-12C5-4C94-A6118EFDD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Entity Relationship Modeling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9D425-31D2-EF2B-5A35-86A819E5F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8</a:t>
            </a:r>
          </a:p>
          <a:p>
            <a:r>
              <a:rPr lang="en-US" dirty="0"/>
              <a:t>Prepared by: Engr. Ryan D. Francisco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8739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A1689461-A14C-487A-C085-F54D105E9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>
                <a:ea typeface="ＭＳ Ｐゴシック" panose="020B0600070205080204" pitchFamily="34" charset="-128"/>
              </a:rPr>
              <a:t>4.1 </a:t>
            </a:r>
            <a:r>
              <a:rPr lang="en-US" altLang="tr-TR">
                <a:ea typeface="ＭＳ Ｐゴシック" panose="020B0600070205080204" pitchFamily="34" charset="-128"/>
              </a:rPr>
              <a:t>The Entity Relationship Model (ERM)</a:t>
            </a:r>
          </a:p>
        </p:txBody>
      </p:sp>
      <p:sp>
        <p:nvSpPr>
          <p:cNvPr id="10243" name="Rectangle 1027">
            <a:extLst>
              <a:ext uri="{FF2B5EF4-FFF2-40B4-BE49-F238E27FC236}">
                <a16:creationId xmlns:a16="http://schemas.microsoft.com/office/drawing/2014/main" id="{B7942985-782E-F670-C212-173EA5A0D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ER model forms the basis of an ER diagram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ERD represents conceptual database as viewed by end user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ERDs depict database’s main components: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Entities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Attributes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Relationships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BD8EDB99-4A69-F158-9498-47746BC28D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1C9BAD00-A6BA-11A7-CA4F-33C6F2132F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8ECE3A-E07D-43DC-AA27-503413A2D9D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8">
            <a:extLst>
              <a:ext uri="{FF2B5EF4-FFF2-40B4-BE49-F238E27FC236}">
                <a16:creationId xmlns:a16="http://schemas.microsoft.com/office/drawing/2014/main" id="{6BFF62CC-7C53-09EA-755E-AEE950D18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Entities</a:t>
            </a:r>
          </a:p>
        </p:txBody>
      </p:sp>
      <p:sp>
        <p:nvSpPr>
          <p:cNvPr id="12291" name="Rectangle 1029">
            <a:extLst>
              <a:ext uri="{FF2B5EF4-FFF2-40B4-BE49-F238E27FC236}">
                <a16:creationId xmlns:a16="http://schemas.microsoft.com/office/drawing/2014/main" id="{5FCB1545-D7EC-CB71-5689-59C95E43C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Refers to entity set and not to single entity occurrence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Corresponds to table and not to row in relational environment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In Chen and Crow’s Foot models, entity is represented by rectangle with entity’s name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The entity name, a noun, is written in capital letters</a:t>
            </a:r>
          </a:p>
        </p:txBody>
      </p:sp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A4E07E9C-724A-6F14-BEB4-381885C9F4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788EFE94-069B-A7F2-B471-2A5CC81A7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B89A0B-7F93-4C31-B659-919418E7B46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039D2BCD-7729-6EAF-CC02-1BA7A69FD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90D67EF8-5F9F-E0AE-D384-6B52B260E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Characteristics of entities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Chen notation: attributes represented by ovals connected to entity rectangle with a line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Each oval contains the name of attribute it represents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Crow’s Foot notation: attributes written in attribute box below entity rectangle</a:t>
            </a:r>
          </a:p>
        </p:txBody>
      </p:sp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FFE91D30-7833-A542-9526-98FE65A19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5723BE46-903C-B484-3E98-718DD8B82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4F678E-343E-4133-BE19-85ADF5048A0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E8D991F8-8C5B-5C57-6BD9-CC4BCA0AC1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B60B8063-71B6-176A-94B8-48DB3F4992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FA5596-22F2-4A4F-9863-EDB0F5BE2A5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6388" name="Picture 5" descr="G:\DBSystems\Figures\C7888_04\C7888_04\Fig04-01.bmp">
            <a:extLst>
              <a:ext uri="{FF2B5EF4-FFF2-40B4-BE49-F238E27FC236}">
                <a16:creationId xmlns:a16="http://schemas.microsoft.com/office/drawing/2014/main" id="{F5307CA5-F48A-3F52-5432-3E281A6B1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6" y="381000"/>
            <a:ext cx="79914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Resim 1">
            <a:extLst>
              <a:ext uri="{FF2B5EF4-FFF2-40B4-BE49-F238E27FC236}">
                <a16:creationId xmlns:a16="http://schemas.microsoft.com/office/drawing/2014/main" id="{4E285676-6B08-CC25-DBCA-5864E793B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3863976"/>
            <a:ext cx="814705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523B492-336F-E132-219B-94832A66F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A6EA641-0602-C032-C12B-5CF4E82BE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0"/>
            <a:ext cx="8382000" cy="4572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Required attribute: must have a value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Optional attribute: may be left empty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Domain: set of possible values for an attribute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For example, the domain for the grade point average (GPA) attribute is written (0,4) because the lowest possible GPA value is 0 and the highest possible value is 4. 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Identifiers: one or more attributes that uniquely identify each entity instance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Composite identifier: primary key composed of more than one attribute</a:t>
            </a: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4A87C4A6-584C-B0CD-41C7-C83904C002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568A0169-CDB6-A480-B557-5F2974361C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C56146-B54A-43F4-AC31-B8A96C88D208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C4D496A-6DD8-6921-EF12-0147E16B2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Identifiers</a:t>
            </a:r>
            <a:r>
              <a:rPr lang="tr-TR" altLang="tr-TR">
                <a:ea typeface="ＭＳ Ｐゴシック" panose="020B0600070205080204" pitchFamily="34" charset="-128"/>
              </a:rPr>
              <a:t> (primary keys)</a:t>
            </a:r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3CAC03B-51AA-BFBD-A8D0-874926403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0"/>
            <a:ext cx="8382000" cy="4572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Identifiers: one or more attributes that uniquely identify each entity instance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Composite identifier: primary key composed of more than one attribute</a:t>
            </a: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089FA6E9-FE15-1782-7D9B-F781B090C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9632A296-B6DF-2C6A-5C88-C27259439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A6D6A3-9400-4410-B261-DDF9316AFBE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486" name="Resim 1">
            <a:extLst>
              <a:ext uri="{FF2B5EF4-FFF2-40B4-BE49-F238E27FC236}">
                <a16:creationId xmlns:a16="http://schemas.microsoft.com/office/drawing/2014/main" id="{D7F1F258-BC25-2DDA-62D6-68BBBF1DB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3222626"/>
            <a:ext cx="8199438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Resim 2">
            <a:extLst>
              <a:ext uri="{FF2B5EF4-FFF2-40B4-BE49-F238E27FC236}">
                <a16:creationId xmlns:a16="http://schemas.microsoft.com/office/drawing/2014/main" id="{02BF3A02-C95B-3B80-3BB9-A02980E58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4" y="4883151"/>
            <a:ext cx="76612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F2595219-9334-1586-A867-2090D4DA1A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E747A2F8-BDDD-521B-DCDE-E10727AD68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FF0846-6F73-4188-B776-C42CB2CD83B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2" name="Picture 4" descr="Fig04-02.bmp">
            <a:extLst>
              <a:ext uri="{FF2B5EF4-FFF2-40B4-BE49-F238E27FC236}">
                <a16:creationId xmlns:a16="http://schemas.microsoft.com/office/drawing/2014/main" id="{896E3F36-2F49-A733-91B8-2B85FB5D5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228600"/>
            <a:ext cx="8355013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Resim 1">
            <a:extLst>
              <a:ext uri="{FF2B5EF4-FFF2-40B4-BE49-F238E27FC236}">
                <a16:creationId xmlns:a16="http://schemas.microsoft.com/office/drawing/2014/main" id="{346C6E12-9894-69B3-4B97-10B879319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4343400"/>
            <a:ext cx="8450263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078225BA-F4EB-84B2-7604-97EF527F39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639D6492-9E54-4459-8AA0-8E9D17788A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60FA97-2697-4BD6-8301-EEBA0FB41EE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80" name="Picture 4" descr="Fig04-02.bmp">
            <a:extLst>
              <a:ext uri="{FF2B5EF4-FFF2-40B4-BE49-F238E27FC236}">
                <a16:creationId xmlns:a16="http://schemas.microsoft.com/office/drawing/2014/main" id="{3CC33A24-D225-8A31-114F-164CB0175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228600"/>
            <a:ext cx="8355013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Resim 2">
            <a:extLst>
              <a:ext uri="{FF2B5EF4-FFF2-40B4-BE49-F238E27FC236}">
                <a16:creationId xmlns:a16="http://schemas.microsoft.com/office/drawing/2014/main" id="{89F57DD8-E386-4DA6-1519-8147BDDF1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565650"/>
            <a:ext cx="8528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582" name="Düz Bağlayıcı 4">
            <a:extLst>
              <a:ext uri="{FF2B5EF4-FFF2-40B4-BE49-F238E27FC236}">
                <a16:creationId xmlns:a16="http://schemas.microsoft.com/office/drawing/2014/main" id="{9B34480C-3763-16CF-1054-353B1AAF82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0400" y="1066800"/>
            <a:ext cx="1143000" cy="2971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583" name="Düz Bağlayıcı 6">
            <a:extLst>
              <a:ext uri="{FF2B5EF4-FFF2-40B4-BE49-F238E27FC236}">
                <a16:creationId xmlns:a16="http://schemas.microsoft.com/office/drawing/2014/main" id="{0B681F90-9E37-D5BB-EE7D-502C3603984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52800" y="1066800"/>
            <a:ext cx="990600" cy="3124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7BFF4F9-1042-DA2C-9EA9-ABF6B6A95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9F03F9F-C294-3B04-3730-967A9F714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77200" cy="4572000"/>
          </a:xfrm>
        </p:spPr>
        <p:txBody>
          <a:bodyPr/>
          <a:lstStyle/>
          <a:p>
            <a:pPr>
              <a:defRPr/>
            </a:pPr>
            <a:r>
              <a:rPr lang="en-US" altLang="tr-TR" dirty="0">
                <a:ea typeface="ＭＳ Ｐゴシック" panose="020B0600070205080204" pitchFamily="34" charset="-128"/>
              </a:rPr>
              <a:t>Composite attribute can be subdivided</a:t>
            </a:r>
          </a:p>
          <a:p>
            <a:pPr>
              <a:defRPr/>
            </a:pPr>
            <a:r>
              <a:rPr lang="en-US" altLang="tr-TR" dirty="0">
                <a:ea typeface="ＭＳ Ｐゴシック" panose="020B0600070205080204" pitchFamily="34" charset="-128"/>
              </a:rPr>
              <a:t>Simple attribute cannot be subdivided</a:t>
            </a:r>
          </a:p>
          <a:p>
            <a:pPr marL="0" indent="0">
              <a:buNone/>
              <a:defRPr/>
            </a:pP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3E976BF8-10D8-3E79-F86E-3DBE97585D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13802464-A57E-41C1-3240-B10D0D209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89D8E2-7103-4479-8011-A0567A22300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630" name="Resim 1">
            <a:extLst>
              <a:ext uri="{FF2B5EF4-FFF2-40B4-BE49-F238E27FC236}">
                <a16:creationId xmlns:a16="http://schemas.microsoft.com/office/drawing/2014/main" id="{78C99769-F4E2-F998-22AF-09EECF92B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2438400"/>
            <a:ext cx="81835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7346192-34DD-EB8B-2239-41CD8FA07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A87767E-9DB4-A5D4-D1EE-AE2230B9A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24000"/>
            <a:ext cx="8077200" cy="47244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Single-value attribute can have only a single value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Multivalued attributes can have many values</a:t>
            </a:r>
          </a:p>
          <a:p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E47284B4-5D49-7BB8-307B-89E7F0D68E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BF88B65B-744F-E2DE-DCDB-497551C853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9A8891-5D3A-479C-B898-C0B2BB3CB87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8678" name="Resim 1">
            <a:extLst>
              <a:ext uri="{FF2B5EF4-FFF2-40B4-BE49-F238E27FC236}">
                <a16:creationId xmlns:a16="http://schemas.microsoft.com/office/drawing/2014/main" id="{1B807F3B-FF4A-22F8-774E-B22793351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3048000"/>
            <a:ext cx="828516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E37D541-F393-7686-AF1D-630A5C2E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077200" cy="609600"/>
          </a:xfrm>
        </p:spPr>
        <p:txBody>
          <a:bodyPr>
            <a:normAutofit fontScale="90000"/>
          </a:bodyPr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FFFF7478-37C7-2747-2775-3A47BF2BBE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EB8663FC-7680-C87F-A02D-F8A380998B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829C17-C388-4C2D-8A4E-8F6A5C5C605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25" name="Picture 4" descr="Fig04-03.bmp">
            <a:extLst>
              <a:ext uri="{FF2B5EF4-FFF2-40B4-BE49-F238E27FC236}">
                <a16:creationId xmlns:a16="http://schemas.microsoft.com/office/drawing/2014/main" id="{BC231A6B-E718-EA70-F1F6-C3425BDF0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4" y="1004888"/>
            <a:ext cx="76485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Resim 2">
            <a:extLst>
              <a:ext uri="{FF2B5EF4-FFF2-40B4-BE49-F238E27FC236}">
                <a16:creationId xmlns:a16="http://schemas.microsoft.com/office/drawing/2014/main" id="{337B9797-6930-3047-87A6-E6CE7336B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4" y="3927476"/>
            <a:ext cx="847407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>
            <a:extLst>
              <a:ext uri="{FF2B5EF4-FFF2-40B4-BE49-F238E27FC236}">
                <a16:creationId xmlns:a16="http://schemas.microsoft.com/office/drawing/2014/main" id="{AFDD9B9B-B87E-CE8C-F767-F02318A90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CD0260C5-4D06-5508-BEB4-082C439E7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tr-TR" dirty="0">
                <a:ea typeface="ＭＳ Ｐゴシック" panose="020B0600070205080204" pitchFamily="34" charset="-128"/>
              </a:rPr>
              <a:t>M:N relationships and multivalued attributes should not be implemented</a:t>
            </a:r>
          </a:p>
          <a:p>
            <a:pPr lvl="1">
              <a:defRPr/>
            </a:pPr>
            <a:r>
              <a:rPr lang="en-US" altLang="tr-TR" dirty="0">
                <a:ea typeface="ＭＳ Ｐゴシック" panose="020B0600070205080204" pitchFamily="34" charset="-128"/>
              </a:rPr>
              <a:t>Create new entity composed of original multivalued attributes’ components</a:t>
            </a:r>
          </a:p>
          <a:p>
            <a:pPr marL="0" indent="0">
              <a:buNone/>
              <a:defRPr/>
            </a:pP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99CA4085-0FA0-DCA2-B8B6-01B97AABEC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095F3EEF-16C1-CF81-8535-11700DD954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6E4FB4-6896-416D-A5C0-A05C3328503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26341292-CD16-D469-6D03-C0DBB17C18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4819" name="Slayt Numarası Yer Tutucusu 4">
            <a:extLst>
              <a:ext uri="{FF2B5EF4-FFF2-40B4-BE49-F238E27FC236}">
                <a16:creationId xmlns:a16="http://schemas.microsoft.com/office/drawing/2014/main" id="{5C7D262C-9EEF-508D-DA80-4F63B16293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C2EB86-C844-483C-9339-1CC0E518367D}" type="slidenum">
              <a:rPr lang="en-US" altLang="tr-TR">
                <a:latin typeface="Times New Roman" panose="02020603050405020304" pitchFamily="18" charset="0"/>
              </a:rPr>
              <a:pPr/>
              <a:t>14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34820" name="Resim 5">
            <a:extLst>
              <a:ext uri="{FF2B5EF4-FFF2-40B4-BE49-F238E27FC236}">
                <a16:creationId xmlns:a16="http://schemas.microsoft.com/office/drawing/2014/main" id="{63A741A2-BEAE-7C7A-8F67-FE5EC17C5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28600"/>
            <a:ext cx="8732838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>
            <a:extLst>
              <a:ext uri="{FF2B5EF4-FFF2-40B4-BE49-F238E27FC236}">
                <a16:creationId xmlns:a16="http://schemas.microsoft.com/office/drawing/2014/main" id="{209D4045-6EA8-A159-0774-FF01BCD26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Attributes (cont’d.)</a:t>
            </a:r>
          </a:p>
        </p:txBody>
      </p:sp>
      <p:sp>
        <p:nvSpPr>
          <p:cNvPr id="35843" name="Rectangle 1027">
            <a:extLst>
              <a:ext uri="{FF2B5EF4-FFF2-40B4-BE49-F238E27FC236}">
                <a16:creationId xmlns:a16="http://schemas.microsoft.com/office/drawing/2014/main" id="{09104C49-C649-899F-D60B-86376743C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8188" y="1219200"/>
            <a:ext cx="8077200" cy="4572000"/>
          </a:xfrm>
        </p:spPr>
        <p:txBody>
          <a:bodyPr/>
          <a:lstStyle/>
          <a:p>
            <a:pPr marL="514350" indent="-457200"/>
            <a:r>
              <a:rPr lang="en-US" altLang="tr-TR">
                <a:ea typeface="ＭＳ Ｐゴシック" panose="020B0600070205080204" pitchFamily="34" charset="-128"/>
              </a:rPr>
              <a:t>A derived attribute is an attribute whose value is calculated (derived) from other attributes. </a:t>
            </a:r>
            <a:endParaRPr lang="tr-TR" altLang="tr-TR">
              <a:ea typeface="ＭＳ Ｐゴシック" panose="020B0600070205080204" pitchFamily="34" charset="-128"/>
            </a:endParaRPr>
          </a:p>
          <a:p>
            <a:pPr marL="514350" indent="-457200"/>
            <a:r>
              <a:rPr lang="en-US" altLang="tr-TR">
                <a:ea typeface="ＭＳ Ｐゴシック" panose="020B0600070205080204" pitchFamily="34" charset="-128"/>
              </a:rPr>
              <a:t>The derived attribute need not be physically stored within the database; instead, it can be derived by using an algorithm. </a:t>
            </a:r>
          </a:p>
        </p:txBody>
      </p:sp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5A0FF693-159C-3C90-4474-86FB3CED8E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2AC3E0FE-C025-1E5F-627B-08B4A15F3A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B944C2-9F03-45D3-8E99-6CCDA0AB70E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5" descr="Fig04-06.bmp">
            <a:extLst>
              <a:ext uri="{FF2B5EF4-FFF2-40B4-BE49-F238E27FC236}">
                <a16:creationId xmlns:a16="http://schemas.microsoft.com/office/drawing/2014/main" id="{7305373C-889E-1638-826B-522E76F52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"/>
            <a:ext cx="726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Footer Placeholder 4">
            <a:extLst>
              <a:ext uri="{FF2B5EF4-FFF2-40B4-BE49-F238E27FC236}">
                <a16:creationId xmlns:a16="http://schemas.microsoft.com/office/drawing/2014/main" id="{86AD1E6F-4B98-D85B-A24F-3EF4AD2483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12963" y="6283325"/>
            <a:ext cx="3886200" cy="6096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F69F5AAB-50BB-A9DA-5F64-A4BCA214F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7C2F50-3D3B-4172-9916-32258521CFA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Dikdörtgen 1">
            <a:extLst>
              <a:ext uri="{FF2B5EF4-FFF2-40B4-BE49-F238E27FC236}">
                <a16:creationId xmlns:a16="http://schemas.microsoft.com/office/drawing/2014/main" id="{2A212901-59AF-D89C-123F-666DA5965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4" y="3425825"/>
            <a:ext cx="802163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tr-TR" sz="2400"/>
              <a:t>For example, an employee’s age, EMP_AGE, may be found by computing the integer value of the difference between the current date and the EMP_DOB. </a:t>
            </a:r>
            <a:endParaRPr lang="tr-TR" altLang="tr-TR" sz="2400"/>
          </a:p>
          <a:p>
            <a:r>
              <a:rPr lang="en-US" altLang="tr-TR" sz="2400"/>
              <a:t>If you use Microsoft Access, you would use the formula INT((DATE() – EMP_DOB)/365).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Footer Placeholder 4">
            <a:extLst>
              <a:ext uri="{FF2B5EF4-FFF2-40B4-BE49-F238E27FC236}">
                <a16:creationId xmlns:a16="http://schemas.microsoft.com/office/drawing/2014/main" id="{C506E354-F505-611E-3804-AD678F06CF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BBBA4D5E-1AB9-1788-DFCB-7750D1610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2D0069-1BDD-4779-A842-B9662518D1D5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940" name="Picture 6" descr="G:\DBSystems\Figures\C7888_04\C7888_04\Tbl04-02.bmp">
            <a:extLst>
              <a:ext uri="{FF2B5EF4-FFF2-40B4-BE49-F238E27FC236}">
                <a16:creationId xmlns:a16="http://schemas.microsoft.com/office/drawing/2014/main" id="{3C886EA7-86C2-1F27-B985-D30C8C2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838200"/>
            <a:ext cx="84518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70C418E-D41F-892A-04A3-0D8645387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Connectivity and Cardinality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7C5F44-A929-FF6C-6CDB-378FFE498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Connectivity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Describes the relationship classification</a:t>
            </a:r>
            <a:r>
              <a:rPr lang="tr-TR" altLang="tr-TR">
                <a:ea typeface="ＭＳ Ｐゴシック" panose="020B0600070205080204" pitchFamily="34" charset="-128"/>
              </a:rPr>
              <a:t>: 1:1 or 1:M or M:N</a:t>
            </a:r>
            <a:endParaRPr lang="en-US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Cardinality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Expresses minimum and maximum number of entity occurrences associated with one occurrence of related entity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Established by very concise statements known as business rules</a:t>
            </a:r>
          </a:p>
        </p:txBody>
      </p:sp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1C06CC31-3802-9861-3D5F-6A6D2B2E2A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318A7706-92DC-B3C6-35DF-42E6703DBE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2D7C2B-B6D7-46A4-B546-0C1003466E8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 descr="Fig04-07.bmp">
            <a:extLst>
              <a:ext uri="{FF2B5EF4-FFF2-40B4-BE49-F238E27FC236}">
                <a16:creationId xmlns:a16="http://schemas.microsoft.com/office/drawing/2014/main" id="{6C826E57-7B2D-2082-BD11-9268EC3EF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586740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68B1FCCB-33FC-FB41-508E-B5495A8C65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C576DBE5-7C0C-2238-F8EC-BF2D9273D3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BB8FBD-A342-428E-BB60-66F1FFA7388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4037" name="Resim 1">
            <a:extLst>
              <a:ext uri="{FF2B5EF4-FFF2-40B4-BE49-F238E27FC236}">
                <a16:creationId xmlns:a16="http://schemas.microsoft.com/office/drawing/2014/main" id="{BFE19AE3-3210-6246-DB31-0906A540F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860800"/>
            <a:ext cx="8123238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912AB57-37D2-CB82-09C2-605887E12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Existence Dependence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48A73EE-3E2A-0626-7BAA-76736199C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Existence dependence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means that an instance of one entity cannot exist without the existence of some other related entity.</a:t>
            </a:r>
            <a:endParaRPr lang="tr-TR" altLang="en-US">
              <a:ea typeface="ＭＳ Ｐゴシック" panose="020B0600070205080204" pitchFamily="34" charset="-128"/>
            </a:endParaRPr>
          </a:p>
          <a:p>
            <a:pPr lvl="1"/>
            <a:r>
              <a:rPr lang="tr-TR" altLang="en-US">
                <a:ea typeface="ＭＳ Ｐゴシック" panose="020B0600070205080204" pitchFamily="34" charset="-128"/>
              </a:rPr>
              <a:t>Ex: Transactions are existence dependent on accounts.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Existence independence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Entity can exist apart from one or more related entities</a:t>
            </a:r>
          </a:p>
        </p:txBody>
      </p:sp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2AA52DCF-D2CC-F196-A97C-86936646AA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FC717ACB-DB36-51E6-5CBB-0CBFF4C0E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A2150B-7F77-4C05-99F0-517EE32DF5E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B3931AB-43A8-8B2B-5B89-B8BC65CE1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 Strength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0EADA9E-C560-8A9A-4BEE-5B5FF50EA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Weak (non-identifying) relationships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Exists if PK of related entity does not contain PK component of parent entity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Strong (identifying) relationships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Exists when PK of related entity contains PK component of parent entity</a:t>
            </a:r>
          </a:p>
        </p:txBody>
      </p:sp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E2EB6FDE-135A-8F86-A707-5AEB2C92B1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FC3729B8-DF56-9A4D-66C9-C87A33208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395AA5-0163-4448-91D1-9AB40F8BC77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804893B-1E51-80A6-BE95-EE94FDF830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0179" name="Slayt Numarası Yer Tutucusu 5">
            <a:extLst>
              <a:ext uri="{FF2B5EF4-FFF2-40B4-BE49-F238E27FC236}">
                <a16:creationId xmlns:a16="http://schemas.microsoft.com/office/drawing/2014/main" id="{73FE2439-2447-1410-5B52-956E2320F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A8B523-6189-4662-BC82-E810A36FD82A}" type="slidenum">
              <a:rPr lang="en-US" altLang="tr-TR">
                <a:latin typeface="Times New Roman" panose="02020603050405020304" pitchFamily="18" charset="0"/>
              </a:rPr>
              <a:pPr/>
              <a:t>22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50180" name="Resim 6">
            <a:extLst>
              <a:ext uri="{FF2B5EF4-FFF2-40B4-BE49-F238E27FC236}">
                <a16:creationId xmlns:a16="http://schemas.microsoft.com/office/drawing/2014/main" id="{71BADB1C-0D8B-1EFA-622E-50BFAEB80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50" y="1295400"/>
            <a:ext cx="80851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4" descr="Fig04-08.bmp">
            <a:extLst>
              <a:ext uri="{FF2B5EF4-FFF2-40B4-BE49-F238E27FC236}">
                <a16:creationId xmlns:a16="http://schemas.microsoft.com/office/drawing/2014/main" id="{A8A8BF6D-7E6E-55E4-7A3A-22824D072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2400"/>
            <a:ext cx="5861050" cy="558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Footer Placeholder 4">
            <a:extLst>
              <a:ext uri="{FF2B5EF4-FFF2-40B4-BE49-F238E27FC236}">
                <a16:creationId xmlns:a16="http://schemas.microsoft.com/office/drawing/2014/main" id="{E4B418F2-508A-933E-2909-FEC2BAE9EA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51204" name="Slide Number Placeholder 5">
            <a:extLst>
              <a:ext uri="{FF2B5EF4-FFF2-40B4-BE49-F238E27FC236}">
                <a16:creationId xmlns:a16="http://schemas.microsoft.com/office/drawing/2014/main" id="{6B369587-29FE-78FF-A965-D655369D2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F0B1B7-EE57-4FAF-8D15-2215BE60549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C2387C9C-4BAB-CE29-C79C-D8FC1F8CE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3251" name="Slayt Numarası Yer Tutucusu 5">
            <a:extLst>
              <a:ext uri="{FF2B5EF4-FFF2-40B4-BE49-F238E27FC236}">
                <a16:creationId xmlns:a16="http://schemas.microsoft.com/office/drawing/2014/main" id="{87D7A1F5-64A9-4DAB-F517-1B30E7964C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7D8046-D77F-41EC-8CE9-821D57D2C766}" type="slidenum">
              <a:rPr lang="en-US" altLang="tr-TR">
                <a:latin typeface="Times New Roman" panose="02020603050405020304" pitchFamily="18" charset="0"/>
              </a:rPr>
              <a:pPr/>
              <a:t>24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53252" name="Resim 6">
            <a:extLst>
              <a:ext uri="{FF2B5EF4-FFF2-40B4-BE49-F238E27FC236}">
                <a16:creationId xmlns:a16="http://schemas.microsoft.com/office/drawing/2014/main" id="{8832A99F-E0A3-A443-3D20-16A557DD2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914400"/>
            <a:ext cx="8153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4" descr="Fig04-09.bmp">
            <a:extLst>
              <a:ext uri="{FF2B5EF4-FFF2-40B4-BE49-F238E27FC236}">
                <a16:creationId xmlns:a16="http://schemas.microsoft.com/office/drawing/2014/main" id="{5A66C577-7EDF-17CA-AB33-4A8C868FA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384175"/>
            <a:ext cx="6416675" cy="570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3E882165-0A18-40A5-133C-3BEE03F00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3928B1B7-62DE-D025-8E5C-7E813F6B49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1ED6AB-58DB-412B-B7EF-5B7184967DE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19F1660-CDFF-1DA7-F5DE-B1B424448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Weak Entities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E528F25-381C-9981-B149-184326253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Weak entity meets two conditions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Existence-dependent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Primary key partially or totally derived from parent entity in relationship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Database designer determines whether an entity is weak based on business rules</a:t>
            </a:r>
          </a:p>
        </p:txBody>
      </p:sp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75235DFC-BF65-1230-011A-D4ED690CF5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6325" name="Slide Number Placeholder 4">
            <a:extLst>
              <a:ext uri="{FF2B5EF4-FFF2-40B4-BE49-F238E27FC236}">
                <a16:creationId xmlns:a16="http://schemas.microsoft.com/office/drawing/2014/main" id="{99C27057-A57B-2A56-1E15-762B437216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7C10BE-9EE5-452A-8617-6F971BEB4A1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F1B29F9-8C33-1A5A-F7FB-DF75EEF51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 Participation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FD57879-B880-FA8E-7D96-68408C7E7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Optional participation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One entity occurrence does not require corresponding entity occurrence in particular relationship</a:t>
            </a:r>
            <a:endParaRPr lang="tr-TR" altLang="tr-TR">
              <a:ea typeface="ＭＳ Ｐゴシック" panose="020B0600070205080204" pitchFamily="34" charset="-128"/>
            </a:endParaRP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Mandatory participation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One entity occurrence requires corresponding entity occurrence in particular relationship</a:t>
            </a:r>
          </a:p>
        </p:txBody>
      </p:sp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A1B53DD2-859E-A2A1-FE3D-BDFA09203E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EA34B97A-5929-E21B-84D1-C217565CFB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086F65-80FB-414B-9514-E972C547B92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E65212E-3B2D-D6DF-5D33-ECF395C16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Optional participation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E9CC8FF-7AAF-EFC6-2BC9-6380A509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For example, in the “COURSE generates CLASS” relationship, at least some courses do not generate a class. </a:t>
            </a:r>
            <a:endParaRPr lang="tr-TR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In other words, an entity occurrence (row) in the COURSE table does not necessarily require the existence of a corresponding entity occurrence in the CLASS table. </a:t>
            </a:r>
            <a:endParaRPr lang="tr-TR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Therefore, the CLASS entity is considered to be optional to the COURSE entity</a:t>
            </a:r>
          </a:p>
        </p:txBody>
      </p:sp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03056C30-FE9F-3758-3E44-E37BE710EA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0127DF78-0A74-45C3-DDCD-B3F6DA5419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0F41F5-0571-480E-BEBB-EC159726575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E3C28BBE-B86D-7E37-0F25-0124186BCA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DAC62E19-9826-1351-F905-6D924A8C5D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B8E65B-3B10-48ED-AD63-87502ABC061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Picture 5" descr="G:\DBSystems\Figures\C7888_04\C7888_04\Tbl04-03.bmp">
            <a:extLst>
              <a:ext uri="{FF2B5EF4-FFF2-40B4-BE49-F238E27FC236}">
                <a16:creationId xmlns:a16="http://schemas.microsoft.com/office/drawing/2014/main" id="{35B1536D-4DAD-D5B5-D0C5-819D7DF9E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52600"/>
            <a:ext cx="78835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Unvan 1">
            <a:extLst>
              <a:ext uri="{FF2B5EF4-FFF2-40B4-BE49-F238E27FC236}">
                <a16:creationId xmlns:a16="http://schemas.microsoft.com/office/drawing/2014/main" id="{1798A1E5-E487-734D-271C-CFB6A3C3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>
                <a:ea typeface="ＭＳ Ｐゴシック" panose="020B0600070205080204" pitchFamily="34" charset="-128"/>
              </a:rPr>
              <a:t>Distinction between mandatory or optional</a:t>
            </a:r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9D255113-EDCD-73B6-C045-007B8549AC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4516" name="Slayt Numarası Yer Tutucusu 5">
            <a:extLst>
              <a:ext uri="{FF2B5EF4-FFF2-40B4-BE49-F238E27FC236}">
                <a16:creationId xmlns:a16="http://schemas.microsoft.com/office/drawing/2014/main" id="{B9A2EB93-E1A8-D09F-4DBB-C09CA5E821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AE2D26-C8D5-4D90-B976-72654926C334}" type="slidenum">
              <a:rPr lang="en-US" altLang="tr-TR">
                <a:latin typeface="Times New Roman" panose="02020603050405020304" pitchFamily="18" charset="0"/>
              </a:rPr>
              <a:pPr/>
              <a:t>30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64517" name="Resim 6">
            <a:extLst>
              <a:ext uri="{FF2B5EF4-FFF2-40B4-BE49-F238E27FC236}">
                <a16:creationId xmlns:a16="http://schemas.microsoft.com/office/drawing/2014/main" id="{668EAD99-680F-3098-C3B2-8163C1F5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733800"/>
            <a:ext cx="7823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Resim 7">
            <a:extLst>
              <a:ext uri="{FF2B5EF4-FFF2-40B4-BE49-F238E27FC236}">
                <a16:creationId xmlns:a16="http://schemas.microsoft.com/office/drawing/2014/main" id="{17FDA86C-B42A-69DF-4369-01AD52D06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9" y="1601788"/>
            <a:ext cx="6842125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6" descr="Fig04-14.bmp">
            <a:extLst>
              <a:ext uri="{FF2B5EF4-FFF2-40B4-BE49-F238E27FC236}">
                <a16:creationId xmlns:a16="http://schemas.microsoft.com/office/drawing/2014/main" id="{AF98A052-87EC-0667-221B-A792C8199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354513"/>
            <a:ext cx="76771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5" descr="Fig04-13.bmp">
            <a:extLst>
              <a:ext uri="{FF2B5EF4-FFF2-40B4-BE49-F238E27FC236}">
                <a16:creationId xmlns:a16="http://schemas.microsoft.com/office/drawing/2014/main" id="{B1ABB244-1FE7-9BA8-6BD1-D273CAC5A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1973263"/>
            <a:ext cx="7696200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Footer Placeholder 4">
            <a:extLst>
              <a:ext uri="{FF2B5EF4-FFF2-40B4-BE49-F238E27FC236}">
                <a16:creationId xmlns:a16="http://schemas.microsoft.com/office/drawing/2014/main" id="{12734DBD-52CE-C216-71D5-757C54E227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65541" name="Slide Number Placeholder 5">
            <a:extLst>
              <a:ext uri="{FF2B5EF4-FFF2-40B4-BE49-F238E27FC236}">
                <a16:creationId xmlns:a16="http://schemas.microsoft.com/office/drawing/2014/main" id="{91B69F56-F6A4-0E35-8A1C-451B8972DB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145263-778D-4726-AA5C-3A0DC656DA0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542" name="Resim 1">
            <a:extLst>
              <a:ext uri="{FF2B5EF4-FFF2-40B4-BE49-F238E27FC236}">
                <a16:creationId xmlns:a16="http://schemas.microsoft.com/office/drawing/2014/main" id="{EC49ED00-BDFF-431F-2BEA-416710A69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762000"/>
            <a:ext cx="8340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3" name="Metin kutusu 2">
            <a:extLst>
              <a:ext uri="{FF2B5EF4-FFF2-40B4-BE49-F238E27FC236}">
                <a16:creationId xmlns:a16="http://schemas.microsoft.com/office/drawing/2014/main" id="{E549BA6F-CD55-3B0A-5593-6B9F69111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3" y="1603375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tr-TR" altLang="en-US"/>
              <a:t>1- Class is optional</a:t>
            </a:r>
          </a:p>
        </p:txBody>
      </p:sp>
      <p:sp>
        <p:nvSpPr>
          <p:cNvPr id="65544" name="Metin kutusu 7">
            <a:extLst>
              <a:ext uri="{FF2B5EF4-FFF2-40B4-BE49-F238E27FC236}">
                <a16:creationId xmlns:a16="http://schemas.microsoft.com/office/drawing/2014/main" id="{A535A099-E23A-03D8-0C71-63CC9A626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3871913"/>
            <a:ext cx="2414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tr-TR" altLang="en-US"/>
              <a:t>2- Class is mandatory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68FBA043-EF12-F0CA-2CF6-5953D1933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 Degree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21DE9CC-94FF-1380-17FD-4EBF6600D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Indicates number of entities or participants associated with a relationship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Unary relationship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Association is maintained within single entity 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Binary relationship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Two entities are associated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Ternary relationship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Three entities are associated</a:t>
            </a:r>
          </a:p>
        </p:txBody>
      </p:sp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067C2F84-55E5-F5B8-0D26-EDC21DF718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7589" name="Slide Number Placeholder 4">
            <a:extLst>
              <a:ext uri="{FF2B5EF4-FFF2-40B4-BE49-F238E27FC236}">
                <a16:creationId xmlns:a16="http://schemas.microsoft.com/office/drawing/2014/main" id="{2595E9FF-C592-BE8B-9CD3-E2F38EC6D6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4A80D1-28AC-46D7-B223-8C9B702D4F9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4" descr="Fig04-15.bmp">
            <a:extLst>
              <a:ext uri="{FF2B5EF4-FFF2-40B4-BE49-F238E27FC236}">
                <a16:creationId xmlns:a16="http://schemas.microsoft.com/office/drawing/2014/main" id="{C9A5A8B2-8E51-D16A-4CE8-0E57A981E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320676"/>
            <a:ext cx="5638800" cy="577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65A48291-A042-F803-B814-D5C56F1F8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69636" name="Slide Number Placeholder 5">
            <a:extLst>
              <a:ext uri="{FF2B5EF4-FFF2-40B4-BE49-F238E27FC236}">
                <a16:creationId xmlns:a16="http://schemas.microsoft.com/office/drawing/2014/main" id="{B1CE7355-11C2-31DD-99F7-95594CB81E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E1AD42-CA4B-45B8-BC13-F3D9FDE1AEF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4" descr="Fig04-16.bmp">
            <a:extLst>
              <a:ext uri="{FF2B5EF4-FFF2-40B4-BE49-F238E27FC236}">
                <a16:creationId xmlns:a16="http://schemas.microsoft.com/office/drawing/2014/main" id="{E3EF95D8-E649-E3BA-13E3-90CE3DA59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612776"/>
            <a:ext cx="7620000" cy="528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Footer Placeholder 4">
            <a:extLst>
              <a:ext uri="{FF2B5EF4-FFF2-40B4-BE49-F238E27FC236}">
                <a16:creationId xmlns:a16="http://schemas.microsoft.com/office/drawing/2014/main" id="{6B2BB4A2-9B66-C168-AFA0-1B5AFAFEDF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71684" name="Slide Number Placeholder 5">
            <a:extLst>
              <a:ext uri="{FF2B5EF4-FFF2-40B4-BE49-F238E27FC236}">
                <a16:creationId xmlns:a16="http://schemas.microsoft.com/office/drawing/2014/main" id="{93493726-24C1-AE79-52A6-F2BF309EAE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5246C9-C173-494D-83CE-711CA352ACA8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523847A-CA05-7645-6AE4-BC7C0FE2C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Recursive Relationships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CD9B58C-4C40-E57E-6AA6-1E92C12F5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077200" cy="16002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Relationship can exist between occurrences of the same entity set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Naturally found within unary relationship</a:t>
            </a:r>
          </a:p>
          <a:p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D12B9A1F-BDA7-F100-1EF0-3CCEAD8271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3733" name="Slide Number Placeholder 4">
            <a:extLst>
              <a:ext uri="{FF2B5EF4-FFF2-40B4-BE49-F238E27FC236}">
                <a16:creationId xmlns:a16="http://schemas.microsoft.com/office/drawing/2014/main" id="{2DF22CBF-773C-49B0-9724-8FA5B0EA1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E5A186-1900-43E6-B410-6A0EC18051F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3734" name="Resim 1">
            <a:extLst>
              <a:ext uri="{FF2B5EF4-FFF2-40B4-BE49-F238E27FC236}">
                <a16:creationId xmlns:a16="http://schemas.microsoft.com/office/drawing/2014/main" id="{45FE1512-D6D4-42F7-2AD7-E32EBB395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1" y="3276600"/>
            <a:ext cx="79279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5963392-430D-2D8B-0B65-789B32C1C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Recursive Relationships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D8E44AC-5A6A-15EC-4419-E38008989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14475"/>
            <a:ext cx="8077200" cy="16002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1:1 unary relationship may be expressed by “an EMPLOYEE may be married to one and only one other EMPLOYEE.”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37CBE491-B9E7-0C41-1B2D-510808DFE0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5781" name="Slide Number Placeholder 4">
            <a:extLst>
              <a:ext uri="{FF2B5EF4-FFF2-40B4-BE49-F238E27FC236}">
                <a16:creationId xmlns:a16="http://schemas.microsoft.com/office/drawing/2014/main" id="{9DAC4C26-AE6E-8364-D941-067D5C5CC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8655E9-B93F-4F79-B210-18918A6B696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5782" name="Resim 2">
            <a:extLst>
              <a:ext uri="{FF2B5EF4-FFF2-40B4-BE49-F238E27FC236}">
                <a16:creationId xmlns:a16="http://schemas.microsoft.com/office/drawing/2014/main" id="{2CEFD3A1-9F4B-1D20-E4F2-B5B8C61F1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2971800"/>
            <a:ext cx="44037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476E6C4-416C-7027-74AB-F3DA1100A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Recursive Relationships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C9696965-7F56-895C-AD39-4F3FE9929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514475"/>
            <a:ext cx="8077200" cy="16002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1:M recursive relationship “EMPLOYEE manages EMPLOYEE,” is implemented in Figure 4.22.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E466479C-4FB1-2635-8B9A-421097565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7829" name="Slide Number Placeholder 4">
            <a:extLst>
              <a:ext uri="{FF2B5EF4-FFF2-40B4-BE49-F238E27FC236}">
                <a16:creationId xmlns:a16="http://schemas.microsoft.com/office/drawing/2014/main" id="{99F3A152-E874-4FAA-0F88-19730B39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366FFF-A7A9-41A6-AF81-F6747216772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7830" name="Resim 1">
            <a:extLst>
              <a:ext uri="{FF2B5EF4-FFF2-40B4-BE49-F238E27FC236}">
                <a16:creationId xmlns:a16="http://schemas.microsoft.com/office/drawing/2014/main" id="{488887ED-D1A1-AE3B-60DE-CD852CB4C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8" y="2895600"/>
            <a:ext cx="799306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27F801D-F0A5-5BA7-296C-FEBA0D512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Associative (Composite) Entities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EC5389A6-5440-572D-0DC3-A9810F754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Also known as bridge entities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Used to implement M:N relationships</a:t>
            </a:r>
            <a:r>
              <a:rPr lang="tr-TR" altLang="tr-TR">
                <a:ea typeface="ＭＳ Ｐゴシック" panose="020B0600070205080204" pitchFamily="34" charset="-128"/>
              </a:rPr>
              <a:t>. </a:t>
            </a:r>
            <a:r>
              <a:rPr lang="en-US" altLang="tr-TR">
                <a:ea typeface="ＭＳ Ｐゴシック" panose="020B0600070205080204" pitchFamily="34" charset="-128"/>
              </a:rPr>
              <a:t>You should recall from Chapter 3 that the relational model generally requires the use of 1:M relationships.</a:t>
            </a:r>
            <a:endParaRPr lang="tr-TR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If</a:t>
            </a:r>
            <a:r>
              <a:rPr lang="tr-TR" altLang="tr-TR">
                <a:ea typeface="ＭＳ Ｐゴシック" panose="020B0600070205080204" pitchFamily="34" charset="-128"/>
              </a:rPr>
              <a:t> </a:t>
            </a:r>
            <a:r>
              <a:rPr lang="en-US" altLang="tr-TR">
                <a:ea typeface="ＭＳ Ｐゴシック" panose="020B0600070205080204" pitchFamily="34" charset="-128"/>
              </a:rPr>
              <a:t>M:N relationships are encountered, you must create a bridge between the entities that display such relationships. The </a:t>
            </a:r>
            <a:r>
              <a:rPr lang="en-US" altLang="tr-TR" b="1">
                <a:ea typeface="ＭＳ Ｐゴシック" panose="020B0600070205080204" pitchFamily="34" charset="-128"/>
              </a:rPr>
              <a:t>associative entity </a:t>
            </a:r>
            <a:r>
              <a:rPr lang="en-US" altLang="tr-TR">
                <a:ea typeface="ＭＳ Ｐゴシック" panose="020B0600070205080204" pitchFamily="34" charset="-128"/>
              </a:rPr>
              <a:t>is used to implement a M:N relationship between two or more entities. </a:t>
            </a:r>
          </a:p>
        </p:txBody>
      </p:sp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B3EE84D8-82E8-EF5C-BD05-EC4006ADD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Systems, 10th Edition</a:t>
            </a:r>
          </a:p>
        </p:txBody>
      </p:sp>
      <p:sp>
        <p:nvSpPr>
          <p:cNvPr id="79877" name="Slide Number Placeholder 4">
            <a:extLst>
              <a:ext uri="{FF2B5EF4-FFF2-40B4-BE49-F238E27FC236}">
                <a16:creationId xmlns:a16="http://schemas.microsoft.com/office/drawing/2014/main" id="{156F3429-71B9-5CEF-A732-898060759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75446-225C-4F72-B561-4BF1C2C53E41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C1E245B-2041-A96A-31E1-3242F3A0E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Associative (Composite) Entities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971BBDE1-BF9C-B0E9-8823-55D972033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This associative entity (also known as a composite or bridge entity)</a:t>
            </a:r>
            <a:r>
              <a:rPr lang="tr-TR" altLang="tr-TR">
                <a:ea typeface="ＭＳ Ｐゴシック" panose="020B0600070205080204" pitchFamily="34" charset="-128"/>
              </a:rPr>
              <a:t> </a:t>
            </a:r>
            <a:r>
              <a:rPr lang="en-US" altLang="tr-TR">
                <a:ea typeface="ＭＳ Ｐゴシック" panose="020B0600070205080204" pitchFamily="34" charset="-128"/>
              </a:rPr>
              <a:t>composed of the primary keys of each of the entities to be connected. An example of such a bridge is shown in Figure 4.23. </a:t>
            </a:r>
            <a:endParaRPr lang="tr-TR" altLang="tr-TR">
              <a:ea typeface="ＭＳ Ｐゴシック" panose="020B0600070205080204" pitchFamily="34" charset="-128"/>
            </a:endParaRPr>
          </a:p>
          <a:p>
            <a:r>
              <a:rPr lang="en-US" altLang="tr-TR">
                <a:ea typeface="ＭＳ Ｐゴシック" panose="020B0600070205080204" pitchFamily="34" charset="-128"/>
              </a:rPr>
              <a:t>May also contain additional attributes that play no role in connective process</a:t>
            </a:r>
          </a:p>
        </p:txBody>
      </p:sp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32E909C9-A55D-1DAC-0175-91222E8F53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81925" name="Slide Number Placeholder 4">
            <a:extLst>
              <a:ext uri="{FF2B5EF4-FFF2-40B4-BE49-F238E27FC236}">
                <a16:creationId xmlns:a16="http://schemas.microsoft.com/office/drawing/2014/main" id="{982819F0-449C-6D90-B9BF-12EF3FDAD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72DC9F-4999-457B-9435-29C561C19E2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Footer Placeholder 4">
            <a:extLst>
              <a:ext uri="{FF2B5EF4-FFF2-40B4-BE49-F238E27FC236}">
                <a16:creationId xmlns:a16="http://schemas.microsoft.com/office/drawing/2014/main" id="{5B8E5616-37F8-B9F4-7088-7E7E7FB6A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C2E8FD25-A8FD-DE0C-514A-8BB0412E8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F4DBDE-4091-40A3-BEE5-912B94213BC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3972" name="Picture 5" descr="G:\DBSystems\Figures\C7888_04\C7888_04\Fig04-23.bmp">
            <a:extLst>
              <a:ext uri="{FF2B5EF4-FFF2-40B4-BE49-F238E27FC236}">
                <a16:creationId xmlns:a16="http://schemas.microsoft.com/office/drawing/2014/main" id="{D90DF945-2D57-A9EB-5953-0C538A568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762000"/>
            <a:ext cx="83931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6" descr="Fig04-25.bmp">
            <a:extLst>
              <a:ext uri="{FF2B5EF4-FFF2-40B4-BE49-F238E27FC236}">
                <a16:creationId xmlns:a16="http://schemas.microsoft.com/office/drawing/2014/main" id="{E97DDA54-1491-0FB0-F4BA-8BF020E23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76600"/>
            <a:ext cx="807878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5" descr="Fig04-24.bmp">
            <a:extLst>
              <a:ext uri="{FF2B5EF4-FFF2-40B4-BE49-F238E27FC236}">
                <a16:creationId xmlns:a16="http://schemas.microsoft.com/office/drawing/2014/main" id="{19DD4631-D81C-45EA-D4F5-A0C7681B1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0"/>
            <a:ext cx="8051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Footer Placeholder 4">
            <a:extLst>
              <a:ext uri="{FF2B5EF4-FFF2-40B4-BE49-F238E27FC236}">
                <a16:creationId xmlns:a16="http://schemas.microsoft.com/office/drawing/2014/main" id="{C41706F3-DD48-FE5D-38F6-C2B5F611D9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86021" name="Slide Number Placeholder 5">
            <a:extLst>
              <a:ext uri="{FF2B5EF4-FFF2-40B4-BE49-F238E27FC236}">
                <a16:creationId xmlns:a16="http://schemas.microsoft.com/office/drawing/2014/main" id="{93EC925D-44C0-E663-18FF-7AB8FF8A8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E8F27D-39D5-4255-AF99-643FAB9A270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Widescreen</PresentationFormat>
  <Paragraphs>182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Office Theme</vt:lpstr>
      <vt:lpstr>Entity Relationship Modeling</vt:lpstr>
      <vt:lpstr>4.1 The Entity Relationship Model (ERM)</vt:lpstr>
      <vt:lpstr>Entities</vt:lpstr>
      <vt:lpstr>Attributes</vt:lpstr>
      <vt:lpstr>PowerPoint Presentation</vt:lpstr>
      <vt:lpstr>Attributes (cont’d.)</vt:lpstr>
      <vt:lpstr>Identifiers (primary keys)</vt:lpstr>
      <vt:lpstr>PowerPoint Presentation</vt:lpstr>
      <vt:lpstr>PowerPoint Presentation</vt:lpstr>
      <vt:lpstr>Attributes (cont’d.)</vt:lpstr>
      <vt:lpstr>Attributes (cont’d.)</vt:lpstr>
      <vt:lpstr>Attributes (cont’d.)</vt:lpstr>
      <vt:lpstr>Attributes (cont’d.)</vt:lpstr>
      <vt:lpstr>PowerPoint Presentation</vt:lpstr>
      <vt:lpstr>Attributes (cont’d.)</vt:lpstr>
      <vt:lpstr>PowerPoint Presentation</vt:lpstr>
      <vt:lpstr>PowerPoint Presentation</vt:lpstr>
      <vt:lpstr>Connectivity and Cardinality</vt:lpstr>
      <vt:lpstr>PowerPoint Presentation</vt:lpstr>
      <vt:lpstr>Existence Dependence</vt:lpstr>
      <vt:lpstr>Relationship Strength</vt:lpstr>
      <vt:lpstr>PowerPoint Presentation</vt:lpstr>
      <vt:lpstr>PowerPoint Presentation</vt:lpstr>
      <vt:lpstr>PowerPoint Presentation</vt:lpstr>
      <vt:lpstr>PowerPoint Presentation</vt:lpstr>
      <vt:lpstr>Weak Entities</vt:lpstr>
      <vt:lpstr>Relationship Participation</vt:lpstr>
      <vt:lpstr>Optional participation</vt:lpstr>
      <vt:lpstr>PowerPoint Presentation</vt:lpstr>
      <vt:lpstr>Distinction between mandatory or optional</vt:lpstr>
      <vt:lpstr>PowerPoint Presentation</vt:lpstr>
      <vt:lpstr>Relationship Degree</vt:lpstr>
      <vt:lpstr>PowerPoint Presentation</vt:lpstr>
      <vt:lpstr>PowerPoint Presentation</vt:lpstr>
      <vt:lpstr>Recursive Relationships</vt:lpstr>
      <vt:lpstr>Recursive Relationships</vt:lpstr>
      <vt:lpstr>Recursive Relationships</vt:lpstr>
      <vt:lpstr>Associative (Composite) Entities</vt:lpstr>
      <vt:lpstr>Associative (Composite) Entities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Relationship Modeling</dc:title>
  <dc:creator>Ryan Francisco</dc:creator>
  <cp:lastModifiedBy>Ryan Francisco</cp:lastModifiedBy>
  <cp:revision>1</cp:revision>
  <dcterms:created xsi:type="dcterms:W3CDTF">2022-08-10T14:00:58Z</dcterms:created>
  <dcterms:modified xsi:type="dcterms:W3CDTF">2022-08-10T14:01:02Z</dcterms:modified>
</cp:coreProperties>
</file>