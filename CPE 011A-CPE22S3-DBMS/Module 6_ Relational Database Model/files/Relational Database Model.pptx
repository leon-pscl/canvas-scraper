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327" r:id="rId3"/>
    <p:sldId id="328" r:id="rId4"/>
    <p:sldId id="330" r:id="rId5"/>
    <p:sldId id="331" r:id="rId6"/>
    <p:sldId id="332" r:id="rId7"/>
    <p:sldId id="334" r:id="rId8"/>
    <p:sldId id="335" r:id="rId9"/>
    <p:sldId id="336" r:id="rId10"/>
    <p:sldId id="337" r:id="rId11"/>
    <p:sldId id="339" r:id="rId12"/>
    <p:sldId id="399" r:id="rId13"/>
    <p:sldId id="341" r:id="rId14"/>
    <p:sldId id="342" r:id="rId15"/>
    <p:sldId id="344" r:id="rId16"/>
    <p:sldId id="347" r:id="rId17"/>
    <p:sldId id="348" r:id="rId18"/>
    <p:sldId id="351" r:id="rId19"/>
    <p:sldId id="353" r:id="rId20"/>
    <p:sldId id="411" r:id="rId21"/>
    <p:sldId id="357" r:id="rId22"/>
    <p:sldId id="408" r:id="rId23"/>
    <p:sldId id="409" r:id="rId24"/>
    <p:sldId id="402" r:id="rId25"/>
    <p:sldId id="403" r:id="rId26"/>
    <p:sldId id="410" r:id="rId27"/>
    <p:sldId id="405" r:id="rId28"/>
    <p:sldId id="369" r:id="rId29"/>
    <p:sldId id="37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5" autoAdjust="0"/>
    <p:restoredTop sz="94660"/>
  </p:normalViewPr>
  <p:slideViewPr>
    <p:cSldViewPr snapToGrid="0">
      <p:cViewPr varScale="1">
        <p:scale>
          <a:sx n="50" d="100"/>
          <a:sy n="50" d="100"/>
        </p:scale>
        <p:origin x="6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46884-E5F4-4433-AB41-8248CD2CCA3E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C7AB3-5438-4C09-8BEB-21A127976F6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1319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30B2ED-544B-4C52-9E28-BB6E17DC666B}" type="slidenum">
              <a:rPr lang="en-US" altLang="tr-TR">
                <a:latin typeface="Times New Roman" panose="02020603050405020304" pitchFamily="18" charset="0"/>
              </a:rPr>
              <a:pPr/>
              <a:t>12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023DDDB-2FC7-492C-8544-526582091DA4}" type="slidenum">
              <a:rPr lang="en-US" altLang="tr-TR">
                <a:latin typeface="Times New Roman" panose="02020603050405020304" pitchFamily="18" charset="0"/>
              </a:rPr>
              <a:pPr/>
              <a:t>20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346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EC072B-3552-4AB9-B9D2-515920226CED}" type="slidenum">
              <a:rPr lang="en-US" altLang="tr-TR">
                <a:latin typeface="Times New Roman" panose="02020603050405020304" pitchFamily="18" charset="0"/>
              </a:rPr>
              <a:pPr/>
              <a:t>25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8ADBD31-7DB0-4B05-867C-CE05777A7B9F}" type="slidenum">
              <a:rPr lang="en-US" altLang="tr-TR">
                <a:latin typeface="Times New Roman" panose="02020603050405020304" pitchFamily="18" charset="0"/>
              </a:rPr>
              <a:pPr/>
              <a:t>27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E9EAC-2F38-2DB5-BE4B-6BF44F928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325F20-EB93-A678-28E0-19B292D22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1AC56-79E8-95F4-AEDF-1B332BD00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8AD2-B98C-4977-A67F-8182A63E55BD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2CD4F-3DB5-48E6-8FAA-B2D7CD0A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BE3B7-9A87-0317-12ED-2C59DFC6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BB691-B99E-4CB3-A0C7-A0B9805ACCF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3198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A5922-2CB0-CF4C-5777-8F959FE9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42462-CF92-F6A2-F99F-76428D421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C5172-D2E3-749C-DA52-8DD3C27C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8AD2-B98C-4977-A67F-8182A63E55BD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27DA2-C639-411D-C103-2F1A6CD8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B980B-8B2E-49C1-7D9B-B345A838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BB691-B99E-4CB3-A0C7-A0B9805ACCF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18740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88C8-51F3-B6CB-080F-D75B2C732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351DF-3128-4232-EFE5-2A2A0FC06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D37D0-BA86-4805-1B91-AEBD9D70E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8AD2-B98C-4977-A67F-8182A63E55BD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CE84E-9D30-DA7E-2D5E-E17F2B67F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16198-F27D-8C44-4262-12B4E195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BB691-B99E-4CB3-A0C7-A0B9805ACCF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31762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E639-B361-7EBC-702D-F27C3488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464B0-51A0-CBB1-7B91-03BE8987A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6AD2C-0E57-7432-F41E-38AF92452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AC5D3-BCE1-8025-01A2-760D4EE5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8AD2-B98C-4977-A67F-8182A63E55BD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B0CBD-13D8-0C95-B1EE-BB7FF8BCD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92E5C-78F5-F0F1-A19D-56A28157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BB691-B99E-4CB3-A0C7-A0B9805ACCF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752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0AC3-2343-E639-0FB8-646CA69F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05C2D-69A9-C050-E95B-5C7D67AA5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08245-13EF-0224-7AB9-799D7236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9C91D5-B77C-B9E9-7A99-FE24AAE4B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69AE46-4784-BA14-A1F4-5DCAB1837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CCBB7F-DF08-5244-F65D-306152D6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8AD2-B98C-4977-A67F-8182A63E55BD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86809-09BA-0D34-64C2-A7B609AB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7A14D6-DFBE-6BF7-5DDF-79168CB7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BB691-B99E-4CB3-A0C7-A0B9805ACCF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8348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F299C-BEC4-F676-5604-24392696D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54A54-AC51-EFBC-52BB-5ECB6C3C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8AD2-B98C-4977-A67F-8182A63E55BD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81E6D-0624-33B7-3592-19EF937F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935E6-2615-E403-05D4-D07BF2D72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BB691-B99E-4CB3-A0C7-A0B9805ACCF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14122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34151D-0F1C-DEFA-9B8B-FD04BC103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8AD2-B98C-4977-A67F-8182A63E55BD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94A8C-AE8F-DA7A-7184-DC071EB8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A75FC-A9DB-08D3-85A2-BBF41F07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BB691-B99E-4CB3-A0C7-A0B9805ACCF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0409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01CA-84AB-136D-6100-A831F7A12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7C6FF-C82A-339D-0722-67180B64E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1A93E-1C3A-BDF1-E80F-43A81722C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085B5-6513-1C56-8C2B-6CA7BED1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8AD2-B98C-4977-A67F-8182A63E55BD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4A345-E5C6-10F5-0CEA-336DF622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3C2CA-8C69-480E-05C2-5FBBC9D5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BB691-B99E-4CB3-A0C7-A0B9805ACCF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920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6B7B-34A3-D4FB-0912-D7962E8E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400A47-B37C-BF8A-7386-526B25B9F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78F0A-3258-EA4D-61C8-CB1C5EF46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88B6F-EDC7-C08F-1084-50B4EA15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8AD2-B98C-4977-A67F-8182A63E55BD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B12F8-D4E3-7C00-C960-27FD8BBA6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D208B-5D1A-E355-AB1A-02CFFDB3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BB691-B99E-4CB3-A0C7-A0B9805ACCF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1732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C15C-243E-6F2D-3059-656D3D3F6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C91D4-3A22-A3C9-762D-74F8BE050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0E1B1-ABE1-18C0-9B46-FBBC039F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8AD2-B98C-4977-A67F-8182A63E55BD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8254B-327B-0B28-9258-E9FAA49C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F4E00-D5DB-F9B4-A03E-AA74F6CF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BB691-B99E-4CB3-A0C7-A0B9805ACCF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81214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6762F-EAEC-A9B0-7107-A2C4949C7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F4FAA-B220-3B88-B3BC-35285C28D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FBDFC-6311-D76C-6B1C-1B97D5A6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8AD2-B98C-4977-A67F-8182A63E55BD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B93AE-E6BD-2E82-C172-AEA0A574B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5694A-6305-336B-99F0-524BF6900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BB691-B99E-4CB3-A0C7-A0B9805ACCF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510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76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1200" y="1676400"/>
            <a:ext cx="52832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76400"/>
            <a:ext cx="52832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711200" y="4038600"/>
            <a:ext cx="52832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038600"/>
            <a:ext cx="52832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52A33-760F-425A-A497-90912BB61203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384972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676400"/>
            <a:ext cx="1076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200" y="4038600"/>
            <a:ext cx="1076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EC31BE-E935-48C3-88C0-ACD1CDF04F6F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98205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B00370-FF1E-DEF8-1E90-BC0F9E1F9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A3D31-8610-F47C-C35B-3910933EE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6EE85-FA31-875F-C260-F42FAD522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C8AD2-B98C-4977-A67F-8182A63E55BD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48809-5AA7-C970-6CCE-FBCF77900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8F5D6-8024-AC2C-9026-520FD22F4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BB691-B99E-4CB3-A0C7-A0B9805ACCF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14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C788C-87F8-8CD7-5F9A-00C61FC99B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Relational Database Model</a:t>
            </a:r>
            <a:endParaRPr lang="en-PH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F9403-22D0-53C9-9BA0-436CF4746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6</a:t>
            </a:r>
          </a:p>
          <a:p>
            <a:r>
              <a:rPr lang="en-US" dirty="0"/>
              <a:t>Prepared by: Engr. Ryan D. Francisco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63740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E2508D-32CF-4729-A42C-FAC6BBD899D7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1143000"/>
          </a:xfrm>
        </p:spPr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 Logical View of Data</a:t>
            </a:r>
          </a:p>
        </p:txBody>
      </p:sp>
      <p:sp>
        <p:nvSpPr>
          <p:cNvPr id="819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057400" y="1752600"/>
            <a:ext cx="8077200" cy="4114800"/>
          </a:xfrm>
        </p:spPr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Relational model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View data logically rather than physically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Table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Structural and data independence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Resembles a file conceptually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Relational database model is easier to understand than hierarchical and network models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Database Systems, 10th Edition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8B2D85-7FCE-440C-9558-9436D9F6116F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Tables and Their Characteristics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Logical view of relational database is based on relation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Relation thought of as a table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Table: two-dimensional structure composed of rows and columns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Persistent representation of logical relation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Contains group of related entities</a:t>
            </a:r>
            <a:r>
              <a:rPr lang="en-US" altLang="tr-TR">
                <a:ea typeface="ＭＳ Ｐゴシック" panose="020B0600070205080204" pitchFamily="34" charset="-128"/>
                <a:sym typeface="Wingdings" panose="05000000000000000000" pitchFamily="2" charset="2"/>
              </a:rPr>
              <a:t> (</a:t>
            </a:r>
            <a:r>
              <a:rPr lang="en-US" altLang="tr-TR">
                <a:ea typeface="ＭＳ Ｐゴシック" panose="020B0600070205080204" pitchFamily="34" charset="-128"/>
              </a:rPr>
              <a:t>entity set)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Database Systems, 10th Edition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7F00BD-A06E-4A50-9FCC-07045238E303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2291" name="Picture 5" descr="G:\DBSystems\Figures\C7888_03\C7888_03\Tbl03-01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2133601"/>
            <a:ext cx="7935913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3960ED-4D2C-4B25-8DBA-D67D859D5E9F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4339" name="Picture 5" descr="G:\DBSystems\Figures\C7888_03\C7888_03\Fig03-01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762000"/>
            <a:ext cx="763587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Keys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524000"/>
            <a:ext cx="8077200" cy="4572000"/>
          </a:xfrm>
        </p:spPr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Each row in a table must be uniquely identifiable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Key: one or more attributes that determine other attributes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Functional dependence</a:t>
            </a:r>
          </a:p>
          <a:p>
            <a:pPr lvl="2"/>
            <a:r>
              <a:rPr lang="en-US" altLang="tr-TR">
                <a:ea typeface="ＭＳ Ｐゴシック" panose="020B0600070205080204" pitchFamily="34" charset="-128"/>
              </a:rPr>
              <a:t>Attribute B is functionally dependent on A if all rows in table that agree in value for A also agree in value for B</a:t>
            </a:r>
          </a:p>
        </p:txBody>
      </p:sp>
      <p:sp>
        <p:nvSpPr>
          <p:cNvPr id="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FB3C3B-078E-4207-9293-8F8497C987C2}" type="slidenum">
              <a:rPr lang="en-US" altLang="tr-TR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tr-T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Types of Keys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Composite key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Composed of more than one attribute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Key attribute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Any attribute that is part of a key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Superkey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Any key that uniquely identifies each row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Candidate key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A superkey without unnecessary attributes</a:t>
            </a:r>
          </a:p>
        </p:txBody>
      </p:sp>
      <p:sp>
        <p:nvSpPr>
          <p:cNvPr id="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E7E077-BDD6-443F-90D2-8F7F4B8B096F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Types of Keys (cont’d.)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295400"/>
            <a:ext cx="8648700" cy="4572000"/>
          </a:xfrm>
        </p:spPr>
        <p:txBody>
          <a:bodyPr/>
          <a:lstStyle/>
          <a:p>
            <a:r>
              <a:rPr lang="en-US" altLang="tr-TR" sz="2400">
                <a:ea typeface="ＭＳ Ｐゴシック" panose="020B0600070205080204" pitchFamily="34" charset="-128"/>
              </a:rPr>
              <a:t>Nulls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No data entry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Not permitted in primary key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Should be avoided in other attributes</a:t>
            </a:r>
            <a:endParaRPr lang="tr-TR" altLang="tr-TR">
              <a:ea typeface="ＭＳ Ｐゴシック" panose="020B0600070205080204" pitchFamily="34" charset="-128"/>
            </a:endParaRP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Can represent:</a:t>
            </a:r>
          </a:p>
          <a:p>
            <a:pPr lvl="2"/>
            <a:r>
              <a:rPr lang="en-US" altLang="tr-TR">
                <a:ea typeface="ＭＳ Ｐゴシック" panose="020B0600070205080204" pitchFamily="34" charset="-128"/>
              </a:rPr>
              <a:t>An unknown attribute value</a:t>
            </a:r>
          </a:p>
          <a:p>
            <a:pPr lvl="2"/>
            <a:r>
              <a:rPr lang="en-US" altLang="tr-TR">
                <a:ea typeface="ＭＳ Ｐゴシック" panose="020B0600070205080204" pitchFamily="34" charset="-128"/>
              </a:rPr>
              <a:t>A known, but missing, attribute value</a:t>
            </a:r>
          </a:p>
          <a:p>
            <a:pPr lvl="2"/>
            <a:r>
              <a:rPr lang="en-US" altLang="tr-TR">
                <a:ea typeface="ＭＳ Ｐゴシック" panose="020B0600070205080204" pitchFamily="34" charset="-128"/>
              </a:rPr>
              <a:t>A “not applicable” condition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Can create problems when functions such as COUNT, AVERAGE, and SUM are used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Can create logical problems when relational tables are linked</a:t>
            </a:r>
          </a:p>
          <a:p>
            <a:pPr lvl="1"/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2794C9-FFBC-44C3-86C4-EBDE8907530B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Types of Keys (cont’d.)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Controlled redundancy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Makes the relational database work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Tables within the database share common attributes </a:t>
            </a:r>
          </a:p>
          <a:p>
            <a:pPr lvl="2"/>
            <a:r>
              <a:rPr lang="en-US" altLang="tr-TR">
                <a:ea typeface="ＭＳ Ｐゴシック" panose="020B0600070205080204" pitchFamily="34" charset="-128"/>
              </a:rPr>
              <a:t>Enables tables to be linked together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Multiple occurrences of values not redundant when required to make the relationship work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Redundancy exists only when there is unnecessary duplication of attribute values</a:t>
            </a:r>
          </a:p>
        </p:txBody>
      </p:sp>
      <p:sp>
        <p:nvSpPr>
          <p:cNvPr id="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77092E-42B1-4A74-BDE8-58A862FFCAF3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5AD1B4-0DA3-45F1-86F9-51D8F0D671DA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4579" name="Picture 5" descr="G:\DBSystems\Figures\C7888_03\C7888_03\Fig03-02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14400"/>
            <a:ext cx="77152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Types of Keys (cont’d.)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Foreign key (FK)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An attribute whose values match primary key values in the related table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Referential integrity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FK contains a value that refers to an existing valid tuple (row) in another relation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Secondary key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Key used strictly for data retrieval purposes</a:t>
            </a:r>
          </a:p>
        </p:txBody>
      </p:sp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492FC1-7D97-4AD7-B3E2-B1A1812122D1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Integrity Rules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Many RDBMs enforce integrity rules automatically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Safer to ensure that application design conforms to entity and referential integrity rules 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Designers use flags to avoid nulls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Flags indicate absence of some value</a:t>
            </a:r>
          </a:p>
        </p:txBody>
      </p:sp>
      <p:sp>
        <p:nvSpPr>
          <p:cNvPr id="2150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1479D4-60AD-48C3-A3ED-7BACA91A712A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00777F-CC3D-48D9-B7C7-4A9164E95F5D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723" name="Picture 6" descr="G:\DBSystems\Figures\C7888_03\C7888_03\Tbl03-04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09601"/>
            <a:ext cx="7848600" cy="377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97A71E-4D00-4950-945A-438A98F86FA5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2771" name="Picture 5" descr="G:\DBSystems\Figures\C7888_03\C7888_03\Fig03-03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685800"/>
            <a:ext cx="774065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Relational Set Operators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Relational algebra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Defines theoretical way of manipulating table contents using relational operators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Use of relational algebra operators on existing relations produces new relations:</a:t>
            </a:r>
          </a:p>
          <a:p>
            <a:pPr lvl="1"/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2457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77D177-411D-4943-AC0A-95AB3E6A5E0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71800" y="4038600"/>
          <a:ext cx="6096000" cy="18288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SELECT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UNION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PROJECT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DIFFERENCE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JOIN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PRODUCT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INTERSECT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DIVIDE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9D6254-C7EF-4103-A546-54B41F988334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6867" name="Picture 5" descr="G:\DBSystems\Figures\C7888_03\C7888_03\Fig03-04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1143000"/>
            <a:ext cx="8080375" cy="369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1803C7-5B18-440F-ABF8-CE53D7415EAD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8915" name="Picture 5" descr="G:\DBSystems\Figures\C7888_03\C7888_03\Fig03-05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838201"/>
            <a:ext cx="7696200" cy="49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C68026-79A5-41D5-90AE-6A8656EC50C8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0963" name="Picture 6" descr="G:\DBSystems\Figures\C7888_03\C7888_03\Fig03-06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865188"/>
            <a:ext cx="8021638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7" descr="G:\DBSystems\Figures\C7888_03\C7888_03\Fig03-07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379788"/>
            <a:ext cx="8077200" cy="210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54E2B4-5F4C-4427-B0D3-CBC0DC21D848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3011" name="Picture 8" descr="G:\DBSystems\Figures\C7888_03\C7888_03\Fig03-08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685801"/>
            <a:ext cx="7543800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9" descr="G:\DBSystems\Figures\C7888_03\C7888_03\Fig03-09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743200"/>
            <a:ext cx="7543800" cy="3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30B755-7E3F-4620-8FA8-C61A33E1018A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3251" name="Picture 2" descr="G:\DBSystems\Figures\C7888_03\C7888_03\Fig03-16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2133600"/>
            <a:ext cx="76231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  <p:extLst>
      <p:ext uri="{BB962C8B-B14F-4D97-AF65-F5344CB8AC3E}">
        <p14:creationId xmlns:p14="http://schemas.microsoft.com/office/powerpoint/2010/main" val="219394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Relational Set Operators (cont’d.)</a:t>
            </a:r>
          </a:p>
        </p:txBody>
      </p:sp>
      <p:sp>
        <p:nvSpPr>
          <p:cNvPr id="450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Natural join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Links tables by selecting rows with common values in common attributes (join columns)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Equijoin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Links tables on the basis of an equality condition that compares specified columns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Theta join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Any other comparison operator is used</a:t>
            </a:r>
          </a:p>
        </p:txBody>
      </p:sp>
      <p:sp>
        <p:nvSpPr>
          <p:cNvPr id="2969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4506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61B4A0-528A-4121-81F8-36A1B80D7C94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bilgi Yer Tutucusu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952CA95-310F-4314-B636-1E7364C9530B}" type="slidenum">
              <a:rPr lang="en-US" altLang="tr-TR" smtClean="0"/>
              <a:pPr>
                <a:defRPr/>
              </a:pPr>
              <a:t>22</a:t>
            </a:fld>
            <a:endParaRPr lang="en-US" alt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45720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41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bilgi Yer Tutucusu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952CA95-310F-4314-B636-1E7364C9530B}" type="slidenum">
              <a:rPr lang="en-US" altLang="tr-TR" smtClean="0"/>
              <a:pPr>
                <a:defRPr/>
              </a:pPr>
              <a:t>23</a:t>
            </a:fld>
            <a:endParaRPr lang="en-US" altLang="tr-TR"/>
          </a:p>
        </p:txBody>
      </p:sp>
      <p:pic>
        <p:nvPicPr>
          <p:cNvPr id="103426" name="Picture 2" descr="natural join equi join ile ilgili görsel sonuc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57201"/>
            <a:ext cx="6858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986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Relational Set Operators (cont’d.)</a:t>
            </a:r>
          </a:p>
        </p:txBody>
      </p:sp>
      <p:sp>
        <p:nvSpPr>
          <p:cNvPr id="471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8229600" cy="4572000"/>
          </a:xfrm>
        </p:spPr>
        <p:txBody>
          <a:bodyPr/>
          <a:lstStyle/>
          <a:p>
            <a:r>
              <a:rPr lang="en-US" altLang="tr-TR" dirty="0">
                <a:ea typeface="ＭＳ Ｐゴシック" panose="020B0600070205080204" pitchFamily="34" charset="-128"/>
              </a:rPr>
              <a:t>Inner join</a:t>
            </a:r>
          </a:p>
          <a:p>
            <a:pPr lvl="1"/>
            <a:r>
              <a:rPr lang="en-US" altLang="tr-TR" dirty="0">
                <a:ea typeface="ＭＳ Ｐゴシック" panose="020B0600070205080204" pitchFamily="34" charset="-128"/>
              </a:rPr>
              <a:t>Only returns matched records from the tables that are being joined</a:t>
            </a:r>
          </a:p>
          <a:p>
            <a:r>
              <a:rPr lang="en-US" altLang="tr-TR" dirty="0">
                <a:ea typeface="ＭＳ Ｐゴシック" panose="020B0600070205080204" pitchFamily="34" charset="-128"/>
              </a:rPr>
              <a:t>Outer join</a:t>
            </a:r>
          </a:p>
          <a:p>
            <a:pPr lvl="1"/>
            <a:r>
              <a:rPr lang="en-US" altLang="tr-TR" dirty="0">
                <a:ea typeface="ＭＳ Ｐゴシック" panose="020B0600070205080204" pitchFamily="34" charset="-128"/>
              </a:rPr>
              <a:t>Matched pairs are retained, and any unmatched values in other table are left null</a:t>
            </a:r>
          </a:p>
        </p:txBody>
      </p:sp>
      <p:sp>
        <p:nvSpPr>
          <p:cNvPr id="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4710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D388F0-FBB6-4827-AC08-890B6501FF5D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1" y="4518602"/>
            <a:ext cx="6657975" cy="15811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Relational Set Operators (cont’d.)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Left outer join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Yields all of the rows in the CUSTOMER table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Including those that do not have a matching value in the AGENT table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Right outer join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Yields all of the rows in the AGENT table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Including those that do not have matching values in the CUSTOMER table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120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8078DB-4F6B-42C5-96CD-CA76605FA9B3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bilgi Yer Tutucusu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952CA95-310F-4314-B636-1E7364C9530B}" type="slidenum">
              <a:rPr lang="en-US" altLang="tr-TR" smtClean="0"/>
              <a:pPr>
                <a:defRPr/>
              </a:pPr>
              <a:t>26</a:t>
            </a:fld>
            <a:endParaRPr lang="en-US" alt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1" y="1066800"/>
            <a:ext cx="718395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77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22A164-D700-48A6-821D-5363422CBE1D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9155" name="Picture 2" descr="G:\DBSystems\Figures\C7888_03\C7888_03\Fig03-10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1752600"/>
            <a:ext cx="796766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The Data Dictionary </a:t>
            </a:r>
            <a:br>
              <a:rPr lang="en-US" altLang="tr-TR">
                <a:ea typeface="ＭＳ Ｐゴシック" panose="020B0600070205080204" pitchFamily="34" charset="-128"/>
              </a:rPr>
            </a:br>
            <a:r>
              <a:rPr lang="en-US" altLang="tr-TR">
                <a:ea typeface="ＭＳ Ｐゴシック" panose="020B0600070205080204" pitchFamily="34" charset="-128"/>
              </a:rPr>
              <a:t>and System Catalog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Data dictionary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Provides detailed accounting of all tables found within the user/designer-created database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Contains (at least) all the attribute names and characteristics for each table in the system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Contains metadata: data about data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System catalog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Contains metadata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Detailed system data dictionary that describes all objects within the database</a:t>
            </a:r>
          </a:p>
        </p:txBody>
      </p:sp>
      <p:sp>
        <p:nvSpPr>
          <p:cNvPr id="3584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530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8F6A0E-C56F-46A2-A5EC-FCFC815C95F4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830901-AC75-4119-A52E-BF05B0BC1B0C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7347" name="Picture 5" descr="G:\DBSystems\Figures\C7888_03\C7888_03\Tbl03-06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143000"/>
            <a:ext cx="83693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</Words>
  <Application>Microsoft Office PowerPoint</Application>
  <PresentationFormat>Widescreen</PresentationFormat>
  <Paragraphs>159</Paragraphs>
  <Slides>29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Office Theme</vt:lpstr>
      <vt:lpstr>Relational Database Model</vt:lpstr>
      <vt:lpstr>A Logical View of Data</vt:lpstr>
      <vt:lpstr>Tables and Their Characteristics</vt:lpstr>
      <vt:lpstr>PowerPoint Presentation</vt:lpstr>
      <vt:lpstr>PowerPoint Presentation</vt:lpstr>
      <vt:lpstr>Keys</vt:lpstr>
      <vt:lpstr>Types of Keys</vt:lpstr>
      <vt:lpstr>Types of Keys (cont’d.)</vt:lpstr>
      <vt:lpstr>Types of Keys (cont’d.)</vt:lpstr>
      <vt:lpstr>PowerPoint Presentation</vt:lpstr>
      <vt:lpstr>Types of Keys (cont’d.)</vt:lpstr>
      <vt:lpstr>Integrity Rules</vt:lpstr>
      <vt:lpstr>PowerPoint Presentation</vt:lpstr>
      <vt:lpstr>PowerPoint Presentation</vt:lpstr>
      <vt:lpstr>Relational Set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Relational Set Operators (cont’d.)</vt:lpstr>
      <vt:lpstr>PowerPoint Presentation</vt:lpstr>
      <vt:lpstr>PowerPoint Presentation</vt:lpstr>
      <vt:lpstr>Relational Set Operators (cont’d.)</vt:lpstr>
      <vt:lpstr>Relational Set Operators (cont’d.)</vt:lpstr>
      <vt:lpstr>PowerPoint Presentation</vt:lpstr>
      <vt:lpstr>PowerPoint Presentation</vt:lpstr>
      <vt:lpstr>The Data Dictionary  and System Catalog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Database Model</dc:title>
  <dc:creator>Ryan Francisco</dc:creator>
  <cp:lastModifiedBy>Ryan Francisco</cp:lastModifiedBy>
  <cp:revision>1</cp:revision>
  <dcterms:created xsi:type="dcterms:W3CDTF">2022-08-10T13:56:11Z</dcterms:created>
  <dcterms:modified xsi:type="dcterms:W3CDTF">2022-08-10T13:56:16Z</dcterms:modified>
</cp:coreProperties>
</file>